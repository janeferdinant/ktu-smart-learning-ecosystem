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65"/>
  </p:notesMasterIdLst>
  <p:sldIdLst>
    <p:sldId id="256" r:id="rId2"/>
    <p:sldId id="258" r:id="rId3"/>
    <p:sldId id="259" r:id="rId4"/>
    <p:sldId id="260" r:id="rId5"/>
    <p:sldId id="257"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96" r:id="rId32"/>
    <p:sldId id="286" r:id="rId33"/>
    <p:sldId id="287" r:id="rId34"/>
    <p:sldId id="288" r:id="rId35"/>
    <p:sldId id="289" r:id="rId36"/>
    <p:sldId id="290" r:id="rId37"/>
    <p:sldId id="291" r:id="rId38"/>
    <p:sldId id="292" r:id="rId39"/>
    <p:sldId id="293" r:id="rId40"/>
    <p:sldId id="294" r:id="rId41"/>
    <p:sldId id="295" r:id="rId42"/>
    <p:sldId id="297" r:id="rId43"/>
    <p:sldId id="298" r:id="rId44"/>
    <p:sldId id="309" r:id="rId45"/>
    <p:sldId id="299" r:id="rId46"/>
    <p:sldId id="300" r:id="rId47"/>
    <p:sldId id="301" r:id="rId48"/>
    <p:sldId id="302" r:id="rId49"/>
    <p:sldId id="303" r:id="rId50"/>
    <p:sldId id="304" r:id="rId51"/>
    <p:sldId id="308" r:id="rId52"/>
    <p:sldId id="310" r:id="rId53"/>
    <p:sldId id="305" r:id="rId54"/>
    <p:sldId id="306" r:id="rId55"/>
    <p:sldId id="307" r:id="rId56"/>
    <p:sldId id="311" r:id="rId57"/>
    <p:sldId id="312" r:id="rId58"/>
    <p:sldId id="313" r:id="rId59"/>
    <p:sldId id="314" r:id="rId60"/>
    <p:sldId id="315" r:id="rId61"/>
    <p:sldId id="316" r:id="rId62"/>
    <p:sldId id="317" r:id="rId63"/>
    <p:sldId id="318"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29FBF5B-AFED-49F7-A4D7-16541CAC2488}" type="datetimeFigureOut">
              <a:rPr lang="en-IN" smtClean="0"/>
              <a:t>23-09-2026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23E84DF-E86C-4504-8DDB-6B336E9EE3E6}" type="slidenum">
              <a:rPr lang="en-IN" smtClean="0"/>
              <a:t>‹#›</a:t>
            </a:fld>
            <a:endParaRPr lang="en-IN"/>
          </a:p>
        </p:txBody>
      </p:sp>
    </p:spTree>
    <p:extLst>
      <p:ext uri="{BB962C8B-B14F-4D97-AF65-F5344CB8AC3E}">
        <p14:creationId xmlns:p14="http://schemas.microsoft.com/office/powerpoint/2010/main" val="385485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23E84DF-E86C-4504-8DDB-6B336E9EE3E6}" type="slidenum">
              <a:rPr lang="en-IN" smtClean="0"/>
              <a:t>42</a:t>
            </a:fld>
            <a:endParaRPr lang="en-IN"/>
          </a:p>
        </p:txBody>
      </p:sp>
    </p:spTree>
    <p:extLst>
      <p:ext uri="{BB962C8B-B14F-4D97-AF65-F5344CB8AC3E}">
        <p14:creationId xmlns:p14="http://schemas.microsoft.com/office/powerpoint/2010/main" val="2677403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1D8BD707-D9CF-40AE-B4C6-C98DA3205C09}" type="datetimeFigureOut">
              <a:rPr lang="en-US" smtClean="0"/>
              <a:pPr/>
              <a:t>9/23/2026</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B6F15528-21DE-4FAA-801E-634DDDAF4B2B}" type="slidenum">
              <a:rPr lang="en-US" smtClean="0"/>
              <a:pPr/>
              <a:t>‹#›</a:t>
            </a:fld>
            <a:endParaRPr 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9/23/2026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9/23/2026</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1D8BD707-D9CF-40AE-B4C6-C98DA3205C09}" type="datetimeFigureOut">
              <a:rPr lang="en-US" smtClean="0"/>
              <a:pPr/>
              <a:t>9/23/2026</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www.st.com/en/development-tools/stm32cubeide.html"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dirty="0" smtClean="0">
                <a:latin typeface="Times New Roman" pitchFamily="18" charset="0"/>
                <a:cs typeface="Times New Roman" pitchFamily="18" charset="0"/>
              </a:rPr>
              <a:t>MICRO CONTROLLER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Module-4</a:t>
            </a:r>
            <a:endParaRPr lang="en-IN"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pPr algn="r"/>
            <a:r>
              <a:rPr lang="en-US" dirty="0" smtClean="0"/>
              <a:t>                        </a:t>
            </a:r>
            <a:r>
              <a:rPr lang="en-US" dirty="0" smtClean="0">
                <a:latin typeface="Times New Roman" pitchFamily="18" charset="0"/>
                <a:cs typeface="Times New Roman" pitchFamily="18" charset="0"/>
              </a:rPr>
              <a:t>By,</a:t>
            </a:r>
          </a:p>
          <a:p>
            <a:pPr algn="r"/>
            <a:r>
              <a:rPr lang="en-US" dirty="0" smtClean="0">
                <a:latin typeface="Times New Roman" pitchFamily="18" charset="0"/>
                <a:cs typeface="Times New Roman" pitchFamily="18" charset="0"/>
              </a:rPr>
              <a:t>Lekshmi Suresh</a:t>
            </a:r>
          </a:p>
          <a:p>
            <a:pPr algn="r"/>
            <a:r>
              <a:rPr lang="en-US" dirty="0" smtClean="0">
                <a:latin typeface="Times New Roman" pitchFamily="18" charset="0"/>
                <a:cs typeface="Times New Roman" pitchFamily="18" charset="0"/>
              </a:rPr>
              <a:t>AP in ECE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576771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 of Things(IOT)</a:t>
            </a:r>
            <a:endParaRPr lang="en-IN" dirty="0"/>
          </a:p>
        </p:txBody>
      </p:sp>
      <p:sp>
        <p:nvSpPr>
          <p:cNvPr id="3" name="Content Placeholder 2"/>
          <p:cNvSpPr>
            <a:spLocks noGrp="1"/>
          </p:cNvSpPr>
          <p:nvPr>
            <p:ph idx="1"/>
          </p:nvPr>
        </p:nvSpPr>
        <p:spPr/>
        <p:txBody>
          <a:bodyPr/>
          <a:lstStyle/>
          <a:p>
            <a:r>
              <a:rPr lang="en-US" dirty="0"/>
              <a:t>Internet of Things (</a:t>
            </a:r>
            <a:r>
              <a:rPr lang="en-US" dirty="0" err="1"/>
              <a:t>IoT</a:t>
            </a:r>
            <a:r>
              <a:rPr lang="en-US" dirty="0"/>
              <a:t>) consists of things which have unique identities and they are connected to Internet. </a:t>
            </a:r>
            <a:endParaRPr lang="en-US" dirty="0" smtClean="0"/>
          </a:p>
          <a:p>
            <a:r>
              <a:rPr lang="en-US" dirty="0" smtClean="0"/>
              <a:t>Some </a:t>
            </a:r>
            <a:r>
              <a:rPr lang="en-US" dirty="0"/>
              <a:t>devices which have already been </a:t>
            </a:r>
            <a:r>
              <a:rPr lang="en-US" dirty="0" smtClean="0"/>
              <a:t>exist </a:t>
            </a:r>
            <a:r>
              <a:rPr lang="en-US" dirty="0"/>
              <a:t>those are computer networking, 4G-enabled smart mobile phones, have unique identities and are connected to the Internet</a:t>
            </a:r>
            <a:endParaRPr lang="en-IN" dirty="0"/>
          </a:p>
        </p:txBody>
      </p:sp>
    </p:spTree>
    <p:extLst>
      <p:ext uri="{BB962C8B-B14F-4D97-AF65-F5344CB8AC3E}">
        <p14:creationId xmlns:p14="http://schemas.microsoft.com/office/powerpoint/2010/main" val="1873101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endParaRPr lang="en-US" dirty="0" smtClean="0"/>
          </a:p>
          <a:p>
            <a:endParaRPr lang="en-US" dirty="0" smtClean="0"/>
          </a:p>
          <a:p>
            <a:endParaRPr lang="en-US" dirty="0"/>
          </a:p>
          <a:p>
            <a:endParaRPr lang="en-US" dirty="0" smtClean="0"/>
          </a:p>
          <a:p>
            <a:r>
              <a:rPr lang="en-US" dirty="0">
                <a:latin typeface="Times New Roman" pitchFamily="18" charset="0"/>
                <a:cs typeface="Times New Roman" pitchFamily="18" charset="0"/>
              </a:rPr>
              <a:t>Internet of Things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is the collection of physical </a:t>
            </a:r>
            <a:r>
              <a:rPr lang="en-US" dirty="0" smtClean="0">
                <a:latin typeface="Times New Roman" pitchFamily="18" charset="0"/>
                <a:cs typeface="Times New Roman" pitchFamily="18" charset="0"/>
              </a:rPr>
              <a:t>objects</a:t>
            </a:r>
          </a:p>
          <a:p>
            <a:r>
              <a:rPr lang="en-US" dirty="0" smtClean="0">
                <a:latin typeface="Times New Roman" pitchFamily="18" charset="0"/>
                <a:cs typeface="Times New Roman" pitchFamily="18" charset="0"/>
              </a:rPr>
              <a:t>Embedded </a:t>
            </a:r>
            <a:r>
              <a:rPr lang="en-US" dirty="0">
                <a:latin typeface="Times New Roman" pitchFamily="18" charset="0"/>
                <a:cs typeface="Times New Roman" pitchFamily="18" charset="0"/>
              </a:rPr>
              <a:t>with software, network, &amp; sensors allows the objects for collection and exchange of data</a:t>
            </a:r>
          </a:p>
          <a:p>
            <a:endParaRPr lang="en-US" dirty="0" smtClean="0"/>
          </a:p>
          <a:p>
            <a:endParaRPr lang="en-US" dirty="0"/>
          </a:p>
          <a:p>
            <a:endParaRPr lang="en-US" dirty="0" smtClean="0"/>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4357" y="457200"/>
            <a:ext cx="527685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1752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1600200"/>
            <a:ext cx="6777317" cy="4232429"/>
          </a:xfrm>
        </p:spPr>
        <p:txBody>
          <a:bodyPr/>
          <a:lstStyle/>
          <a:p>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makes every device "smart," by improving the power of data collection, AI, and networking</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IOT allows things for communication &amp; data exchange when executes meaningful information.</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844403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endParaRPr lang="en-US" dirty="0" smtClean="0"/>
          </a:p>
          <a:p>
            <a:endParaRPr lang="en-US" dirty="0"/>
          </a:p>
          <a:p>
            <a:endParaRPr lang="en-US" dirty="0" smtClean="0"/>
          </a:p>
          <a:p>
            <a:endParaRPr lang="en-US" dirty="0"/>
          </a:p>
          <a:p>
            <a:endParaRPr lang="en-US" dirty="0" smtClean="0"/>
          </a:p>
          <a:p>
            <a:endParaRPr lang="en-US" dirty="0" smtClean="0"/>
          </a:p>
          <a:p>
            <a:endParaRPr lang="en-US" dirty="0"/>
          </a:p>
          <a:p>
            <a:endParaRPr lang="en-US" dirty="0" smtClean="0"/>
          </a:p>
          <a:p>
            <a:r>
              <a:rPr lang="en-US" dirty="0" smtClean="0">
                <a:latin typeface="Times New Roman" pitchFamily="18" charset="0"/>
                <a:cs typeface="Times New Roman" pitchFamily="18" charset="0"/>
              </a:rPr>
              <a:t>Smart </a:t>
            </a:r>
            <a:r>
              <a:rPr lang="en-US" dirty="0">
                <a:latin typeface="Times New Roman" pitchFamily="18" charset="0"/>
                <a:cs typeface="Times New Roman" pitchFamily="18" charset="0"/>
              </a:rPr>
              <a:t>phones, smart refrigerator, smart watch, electronic appliances like smart TV, Washing Machine which help us to communicate with IOT platform. </a:t>
            </a:r>
            <a:endParaRPr lang="en-IN"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2491" y="990600"/>
            <a:ext cx="52197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7772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85800"/>
            <a:ext cx="7024744" cy="1143000"/>
          </a:xfrm>
        </p:spPr>
        <p:txBody>
          <a:bodyPr>
            <a:normAutofit fontScale="90000"/>
          </a:bodyPr>
          <a:lstStyle/>
          <a:p>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system consists of the following </a:t>
            </a:r>
            <a:r>
              <a:rPr lang="en-US" dirty="0" smtClean="0">
                <a:latin typeface="Times New Roman" pitchFamily="18" charset="0"/>
                <a:cs typeface="Times New Roman" pitchFamily="18" charset="0"/>
              </a:rPr>
              <a:t>components:</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2057400"/>
            <a:ext cx="8229600" cy="4572000"/>
          </a:xfrm>
        </p:spPr>
        <p:txBody>
          <a:bodyPr>
            <a:normAutofit/>
          </a:bodyPr>
          <a:lstStyle/>
          <a:p>
            <a:r>
              <a:rPr lang="en-IN" b="1" dirty="0">
                <a:latin typeface="Times New Roman" pitchFamily="18" charset="0"/>
                <a:cs typeface="Times New Roman" pitchFamily="18" charset="0"/>
              </a:rPr>
              <a:t>1) </a:t>
            </a:r>
            <a:r>
              <a:rPr lang="en-IN" b="1" dirty="0" smtClean="0">
                <a:latin typeface="Times New Roman" pitchFamily="18" charset="0"/>
                <a:cs typeface="Times New Roman" pitchFamily="18" charset="0"/>
              </a:rPr>
              <a:t>Sensors/Devices</a:t>
            </a:r>
            <a:r>
              <a:rPr lang="en-IN" u="sng" dirty="0" smtClean="0">
                <a:latin typeface="Times New Roman" pitchFamily="18" charset="0"/>
                <a:cs typeface="Times New Roman" pitchFamily="18" charset="0"/>
              </a:rPr>
              <a:t>:</a:t>
            </a:r>
          </a:p>
          <a:p>
            <a:pPr marL="0" indent="0">
              <a:buNone/>
            </a:pPr>
            <a:r>
              <a:rPr lang="en-US" dirty="0" smtClean="0">
                <a:latin typeface="Times New Roman" pitchFamily="18" charset="0"/>
                <a:cs typeface="Times New Roman" pitchFamily="18" charset="0"/>
              </a:rPr>
              <a:t>      a)A </a:t>
            </a:r>
            <a:r>
              <a:rPr lang="en-US" dirty="0">
                <a:latin typeface="Times New Roman" pitchFamily="18" charset="0"/>
                <a:cs typeface="Times New Roman" pitchFamily="18" charset="0"/>
              </a:rPr>
              <a:t>device has different types of sensors that perform multiple tasks besides </a:t>
            </a:r>
            <a:r>
              <a:rPr lang="en-US" dirty="0" smtClean="0">
                <a:latin typeface="Times New Roman" pitchFamily="18" charset="0"/>
                <a:cs typeface="Times New Roman" pitchFamily="18" charset="0"/>
              </a:rPr>
              <a:t>sensing</a:t>
            </a:r>
          </a:p>
          <a:p>
            <a:pPr marL="0" indent="0">
              <a:buNone/>
            </a:pPr>
            <a:r>
              <a:rPr lang="en-US" dirty="0">
                <a:latin typeface="Times New Roman" pitchFamily="18" charset="0"/>
                <a:cs typeface="Times New Roman" pitchFamily="18" charset="0"/>
              </a:rPr>
              <a:t>  b) A device has different types of sensors that perform multiple tasks besides </a:t>
            </a:r>
            <a:r>
              <a:rPr lang="en-US" dirty="0" smtClean="0">
                <a:latin typeface="Times New Roman" pitchFamily="18" charset="0"/>
                <a:cs typeface="Times New Roman" pitchFamily="18" charset="0"/>
              </a:rPr>
              <a:t>sensing</a:t>
            </a:r>
          </a:p>
          <a:p>
            <a:pPr marL="0" indent="0">
              <a:buNone/>
            </a:pPr>
            <a:r>
              <a:rPr lang="en-IN" b="1" dirty="0">
                <a:latin typeface="Times New Roman" pitchFamily="18" charset="0"/>
                <a:cs typeface="Times New Roman" pitchFamily="18" charset="0"/>
              </a:rPr>
              <a:t>2) Connectivity</a:t>
            </a:r>
            <a:r>
              <a:rPr lang="en-IN" b="1" dirty="0" smtClean="0">
                <a:latin typeface="Times New Roman" pitchFamily="18" charset="0"/>
                <a:cs typeface="Times New Roman" pitchFamily="18" charset="0"/>
              </a:rPr>
              <a:t>:</a:t>
            </a:r>
          </a:p>
          <a:p>
            <a:pPr marL="514350" indent="-514350">
              <a:buAutoNum type="alphaLcParenR"/>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collected data is sent to a cloud </a:t>
            </a:r>
            <a:r>
              <a:rPr lang="en-US" dirty="0" smtClean="0">
                <a:latin typeface="Times New Roman" pitchFamily="18" charset="0"/>
                <a:cs typeface="Times New Roman" pitchFamily="18" charset="0"/>
              </a:rPr>
              <a:t>infrastructure</a:t>
            </a:r>
          </a:p>
          <a:p>
            <a:pPr marL="514350" indent="-514350">
              <a:buAutoNum type="alphaLcParenR"/>
            </a:pPr>
            <a:r>
              <a:rPr lang="en-US" dirty="0">
                <a:latin typeface="Times New Roman" pitchFamily="18" charset="0"/>
                <a:cs typeface="Times New Roman" pitchFamily="18" charset="0"/>
              </a:rPr>
              <a:t>This communication channel includes mobile networks, Bluetooth, WI-FI, WAN, etc.</a:t>
            </a:r>
            <a:endParaRPr lang="en-US" dirty="0" smtClean="0">
              <a:latin typeface="Times New Roman" pitchFamily="18" charset="0"/>
              <a:cs typeface="Times New Roman" pitchFamily="18" charset="0"/>
            </a:endParaRPr>
          </a:p>
          <a:p>
            <a:pPr marL="0" indent="0">
              <a:buNone/>
            </a:pP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4265276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914400"/>
            <a:ext cx="6777317" cy="4918229"/>
          </a:xfrm>
        </p:spPr>
        <p:txBody>
          <a:bodyPr/>
          <a:lstStyle/>
          <a:p>
            <a:r>
              <a:rPr lang="en-US" b="1" dirty="0" smtClean="0">
                <a:latin typeface="Times New Roman" pitchFamily="18" charset="0"/>
                <a:cs typeface="Times New Roman" pitchFamily="18" charset="0"/>
              </a:rPr>
              <a:t>3)Data </a:t>
            </a:r>
            <a:r>
              <a:rPr lang="en-US" b="1" dirty="0">
                <a:latin typeface="Times New Roman" pitchFamily="18" charset="0"/>
                <a:cs typeface="Times New Roman" pitchFamily="18" charset="0"/>
              </a:rPr>
              <a:t>Processing</a:t>
            </a:r>
            <a:r>
              <a:rPr lang="en-US" dirty="0">
                <a:latin typeface="Times New Roman" pitchFamily="18" charset="0"/>
                <a:cs typeface="Times New Roman" pitchFamily="18" charset="0"/>
              </a:rPr>
              <a:t>: After data collected, it gets to the cloud; the software that performs processing on these collected data. </a:t>
            </a: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4</a:t>
            </a:r>
            <a:r>
              <a:rPr lang="en-US" b="1" dirty="0">
                <a:latin typeface="Times New Roman" pitchFamily="18" charset="0"/>
                <a:cs typeface="Times New Roman" pitchFamily="18" charset="0"/>
              </a:rPr>
              <a:t>) User Interface</a:t>
            </a:r>
            <a:r>
              <a:rPr lang="en-US" dirty="0">
                <a:latin typeface="Times New Roman" pitchFamily="18" charset="0"/>
                <a:cs typeface="Times New Roman" pitchFamily="18" charset="0"/>
              </a:rPr>
              <a:t>: The information can be send to end-user by triggering alarms on phones or by the notification send through email or text message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737662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990601"/>
            <a:ext cx="6400799"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0803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itchFamily="18" charset="0"/>
                <a:cs typeface="Times New Roman" pitchFamily="18" charset="0"/>
              </a:rPr>
              <a:t>Advantages of </a:t>
            </a:r>
            <a:r>
              <a:rPr lang="en-IN" b="1" dirty="0" err="1">
                <a:latin typeface="Times New Roman" pitchFamily="18" charset="0"/>
                <a:cs typeface="Times New Roman" pitchFamily="18" charset="0"/>
              </a:rPr>
              <a:t>IoT</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dirty="0">
                <a:latin typeface="Times New Roman" pitchFamily="18" charset="0"/>
                <a:cs typeface="Times New Roman" pitchFamily="18" charset="0"/>
              </a:rPr>
              <a:t>Technical </a:t>
            </a:r>
            <a:r>
              <a:rPr lang="en-IN" dirty="0" smtClean="0">
                <a:latin typeface="Times New Roman" pitchFamily="18" charset="0"/>
                <a:cs typeface="Times New Roman" pitchFamily="18" charset="0"/>
              </a:rPr>
              <a:t>Optimization</a:t>
            </a:r>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Improved Data </a:t>
            </a:r>
            <a:r>
              <a:rPr lang="en-IN" dirty="0" smtClean="0">
                <a:latin typeface="Times New Roman" pitchFamily="18" charset="0"/>
                <a:cs typeface="Times New Roman" pitchFamily="18" charset="0"/>
              </a:rPr>
              <a:t>Collection</a:t>
            </a:r>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Reduced </a:t>
            </a:r>
            <a:r>
              <a:rPr lang="en-IN" dirty="0" smtClean="0">
                <a:latin typeface="Times New Roman" pitchFamily="18" charset="0"/>
                <a:cs typeface="Times New Roman" pitchFamily="18" charset="0"/>
              </a:rPr>
              <a:t>Waste</a:t>
            </a:r>
          </a:p>
          <a:p>
            <a:r>
              <a:rPr lang="en-IN" dirty="0">
                <a:latin typeface="Times New Roman" pitchFamily="18" charset="0"/>
                <a:cs typeface="Times New Roman" pitchFamily="18" charset="0"/>
              </a:rPr>
              <a:t>Improved Customer </a:t>
            </a:r>
            <a:r>
              <a:rPr lang="en-IN" dirty="0" smtClean="0">
                <a:latin typeface="Times New Roman" pitchFamily="18" charset="0"/>
                <a:cs typeface="Times New Roman" pitchFamily="18" charset="0"/>
              </a:rPr>
              <a:t>Engagement</a:t>
            </a:r>
          </a:p>
          <a:p>
            <a:pPr marL="0"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101704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itchFamily="18" charset="0"/>
                <a:cs typeface="Times New Roman" pitchFamily="18" charset="0"/>
              </a:rPr>
              <a:t>Characteristics of IOT</a:t>
            </a:r>
          </a:p>
        </p:txBody>
      </p:sp>
      <p:sp>
        <p:nvSpPr>
          <p:cNvPr id="3" name="Content Placeholder 2"/>
          <p:cNvSpPr>
            <a:spLocks noGrp="1"/>
          </p:cNvSpPr>
          <p:nvPr>
            <p:ph idx="1"/>
          </p:nvPr>
        </p:nvSpPr>
        <p:spPr/>
        <p:txBody>
          <a:bodyPr/>
          <a:lstStyle/>
          <a:p>
            <a:r>
              <a:rPr lang="en-IN" dirty="0">
                <a:latin typeface="Times New Roman" pitchFamily="18" charset="0"/>
                <a:cs typeface="Times New Roman" pitchFamily="18" charset="0"/>
              </a:rPr>
              <a:t>Dynamic &amp; </a:t>
            </a:r>
            <a:r>
              <a:rPr lang="en-IN" dirty="0" smtClean="0">
                <a:latin typeface="Times New Roman" pitchFamily="18" charset="0"/>
                <a:cs typeface="Times New Roman" pitchFamily="18" charset="0"/>
              </a:rPr>
              <a:t>Self-Adapting</a:t>
            </a:r>
          </a:p>
          <a:p>
            <a:r>
              <a:rPr lang="en-IN" dirty="0" smtClean="0">
                <a:latin typeface="Times New Roman" pitchFamily="18" charset="0"/>
                <a:cs typeface="Times New Roman" pitchFamily="18" charset="0"/>
              </a:rPr>
              <a:t>Self-Configuring</a:t>
            </a:r>
          </a:p>
          <a:p>
            <a:r>
              <a:rPr lang="en-IN" dirty="0">
                <a:latin typeface="Times New Roman" pitchFamily="18" charset="0"/>
                <a:cs typeface="Times New Roman" pitchFamily="18" charset="0"/>
              </a:rPr>
              <a:t>Interoperable Communication </a:t>
            </a:r>
            <a:r>
              <a:rPr lang="en-IN" dirty="0" smtClean="0">
                <a:latin typeface="Times New Roman" pitchFamily="18" charset="0"/>
                <a:cs typeface="Times New Roman" pitchFamily="18" charset="0"/>
              </a:rPr>
              <a:t>Protocols</a:t>
            </a:r>
          </a:p>
          <a:p>
            <a:r>
              <a:rPr lang="en-IN" dirty="0">
                <a:latin typeface="Times New Roman" pitchFamily="18" charset="0"/>
                <a:cs typeface="Times New Roman" pitchFamily="18" charset="0"/>
              </a:rPr>
              <a:t>Unique </a:t>
            </a:r>
            <a:r>
              <a:rPr lang="en-IN" dirty="0" smtClean="0">
                <a:latin typeface="Times New Roman" pitchFamily="18" charset="0"/>
                <a:cs typeface="Times New Roman" pitchFamily="18" charset="0"/>
              </a:rPr>
              <a:t>Identity</a:t>
            </a:r>
          </a:p>
          <a:p>
            <a:r>
              <a:rPr lang="en-IN" dirty="0">
                <a:latin typeface="Times New Roman" pitchFamily="18" charset="0"/>
                <a:cs typeface="Times New Roman" pitchFamily="18" charset="0"/>
              </a:rPr>
              <a:t>Integrated into Information Network</a:t>
            </a:r>
            <a:endParaRPr lang="en-IN" dirty="0" smtClean="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3522327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IOT Architecture</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itchFamily="18" charset="0"/>
                <a:cs typeface="Times New Roman" pitchFamily="18" charset="0"/>
              </a:rPr>
              <a:t>Architecture refers to a structured framework depicting the tangible components of a network, their operational arrangement and setup, underlying principles and </a:t>
            </a:r>
            <a:r>
              <a:rPr lang="en-US" dirty="0" smtClean="0">
                <a:latin typeface="Times New Roman" pitchFamily="18" charset="0"/>
                <a:cs typeface="Times New Roman" pitchFamily="18" charset="0"/>
              </a:rPr>
              <a:t>structures</a:t>
            </a:r>
          </a:p>
          <a:p>
            <a:pPr algn="just"/>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architecture comprises of a collection of </a:t>
            </a:r>
            <a:r>
              <a:rPr lang="en-US" b="1" dirty="0">
                <a:latin typeface="Times New Roman" pitchFamily="18" charset="0"/>
                <a:cs typeface="Times New Roman" pitchFamily="18" charset="0"/>
              </a:rPr>
              <a:t>devices, sensors, actuators, end users, cloud services</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most importantly various communication layers </a:t>
            </a:r>
            <a:r>
              <a:rPr lang="en-US" dirty="0">
                <a:latin typeface="Times New Roman" pitchFamily="18" charset="0"/>
                <a:cs typeface="Times New Roman" pitchFamily="18" charset="0"/>
              </a:rPr>
              <a:t>and </a:t>
            </a:r>
            <a:r>
              <a:rPr lang="en-US" b="1" dirty="0" err="1">
                <a:latin typeface="Times New Roman" pitchFamily="18" charset="0"/>
                <a:cs typeface="Times New Roman" pitchFamily="18" charset="0"/>
              </a:rPr>
              <a:t>IoT</a:t>
            </a:r>
            <a:r>
              <a:rPr lang="en-US" b="1" dirty="0">
                <a:latin typeface="Times New Roman" pitchFamily="18" charset="0"/>
                <a:cs typeface="Times New Roman" pitchFamily="18" charset="0"/>
              </a:rPr>
              <a:t> protocols</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1701564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33400"/>
            <a:ext cx="5638799"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8301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r>
              <a:rPr lang="en-US" dirty="0" smtClean="0">
                <a:latin typeface="Times New Roman" pitchFamily="18" charset="0"/>
                <a:cs typeface="Times New Roman" pitchFamily="18" charset="0"/>
              </a:rPr>
              <a:t>We </a:t>
            </a:r>
            <a:r>
              <a:rPr lang="en-US" dirty="0">
                <a:latin typeface="Times New Roman" pitchFamily="18" charset="0"/>
                <a:cs typeface="Times New Roman" pitchFamily="18" charset="0"/>
              </a:rPr>
              <a:t>can define a more complete reference architecture that is capable of abstracting well the architecture of most of the </a:t>
            </a:r>
            <a:r>
              <a:rPr lang="en-US" dirty="0" err="1">
                <a:latin typeface="Times New Roman" pitchFamily="18" charset="0"/>
                <a:cs typeface="Times New Roman" pitchFamily="18" charset="0"/>
              </a:rPr>
              <a:t>stateof</a:t>
            </a:r>
            <a:r>
              <a:rPr lang="en-US" dirty="0">
                <a:latin typeface="Times New Roman" pitchFamily="18" charset="0"/>
                <a:cs typeface="Times New Roman" pitchFamily="18" charset="0"/>
              </a:rPr>
              <a:t>-the-art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platforms</a:t>
            </a:r>
          </a:p>
          <a:p>
            <a:r>
              <a:rPr lang="en-US" dirty="0">
                <a:latin typeface="Times New Roman" pitchFamily="18" charset="0"/>
                <a:cs typeface="Times New Roman" pitchFamily="18" charset="0"/>
              </a:rPr>
              <a:t>Such an architecture contains seven different parts: </a:t>
            </a:r>
            <a:endParaRPr lang="en-US" dirty="0" smtClean="0">
              <a:latin typeface="Times New Roman" pitchFamily="18" charset="0"/>
              <a:cs typeface="Times New Roman" pitchFamily="18" charset="0"/>
            </a:endParaRPr>
          </a:p>
          <a:p>
            <a:pPr marL="571500" indent="-571500">
              <a:buFont typeface="+mj-lt"/>
              <a:buAutoNum type="arabicPeriod"/>
            </a:pPr>
            <a:r>
              <a:rPr lang="en-US" b="1" dirty="0" smtClean="0">
                <a:latin typeface="Times New Roman" pitchFamily="18" charset="0"/>
                <a:cs typeface="Times New Roman" pitchFamily="18" charset="0"/>
              </a:rPr>
              <a:t>sensors </a:t>
            </a:r>
            <a:r>
              <a:rPr lang="en-US" b="1" dirty="0">
                <a:latin typeface="Times New Roman" pitchFamily="18" charset="0"/>
                <a:cs typeface="Times New Roman" pitchFamily="18" charset="0"/>
              </a:rPr>
              <a:t>and </a:t>
            </a:r>
            <a:r>
              <a:rPr lang="en-US" b="1" dirty="0" smtClean="0">
                <a:latin typeface="Times New Roman" pitchFamily="18" charset="0"/>
                <a:cs typeface="Times New Roman" pitchFamily="18" charset="0"/>
              </a:rPr>
              <a:t>actuators</a:t>
            </a:r>
          </a:p>
          <a:p>
            <a:pPr marL="571500" indent="-571500">
              <a:buFont typeface="+mj-lt"/>
              <a:buAutoNum type="arabicPeriod"/>
            </a:pPr>
            <a:r>
              <a:rPr lang="en-US" b="1" dirty="0" err="1" smtClean="0">
                <a:latin typeface="Times New Roman" pitchFamily="18" charset="0"/>
                <a:cs typeface="Times New Roman" pitchFamily="18" charset="0"/>
              </a:rPr>
              <a:t>IoT</a:t>
            </a:r>
            <a:r>
              <a:rPr lang="en-US" b="1" dirty="0" smtClean="0">
                <a:latin typeface="Times New Roman" pitchFamily="18" charset="0"/>
                <a:cs typeface="Times New Roman" pitchFamily="18" charset="0"/>
              </a:rPr>
              <a:t> platform</a:t>
            </a:r>
          </a:p>
          <a:p>
            <a:pPr marL="571500" indent="-571500">
              <a:buFont typeface="+mj-lt"/>
              <a:buAutoNum type="arabicPeriod"/>
            </a:pPr>
            <a:r>
              <a:rPr lang="en-US" b="1" dirty="0" smtClean="0">
                <a:latin typeface="Times New Roman" pitchFamily="18" charset="0"/>
                <a:cs typeface="Times New Roman" pitchFamily="18" charset="0"/>
              </a:rPr>
              <a:t>communications network</a:t>
            </a:r>
          </a:p>
          <a:p>
            <a:pPr marL="571500" indent="-571500">
              <a:buFont typeface="+mj-lt"/>
              <a:buAutoNum type="arabicPeriod"/>
            </a:pPr>
            <a:r>
              <a:rPr lang="en-US" b="1" dirty="0" err="1" smtClean="0">
                <a:latin typeface="Times New Roman" pitchFamily="18" charset="0"/>
                <a:cs typeface="Times New Roman" pitchFamily="18" charset="0"/>
              </a:rPr>
              <a:t>IoT</a:t>
            </a:r>
            <a:r>
              <a:rPr lang="en-US" b="1" dirty="0" smtClean="0">
                <a:latin typeface="Times New Roman" pitchFamily="18" charset="0"/>
                <a:cs typeface="Times New Roman" pitchFamily="18" charset="0"/>
              </a:rPr>
              <a:t> gateway</a:t>
            </a:r>
          </a:p>
          <a:p>
            <a:pPr marL="571500" indent="-571500">
              <a:buFont typeface="+mj-lt"/>
              <a:buAutoNum type="arabicPeriod"/>
            </a:pPr>
            <a:r>
              <a:rPr lang="en-US" b="1" dirty="0" smtClean="0">
                <a:latin typeface="Times New Roman" pitchFamily="18" charset="0"/>
                <a:cs typeface="Times New Roman" pitchFamily="18" charset="0"/>
              </a:rPr>
              <a:t> applications</a:t>
            </a:r>
          </a:p>
          <a:p>
            <a:pPr marL="571500" indent="-571500">
              <a:buFont typeface="+mj-lt"/>
              <a:buAutoNum type="arabicPeriod"/>
            </a:pPr>
            <a:r>
              <a:rPr lang="en-US" b="1" dirty="0" smtClean="0">
                <a:latin typeface="Times New Roman" pitchFamily="18" charset="0"/>
                <a:cs typeface="Times New Roman" pitchFamily="18" charset="0"/>
              </a:rPr>
              <a:t>management</a:t>
            </a:r>
          </a:p>
          <a:p>
            <a:pPr marL="571500" indent="-571500">
              <a:buFont typeface="+mj-lt"/>
              <a:buAutoNum type="arabicPeriod"/>
            </a:pPr>
            <a:r>
              <a:rPr lang="en-US" b="1" dirty="0" smtClean="0">
                <a:latin typeface="Times New Roman" pitchFamily="18" charset="0"/>
                <a:cs typeface="Times New Roman" pitchFamily="18" charset="0"/>
              </a:rPr>
              <a:t>security</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1003177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endParaRPr lang="en-US" b="1" dirty="0" smtClean="0"/>
          </a:p>
          <a:p>
            <a:pPr algn="just"/>
            <a:r>
              <a:rPr lang="en-US" b="1" dirty="0" err="1" smtClean="0">
                <a:latin typeface="Times New Roman" pitchFamily="18" charset="0"/>
                <a:cs typeface="Times New Roman" pitchFamily="18" charset="0"/>
              </a:rPr>
              <a:t>SENSORS:</a:t>
            </a:r>
            <a:r>
              <a:rPr lang="en-US" dirty="0" err="1" smtClean="0">
                <a:latin typeface="Times New Roman" pitchFamily="18" charset="0"/>
                <a:cs typeface="Times New Roman" pitchFamily="18" charset="0"/>
              </a:rPr>
              <a:t>Sensors</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are hardware devices that measure physical parameters from the environment (e.g., temperature or humidity) or from other systems (e.g., a current meter</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Actuators are hardware devices that carry out actions based on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requests (e.g., any device that can be turned on or off</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a) user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devices, which are physical devices deployed by the user, e.g., temperature sensors;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b) third-party services, usually available through a </a:t>
            </a:r>
            <a:r>
              <a:rPr lang="en-US" b="1" dirty="0">
                <a:latin typeface="Times New Roman" pitchFamily="18" charset="0"/>
                <a:cs typeface="Times New Roman" pitchFamily="18" charset="0"/>
              </a:rPr>
              <a:t>representational state transfer (REST</a:t>
            </a:r>
            <a:r>
              <a:rPr lang="en-US" dirty="0">
                <a:latin typeface="Times New Roman" pitchFamily="18" charset="0"/>
                <a:cs typeface="Times New Roman" pitchFamily="18" charset="0"/>
              </a:rPr>
              <a:t>) APIs that provides data on request, e.g., meteorological data provided by government agencies.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788917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endParaRPr lang="en-US" b="1" dirty="0" smtClean="0"/>
          </a:p>
          <a:p>
            <a:r>
              <a:rPr lang="en-US" b="1" dirty="0" smtClean="0">
                <a:latin typeface="Times New Roman" pitchFamily="18" charset="0"/>
                <a:cs typeface="Times New Roman" pitchFamily="18" charset="0"/>
              </a:rPr>
              <a:t>2.</a:t>
            </a:r>
            <a:r>
              <a:rPr lang="en-IN" b="1" dirty="0">
                <a:latin typeface="Times New Roman" pitchFamily="18" charset="0"/>
                <a:cs typeface="Times New Roman" pitchFamily="18" charset="0"/>
              </a:rPr>
              <a:t> Communications </a:t>
            </a:r>
            <a:r>
              <a:rPr lang="en-IN" b="1" dirty="0" smtClean="0">
                <a:latin typeface="Times New Roman" pitchFamily="18" charset="0"/>
                <a:cs typeface="Times New Roman" pitchFamily="18" charset="0"/>
              </a:rPr>
              <a:t>network:</a:t>
            </a:r>
          </a:p>
          <a:p>
            <a:r>
              <a:rPr lang="en-US" dirty="0">
                <a:latin typeface="Times New Roman" pitchFamily="18" charset="0"/>
                <a:cs typeface="Times New Roman" pitchFamily="18" charset="0"/>
              </a:rPr>
              <a:t>The communications network must provide the physical, link, and network </a:t>
            </a:r>
            <a:r>
              <a:rPr lang="en-US" dirty="0" smtClean="0">
                <a:latin typeface="Times New Roman" pitchFamily="18" charset="0"/>
                <a:cs typeface="Times New Roman" pitchFamily="18" charset="0"/>
              </a:rPr>
              <a:t>layers according </a:t>
            </a:r>
            <a:r>
              <a:rPr lang="en-US" dirty="0">
                <a:latin typeface="Times New Roman" pitchFamily="18" charset="0"/>
                <a:cs typeface="Times New Roman" pitchFamily="18" charset="0"/>
              </a:rPr>
              <a:t>to the Open </a:t>
            </a:r>
            <a:r>
              <a:rPr lang="en-US" dirty="0" smtClean="0">
                <a:latin typeface="Times New Roman" pitchFamily="18" charset="0"/>
                <a:cs typeface="Times New Roman" pitchFamily="18" charset="0"/>
              </a:rPr>
              <a:t>System Interconnection </a:t>
            </a:r>
            <a:r>
              <a:rPr lang="en-US" dirty="0">
                <a:latin typeface="Times New Roman" pitchFamily="18" charset="0"/>
                <a:cs typeface="Times New Roman" pitchFamily="18" charset="0"/>
              </a:rPr>
              <a:t>(OSI) </a:t>
            </a:r>
            <a:r>
              <a:rPr lang="en-US" dirty="0" smtClean="0">
                <a:latin typeface="Times New Roman" pitchFamily="18" charset="0"/>
                <a:cs typeface="Times New Roman" pitchFamily="18" charset="0"/>
              </a:rPr>
              <a:t>model</a:t>
            </a:r>
          </a:p>
          <a:p>
            <a:r>
              <a:rPr lang="en-US" dirty="0">
                <a:latin typeface="Times New Roman" pitchFamily="18" charset="0"/>
                <a:cs typeface="Times New Roman" pitchFamily="18" charset="0"/>
              </a:rPr>
              <a:t>The network layer is responsible for providing packet forwarding and routing.</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2454844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04800"/>
            <a:ext cx="7024744" cy="1143000"/>
          </a:xfrm>
        </p:spPr>
        <p:txBody>
          <a:bodyPr>
            <a:normAutofit fontScale="90000"/>
          </a:bodyPr>
          <a:lstStyle/>
          <a:p>
            <a:r>
              <a:rPr lang="en-US" b="1" dirty="0" smtClean="0"/>
              <a:t/>
            </a:r>
            <a:br>
              <a:rPr lang="en-US" b="1" dirty="0" smtClean="0"/>
            </a:br>
            <a:r>
              <a:rPr lang="en-US" b="1" dirty="0" smtClean="0">
                <a:latin typeface="Times New Roman" pitchFamily="18" charset="0"/>
                <a:cs typeface="Times New Roman" pitchFamily="18" charset="0"/>
              </a:rPr>
              <a:t>Some </a:t>
            </a:r>
            <a:r>
              <a:rPr lang="en-US" b="1" dirty="0">
                <a:latin typeface="Times New Roman" pitchFamily="18" charset="0"/>
                <a:cs typeface="Times New Roman" pitchFamily="18" charset="0"/>
              </a:rPr>
              <a:t>of the most common protocols are the following</a:t>
            </a:r>
            <a:r>
              <a:rPr lang="en-US" b="1" dirty="0"/>
              <a:t>:</a:t>
            </a:r>
            <a:endParaRPr lang="en-IN" b="1" dirty="0"/>
          </a:p>
        </p:txBody>
      </p:sp>
      <p:sp>
        <p:nvSpPr>
          <p:cNvPr id="3" name="Content Placeholder 2"/>
          <p:cNvSpPr>
            <a:spLocks noGrp="1"/>
          </p:cNvSpPr>
          <p:nvPr>
            <p:ph idx="1"/>
          </p:nvPr>
        </p:nvSpPr>
        <p:spPr>
          <a:xfrm>
            <a:off x="457200" y="1447800"/>
            <a:ext cx="8229600" cy="4678363"/>
          </a:xfrm>
        </p:spPr>
        <p:txBody>
          <a:bodyPr>
            <a:normAutofit fontScale="62500" lnSpcReduction="20000"/>
          </a:bodyPr>
          <a:lstStyle/>
          <a:p>
            <a:pPr>
              <a:lnSpc>
                <a:spcPct val="120000"/>
              </a:lnSpc>
            </a:pPr>
            <a:endParaRPr lang="en-US" dirty="0" smtClean="0"/>
          </a:p>
          <a:p>
            <a:pPr algn="just">
              <a:lnSpc>
                <a:spcPct val="120000"/>
              </a:lnSpc>
            </a:pPr>
            <a:r>
              <a:rPr lang="en-US" dirty="0" smtClean="0">
                <a:latin typeface="Times New Roman" pitchFamily="18" charset="0"/>
                <a:cs typeface="Times New Roman" pitchFamily="18" charset="0"/>
              </a:rPr>
              <a:t>• </a:t>
            </a:r>
            <a:r>
              <a:rPr lang="en-US" b="1" dirty="0">
                <a:latin typeface="Times New Roman" pitchFamily="18" charset="0"/>
                <a:cs typeface="Times New Roman" pitchFamily="18" charset="0"/>
              </a:rPr>
              <a:t>IPv4</a:t>
            </a:r>
            <a:r>
              <a:rPr lang="en-US" dirty="0">
                <a:latin typeface="Times New Roman" pitchFamily="18" charset="0"/>
                <a:cs typeface="Times New Roman" pitchFamily="18" charset="0"/>
              </a:rPr>
              <a:t>: </a:t>
            </a:r>
            <a:r>
              <a:rPr lang="en-US" sz="2900" dirty="0" smtClean="0">
                <a:latin typeface="Times New Roman" pitchFamily="18" charset="0"/>
                <a:cs typeface="Times New Roman" pitchFamily="18" charset="0"/>
              </a:rPr>
              <a:t>The </a:t>
            </a:r>
            <a:r>
              <a:rPr lang="en-US" sz="2900" dirty="0">
                <a:latin typeface="Times New Roman" pitchFamily="18" charset="0"/>
                <a:cs typeface="Times New Roman" pitchFamily="18" charset="0"/>
              </a:rPr>
              <a:t>Internet protocol (IP) version 4 (IPv4) is currently the most used of the IP versions, which are used to address the Internet. It was first implemented in 1983 and uses 32 bit addresses, thus having a total of 2 32 unique addresses, of which 2 24 are reserved for used in private local area networks (LANs). However, due to its low number of addresses, available IPv4 addresses for the Internet are almost depleted. This is the so-called </a:t>
            </a:r>
            <a:r>
              <a:rPr lang="en-US" sz="2900" b="1" dirty="0">
                <a:latin typeface="Times New Roman" pitchFamily="18" charset="0"/>
                <a:cs typeface="Times New Roman" pitchFamily="18" charset="0"/>
              </a:rPr>
              <a:t>IPv4 address exhaustion problem</a:t>
            </a:r>
            <a:r>
              <a:rPr lang="en-US" sz="2900" dirty="0">
                <a:latin typeface="Times New Roman" pitchFamily="18" charset="0"/>
                <a:cs typeface="Times New Roman" pitchFamily="18" charset="0"/>
              </a:rPr>
              <a:t>. </a:t>
            </a:r>
            <a:endParaRPr lang="en-US" sz="2900" dirty="0" smtClean="0">
              <a:latin typeface="Times New Roman" pitchFamily="18" charset="0"/>
              <a:cs typeface="Times New Roman" pitchFamily="18" charset="0"/>
            </a:endParaRPr>
          </a:p>
          <a:p>
            <a:pPr algn="just">
              <a:lnSpc>
                <a:spcPct val="120000"/>
              </a:lnSpc>
            </a:pPr>
            <a:r>
              <a:rPr lang="en-US" sz="2900" dirty="0" smtClean="0">
                <a:latin typeface="Times New Roman" pitchFamily="18" charset="0"/>
                <a:cs typeface="Times New Roman" pitchFamily="18" charset="0"/>
              </a:rPr>
              <a:t>• </a:t>
            </a:r>
            <a:r>
              <a:rPr lang="en-US" sz="2900" b="1" dirty="0">
                <a:latin typeface="Times New Roman" pitchFamily="18" charset="0"/>
                <a:cs typeface="Times New Roman" pitchFamily="18" charset="0"/>
              </a:rPr>
              <a:t>IPv6</a:t>
            </a:r>
            <a:r>
              <a:rPr lang="en-US" sz="2900" dirty="0">
                <a:latin typeface="Times New Roman" pitchFamily="18" charset="0"/>
                <a:cs typeface="Times New Roman" pitchFamily="18" charset="0"/>
              </a:rPr>
              <a:t>: To solve the address exhaustion problem, the IP version 6 (IPv6) was developed. IPv6 uses 128 bit addresses, thus being the number of addresses much larger than the one of IPv4. </a:t>
            </a:r>
            <a:endParaRPr lang="en-US" sz="2900" dirty="0" smtClean="0">
              <a:latin typeface="Times New Roman" pitchFamily="18" charset="0"/>
              <a:cs typeface="Times New Roman" pitchFamily="18" charset="0"/>
            </a:endParaRPr>
          </a:p>
          <a:p>
            <a:pPr algn="just">
              <a:lnSpc>
                <a:spcPct val="120000"/>
              </a:lnSpc>
            </a:pPr>
            <a:r>
              <a:rPr lang="en-US" sz="2900" b="1" dirty="0" smtClean="0">
                <a:latin typeface="Times New Roman" pitchFamily="18" charset="0"/>
                <a:cs typeface="Times New Roman" pitchFamily="18" charset="0"/>
              </a:rPr>
              <a:t>• </a:t>
            </a:r>
            <a:r>
              <a:rPr lang="en-US" sz="2900" b="1" dirty="0">
                <a:latin typeface="Times New Roman" pitchFamily="18" charset="0"/>
                <a:cs typeface="Times New Roman" pitchFamily="18" charset="0"/>
              </a:rPr>
              <a:t>6LoWPAN: </a:t>
            </a:r>
            <a:r>
              <a:rPr lang="en-US" sz="2900" dirty="0">
                <a:latin typeface="Times New Roman" pitchFamily="18" charset="0"/>
                <a:cs typeface="Times New Roman" pitchFamily="18" charset="0"/>
              </a:rPr>
              <a:t>The IPv6 over Low-Power Wireless Personal Area Networks was developed by the Internet Engineering Task Force (IETF) to make an adaptation layer that allows IPv6 with the low-rate wireless personal area networks defined by the IEEE 802.15.4 standard</a:t>
            </a:r>
            <a:endParaRPr lang="en-IN" sz="2900" dirty="0">
              <a:latin typeface="Times New Roman" pitchFamily="18" charset="0"/>
              <a:cs typeface="Times New Roman" pitchFamily="18" charset="0"/>
            </a:endParaRPr>
          </a:p>
        </p:txBody>
      </p:sp>
    </p:spTree>
    <p:extLst>
      <p:ext uri="{BB962C8B-B14F-4D97-AF65-F5344CB8AC3E}">
        <p14:creationId xmlns:p14="http://schemas.microsoft.com/office/powerpoint/2010/main" val="3091322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itchFamily="18" charset="0"/>
                <a:cs typeface="Times New Roman" pitchFamily="18" charset="0"/>
              </a:rPr>
              <a:t>3.</a:t>
            </a:r>
            <a:r>
              <a:rPr lang="en-IN" sz="4000" b="1" dirty="0">
                <a:latin typeface="Times New Roman" pitchFamily="18" charset="0"/>
                <a:cs typeface="Times New Roman" pitchFamily="18" charset="0"/>
              </a:rPr>
              <a:t> </a:t>
            </a:r>
            <a:r>
              <a:rPr lang="en-IN" sz="4000" b="1" dirty="0" err="1">
                <a:latin typeface="Times New Roman" pitchFamily="18" charset="0"/>
                <a:cs typeface="Times New Roman" pitchFamily="18" charset="0"/>
              </a:rPr>
              <a:t>IoT</a:t>
            </a:r>
            <a:r>
              <a:rPr lang="en-IN" sz="4000" b="1" dirty="0">
                <a:latin typeface="Times New Roman" pitchFamily="18" charset="0"/>
                <a:cs typeface="Times New Roman" pitchFamily="18" charset="0"/>
              </a:rPr>
              <a:t> gateway</a:t>
            </a:r>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Different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devices may use different communication networks, data layer protocols, data formats and, in many cases, the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platform may lack direct support for some of </a:t>
            </a:r>
            <a:r>
              <a:rPr lang="en-US" dirty="0" smtClean="0">
                <a:latin typeface="Times New Roman" pitchFamily="18" charset="0"/>
                <a:cs typeface="Times New Roman" pitchFamily="18" charset="0"/>
              </a:rPr>
              <a:t>these.</a:t>
            </a:r>
          </a:p>
          <a:p>
            <a:pPr algn="just"/>
            <a:r>
              <a:rPr lang="en-US" dirty="0">
                <a:latin typeface="Times New Roman" pitchFamily="18" charset="0"/>
                <a:cs typeface="Times New Roman" pitchFamily="18" charset="0"/>
              </a:rPr>
              <a:t>a middleware component called </a:t>
            </a:r>
            <a:r>
              <a:rPr lang="en-US" b="1" dirty="0">
                <a:latin typeface="Times New Roman" pitchFamily="18" charset="0"/>
                <a:cs typeface="Times New Roman" pitchFamily="18" charset="0"/>
              </a:rPr>
              <a:t>‘‘gateway’’ </a:t>
            </a:r>
            <a:r>
              <a:rPr lang="en-US" dirty="0">
                <a:latin typeface="Times New Roman" pitchFamily="18" charset="0"/>
                <a:cs typeface="Times New Roman" pitchFamily="18" charset="0"/>
              </a:rPr>
              <a:t>or </a:t>
            </a:r>
            <a:r>
              <a:rPr lang="en-US" b="1" dirty="0">
                <a:latin typeface="Times New Roman" pitchFamily="18" charset="0"/>
                <a:cs typeface="Times New Roman" pitchFamily="18" charset="0"/>
              </a:rPr>
              <a:t>‘‘edge gateway</a:t>
            </a:r>
            <a:r>
              <a:rPr lang="en-US" dirty="0">
                <a:latin typeface="Times New Roman" pitchFamily="18" charset="0"/>
                <a:cs typeface="Times New Roman" pitchFamily="18" charset="0"/>
              </a:rPr>
              <a:t>’’ may be introduced between the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platform and the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devices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8065370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itchFamily="18" charset="0"/>
                <a:cs typeface="Times New Roman" pitchFamily="18" charset="0"/>
              </a:rPr>
              <a:t>4. </a:t>
            </a:r>
            <a:r>
              <a:rPr lang="en-IN" b="1" dirty="0" err="1">
                <a:latin typeface="Times New Roman" pitchFamily="18" charset="0"/>
                <a:cs typeface="Times New Roman" pitchFamily="18" charset="0"/>
              </a:rPr>
              <a:t>IoT</a:t>
            </a:r>
            <a:r>
              <a:rPr lang="en-IN" b="1" dirty="0">
                <a:latin typeface="Times New Roman" pitchFamily="18" charset="0"/>
                <a:cs typeface="Times New Roman" pitchFamily="18" charset="0"/>
              </a:rPr>
              <a:t> platform</a:t>
            </a:r>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we consider three fundamental building blocks: </a:t>
            </a: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device </a:t>
            </a:r>
            <a:r>
              <a:rPr lang="en-US" b="1" dirty="0">
                <a:latin typeface="Times New Roman" pitchFamily="18" charset="0"/>
                <a:cs typeface="Times New Roman" pitchFamily="18" charset="0"/>
              </a:rPr>
              <a:t>management and </a:t>
            </a:r>
            <a:r>
              <a:rPr lang="en-US" b="1" dirty="0" smtClean="0">
                <a:latin typeface="Times New Roman" pitchFamily="18" charset="0"/>
                <a:cs typeface="Times New Roman" pitchFamily="18" charset="0"/>
              </a:rPr>
              <a:t>connectivity </a:t>
            </a:r>
          </a:p>
          <a:p>
            <a:r>
              <a:rPr lang="en-US" b="1" dirty="0" smtClean="0">
                <a:latin typeface="Times New Roman" pitchFamily="18" charset="0"/>
                <a:cs typeface="Times New Roman" pitchFamily="18" charset="0"/>
              </a:rPr>
              <a:t>data </a:t>
            </a:r>
            <a:r>
              <a:rPr lang="en-US" b="1" dirty="0">
                <a:latin typeface="Times New Roman" pitchFamily="18" charset="0"/>
                <a:cs typeface="Times New Roman" pitchFamily="18" charset="0"/>
              </a:rPr>
              <a:t>storage and analytics, </a:t>
            </a:r>
            <a:r>
              <a:rPr lang="en-US" b="1" dirty="0" smtClean="0">
                <a:latin typeface="Times New Roman" pitchFamily="18" charset="0"/>
                <a:cs typeface="Times New Roman" pitchFamily="18" charset="0"/>
              </a:rPr>
              <a:t>and</a:t>
            </a:r>
          </a:p>
          <a:p>
            <a:r>
              <a:rPr lang="en-US" b="1" dirty="0" smtClean="0">
                <a:latin typeface="Times New Roman" pitchFamily="18" charset="0"/>
                <a:cs typeface="Times New Roman" pitchFamily="18" charset="0"/>
              </a:rPr>
              <a:t> </a:t>
            </a:r>
            <a:r>
              <a:rPr lang="en-US" b="1" dirty="0">
                <a:latin typeface="Times New Roman" pitchFamily="18" charset="0"/>
                <a:cs typeface="Times New Roman" pitchFamily="18" charset="0"/>
              </a:rPr>
              <a:t>application enablement</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318012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itchFamily="18" charset="0"/>
                <a:cs typeface="Times New Roman" pitchFamily="18" charset="0"/>
              </a:rPr>
              <a:t>5. Applications</a:t>
            </a:r>
          </a:p>
        </p:txBody>
      </p:sp>
      <p:sp>
        <p:nvSpPr>
          <p:cNvPr id="3" name="Content Placeholder 2"/>
          <p:cNvSpPr>
            <a:spLocks noGrp="1"/>
          </p:cNvSpPr>
          <p:nvPr>
            <p:ph idx="1"/>
          </p:nvPr>
        </p:nvSpPr>
        <p:spPr/>
        <p:txBody>
          <a:bodyPr>
            <a:normAutofit fontScale="92500" lnSpcReduction="10000"/>
          </a:bodyPr>
          <a:lstStyle/>
          <a:p>
            <a:r>
              <a:rPr lang="en-US" dirty="0">
                <a:latin typeface="Times New Roman" pitchFamily="18" charset="0"/>
                <a:cs typeface="Times New Roman" pitchFamily="18" charset="0"/>
              </a:rPr>
              <a:t>An application is a software component that performs a specific task reading data captured by the sensors and/or controlling the actuators</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Examples of applications are: </a:t>
            </a:r>
            <a:endParaRPr lang="en-US" dirty="0" smtClean="0">
              <a:latin typeface="Times New Roman" pitchFamily="18" charset="0"/>
              <a:cs typeface="Times New Roman" pitchFamily="18" charset="0"/>
            </a:endParaRPr>
          </a:p>
          <a:p>
            <a:r>
              <a:rPr lang="en-US" b="1" dirty="0">
                <a:latin typeface="Times New Roman" pitchFamily="18" charset="0"/>
                <a:cs typeface="Times New Roman" pitchFamily="18" charset="0"/>
              </a:rPr>
              <a:t>• A GUI graph that displays the data from a sensor over time. </a:t>
            </a:r>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 </a:t>
            </a:r>
            <a:r>
              <a:rPr lang="en-US" b="1" dirty="0">
                <a:latin typeface="Times New Roman" pitchFamily="18" charset="0"/>
                <a:cs typeface="Times New Roman" pitchFamily="18" charset="0"/>
              </a:rPr>
              <a:t>A GUI button that allows the user to turn on or off some device. </a:t>
            </a:r>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 </a:t>
            </a:r>
            <a:r>
              <a:rPr lang="en-US" b="1" dirty="0">
                <a:latin typeface="Times New Roman" pitchFamily="18" charset="0"/>
                <a:cs typeface="Times New Roman" pitchFamily="18" charset="0"/>
              </a:rPr>
              <a:t>A rule that automatically turns on or off a device based on the values provided by another </a:t>
            </a:r>
            <a:r>
              <a:rPr lang="en-US" b="1" dirty="0" smtClean="0">
                <a:latin typeface="Times New Roman" pitchFamily="18" charset="0"/>
                <a:cs typeface="Times New Roman" pitchFamily="18" charset="0"/>
              </a:rPr>
              <a:t>sensor</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2967185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r>
              <a:rPr lang="en-US" dirty="0">
                <a:latin typeface="Times New Roman" pitchFamily="18" charset="0"/>
                <a:cs typeface="Times New Roman" pitchFamily="18" charset="0"/>
              </a:rPr>
              <a:t>6. </a:t>
            </a:r>
            <a:r>
              <a:rPr lang="en-US" dirty="0" smtClean="0">
                <a:latin typeface="Times New Roman" pitchFamily="18" charset="0"/>
                <a:cs typeface="Times New Roman" pitchFamily="18" charset="0"/>
              </a:rPr>
              <a:t>Security</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The security block is responsible for ensuring confidentiality, integrity and availability</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User authentication,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user </a:t>
            </a:r>
            <a:r>
              <a:rPr lang="en-US" dirty="0">
                <a:latin typeface="Times New Roman" pitchFamily="18" charset="0"/>
                <a:cs typeface="Times New Roman" pitchFamily="18" charset="0"/>
              </a:rPr>
              <a:t>privacy,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access </a:t>
            </a:r>
            <a:r>
              <a:rPr lang="en-US" dirty="0">
                <a:latin typeface="Times New Roman" pitchFamily="18" charset="0"/>
                <a:cs typeface="Times New Roman" pitchFamily="18" charset="0"/>
              </a:rPr>
              <a:t>control,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monitoring </a:t>
            </a:r>
            <a:r>
              <a:rPr lang="en-US" dirty="0">
                <a:latin typeface="Times New Roman" pitchFamily="18" charset="0"/>
                <a:cs typeface="Times New Roman" pitchFamily="18" charset="0"/>
              </a:rPr>
              <a:t>and auditing of security events</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and management of keys and certificates, are among its </a:t>
            </a:r>
            <a:r>
              <a:rPr lang="en-US" dirty="0" smtClean="0">
                <a:latin typeface="Times New Roman" pitchFamily="18" charset="0"/>
                <a:cs typeface="Times New Roman" pitchFamily="18" charset="0"/>
              </a:rPr>
              <a:t>functions</a:t>
            </a:r>
          </a:p>
        </p:txBody>
      </p:sp>
    </p:spTree>
    <p:extLst>
      <p:ext uri="{BB962C8B-B14F-4D97-AF65-F5344CB8AC3E}">
        <p14:creationId xmlns:p14="http://schemas.microsoft.com/office/powerpoint/2010/main" val="4228117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8" y="847725"/>
            <a:ext cx="8924925" cy="516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3985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642938"/>
            <a:ext cx="8458199" cy="557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6232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838200"/>
            <a:ext cx="8458200" cy="491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3564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13" y="514350"/>
            <a:ext cx="8410575" cy="582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9079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13" y="514350"/>
            <a:ext cx="8410575" cy="582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4693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125" y="228600"/>
            <a:ext cx="8667750" cy="581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5183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err="1"/>
              <a:t>IoT</a:t>
            </a:r>
            <a:r>
              <a:rPr lang="en-IN" b="1" dirty="0"/>
              <a:t> Communication Parameters</a:t>
            </a:r>
            <a:br>
              <a:rPr lang="en-IN" b="1" dirty="0"/>
            </a:br>
            <a:endParaRPr lang="en-IN" b="1"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itchFamily="18" charset="0"/>
                <a:cs typeface="Times New Roman" pitchFamily="18" charset="0"/>
              </a:rPr>
              <a:t>Understanding the limitations and characteristics of a communication technology is essential before implementing an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solution</a:t>
            </a:r>
          </a:p>
          <a:p>
            <a:pPr algn="just"/>
            <a:r>
              <a:rPr lang="en-US" dirty="0">
                <a:latin typeface="Times New Roman" pitchFamily="18" charset="0"/>
                <a:cs typeface="Times New Roman" pitchFamily="18" charset="0"/>
              </a:rPr>
              <a:t>A </a:t>
            </a:r>
            <a:r>
              <a:rPr lang="en-US" b="1" dirty="0">
                <a:latin typeface="Times New Roman" pitchFamily="18" charset="0"/>
                <a:cs typeface="Times New Roman" pitchFamily="18" charset="0"/>
              </a:rPr>
              <a:t>communication protocol</a:t>
            </a:r>
            <a:r>
              <a:rPr lang="en-US" dirty="0">
                <a:latin typeface="Times New Roman" pitchFamily="18" charset="0"/>
                <a:cs typeface="Times New Roman" pitchFamily="18" charset="0"/>
              </a:rPr>
              <a:t> is a set of rules and procedures that enables network nodes to exchange information in a systematic and dependable manner.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Some </a:t>
            </a:r>
            <a:r>
              <a:rPr lang="en-US" dirty="0">
                <a:latin typeface="Times New Roman" pitchFamily="18" charset="0"/>
                <a:cs typeface="Times New Roman" pitchFamily="18" charset="0"/>
              </a:rPr>
              <a:t>of the major parameters used to evaluate an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communication protocol are described below.</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6060028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err="1">
                <a:latin typeface="Times New Roman" pitchFamily="18" charset="0"/>
                <a:cs typeface="Times New Roman" pitchFamily="18" charset="0"/>
              </a:rPr>
              <a:t>LoRa</a:t>
            </a:r>
            <a:r>
              <a:rPr lang="en-IN" b="1" dirty="0">
                <a:latin typeface="Times New Roman" pitchFamily="18" charset="0"/>
                <a:cs typeface="Times New Roman" pitchFamily="18" charset="0"/>
              </a:rPr>
              <a:t> Communication</a:t>
            </a:r>
            <a:br>
              <a:rPr lang="en-IN" b="1" dirty="0">
                <a:latin typeface="Times New Roman" pitchFamily="18" charset="0"/>
                <a:cs typeface="Times New Roman" pitchFamily="18" charset="0"/>
              </a:rPr>
            </a:b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err="1">
                <a:latin typeface="Times New Roman" pitchFamily="18" charset="0"/>
                <a:cs typeface="Times New Roman" pitchFamily="18" charset="0"/>
              </a:rPr>
              <a:t>LoRa</a:t>
            </a:r>
            <a:r>
              <a:rPr lang="en-US" dirty="0">
                <a:latin typeface="Times New Roman" pitchFamily="18" charset="0"/>
                <a:cs typeface="Times New Roman" pitchFamily="18" charset="0"/>
              </a:rPr>
              <a:t> communication enables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devices to transmit small data payloads over long distances with low power </a:t>
            </a:r>
            <a:r>
              <a:rPr lang="en-US" dirty="0" smtClean="0">
                <a:latin typeface="Times New Roman" pitchFamily="18" charset="0"/>
                <a:cs typeface="Times New Roman" pitchFamily="18" charset="0"/>
              </a:rPr>
              <a:t>consumption</a:t>
            </a:r>
          </a:p>
          <a:p>
            <a:r>
              <a:rPr lang="en-US" dirty="0" err="1">
                <a:latin typeface="Times New Roman" pitchFamily="18" charset="0"/>
                <a:cs typeface="Times New Roman" pitchFamily="18" charset="0"/>
              </a:rPr>
              <a:t>LoRa</a:t>
            </a:r>
            <a:r>
              <a:rPr lang="en-US" dirty="0">
                <a:latin typeface="Times New Roman" pitchFamily="18" charset="0"/>
                <a:cs typeface="Times New Roman" pitchFamily="18" charset="0"/>
              </a:rPr>
              <a:t> is a radio technology rather than a complete network</a:t>
            </a:r>
            <a:r>
              <a:rPr lang="en-US" dirty="0" smtClean="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LoRaWAN</a:t>
            </a:r>
            <a:r>
              <a:rPr lang="en-US" dirty="0">
                <a:latin typeface="Times New Roman" pitchFamily="18" charset="0"/>
                <a:cs typeface="Times New Roman" pitchFamily="18" charset="0"/>
              </a:rPr>
              <a:t> provides managed network connectivity</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9230728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57201"/>
            <a:ext cx="7620000" cy="534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7130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1676400"/>
            <a:ext cx="6777317" cy="4156229"/>
          </a:xfrm>
        </p:spPr>
        <p:txBody>
          <a:bodyPr/>
          <a:lstStyle/>
          <a:p>
            <a:r>
              <a:rPr lang="en-US" dirty="0" err="1">
                <a:latin typeface="Times New Roman" pitchFamily="18" charset="0"/>
                <a:cs typeface="Times New Roman" pitchFamily="18" charset="0"/>
              </a:rPr>
              <a:t>LoRa</a:t>
            </a:r>
            <a:r>
              <a:rPr lang="en-US" dirty="0">
                <a:latin typeface="Times New Roman" pitchFamily="18" charset="0"/>
                <a:cs typeface="Times New Roman" pitchFamily="18" charset="0"/>
              </a:rPr>
              <a:t> is based on unique modulation scheme known as </a:t>
            </a:r>
            <a:r>
              <a:rPr lang="en-US" b="1" dirty="0">
                <a:latin typeface="Times New Roman" pitchFamily="18" charset="0"/>
                <a:cs typeface="Times New Roman" pitchFamily="18" charset="0"/>
              </a:rPr>
              <a:t>Chirp Spread Spectrum modulation (CSS</a:t>
            </a:r>
            <a:r>
              <a:rPr lang="en-US" b="1" dirty="0" smtClean="0">
                <a:latin typeface="Times New Roman" pitchFamily="18" charset="0"/>
                <a:cs typeface="Times New Roman" pitchFamily="18" charset="0"/>
              </a:rPr>
              <a:t>)</a:t>
            </a:r>
          </a:p>
          <a:p>
            <a:r>
              <a:rPr lang="en-US" dirty="0">
                <a:latin typeface="Times New Roman" pitchFamily="18" charset="0"/>
                <a:cs typeface="Times New Roman" pitchFamily="18" charset="0"/>
              </a:rPr>
              <a:t>A </a:t>
            </a:r>
            <a:r>
              <a:rPr lang="en-US" b="1" dirty="0">
                <a:latin typeface="Times New Roman" pitchFamily="18" charset="0"/>
                <a:cs typeface="Times New Roman" pitchFamily="18" charset="0"/>
              </a:rPr>
              <a:t>chirp</a:t>
            </a:r>
            <a:r>
              <a:rPr lang="en-US" dirty="0">
                <a:latin typeface="Times New Roman" pitchFamily="18" charset="0"/>
                <a:cs typeface="Times New Roman" pitchFamily="18" charset="0"/>
              </a:rPr>
              <a:t>, often called a sweep signal, is a tone in which the frequency increases (up-chirp) or decreases (down-chirp) with time. These chirp signals are used as carrier signals where a message is encoded </a:t>
            </a:r>
            <a:r>
              <a:rPr lang="en-US" dirty="0" smtClean="0">
                <a:latin typeface="Times New Roman" pitchFamily="18" charset="0"/>
                <a:cs typeface="Times New Roman" pitchFamily="18" charset="0"/>
              </a:rPr>
              <a:t>on.</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912800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latin typeface="Times New Roman" pitchFamily="18" charset="0"/>
                <a:cs typeface="Times New Roman" pitchFamily="18" charset="0"/>
              </a:rPr>
              <a:t>Core Features of </a:t>
            </a:r>
            <a:r>
              <a:rPr lang="en-US" dirty="0" err="1">
                <a:latin typeface="Times New Roman" pitchFamily="18" charset="0"/>
                <a:cs typeface="Times New Roman" pitchFamily="18" charset="0"/>
              </a:rPr>
              <a:t>LoRa</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LoRaWAN</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dirty="0" err="1">
                <a:latin typeface="Times New Roman" pitchFamily="18" charset="0"/>
                <a:cs typeface="Times New Roman" pitchFamily="18" charset="0"/>
              </a:rPr>
              <a:t>LoRa</a:t>
            </a:r>
            <a:r>
              <a:rPr lang="en-IN" dirty="0">
                <a:latin typeface="Times New Roman" pitchFamily="18" charset="0"/>
                <a:cs typeface="Times New Roman" pitchFamily="18" charset="0"/>
              </a:rPr>
              <a:t>-Long </a:t>
            </a:r>
            <a:r>
              <a:rPr lang="en-IN" dirty="0" smtClean="0">
                <a:latin typeface="Times New Roman" pitchFamily="18" charset="0"/>
                <a:cs typeface="Times New Roman" pitchFamily="18" charset="0"/>
              </a:rPr>
              <a:t>Range</a:t>
            </a:r>
          </a:p>
          <a:p>
            <a:r>
              <a:rPr lang="en-IN" dirty="0">
                <a:latin typeface="Times New Roman" pitchFamily="18" charset="0"/>
                <a:cs typeface="Times New Roman" pitchFamily="18" charset="0"/>
              </a:rPr>
              <a:t>Spreading Factor (SF</a:t>
            </a:r>
            <a:r>
              <a:rPr lang="en-IN" dirty="0" smtClean="0">
                <a:latin typeface="Times New Roman" pitchFamily="18" charset="0"/>
                <a:cs typeface="Times New Roman" pitchFamily="18" charset="0"/>
              </a:rPr>
              <a:t>)</a:t>
            </a:r>
          </a:p>
          <a:p>
            <a:r>
              <a:rPr lang="en-IN" dirty="0">
                <a:latin typeface="Times New Roman" pitchFamily="18" charset="0"/>
                <a:cs typeface="Times New Roman" pitchFamily="18" charset="0"/>
              </a:rPr>
              <a:t>Transmission Power (TP</a:t>
            </a:r>
            <a:r>
              <a:rPr lang="en-IN" dirty="0" smtClean="0">
                <a:latin typeface="Times New Roman" pitchFamily="18" charset="0"/>
                <a:cs typeface="Times New Roman" pitchFamily="18" charset="0"/>
              </a:rPr>
              <a:t>)</a:t>
            </a:r>
          </a:p>
          <a:p>
            <a:r>
              <a:rPr lang="en-IN" dirty="0">
                <a:latin typeface="Times New Roman" pitchFamily="18" charset="0"/>
                <a:cs typeface="Times New Roman" pitchFamily="18" charset="0"/>
              </a:rPr>
              <a:t>Coding Rate (</a:t>
            </a:r>
            <a:r>
              <a:rPr lang="en-IN" dirty="0" smtClean="0">
                <a:latin typeface="Times New Roman" pitchFamily="18" charset="0"/>
                <a:cs typeface="Times New Roman" pitchFamily="18" charset="0"/>
              </a:rPr>
              <a:t>CR)</a:t>
            </a:r>
          </a:p>
          <a:p>
            <a:r>
              <a:rPr lang="en-IN" dirty="0">
                <a:latin typeface="Times New Roman" pitchFamily="18" charset="0"/>
                <a:cs typeface="Times New Roman" pitchFamily="18" charset="0"/>
              </a:rPr>
              <a:t>Carrier Frequency (CF</a:t>
            </a:r>
            <a:r>
              <a:rPr lang="en-IN" dirty="0" smtClean="0">
                <a:latin typeface="Times New Roman" pitchFamily="18" charset="0"/>
                <a:cs typeface="Times New Roman" pitchFamily="18" charset="0"/>
              </a:rPr>
              <a:t>)</a:t>
            </a:r>
          </a:p>
          <a:p>
            <a:r>
              <a:rPr lang="en-IN" dirty="0">
                <a:latin typeface="Times New Roman" pitchFamily="18" charset="0"/>
                <a:cs typeface="Times New Roman" pitchFamily="18" charset="0"/>
              </a:rPr>
              <a:t>Bandwidth (BW)</a:t>
            </a:r>
          </a:p>
        </p:txBody>
      </p:sp>
    </p:spTree>
    <p:extLst>
      <p:ext uri="{BB962C8B-B14F-4D97-AF65-F5344CB8AC3E}">
        <p14:creationId xmlns:p14="http://schemas.microsoft.com/office/powerpoint/2010/main" val="14988159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r>
              <a:rPr lang="en-IN" dirty="0"/>
              <a:t>FEATURES of </a:t>
            </a:r>
            <a:r>
              <a:rPr lang="en-IN" dirty="0" err="1"/>
              <a:t>LoRa</a:t>
            </a:r>
            <a:r>
              <a:rPr lang="en-IN" dirty="0" smtClean="0"/>
              <a:t>:</a:t>
            </a:r>
          </a:p>
          <a:p>
            <a:endParaRPr lang="en-US" dirty="0" smtClean="0"/>
          </a:p>
          <a:p>
            <a:endParaRPr lang="en-US" dirty="0"/>
          </a:p>
          <a:p>
            <a:endParaRPr lang="en-US" dirty="0" smtClean="0"/>
          </a:p>
          <a:p>
            <a:endParaRPr lang="en-US" dirty="0"/>
          </a:p>
          <a:p>
            <a:endParaRPr lang="en-US" dirty="0" smtClean="0"/>
          </a:p>
          <a:p>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257300"/>
            <a:ext cx="5838825"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08695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7800" y="609600"/>
            <a:ext cx="5710148"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9854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IN" b="1" dirty="0"/>
              <a:t>APPLICATIONS</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95400"/>
            <a:ext cx="54102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22236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err="1">
                <a:latin typeface="Times New Roman" pitchFamily="18" charset="0"/>
                <a:cs typeface="Times New Roman" pitchFamily="18" charset="0"/>
              </a:rPr>
              <a:t>IoT</a:t>
            </a:r>
            <a:r>
              <a:rPr lang="en-IN" b="1" dirty="0">
                <a:latin typeface="Times New Roman" pitchFamily="18" charset="0"/>
                <a:cs typeface="Times New Roman" pitchFamily="18" charset="0"/>
              </a:rPr>
              <a:t>-Based Home Automation System</a:t>
            </a:r>
          </a:p>
        </p:txBody>
      </p:sp>
      <p:sp>
        <p:nvSpPr>
          <p:cNvPr id="3" name="Content Placeholder 2"/>
          <p:cNvSpPr>
            <a:spLocks noGrp="1"/>
          </p:cNvSpPr>
          <p:nvPr>
            <p:ph idx="1"/>
          </p:nvPr>
        </p:nvSpPr>
        <p:spPr/>
        <p:txBody>
          <a:bodyPr>
            <a:normAutofit fontScale="92500"/>
          </a:bodyPr>
          <a:lstStyle/>
          <a:p>
            <a:pPr algn="just"/>
            <a:r>
              <a:rPr lang="en-US" b="1" dirty="0">
                <a:latin typeface="Times New Roman" pitchFamily="18" charset="0"/>
                <a:cs typeface="Times New Roman" pitchFamily="18" charset="0"/>
              </a:rPr>
              <a:t>Home automation, or smart home technology, is a key aspect of the Internet of </a:t>
            </a:r>
            <a:r>
              <a:rPr lang="en-US" b="1" dirty="0" smtClean="0">
                <a:latin typeface="Times New Roman" pitchFamily="18" charset="0"/>
                <a:cs typeface="Times New Roman" pitchFamily="18" charset="0"/>
              </a:rPr>
              <a:t>Things </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IoT</a:t>
            </a:r>
            <a:r>
              <a:rPr lang="en-US" b="1" dirty="0" smtClean="0">
                <a:latin typeface="Times New Roman" pitchFamily="18" charset="0"/>
                <a:cs typeface="Times New Roman" pitchFamily="18" charset="0"/>
              </a:rPr>
              <a:t>)</a:t>
            </a:r>
          </a:p>
          <a:p>
            <a:pPr algn="just"/>
            <a:r>
              <a:rPr lang="en-US" b="1" dirty="0">
                <a:latin typeface="Times New Roman" pitchFamily="18" charset="0"/>
                <a:cs typeface="Times New Roman" pitchFamily="18" charset="0"/>
              </a:rPr>
              <a:t>All the devices in the system are assigned a unique IP address so that it can be remotely accessed and controlled from anywhere, anytime </a:t>
            </a:r>
            <a:endParaRPr lang="en-US" b="1" dirty="0" smtClean="0">
              <a:latin typeface="Times New Roman" pitchFamily="18" charset="0"/>
              <a:cs typeface="Times New Roman" pitchFamily="18" charset="0"/>
            </a:endParaRPr>
          </a:p>
          <a:p>
            <a:pPr algn="just"/>
            <a:r>
              <a:rPr lang="en-US" b="1" dirty="0">
                <a:latin typeface="Times New Roman" pitchFamily="18" charset="0"/>
                <a:cs typeface="Times New Roman" pitchFamily="18" charset="0"/>
              </a:rPr>
              <a:t>It refers to a system where Home appliances and equipment are interconnected for centralized, efficient management, enhancing user convenience and operational efficiency </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6808016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914400"/>
            <a:ext cx="6777317" cy="4918229"/>
          </a:xfrm>
        </p:spPr>
        <p:txBody>
          <a:bodyPr/>
          <a:lstStyle/>
          <a:p>
            <a:r>
              <a:rPr lang="en-US" dirty="0" smtClean="0">
                <a:latin typeface="Times New Roman" pitchFamily="18" charset="0"/>
                <a:cs typeface="Times New Roman" pitchFamily="18" charset="0"/>
              </a:rPr>
              <a:t>Offer </a:t>
            </a:r>
            <a:r>
              <a:rPr lang="en-US" dirty="0">
                <a:latin typeface="Times New Roman" pitchFamily="18" charset="0"/>
                <a:cs typeface="Times New Roman" pitchFamily="18" charset="0"/>
              </a:rPr>
              <a:t>full remote control of home environments through mobile applications, cloud platforms, and AI integration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These </a:t>
            </a:r>
            <a:r>
              <a:rPr lang="en-US" dirty="0">
                <a:latin typeface="Times New Roman" pitchFamily="18" charset="0"/>
                <a:cs typeface="Times New Roman" pitchFamily="18" charset="0"/>
              </a:rPr>
              <a:t>systems can also send alerts in case of emergencies such as water leaks, gas leaks, fires, or unauthorized access, thereby increasing the security of smart </a:t>
            </a:r>
            <a:r>
              <a:rPr lang="en-US" dirty="0" smtClean="0">
                <a:latin typeface="Times New Roman" pitchFamily="18" charset="0"/>
                <a:cs typeface="Times New Roman" pitchFamily="18" charset="0"/>
              </a:rPr>
              <a:t>homes</a:t>
            </a:r>
          </a:p>
          <a:p>
            <a:endParaRPr lang="en-IN" dirty="0"/>
          </a:p>
        </p:txBody>
      </p:sp>
    </p:spTree>
    <p:extLst>
      <p:ext uri="{BB962C8B-B14F-4D97-AF65-F5344CB8AC3E}">
        <p14:creationId xmlns:p14="http://schemas.microsoft.com/office/powerpoint/2010/main" val="41007043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9691" y="1371600"/>
            <a:ext cx="4876799" cy="3444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47715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300" y="1266825"/>
            <a:ext cx="5867400" cy="432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99759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914400"/>
            <a:ext cx="7024744" cy="877336"/>
          </a:xfrm>
        </p:spPr>
        <p:txBody>
          <a:bodyPr>
            <a:normAutofit fontScale="90000"/>
          </a:bodyPr>
          <a:lstStyle/>
          <a:p>
            <a:r>
              <a:rPr lang="en-US" sz="3200" dirty="0">
                <a:latin typeface="Times New Roman" pitchFamily="18" charset="0"/>
                <a:cs typeface="Times New Roman" pitchFamily="18" charset="0"/>
              </a:rPr>
              <a:t>Proposed Home Automation System Functions</a:t>
            </a: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a:xfrm>
            <a:off x="1043492" y="1752600"/>
            <a:ext cx="6777317" cy="4080029"/>
          </a:xfrm>
        </p:spPr>
        <p:txBody>
          <a:bodyPr>
            <a:normAutofit fontScale="92500" lnSpcReduction="10000"/>
          </a:bodyPr>
          <a:lstStyle/>
          <a:p>
            <a:r>
              <a:rPr lang="en-US" dirty="0">
                <a:latin typeface="Times New Roman" pitchFamily="18" charset="0"/>
                <a:cs typeface="Times New Roman" pitchFamily="18" charset="0"/>
              </a:rPr>
              <a:t>The anticipated home mechanization framework has the ability to control the accompanying workings in clients home and watch the accompanying cautions: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•Temperature and humidity </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Gas leakage </a:t>
            </a:r>
            <a:r>
              <a:rPr lang="en-US" dirty="0" smtClean="0">
                <a:latin typeface="Times New Roman" pitchFamily="18" charset="0"/>
                <a:cs typeface="Times New Roman" pitchFamily="18" charset="0"/>
              </a:rPr>
              <a:t>detection</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 Control appliances It can also control following appliances</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 </a:t>
            </a:r>
            <a:r>
              <a:rPr lang="en-US" dirty="0">
                <a:latin typeface="Times New Roman" pitchFamily="18" charset="0"/>
                <a:cs typeface="Times New Roman" pitchFamily="18" charset="0"/>
              </a:rPr>
              <a:t>Lights on/off/dim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Fan on/off </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On/off different appliance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Leakage of gas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2322247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905000"/>
            <a:ext cx="67818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49520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66800"/>
            <a:ext cx="7024744" cy="838200"/>
          </a:xfrm>
        </p:spPr>
        <p:txBody>
          <a:bodyPr/>
          <a:lstStyle/>
          <a:p>
            <a:r>
              <a:rPr lang="en-IN" dirty="0">
                <a:latin typeface="Times New Roman" pitchFamily="18" charset="0"/>
                <a:cs typeface="Times New Roman" pitchFamily="18" charset="0"/>
              </a:rPr>
              <a:t>Multitasking Scenarios</a:t>
            </a:r>
          </a:p>
        </p:txBody>
      </p:sp>
      <p:sp>
        <p:nvSpPr>
          <p:cNvPr id="3" name="Content Placeholder 2"/>
          <p:cNvSpPr>
            <a:spLocks noGrp="1"/>
          </p:cNvSpPr>
          <p:nvPr>
            <p:ph idx="1"/>
          </p:nvPr>
        </p:nvSpPr>
        <p:spPr>
          <a:xfrm>
            <a:off x="1043492" y="1905000"/>
            <a:ext cx="6777317" cy="4419600"/>
          </a:xfrm>
        </p:spPr>
        <p:txBody>
          <a:bodyPr>
            <a:normAutofit fontScale="92500" lnSpcReduction="10000"/>
          </a:bodyPr>
          <a:lstStyle/>
          <a:p>
            <a:r>
              <a:rPr lang="en-US" dirty="0">
                <a:latin typeface="Times New Roman" pitchFamily="18" charset="0"/>
                <a:cs typeface="Times New Roman" pitchFamily="18" charset="0"/>
              </a:rPr>
              <a:t>Printing information to a display in response to keyboard </a:t>
            </a:r>
            <a:r>
              <a:rPr lang="en-US" dirty="0" smtClean="0">
                <a:latin typeface="Times New Roman" pitchFamily="18" charset="0"/>
                <a:cs typeface="Times New Roman" pitchFamily="18" charset="0"/>
              </a:rPr>
              <a:t>input</a:t>
            </a:r>
          </a:p>
          <a:p>
            <a:r>
              <a:rPr lang="en-US" dirty="0" smtClean="0">
                <a:latin typeface="Times New Roman" pitchFamily="18" charset="0"/>
                <a:cs typeface="Times New Roman" pitchFamily="18" charset="0"/>
              </a:rPr>
              <a:t>Car </a:t>
            </a:r>
            <a:r>
              <a:rPr lang="en-US" dirty="0">
                <a:latin typeface="Times New Roman" pitchFamily="18" charset="0"/>
                <a:cs typeface="Times New Roman" pitchFamily="18" charset="0"/>
              </a:rPr>
              <a:t>Airbag response Braking system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Robotics </a:t>
            </a:r>
          </a:p>
          <a:p>
            <a:r>
              <a:rPr lang="en-US" dirty="0" smtClean="0">
                <a:latin typeface="Times New Roman" pitchFamily="18" charset="0"/>
                <a:cs typeface="Times New Roman" pitchFamily="18" charset="0"/>
              </a:rPr>
              <a:t>Flight </a:t>
            </a:r>
            <a:r>
              <a:rPr lang="en-US" dirty="0">
                <a:latin typeface="Times New Roman" pitchFamily="18" charset="0"/>
                <a:cs typeface="Times New Roman" pitchFamily="18" charset="0"/>
              </a:rPr>
              <a:t>system in a drone Control or signal processing algorithms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Soft </a:t>
            </a:r>
            <a:r>
              <a:rPr lang="en-US" dirty="0">
                <a:latin typeface="Times New Roman" pitchFamily="18" charset="0"/>
                <a:cs typeface="Times New Roman" pitchFamily="18" charset="0"/>
              </a:rPr>
              <a:t>vs. hard real-time requirements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Soft </a:t>
            </a:r>
            <a:r>
              <a:rPr lang="en-US" dirty="0">
                <a:latin typeface="Times New Roman" pitchFamily="18" charset="0"/>
                <a:cs typeface="Times New Roman" pitchFamily="18" charset="0"/>
              </a:rPr>
              <a:t>real-time requirements are those that state a time deadline—but </a:t>
            </a:r>
            <a:r>
              <a:rPr lang="en-US" dirty="0" smtClean="0">
                <a:latin typeface="Times New Roman" pitchFamily="18" charset="0"/>
                <a:cs typeface="Times New Roman" pitchFamily="18" charset="0"/>
              </a:rPr>
              <a:t>reaching </a:t>
            </a:r>
            <a:r>
              <a:rPr lang="en-US" dirty="0">
                <a:latin typeface="Times New Roman" pitchFamily="18" charset="0"/>
                <a:cs typeface="Times New Roman" pitchFamily="18" charset="0"/>
              </a:rPr>
              <a:t>the deadline would not render the system useless.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Hard </a:t>
            </a:r>
            <a:r>
              <a:rPr lang="en-US" dirty="0">
                <a:latin typeface="Times New Roman" pitchFamily="18" charset="0"/>
                <a:cs typeface="Times New Roman" pitchFamily="18" charset="0"/>
              </a:rPr>
              <a:t>real-time requirements are those that state a time deadline—and </a:t>
            </a:r>
            <a:r>
              <a:rPr lang="en-US" dirty="0" smtClean="0">
                <a:latin typeface="Times New Roman" pitchFamily="18" charset="0"/>
                <a:cs typeface="Times New Roman" pitchFamily="18" charset="0"/>
              </a:rPr>
              <a:t>reaching </a:t>
            </a:r>
            <a:r>
              <a:rPr lang="en-US" dirty="0">
                <a:latin typeface="Times New Roman" pitchFamily="18" charset="0"/>
                <a:cs typeface="Times New Roman" pitchFamily="18" charset="0"/>
              </a:rPr>
              <a:t>the deadline would result in absolute failure of the system</a:t>
            </a:r>
            <a:r>
              <a:rPr lang="en-US" dirty="0"/>
              <a:t>.</a:t>
            </a:r>
            <a:endParaRPr lang="en-IN" dirty="0"/>
          </a:p>
        </p:txBody>
      </p:sp>
    </p:spTree>
    <p:extLst>
      <p:ext uri="{BB962C8B-B14F-4D97-AF65-F5344CB8AC3E}">
        <p14:creationId xmlns:p14="http://schemas.microsoft.com/office/powerpoint/2010/main" val="3031028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itchFamily="18" charset="0"/>
                <a:cs typeface="Times New Roman" pitchFamily="18" charset="0"/>
              </a:rPr>
              <a:t>The Kernel</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pPr algn="just"/>
            <a:r>
              <a:rPr lang="en-US" dirty="0" smtClean="0"/>
              <a:t> </a:t>
            </a: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kernel is the core of the operating system and is responsible for managing the system resources and the communication among the hardware and other system services</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Kernel acts as the abstraction layer between system resources and user applications.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Kernel </a:t>
            </a:r>
            <a:r>
              <a:rPr lang="en-US" dirty="0">
                <a:latin typeface="Times New Roman" pitchFamily="18" charset="0"/>
                <a:cs typeface="Times New Roman" pitchFamily="18" charset="0"/>
              </a:rPr>
              <a:t>contains a set of system libraries and services</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For a general purpose OS, the kernel contains different services for handling the following</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4226449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1" y="1119188"/>
            <a:ext cx="7924800" cy="4976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69355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066800"/>
            <a:ext cx="70104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07071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1" y="838200"/>
            <a:ext cx="75438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53972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143000"/>
            <a:ext cx="7543800" cy="480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58887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295400"/>
            <a:ext cx="7767638" cy="4419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98592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685800"/>
            <a:ext cx="76200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88626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itchFamily="18" charset="0"/>
                <a:cs typeface="Times New Roman" pitchFamily="18" charset="0"/>
              </a:rPr>
              <a:t>QUEUES</a:t>
            </a:r>
            <a:endParaRPr lang="en-IN" dirty="0">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209800"/>
            <a:ext cx="6934200" cy="376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79210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143001"/>
            <a:ext cx="81534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98077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2525" y="914400"/>
            <a:ext cx="683895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46176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09600"/>
            <a:ext cx="7024744" cy="1143000"/>
          </a:xfrm>
        </p:spPr>
        <p:txBody>
          <a:bodyPr/>
          <a:lstStyle/>
          <a:p>
            <a:pPr algn="ctr"/>
            <a:r>
              <a:rPr lang="en-US" dirty="0" smtClean="0">
                <a:latin typeface="Times New Roman" pitchFamily="18" charset="0"/>
                <a:cs typeface="Times New Roman" pitchFamily="18" charset="0"/>
              </a:rPr>
              <a:t>TIMERS,DELAYS…</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1043492" y="1828800"/>
            <a:ext cx="6777317" cy="4003829"/>
          </a:xfrm>
        </p:spPr>
        <p:txBody>
          <a:bodyPr/>
          <a:lstStyle/>
          <a:p>
            <a:pPr algn="just"/>
            <a:r>
              <a:rPr lang="en-US" dirty="0">
                <a:latin typeface="Times New Roman" pitchFamily="18" charset="0"/>
                <a:cs typeface="Times New Roman" pitchFamily="18" charset="0"/>
              </a:rPr>
              <a:t>Software timers are used to schedule the execution of a function at a set time in the future, or periodically with a fixed </a:t>
            </a:r>
            <a:r>
              <a:rPr lang="en-US" dirty="0" smtClean="0">
                <a:latin typeface="Times New Roman" pitchFamily="18" charset="0"/>
                <a:cs typeface="Times New Roman" pitchFamily="18" charset="0"/>
              </a:rPr>
              <a:t>frequency.</a:t>
            </a:r>
          </a:p>
          <a:p>
            <a:pPr algn="just"/>
            <a:r>
              <a:rPr lang="en-US" dirty="0" smtClean="0">
                <a:latin typeface="Times New Roman" pitchFamily="18" charset="0"/>
                <a:cs typeface="Times New Roman" pitchFamily="18" charset="0"/>
              </a:rPr>
              <a:t>Software timers are implemented by</a:t>
            </a:r>
            <a:r>
              <a:rPr lang="en-US" dirty="0">
                <a:latin typeface="Times New Roman" pitchFamily="18" charset="0"/>
                <a:cs typeface="Times New Roman" pitchFamily="18" charset="0"/>
              </a:rPr>
              <a:t>, and are under the control of, the </a:t>
            </a:r>
            <a:r>
              <a:rPr lang="en-US" dirty="0" smtClean="0">
                <a:latin typeface="Times New Roman" pitchFamily="18" charset="0"/>
                <a:cs typeface="Times New Roman" pitchFamily="18" charset="0"/>
              </a:rPr>
              <a:t>Free RTOS </a:t>
            </a:r>
            <a:r>
              <a:rPr lang="en-US" dirty="0">
                <a:latin typeface="Times New Roman" pitchFamily="18" charset="0"/>
                <a:cs typeface="Times New Roman" pitchFamily="18" charset="0"/>
              </a:rPr>
              <a:t>kernel.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They </a:t>
            </a:r>
            <a:r>
              <a:rPr lang="en-US" dirty="0">
                <a:latin typeface="Times New Roman" pitchFamily="18" charset="0"/>
                <a:cs typeface="Times New Roman" pitchFamily="18" charset="0"/>
              </a:rPr>
              <a:t>do not require hardware support, and are not related to hardware timers or hardware </a:t>
            </a:r>
            <a:r>
              <a:rPr lang="en-US" dirty="0" smtClean="0">
                <a:latin typeface="Times New Roman" pitchFamily="18" charset="0"/>
                <a:cs typeface="Times New Roman" pitchFamily="18" charset="0"/>
              </a:rPr>
              <a:t>counters</a:t>
            </a:r>
            <a:r>
              <a:rPr lang="en-US" dirty="0">
                <a:latin typeface="Times New Roman" pitchFamily="18" charset="0"/>
                <a:cs typeface="Times New Roman" pitchFamily="18" charset="0"/>
              </a:rPr>
              <a: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6992418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877336"/>
          </a:xfrm>
        </p:spPr>
        <p:txBody>
          <a:bodyPr/>
          <a:lstStyle/>
          <a:p>
            <a:r>
              <a:rPr lang="en-US" dirty="0" smtClean="0">
                <a:latin typeface="Times New Roman" pitchFamily="18" charset="0"/>
                <a:cs typeface="Times New Roman" pitchFamily="18" charset="0"/>
              </a:rPr>
              <a:t>REAL TIME CLOCK(RTC</a:t>
            </a:r>
            <a:r>
              <a:rPr lang="en-US" dirty="0" smtClean="0"/>
              <a:t>)</a:t>
            </a:r>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776413"/>
            <a:ext cx="5486400" cy="424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28424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600200"/>
            <a:ext cx="6648450" cy="3809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53698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2525" y="1219200"/>
            <a:ext cx="683895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80176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457200"/>
            <a:ext cx="7024744" cy="1143000"/>
          </a:xfrm>
        </p:spPr>
        <p:txBody>
          <a:bodyPr/>
          <a:lstStyle/>
          <a:p>
            <a:pPr algn="ctr"/>
            <a:r>
              <a:rPr lang="en-IN" b="1" dirty="0">
                <a:latin typeface="Times New Roman" pitchFamily="18" charset="0"/>
                <a:cs typeface="Times New Roman" pitchFamily="18" charset="0"/>
              </a:rPr>
              <a:t>Trust Zone </a:t>
            </a:r>
            <a:r>
              <a:rPr lang="en-IN" b="1" dirty="0" smtClean="0">
                <a:latin typeface="Times New Roman" pitchFamily="18" charset="0"/>
                <a:cs typeface="Times New Roman" pitchFamily="18" charset="0"/>
              </a:rPr>
              <a:t>Technology</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a:xfrm>
            <a:off x="1043492" y="1524000"/>
            <a:ext cx="6777317" cy="4308629"/>
          </a:xfrm>
        </p:spPr>
        <p:txBody>
          <a:bodyPr>
            <a:normAutofit fontScale="92500" lnSpcReduction="10000"/>
          </a:bodyPr>
          <a:lstStyle/>
          <a:p>
            <a:r>
              <a:rPr lang="en-US" dirty="0">
                <a:latin typeface="Times New Roman" pitchFamily="18" charset="0"/>
                <a:cs typeface="Times New Roman" pitchFamily="18" charset="0"/>
              </a:rPr>
              <a:t>The Arm </a:t>
            </a:r>
            <a:r>
              <a:rPr lang="en-US" dirty="0" smtClean="0">
                <a:latin typeface="Times New Roman" pitchFamily="18" charset="0"/>
                <a:cs typeface="Times New Roman" pitchFamily="18" charset="0"/>
              </a:rPr>
              <a:t>Trust Zone </a:t>
            </a:r>
            <a:r>
              <a:rPr lang="en-US" dirty="0">
                <a:latin typeface="Times New Roman" pitchFamily="18" charset="0"/>
                <a:cs typeface="Times New Roman" pitchFamily="18" charset="0"/>
              </a:rPr>
              <a:t>technology for Armv8-M partitions the system into two regions: one is secure world and another is </a:t>
            </a:r>
            <a:r>
              <a:rPr lang="en-US" dirty="0" smtClean="0">
                <a:latin typeface="Times New Roman" pitchFamily="18" charset="0"/>
                <a:cs typeface="Times New Roman" pitchFamily="18" charset="0"/>
              </a:rPr>
              <a:t>non secure </a:t>
            </a:r>
            <a:r>
              <a:rPr lang="en-US" dirty="0">
                <a:latin typeface="Times New Roman" pitchFamily="18" charset="0"/>
                <a:cs typeface="Times New Roman" pitchFamily="18" charset="0"/>
              </a:rPr>
              <a:t>world</a:t>
            </a:r>
            <a:r>
              <a:rPr lang="en-US" dirty="0" smtClean="0">
                <a:latin typeface="Times New Roman" pitchFamily="18" charset="0"/>
                <a:cs typeface="Times New Roman" pitchFamily="18" charset="0"/>
              </a:rPr>
              <a:t>.</a:t>
            </a:r>
          </a:p>
          <a:p>
            <a:r>
              <a:rPr lang="en-US" dirty="0">
                <a:latin typeface="Times New Roman" pitchFamily="18" charset="0"/>
                <a:cs typeface="Times New Roman" pitchFamily="18" charset="0"/>
              </a:rPr>
              <a:t>Important data that needs protection (such as cryptographic keys) must be placed and processed safely in the secure world </a:t>
            </a:r>
            <a:r>
              <a:rPr lang="en-US" dirty="0" smtClean="0">
                <a:latin typeface="Times New Roman" pitchFamily="18" charset="0"/>
                <a:cs typeface="Times New Roman" pitchFamily="18" charset="0"/>
              </a:rPr>
              <a:t>.</a:t>
            </a:r>
          </a:p>
          <a:p>
            <a:r>
              <a:rPr lang="en-US" dirty="0">
                <a:latin typeface="Times New Roman" pitchFamily="18" charset="0"/>
                <a:cs typeface="Times New Roman" pitchFamily="18" charset="0"/>
              </a:rPr>
              <a:t>The location where the code is executed defines its type</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When the code is executed in secure memory, it is called secure code. </a:t>
            </a:r>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 </a:t>
            </a:r>
            <a:r>
              <a:rPr lang="en-US" b="1" dirty="0">
                <a:latin typeface="Times New Roman" pitchFamily="18" charset="0"/>
                <a:cs typeface="Times New Roman" pitchFamily="18" charset="0"/>
              </a:rPr>
              <a:t>When the code is executed in </a:t>
            </a:r>
            <a:r>
              <a:rPr lang="en-US" b="1" dirty="0" smtClean="0">
                <a:latin typeface="Times New Roman" pitchFamily="18" charset="0"/>
                <a:cs typeface="Times New Roman" pitchFamily="18" charset="0"/>
              </a:rPr>
              <a:t>non secure </a:t>
            </a:r>
            <a:r>
              <a:rPr lang="en-US" b="1" dirty="0">
                <a:latin typeface="Times New Roman" pitchFamily="18" charset="0"/>
                <a:cs typeface="Times New Roman" pitchFamily="18" charset="0"/>
              </a:rPr>
              <a:t>memory, it is called </a:t>
            </a:r>
            <a:r>
              <a:rPr lang="en-US" b="1" dirty="0" smtClean="0">
                <a:latin typeface="Times New Roman" pitchFamily="18" charset="0"/>
                <a:cs typeface="Times New Roman" pitchFamily="18" charset="0"/>
              </a:rPr>
              <a:t>non secure </a:t>
            </a:r>
            <a:r>
              <a:rPr lang="en-US" b="1" dirty="0">
                <a:latin typeface="Times New Roman" pitchFamily="18" charset="0"/>
                <a:cs typeface="Times New Roman" pitchFamily="18" charset="0"/>
              </a:rPr>
              <a:t>code.</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14673863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9628" y="609600"/>
            <a:ext cx="7024744" cy="990600"/>
          </a:xfrm>
        </p:spPr>
        <p:txBody>
          <a:bodyPr>
            <a:normAutofit fontScale="90000"/>
          </a:bodyPr>
          <a:lstStyle/>
          <a:p>
            <a:pPr algn="ctr"/>
            <a:r>
              <a:rPr lang="en-US" dirty="0">
                <a:latin typeface="Times New Roman" pitchFamily="18" charset="0"/>
                <a:cs typeface="Times New Roman" pitchFamily="18" charset="0"/>
              </a:rPr>
              <a:t>Resource partition between secure and </a:t>
            </a:r>
            <a:r>
              <a:rPr lang="en-US" dirty="0" smtClean="0">
                <a:latin typeface="Times New Roman" pitchFamily="18" charset="0"/>
                <a:cs typeface="Times New Roman" pitchFamily="18" charset="0"/>
              </a:rPr>
              <a:t>non secure </a:t>
            </a:r>
            <a:r>
              <a:rPr lang="en-US" dirty="0">
                <a:latin typeface="Times New Roman" pitchFamily="18" charset="0"/>
                <a:cs typeface="Times New Roman" pitchFamily="18" charset="0"/>
              </a:rPr>
              <a:t>worlds</a:t>
            </a:r>
            <a:endParaRPr lang="en-IN"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828800"/>
            <a:ext cx="55626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81275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838200"/>
            <a:ext cx="6934199" cy="501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260786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9628" y="381000"/>
            <a:ext cx="7024744" cy="762000"/>
          </a:xfrm>
        </p:spPr>
        <p:txBody>
          <a:bodyPr>
            <a:normAutofit/>
          </a:bodyPr>
          <a:lstStyle/>
          <a:p>
            <a:pPr algn="ctr"/>
            <a:r>
              <a:rPr lang="en-US" sz="3200" dirty="0" smtClean="0">
                <a:latin typeface="Times New Roman" pitchFamily="18" charset="0"/>
                <a:cs typeface="Times New Roman" pitchFamily="18" charset="0"/>
              </a:rPr>
              <a:t>Trust Zone </a:t>
            </a:r>
            <a:r>
              <a:rPr lang="en-US" sz="3200" dirty="0">
                <a:latin typeface="Times New Roman" pitchFamily="18" charset="0"/>
                <a:cs typeface="Times New Roman" pitchFamily="18" charset="0"/>
              </a:rPr>
              <a:t>implementation on </a:t>
            </a:r>
            <a:r>
              <a:rPr lang="en-US" sz="3200" dirty="0" smtClean="0">
                <a:latin typeface="Times New Roman" pitchFamily="18" charset="0"/>
                <a:cs typeface="Times New Roman" pitchFamily="18" charset="0"/>
              </a:rPr>
              <a:t>STM32U5</a:t>
            </a:r>
            <a:endParaRPr lang="en-IN" sz="3200" dirty="0">
              <a:latin typeface="Times New Roman" pitchFamily="18" charset="0"/>
              <a:cs typeface="Times New Roman" pitchFamily="18" charset="0"/>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219200"/>
            <a:ext cx="6858000" cy="506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220715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066800"/>
            <a:ext cx="7162800" cy="480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512263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283" y="609600"/>
            <a:ext cx="7077634" cy="914400"/>
          </a:xfrm>
        </p:spPr>
        <p:txBody>
          <a:bodyPr>
            <a:noAutofit/>
          </a:bodyPr>
          <a:lstStyle/>
          <a:p>
            <a:pPr algn="ctr"/>
            <a:r>
              <a:rPr lang="en-US" sz="2800" dirty="0">
                <a:latin typeface="Times New Roman" pitchFamily="18" charset="0"/>
                <a:cs typeface="Times New Roman" pitchFamily="18" charset="0"/>
              </a:rPr>
              <a:t>SAU memory map address security attribution on STM32L5, STM32U5, and STM32U3</a:t>
            </a:r>
            <a:endParaRPr lang="en-IN" sz="2800"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905000"/>
            <a:ext cx="6172200" cy="442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498669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838200"/>
            <a:ext cx="6777317" cy="4994429"/>
          </a:xfrm>
        </p:spPr>
        <p:txBody>
          <a:bodyPr>
            <a:normAutofit/>
          </a:bodyPr>
          <a:lstStyle/>
          <a:p>
            <a:pPr algn="just"/>
            <a:r>
              <a:rPr lang="en-US" b="1" dirty="0" smtClean="0">
                <a:latin typeface="Times New Roman" pitchFamily="18" charset="0"/>
                <a:cs typeface="Times New Roman" pitchFamily="18" charset="0"/>
              </a:rPr>
              <a:t>Code </a:t>
            </a:r>
            <a:r>
              <a:rPr lang="en-US" b="1" dirty="0">
                <a:latin typeface="Times New Roman" pitchFamily="18" charset="0"/>
                <a:cs typeface="Times New Roman" pitchFamily="18" charset="0"/>
              </a:rPr>
              <a:t>and Memory Optimization</a:t>
            </a:r>
          </a:p>
          <a:p>
            <a:pPr algn="just"/>
            <a:r>
              <a:rPr lang="en-US" dirty="0">
                <a:latin typeface="Times New Roman" pitchFamily="18" charset="0"/>
                <a:cs typeface="Times New Roman" pitchFamily="18" charset="0"/>
              </a:rPr>
              <a:t>Due to the system split, firmware design can run into memory footprint bloating.</a:t>
            </a:r>
          </a:p>
          <a:p>
            <a:pPr algn="just"/>
            <a:r>
              <a:rPr lang="en-US" b="1" dirty="0">
                <a:latin typeface="Times New Roman" pitchFamily="18" charset="0"/>
                <a:cs typeface="Times New Roman" pitchFamily="18" charset="0"/>
              </a:rPr>
              <a:t>Cross-World Overhead:</a:t>
            </a:r>
            <a:r>
              <a:rPr lang="en-US" dirty="0">
                <a:latin typeface="Times New Roman" pitchFamily="18" charset="0"/>
                <a:cs typeface="Times New Roman" pitchFamily="18" charset="0"/>
              </a:rPr>
              <a:t> Inter-world function calls carry runtime overhead because the compiler generates a register clearing sequence to prevent data leaking. Group code modules by dependency to minimize frequent jumping back and forth across the Secure/Non-Secure boundary. </a:t>
            </a:r>
          </a:p>
          <a:p>
            <a:pPr algn="just"/>
            <a:r>
              <a:rPr lang="en-US" b="1" dirty="0">
                <a:latin typeface="Times New Roman" pitchFamily="18" charset="0"/>
                <a:cs typeface="Times New Roman" pitchFamily="18" charset="0"/>
              </a:rPr>
              <a:t>Dual-Project Structuring:</a:t>
            </a:r>
            <a:r>
              <a:rPr lang="en-US" dirty="0">
                <a:latin typeface="Times New Roman" pitchFamily="18" charset="0"/>
                <a:cs typeface="Times New Roman" pitchFamily="18" charset="0"/>
              </a:rPr>
              <a:t> Tools like </a:t>
            </a:r>
            <a:r>
              <a:rPr lang="en-US" u="sng" dirty="0">
                <a:latin typeface="Times New Roman" pitchFamily="18" charset="0"/>
                <a:cs typeface="Times New Roman" pitchFamily="18" charset="0"/>
                <a:hlinkClick r:id="rId2"/>
              </a:rPr>
              <a:t>STM32CubeIDE</a:t>
            </a:r>
            <a:r>
              <a:rPr lang="en-US" dirty="0">
                <a:latin typeface="Times New Roman" pitchFamily="18" charset="0"/>
                <a:cs typeface="Times New Roman" pitchFamily="18" charset="0"/>
              </a:rPr>
              <a:t> build </a:t>
            </a:r>
            <a:r>
              <a:rPr lang="en-US" dirty="0" smtClean="0">
                <a:latin typeface="Times New Roman" pitchFamily="18" charset="0"/>
                <a:cs typeface="Times New Roman" pitchFamily="18" charset="0"/>
              </a:rPr>
              <a:t>Trust Zone </a:t>
            </a:r>
            <a:r>
              <a:rPr lang="en-US" dirty="0">
                <a:latin typeface="Times New Roman" pitchFamily="18" charset="0"/>
                <a:cs typeface="Times New Roman" pitchFamily="18" charset="0"/>
              </a:rPr>
              <a:t>applications as two linked binaries. Optimize compilation </a:t>
            </a:r>
            <a:r>
              <a:rPr lang="en-US" dirty="0" smtClean="0">
                <a:latin typeface="Times New Roman" pitchFamily="18" charset="0"/>
                <a:cs typeface="Times New Roman" pitchFamily="18" charset="0"/>
              </a:rPr>
              <a:t>flags</a:t>
            </a:r>
            <a:endParaRPr lang="en-IN" dirty="0"/>
          </a:p>
        </p:txBody>
      </p:sp>
    </p:spTree>
    <p:extLst>
      <p:ext uri="{BB962C8B-B14F-4D97-AF65-F5344CB8AC3E}">
        <p14:creationId xmlns:p14="http://schemas.microsoft.com/office/powerpoint/2010/main" val="42408718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33400"/>
            <a:ext cx="7024744" cy="877336"/>
          </a:xfrm>
        </p:spPr>
        <p:txBody>
          <a:bodyPr>
            <a:normAutofit/>
          </a:bodyPr>
          <a:lstStyle/>
          <a:p>
            <a:r>
              <a:rPr lang="en-IN" sz="3200" dirty="0">
                <a:latin typeface="Times New Roman" pitchFamily="18" charset="0"/>
                <a:cs typeface="Times New Roman" pitchFamily="18" charset="0"/>
              </a:rPr>
              <a:t>Debugging Strategies and Tools</a:t>
            </a:r>
          </a:p>
        </p:txBody>
      </p:sp>
      <p:sp>
        <p:nvSpPr>
          <p:cNvPr id="3" name="Content Placeholder 2"/>
          <p:cNvSpPr>
            <a:spLocks noGrp="1"/>
          </p:cNvSpPr>
          <p:nvPr>
            <p:ph idx="1"/>
          </p:nvPr>
        </p:nvSpPr>
        <p:spPr>
          <a:xfrm>
            <a:off x="1043492" y="1600200"/>
            <a:ext cx="6777317" cy="4232429"/>
          </a:xfrm>
        </p:spPr>
        <p:txBody>
          <a:bodyPr>
            <a:normAutofit lnSpcReduction="10000"/>
          </a:bodyPr>
          <a:lstStyle/>
          <a:p>
            <a:pPr algn="just"/>
            <a:r>
              <a:rPr lang="en-US" b="1" dirty="0">
                <a:latin typeface="Times New Roman" pitchFamily="18" charset="0"/>
                <a:cs typeface="Times New Roman" pitchFamily="18" charset="0"/>
              </a:rPr>
              <a:t>Hardware Control Points:</a:t>
            </a:r>
            <a:r>
              <a:rPr lang="en-US" dirty="0">
                <a:latin typeface="Times New Roman" pitchFamily="18" charset="0"/>
                <a:cs typeface="Times New Roman" pitchFamily="18" charset="0"/>
              </a:rPr>
              <a:t> Authentication states on the STM32U5 determine if a debugger can trace code </a:t>
            </a:r>
            <a:r>
              <a:rPr lang="en-US" dirty="0" smtClean="0">
                <a:latin typeface="Times New Roman" pitchFamily="18" charset="0"/>
                <a:cs typeface="Times New Roman" pitchFamily="18" charset="0"/>
              </a:rPr>
              <a:t>execution</a:t>
            </a:r>
          </a:p>
          <a:p>
            <a:pPr algn="just"/>
            <a:r>
              <a:rPr lang="en-US" b="1" dirty="0" smtClean="0">
                <a:latin typeface="Times New Roman" pitchFamily="18" charset="0"/>
                <a:cs typeface="Times New Roman" pitchFamily="18" charset="0"/>
              </a:rPr>
              <a:t>Secure </a:t>
            </a:r>
            <a:r>
              <a:rPr lang="en-US" b="1" dirty="0">
                <a:latin typeface="Times New Roman" pitchFamily="18" charset="0"/>
                <a:cs typeface="Times New Roman" pitchFamily="18" charset="0"/>
              </a:rPr>
              <a:t>Debug Enabled:</a:t>
            </a:r>
            <a:r>
              <a:rPr lang="en-US" dirty="0">
                <a:latin typeface="Times New Roman" pitchFamily="18" charset="0"/>
                <a:cs typeface="Times New Roman" pitchFamily="18" charset="0"/>
              </a:rPr>
              <a:t> Full access to step through both Secure and Non-Secure zones.</a:t>
            </a:r>
          </a:p>
          <a:p>
            <a:pPr algn="just"/>
            <a:r>
              <a:rPr lang="en-US" b="1" dirty="0">
                <a:latin typeface="Times New Roman" pitchFamily="18" charset="0"/>
                <a:cs typeface="Times New Roman" pitchFamily="18" charset="0"/>
              </a:rPr>
              <a:t>Non-Secure Debug Only:</a:t>
            </a:r>
            <a:r>
              <a:rPr lang="en-US" dirty="0">
                <a:latin typeface="Times New Roman" pitchFamily="18" charset="0"/>
                <a:cs typeface="Times New Roman" pitchFamily="18" charset="0"/>
              </a:rPr>
              <a:t> The debugger can only step through Non-Secure code. If the code jumps to a Secure function, the debug probe reads zero values or stalls until the core returns to the Non-Secure state</a:t>
            </a:r>
            <a:r>
              <a:rPr lang="en-US" dirty="0" smtClean="0">
                <a:latin typeface="Times New Roman" pitchFamily="18" charset="0"/>
                <a:cs typeface="Times New Roman" pitchFamily="18" charset="0"/>
              </a:rPr>
              <a:t>.</a:t>
            </a:r>
          </a:p>
          <a:p>
            <a:pPr algn="just"/>
            <a:r>
              <a:rPr lang="en-IN" b="1" dirty="0" smtClean="0">
                <a:latin typeface="Times New Roman" pitchFamily="18" charset="0"/>
                <a:cs typeface="Times New Roman" pitchFamily="18" charset="0"/>
              </a:rPr>
              <a:t>Industry</a:t>
            </a:r>
            <a:r>
              <a:rPr lang="en-IN" dirty="0" smtClean="0">
                <a:latin typeface="Times New Roman" pitchFamily="18" charset="0"/>
                <a:cs typeface="Times New Roman" pitchFamily="18" charset="0"/>
              </a:rPr>
              <a:t> </a:t>
            </a:r>
            <a:r>
              <a:rPr lang="en-IN" b="1" dirty="0" smtClean="0">
                <a:latin typeface="Times New Roman" pitchFamily="18" charset="0"/>
                <a:cs typeface="Times New Roman" pitchFamily="18" charset="0"/>
              </a:rPr>
              <a:t>Standard</a:t>
            </a:r>
            <a:r>
              <a:rPr lang="en-IN" dirty="0" smtClean="0">
                <a:latin typeface="Times New Roman" pitchFamily="18" charset="0"/>
                <a:cs typeface="Times New Roman" pitchFamily="18" charset="0"/>
              </a:rPr>
              <a:t> </a:t>
            </a:r>
            <a:r>
              <a:rPr lang="en-IN" b="1" dirty="0" smtClean="0">
                <a:latin typeface="Times New Roman" pitchFamily="18" charset="0"/>
                <a:cs typeface="Times New Roman" pitchFamily="18" charset="0"/>
              </a:rPr>
              <a:t>Tooling</a:t>
            </a:r>
            <a:endParaRPr lang="en-US" b="1" dirty="0" smtClean="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248650358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811</TotalTime>
  <Words>1711</Words>
  <Application>Microsoft Office PowerPoint</Application>
  <PresentationFormat>On-screen Show (4:3)</PresentationFormat>
  <Paragraphs>169</Paragraphs>
  <Slides>63</Slides>
  <Notes>1</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Austin</vt:lpstr>
      <vt:lpstr>MICRO CONTROLLER Module-4</vt:lpstr>
      <vt:lpstr>Internet of Things(IOT)</vt:lpstr>
      <vt:lpstr>PowerPoint Presentation</vt:lpstr>
      <vt:lpstr>PowerPoint Presentation</vt:lpstr>
      <vt:lpstr>PowerPoint Presentation</vt:lpstr>
      <vt:lpstr>IoT system consists of the following components:</vt:lpstr>
      <vt:lpstr>PowerPoint Presentation</vt:lpstr>
      <vt:lpstr>PowerPoint Presentation</vt:lpstr>
      <vt:lpstr>Advantages of IoT</vt:lpstr>
      <vt:lpstr>Characteristics of IOT</vt:lpstr>
      <vt:lpstr>IOT Architecture</vt:lpstr>
      <vt:lpstr>PowerPoint Presentation</vt:lpstr>
      <vt:lpstr>PowerPoint Presentation</vt:lpstr>
      <vt:lpstr>PowerPoint Presentation</vt:lpstr>
      <vt:lpstr>PowerPoint Presentation</vt:lpstr>
      <vt:lpstr> Some of the most common protocols are the following:</vt:lpstr>
      <vt:lpstr>3. IoT gateway</vt:lpstr>
      <vt:lpstr>4. IoT platform</vt:lpstr>
      <vt:lpstr>5.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IoT Communication Parameters </vt:lpstr>
      <vt:lpstr>LoRa Communication </vt:lpstr>
      <vt:lpstr>PowerPoint Presentation</vt:lpstr>
      <vt:lpstr>PowerPoint Presentation</vt:lpstr>
      <vt:lpstr>Core Features of LoRa and LoRaWAN</vt:lpstr>
      <vt:lpstr>PowerPoint Presentation</vt:lpstr>
      <vt:lpstr>PowerPoint Presentation</vt:lpstr>
      <vt:lpstr>APPLICATIONS</vt:lpstr>
      <vt:lpstr>IoT-Based Home Automation System</vt:lpstr>
      <vt:lpstr>PowerPoint Presentation</vt:lpstr>
      <vt:lpstr>PowerPoint Presentation</vt:lpstr>
      <vt:lpstr>PowerPoint Presentation</vt:lpstr>
      <vt:lpstr>Proposed Home Automation System Functions</vt:lpstr>
      <vt:lpstr>PowerPoint Presentation</vt:lpstr>
      <vt:lpstr>Multitasking Scenarios</vt:lpstr>
      <vt:lpstr>The Kernel</vt:lpstr>
      <vt:lpstr>PowerPoint Presentation</vt:lpstr>
      <vt:lpstr>PowerPoint Presentation</vt:lpstr>
      <vt:lpstr>PowerPoint Presentation</vt:lpstr>
      <vt:lpstr>PowerPoint Presentation</vt:lpstr>
      <vt:lpstr>PowerPoint Presentation</vt:lpstr>
      <vt:lpstr>PowerPoint Presentation</vt:lpstr>
      <vt:lpstr>QUEUES</vt:lpstr>
      <vt:lpstr>PowerPoint Presentation</vt:lpstr>
      <vt:lpstr>PowerPoint Presentation</vt:lpstr>
      <vt:lpstr>TIMERS,DELAYS…</vt:lpstr>
      <vt:lpstr>REAL TIME CLOCK(RTC)</vt:lpstr>
      <vt:lpstr>PowerPoint Presentation</vt:lpstr>
      <vt:lpstr>PowerPoint Presentation</vt:lpstr>
      <vt:lpstr>Trust Zone Technology</vt:lpstr>
      <vt:lpstr>Resource partition between secure and non secure worlds</vt:lpstr>
      <vt:lpstr>PowerPoint Presentation</vt:lpstr>
      <vt:lpstr>Trust Zone implementation on STM32U5</vt:lpstr>
      <vt:lpstr>PowerPoint Presentation</vt:lpstr>
      <vt:lpstr>SAU memory map address security attribution on STM32L5, STM32U5, and STM32U3</vt:lpstr>
      <vt:lpstr>PowerPoint Presentation</vt:lpstr>
      <vt:lpstr>Debugging Strategies and Tools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cek</dc:creator>
  <cp:lastModifiedBy>cek</cp:lastModifiedBy>
  <cp:revision>82</cp:revision>
  <dcterms:created xsi:type="dcterms:W3CDTF">2006-08-16T00:00:00Z</dcterms:created>
  <dcterms:modified xsi:type="dcterms:W3CDTF">2026-09-23T03:03:57Z</dcterms:modified>
</cp:coreProperties>
</file>