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2" r:id="rId3"/>
    <p:sldMasterId id="2147483654" r:id="rId4"/>
    <p:sldMasterId id="2147483662" r:id="rId5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9144000" cy="6858000" type="screen4x3"/>
  <p:notesSz cx="7315200" cy="9601200"/>
  <p:embeddedFontLst>
    <p:embeddedFont>
      <p:font typeface="Sigmar One" panose="020B0604020202020204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jBT2uCOqySkfksRYUn7XnTYgj+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47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40" Type="http://customschemas.google.com/relationships/presentationmetadata" Target="meta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1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8"/>
          <p:cNvSpPr txBox="1">
            <a:spLocks noGrp="1"/>
          </p:cNvSpPr>
          <p:nvPr>
            <p:ph type="body" idx="1"/>
          </p:nvPr>
        </p:nvSpPr>
        <p:spPr>
          <a:xfrm rot="5400000">
            <a:off x="2042319" y="-518319"/>
            <a:ext cx="50593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8" name="Google Shape;108;p4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9" name="Google Shape;109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36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44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>
            <a:spLocks noGrp="1"/>
          </p:cNvSpPr>
          <p:nvPr>
            <p:ph type="ctrTitle"/>
          </p:nvPr>
        </p:nvSpPr>
        <p:spPr>
          <a:xfrm>
            <a:off x="381000" y="1219200"/>
            <a:ext cx="8458200" cy="238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CC"/>
              </a:buClr>
              <a:buSzPts val="3600"/>
            </a:pPr>
            <a:r>
              <a:rPr lang="en-US" altLang="en-US">
                <a:solidFill>
                  <a:srgbClr val="0000CC"/>
                </a:solidFill>
              </a:rPr>
              <a:t>PBCST304 Object Oriented Programming</a:t>
            </a:r>
            <a:br>
              <a:rPr lang="en-US" altLang="en-US"/>
            </a:br>
            <a:r>
              <a:rPr lang="en-US" altLang="en-US"/>
              <a:t>Module 3 - More features of Java </a:t>
            </a:r>
            <a:br>
              <a:rPr lang="en-US" altLang="en-US"/>
            </a:br>
            <a:r>
              <a:rPr lang="en-US" altLang="en-US"/>
              <a:t>(Part 3)</a:t>
            </a:r>
            <a:endParaRPr dirty="0"/>
          </a:p>
        </p:txBody>
      </p:sp>
      <p:sp>
        <p:nvSpPr>
          <p:cNvPr id="117" name="Google Shape;117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lang="en-US" sz="3200" b="0" i="0" u="none">
                <a:solidFill>
                  <a:srgbClr val="898989"/>
                </a:solidFill>
                <a:latin typeface="Sigmar One"/>
                <a:ea typeface="Sigmar One"/>
                <a:cs typeface="Sigmar One"/>
                <a:sym typeface="Sigmar One"/>
              </a:rPr>
              <a:t>Prepared by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98989"/>
              </a:buClr>
              <a:buSzPts val="4000"/>
              <a:buNone/>
            </a:pPr>
            <a:r>
              <a:rPr lang="en-US" sz="4000" b="1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Renetha J.B.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25" name="Google Shape;125;p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features of Java :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 Handling: </a:t>
            </a:r>
            <a:endParaRPr/>
          </a:p>
          <a:p>
            <a:pPr marL="1143000" marR="0" lvl="2" indent="-2286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Exceptions</a:t>
            </a:r>
            <a:endParaRPr/>
          </a:p>
          <a:p>
            <a:pPr marL="1143000" marR="0" lvl="2" indent="-2286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Unchecked Exceptions</a:t>
            </a:r>
            <a:endParaRPr/>
          </a:p>
          <a:p>
            <a:pPr marL="1143000" marR="0" lvl="2" indent="-22860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and </a:t>
            </a:r>
            <a:r>
              <a:rPr lang="en-US" sz="3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 Clause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 Handling</a:t>
            </a:r>
            <a:endParaRPr/>
          </a:p>
        </p:txBody>
      </p:sp>
      <p:sp>
        <p:nvSpPr>
          <p:cNvPr id="133" name="Google Shape;133;p3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abnormal condition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occur in a code sequence at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time.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 is a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TIME ERROR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 exception is an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describes an exceptional (that is, error) condition that occurred in a piece of code.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exceptional condition arises,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sz="22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representing that exception is created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b="0" i="1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200" b="0" i="1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hrown in the method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caused the error.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method may choose to handle the exception itself, or pass it on.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exception is then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caught and processed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 Handling(contd.)</a:t>
            </a:r>
            <a:endParaRPr/>
          </a:p>
        </p:txBody>
      </p:sp>
      <p:sp>
        <p:nvSpPr>
          <p:cNvPr id="141" name="Google Shape;141;p4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Exceptions can be 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by </a:t>
            </a:r>
            <a:endParaRPr/>
          </a:p>
          <a:p>
            <a:pPr marL="742950" marR="0" lvl="1" indent="-285750" algn="just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run-time system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</a:t>
            </a:r>
            <a:endParaRPr/>
          </a:p>
          <a:p>
            <a:pPr marL="742950" marR="0" lvl="1" indent="-285750" algn="just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manually generated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your code.</a:t>
            </a:r>
            <a:endParaRPr/>
          </a:p>
          <a:p>
            <a:pPr marL="342900" marR="0" lvl="0" indent="-342900" algn="just" rtl="0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Exceptions thrown by Java are related to </a:t>
            </a:r>
            <a:endParaRPr/>
          </a:p>
          <a:p>
            <a:pPr marL="742950" marR="0" lvl="1" indent="-285750" algn="just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errors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violate the rules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endParaRPr/>
          </a:p>
          <a:p>
            <a:pPr marL="1143000" marR="0" lvl="2" indent="-228600" algn="just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language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 </a:t>
            </a:r>
            <a:endParaRPr/>
          </a:p>
          <a:p>
            <a:pPr marL="1143000" marR="0" lvl="2" indent="-228600" algn="just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Java execution environment.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54102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143000"/>
            <a:ext cx="3267075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 Types	</a:t>
            </a:r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body" idx="1"/>
          </p:nvPr>
        </p:nvSpPr>
        <p:spPr>
          <a:xfrm>
            <a:off x="-76200" y="457200"/>
            <a:ext cx="6553200" cy="544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exception types are subclasses of the built-in class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Throwable.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Throwable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two subclasses that partition exceptions into two distinct branches. </a:t>
            </a:r>
            <a:endParaRPr/>
          </a:p>
          <a:p>
            <a:pPr marL="914400" marR="0" lvl="1" indent="-4572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branch is headed by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Exception.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class is used for exceptional conditions that </a:t>
            </a:r>
            <a:r>
              <a:rPr lang="en-US" sz="2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programs should </a:t>
            </a:r>
            <a:r>
              <a:rPr lang="en-US" sz="22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Subclass of this helps to create custom exception types.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RuntimeException(unchecked exception)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subclass of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6400800" y="6569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228600" y="4343400"/>
            <a:ext cx="8534400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other branch is headed by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</a:t>
            </a:r>
            <a:endParaRPr/>
          </a:p>
          <a:p>
            <a:pPr marL="914400" marR="0" lvl="2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defines exceptions that are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to be caught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normal circumstances by our program.(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unchecked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914400" marR="0" lvl="2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Exceptions of type Error are used by the Java run-time system to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indicate errors. </a:t>
            </a:r>
            <a:endParaRPr/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overflow,Out of Memory error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3505200" y="1752600"/>
            <a:ext cx="1517650" cy="369887"/>
          </a:xfrm>
          <a:prstGeom prst="rect">
            <a:avLst/>
          </a:prstGeom>
          <a:noFill/>
          <a:ln w="158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EXCEPTION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762000" y="3200400"/>
            <a:ext cx="2865437" cy="369887"/>
          </a:xfrm>
          <a:prstGeom prst="rect">
            <a:avLst/>
          </a:prstGeom>
          <a:noFill/>
          <a:ln w="158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CHECKED EXCEPTIONS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5562600" y="3276600"/>
            <a:ext cx="3198812" cy="369887"/>
          </a:xfrm>
          <a:prstGeom prst="rect">
            <a:avLst/>
          </a:prstGeom>
          <a:noFill/>
          <a:ln w="158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UNCHECKED EXCEPTIONS</a:t>
            </a:r>
            <a:endParaRPr/>
          </a:p>
        </p:txBody>
      </p:sp>
      <p:cxnSp>
        <p:nvCxnSpPr>
          <p:cNvPr id="165" name="Google Shape;165;p6"/>
          <p:cNvCxnSpPr/>
          <p:nvPr/>
        </p:nvCxnSpPr>
        <p:spPr>
          <a:xfrm rot="5400000">
            <a:off x="2690812" y="1627187"/>
            <a:ext cx="1077912" cy="2068512"/>
          </a:xfrm>
          <a:prstGeom prst="straightConnector1">
            <a:avLst/>
          </a:prstGeom>
          <a:noFill/>
          <a:ln w="19050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66" name="Google Shape;166;p6"/>
          <p:cNvCxnSpPr/>
          <p:nvPr/>
        </p:nvCxnSpPr>
        <p:spPr>
          <a:xfrm rot="-5400000" flipH="1">
            <a:off x="5135562" y="1250950"/>
            <a:ext cx="1154112" cy="2897187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0" y="1295400"/>
            <a:ext cx="2133600" cy="1585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 txBox="1">
            <a:spLocks noGrp="1"/>
          </p:cNvSpPr>
          <p:nvPr>
            <p:ph type="title"/>
          </p:nvPr>
        </p:nvSpPr>
        <p:spPr>
          <a:xfrm>
            <a:off x="7620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Unchecked exception</a:t>
            </a:r>
            <a:endParaRPr/>
          </a:p>
        </p:txBody>
      </p:sp>
      <p:sp>
        <p:nvSpPr>
          <p:cNvPr id="173" name="Google Shape;173;p7"/>
          <p:cNvSpPr txBox="1">
            <a:spLocks noGrp="1"/>
          </p:cNvSpPr>
          <p:nvPr>
            <p:ph type="body" idx="1"/>
          </p:nvPr>
        </p:nvSpPr>
        <p:spPr>
          <a:xfrm>
            <a:off x="0" y="457200"/>
            <a:ext cx="68580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Unchecked exception classes are defined inside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java.lang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unchecked exceptions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subclasses of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standard type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RuntimeException.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Java language, these are called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unchecked exceptions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</a:t>
            </a:r>
            <a:r>
              <a:rPr lang="en-US" sz="2400" b="0" i="1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1" i="1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 does not check </a:t>
            </a:r>
            <a:r>
              <a:rPr lang="en-US" sz="2400" b="0" i="1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see whether there is a method that  handles or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 these exceptions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program has unchecked exception then it will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 without error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but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exception occurs when program runs.</a:t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69342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6858000" y="62484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152400" y="6096000"/>
            <a:ext cx="8991600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  Exceptions under Error ,  ArrayIndexOutOfBoundException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Unchecked exception(contd.)</a:t>
            </a:r>
            <a:endParaRPr/>
          </a:p>
        </p:txBody>
      </p:sp>
      <p:sp>
        <p:nvSpPr>
          <p:cNvPr id="182" name="Google Shape;182;p8"/>
          <p:cNvSpPr txBox="1">
            <a:spLocks noGrp="1"/>
          </p:cNvSpPr>
          <p:nvPr>
            <p:ph type="body" idx="1"/>
          </p:nvPr>
        </p:nvSpPr>
        <p:spPr>
          <a:xfrm>
            <a:off x="457200" y="381000"/>
            <a:ext cx="8229600" cy="574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unchecked exceptions defined in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java.lang are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6248400" y="65532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70104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  <p:pic>
        <p:nvPicPr>
          <p:cNvPr id="185" name="Google Shape;18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33400"/>
            <a:ext cx="8686800" cy="60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exception</a:t>
            </a:r>
            <a:endParaRPr/>
          </a:p>
        </p:txBody>
      </p:sp>
      <p:sp>
        <p:nvSpPr>
          <p:cNvPr id="191" name="Google Shape;191;p9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2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some exceptions that are defined by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java.lang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</a:t>
            </a:r>
            <a:r>
              <a:rPr lang="en-US" sz="24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be included in a method’s </a:t>
            </a:r>
            <a:r>
              <a:rPr lang="en-US" sz="2400" b="1" i="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</a:t>
            </a:r>
            <a:r>
              <a:rPr lang="en-US" sz="24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list,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method generates such  exceptions and that </a:t>
            </a: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does not handle it itself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These are called 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exceptions</a:t>
            </a:r>
            <a:endParaRPr/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sng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sng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sng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sng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sng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sng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sng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IOException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FileNotFoundException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SQLException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  <p:pic>
        <p:nvPicPr>
          <p:cNvPr id="194" name="Google Shape;19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800" y="1981200"/>
            <a:ext cx="89662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exception(contd.)</a:t>
            </a:r>
            <a:endParaRPr/>
          </a:p>
        </p:txBody>
      </p:sp>
      <p:sp>
        <p:nvSpPr>
          <p:cNvPr id="200" name="Google Shape;200;p1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Checked exceptions are the exceptions (in java.lang) that are checked at compile time.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some statement in a method </a:t>
            </a:r>
            <a:r>
              <a:rPr lang="en-US" sz="24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 a checked exception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then that method must </a:t>
            </a:r>
            <a:endParaRPr/>
          </a:p>
          <a:p>
            <a:pPr marL="1143000" marR="0" lvl="2" indent="-2286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either handle the exception or </a:t>
            </a:r>
            <a:endParaRPr/>
          </a:p>
          <a:p>
            <a:pPr marL="1143000" marR="0" lvl="2" indent="-2286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must specify the exception using </a:t>
            </a:r>
            <a:r>
              <a:rPr lang="en-US" sz="24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keyword.</a:t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02" name="Google Shape;202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>
            <a:spLocks noGrp="1"/>
          </p:cNvSpPr>
          <p:nvPr>
            <p:ph type="body" idx="1"/>
          </p:nvPr>
        </p:nvSpPr>
        <p:spPr>
          <a:xfrm>
            <a:off x="531812" y="0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exceptions</a:t>
            </a:r>
            <a:endParaRPr/>
          </a:p>
        </p:txBody>
      </p:sp>
      <p:sp>
        <p:nvSpPr>
          <p:cNvPr id="208" name="Google Shape;208;p11"/>
          <p:cNvSpPr txBox="1">
            <a:spLocks noGrp="1"/>
          </p:cNvSpPr>
          <p:nvPr>
            <p:ph type="body" idx="1"/>
          </p:nvPr>
        </p:nvSpPr>
        <p:spPr>
          <a:xfrm>
            <a:off x="374650" y="1047750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at compile time.(COMPILE TIME EXCEPTIONS)</a:t>
            </a:r>
            <a:endParaRPr/>
          </a:p>
          <a:p>
            <a:pPr marL="342900" marR="0" lvl="0" indent="-215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sub class of RunTimeException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method must either </a:t>
            </a:r>
            <a:r>
              <a:rPr lang="en-US" sz="20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</a:t>
            </a:r>
            <a:r>
              <a:rPr lang="en-US" sz="20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exception using try-catch block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it must </a:t>
            </a:r>
            <a:r>
              <a:rPr lang="en-US" sz="20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specify</a:t>
            </a:r>
            <a:r>
              <a:rPr lang="en-US" sz="20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exception using </a:t>
            </a:r>
            <a:r>
              <a:rPr lang="en-US" sz="2000" b="0" i="1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 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 time error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checked exception is </a:t>
            </a:r>
            <a:r>
              <a:rPr lang="en-US" sz="20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handled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ClassNotFoundException, IOException,     SQLException. FileNotFoundexception</a:t>
            </a:r>
            <a:endParaRPr/>
          </a:p>
        </p:txBody>
      </p:sp>
      <p:sp>
        <p:nvSpPr>
          <p:cNvPr id="209" name="Google Shape;209;p11"/>
          <p:cNvSpPr txBox="1">
            <a:spLocks noGrp="1"/>
          </p:cNvSpPr>
          <p:nvPr>
            <p:ph type="body" idx="1"/>
          </p:nvPr>
        </p:nvSpPr>
        <p:spPr>
          <a:xfrm>
            <a:off x="4953000" y="65087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Unchecked exceptions</a:t>
            </a:r>
            <a:endParaRPr/>
          </a:p>
        </p:txBody>
      </p:sp>
      <p:sp>
        <p:nvSpPr>
          <p:cNvPr id="210" name="Google Shape;210;p11"/>
          <p:cNvSpPr txBox="1">
            <a:spLocks noGrp="1"/>
          </p:cNvSpPr>
          <p:nvPr>
            <p:ph type="body" idx="2"/>
          </p:nvPr>
        </p:nvSpPr>
        <p:spPr>
          <a:xfrm>
            <a:off x="4724400" y="1066800"/>
            <a:ext cx="4041775" cy="395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checked at compile time.(RUN TIME EXCEPTINS)</a:t>
            </a:r>
            <a:endParaRPr/>
          </a:p>
          <a:p>
            <a:pPr marL="342900" marR="0" lvl="0" indent="-215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15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class of RunTimeException</a:t>
            </a:r>
            <a:endParaRPr/>
          </a:p>
          <a:p>
            <a:pPr marL="342900" marR="0" lvl="0" indent="-215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NOT needed to handle or catch these exceptions</a:t>
            </a:r>
            <a:endParaRPr/>
          </a:p>
          <a:p>
            <a:pPr marL="342900" marR="0" lvl="0" indent="-215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compile time error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exception is not handled. But 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run-time error.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Eg.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ArithmeticException, ArrayIndexOutOfBoundsException,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NullPointerException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17526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 handling fundamentals</a:t>
            </a:r>
            <a:endParaRPr/>
          </a:p>
        </p:txBody>
      </p:sp>
      <p:pic>
        <p:nvPicPr>
          <p:cNvPr id="218" name="Google Shape;218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195387"/>
            <a:ext cx="8229600" cy="499268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20" name="Google Shape;220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 handling fundamentals(contd.)</a:t>
            </a:r>
            <a:endParaRPr/>
          </a:p>
        </p:txBody>
      </p:sp>
      <p:sp>
        <p:nvSpPr>
          <p:cNvPr id="226" name="Google Shape;226;p1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statements that </a:t>
            </a:r>
            <a:r>
              <a:rPr lang="en-US" sz="2400" b="0" i="0" u="sng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want to check for exceptions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written within a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block.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 exception </a:t>
            </a:r>
            <a:r>
              <a:rPr lang="en-US" sz="22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occurs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within the try block, it is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thrown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code inside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catch this exception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handle it in some manner.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System-generated exceptions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</a:t>
            </a: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thrown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Java run-time system.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lang="en-US" sz="24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manually throw </a:t>
            </a: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exception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use the keyword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exception that is </a:t>
            </a: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thrown out of a </a:t>
            </a:r>
            <a:r>
              <a:rPr lang="en-US" sz="24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be specified as such by a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clause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code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absolutely </a:t>
            </a: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be executed after a </a:t>
            </a:r>
            <a:r>
              <a:rPr lang="en-US" sz="24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block completes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put in a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finally block.</a:t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28" name="Google Shape;228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0" i="1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block of code to monitor for errors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(ExceptionType1 exOb)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exception handler for ExceptionType1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(ExceptionType2 exOb)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exception handler for ExceptionType2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...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block of code to be executed after try block ends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ExceptionType is the type of exception that has occurred.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6248400" y="60960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Uncaught Exceptions</a:t>
            </a:r>
            <a:endParaRPr/>
          </a:p>
        </p:txBody>
      </p:sp>
      <p:sp>
        <p:nvSpPr>
          <p:cNvPr id="241" name="Google Shape;241;p15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program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Lineno.1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class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Lineno.2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public static void </a:t>
            </a:r>
            <a:r>
              <a:rPr lang="en-US" sz="2400" b="1" i="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(String args[])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Lineno.3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{	int d = 0;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 b="1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Lineno.4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 = 42 / d;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Lineno.5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Lineno.6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           }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small program causes a</a:t>
            </a: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divide-by-zero error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((42/0)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run time system constructs a new exception object and then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 this exception.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erogram stops by showing the following exception(run time erroe)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Char char="•"/>
            </a:pPr>
            <a:r>
              <a:rPr lang="en-US" sz="22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java.lang.ArithmeticException: / by zero at </a:t>
            </a:r>
            <a:r>
              <a:rPr lang="en-US" sz="22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-US" sz="22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200" b="1" i="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22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-US" sz="22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.java:</a:t>
            </a:r>
            <a:r>
              <a:rPr lang="en-US" sz="2200" b="1" i="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2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67056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java.lang.</a:t>
            </a:r>
            <a:r>
              <a:rPr lang="en-US" sz="28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ArithmeticException</a:t>
            </a:r>
            <a:r>
              <a:rPr lang="en-US" sz="28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/ by zero at </a:t>
            </a:r>
            <a:r>
              <a:rPr lang="en-US" sz="28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-US" sz="28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800" b="1" i="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28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-US" sz="28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8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r>
              <a:rPr lang="en-US" sz="28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800" b="1" i="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 </a:t>
            </a: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class name , </a:t>
            </a:r>
            <a:r>
              <a:rPr lang="en-US" sz="2400" b="1" i="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method name,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</a:t>
            </a:r>
            <a:r>
              <a:rPr lang="en-US" sz="24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file name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exception is inline number </a:t>
            </a:r>
            <a:r>
              <a:rPr lang="en-US" sz="2400" b="1" i="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details  are all included in the simple stack trace.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type of exception thrown is a subclass of Exception called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ArithmeticException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(describes what type of error happened.)	</a:t>
            </a:r>
            <a:endParaRPr/>
          </a:p>
        </p:txBody>
      </p:sp>
      <p:sp>
        <p:nvSpPr>
          <p:cNvPr id="250" name="Google Shape;250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/>
          </a:p>
        </p:txBody>
      </p:sp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667000"/>
            <a:ext cx="644842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381000"/>
            <a:ext cx="6553200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18"/>
          <p:cNvSpPr txBox="1">
            <a:spLocks noGrp="1"/>
          </p:cNvSpPr>
          <p:nvPr>
            <p:ph type="body" idx="1"/>
          </p:nvPr>
        </p:nvSpPr>
        <p:spPr>
          <a:xfrm>
            <a:off x="457200" y="1265237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Lineno.1 	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2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Exc1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Lineno.2 	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void </a:t>
            </a: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subroutine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Lineno.3 	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 int d = 0;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1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Lineno.4  </a:t>
            </a: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 = 10 / d;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Lineno.5		  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Lineno.6 	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</a:t>
            </a: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(String args[])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1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Lineno.7 </a:t>
            </a: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 Exc1.</a:t>
            </a: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subroutine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Lineno.8		  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Lineno.9		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Char char="•"/>
            </a:pPr>
            <a:r>
              <a:rPr lang="en-US" sz="2200" b="0" i="1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java.lang.</a:t>
            </a:r>
            <a:r>
              <a:rPr lang="en-US" sz="2200" b="1" i="1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ArithmeticException</a:t>
            </a:r>
            <a:r>
              <a:rPr lang="en-US" sz="2200" b="0" i="1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/ by zero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lang="en-US" sz="22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Exc1</a:t>
            </a:r>
            <a:r>
              <a:rPr lang="en-US" sz="22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subroutine</a:t>
            </a:r>
            <a:r>
              <a:rPr lang="en-US" sz="22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Exc1.jav</a:t>
            </a:r>
            <a:r>
              <a:rPr lang="en-US" sz="22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a:</a:t>
            </a:r>
            <a:r>
              <a:rPr lang="en-US" sz="22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2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lang="en-US" sz="22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Exc1</a:t>
            </a:r>
            <a:r>
              <a:rPr lang="en-US" sz="22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22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Exc1.java</a:t>
            </a:r>
            <a:r>
              <a:rPr lang="en-US" sz="2200" b="0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2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Times New Roman"/>
              <a:buNone/>
            </a:pPr>
            <a:r>
              <a:rPr lang="en-US" sz="36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3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and </a:t>
            </a:r>
            <a:r>
              <a:rPr lang="en-US" sz="3600" b="1" i="1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3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Clause</a:t>
            </a:r>
            <a:endParaRPr/>
          </a:p>
        </p:txBody>
      </p:sp>
      <p:sp>
        <p:nvSpPr>
          <p:cNvPr id="275" name="Google Shape;275;p19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of exception handling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it allows us to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 the error.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Second, it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program from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terminating.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guard against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handle a run-time error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simply </a:t>
            </a: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enclose the code that we want to monitor inside a </a:t>
            </a:r>
            <a:r>
              <a:rPr lang="en-US" sz="2400" b="1" i="0" u="sng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4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Immediately </a:t>
            </a: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</a:t>
            </a:r>
            <a:r>
              <a:rPr lang="en-US" sz="24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there is a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clause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</a:t>
            </a:r>
            <a:r>
              <a:rPr lang="en-US" sz="2400" b="1" i="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specifies the exception type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we wish to catch . The catch block  can process that exception..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5486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2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Exc2{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public static void main(String args[])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{	</a:t>
            </a:r>
            <a:r>
              <a:rPr lang="en-US" sz="20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int d = 0;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int a = 42 / d;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0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catch(ArithmeticException ae)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System.out.println("Division by Zero not allowed");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Exc2{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public static void main(String args[])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{	try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int d = 0;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int a = 42 / d;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catch(ArithmeticException ae)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System.out.println("Division by Zero not allowed");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/>
          </a:p>
        </p:txBody>
      </p:sp>
      <p:pic>
        <p:nvPicPr>
          <p:cNvPr id="302" name="Google Shape;30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457200"/>
            <a:ext cx="87249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600" y="4267200"/>
            <a:ext cx="5229225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 to handle division by zero exception</a:t>
            </a:r>
            <a:endParaRPr/>
          </a:p>
        </p:txBody>
      </p:sp>
      <p:sp>
        <p:nvSpPr>
          <p:cNvPr id="309" name="Google Shape;309;p23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Ex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d, a;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{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			</a:t>
            </a:r>
            <a:r>
              <a:rPr lang="en-US" sz="2200" b="0" i="1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monitor a block of code.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= 0;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42 / d;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System.out.println("This will not be printed.");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2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lang="en-US" sz="22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catch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(ArithmeticException e) 	</a:t>
            </a:r>
            <a:r>
              <a:rPr lang="en-US" sz="2400" b="0" i="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1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catch divide-by-zero error</a:t>
            </a:r>
            <a:endParaRPr sz="2200" b="0" i="1" u="non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2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System.out.println("Division by zero.");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2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System.out.println("After catch statement.");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6629400" y="4648200"/>
            <a:ext cx="2514600" cy="9239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Division by zero.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catch statement.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the program</a:t>
            </a:r>
            <a:endParaRPr/>
          </a:p>
        </p:txBody>
      </p:sp>
      <p:sp>
        <p:nvSpPr>
          <p:cNvPr id="318" name="Google Shape;318;p2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program the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System.out.println("This will not be printed.");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inside the try block is never executed because a = 42 / d; </a:t>
            </a:r>
            <a:endParaRPr/>
          </a:p>
          <a:p>
            <a:pPr marL="342900" marR="0" lvl="1" indent="-1905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an exception is thrown, program control transfers out of the try block into the catch block.</a:t>
            </a:r>
            <a:endParaRPr/>
          </a:p>
          <a:p>
            <a:pPr marL="742950" marR="0" lvl="2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catch is not “called” but controls goes out to catch when exception occurs, so execution never “returns” to the try block from a catch. </a:t>
            </a:r>
            <a:endParaRPr/>
          </a:p>
          <a:p>
            <a:pPr marL="742950" marR="0" lvl="2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the line “This will not be printed.” is not displayed.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(contd.)</a:t>
            </a:r>
            <a:endParaRPr/>
          </a:p>
        </p:txBody>
      </p:sp>
      <p:sp>
        <p:nvSpPr>
          <p:cNvPr id="326" name="Google Shape;326;p2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its </a:t>
            </a:r>
            <a:r>
              <a:rPr lang="en-US" sz="24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form a unit.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scope of the </a:t>
            </a:r>
            <a:r>
              <a:rPr lang="en-US" sz="24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clause is restricted to those statements specified by the immediately preceding </a:t>
            </a:r>
            <a:r>
              <a:rPr lang="en-US" sz="24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</a:t>
            </a:r>
            <a:r>
              <a:rPr lang="en-US" sz="2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 can catch exceptions in statements inside </a:t>
            </a:r>
            <a:r>
              <a:rPr lang="en-US" sz="22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immediately preceding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cannot catch an exception thrown by another </a:t>
            </a:r>
            <a:r>
              <a:rPr lang="en-US" sz="24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(except in the case of nested try statements).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statements that are protected by </a:t>
            </a:r>
            <a:r>
              <a:rPr lang="en-US" sz="24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be surrounded by curly braces. (That is, they must be within a block.)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cannot use </a:t>
            </a:r>
            <a:r>
              <a:rPr lang="en-US" sz="24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a single statement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try-catch Example</a:t>
            </a:r>
            <a:endParaRPr/>
          </a:p>
        </p:txBody>
      </p:sp>
      <p:sp>
        <p:nvSpPr>
          <p:cNvPr id="334" name="Google Shape;334;p26"/>
          <p:cNvSpPr txBox="1">
            <a:spLocks noGrp="1"/>
          </p:cNvSpPr>
          <p:nvPr>
            <p:ph type="body" idx="1"/>
          </p:nvPr>
        </p:nvSpPr>
        <p:spPr>
          <a:xfrm>
            <a:off x="457200" y="228600"/>
            <a:ext cx="8229600" cy="5897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java.util.</a:t>
            </a: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HandleError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a=0, b=0, c=0;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= new Random();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i=0; i&lt;32000; i++)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Arial"/>
              <a:buNone/>
            </a:pPr>
            <a:r>
              <a:rPr lang="en-US" sz="22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2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r.nextInt();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r.nextInt();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12345 / (b/c);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lang="en-US" sz="22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(ArithmeticException e)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lang="en-US" sz="22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System.out.println("Division by zero.");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0;		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 set a to zero and continue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lang="en-US" sz="22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System.out.println("a: " + a);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 }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4267200" y="1752600"/>
            <a:ext cx="4876800" cy="31400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random numbers 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value of b or c becomes zero then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a=12345./ (b/c) becomes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a=12345/</a:t>
            </a:r>
            <a:r>
              <a:rPr lang="en-US"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(Division by zero(ArithmeticException) will occur)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 statement is inside </a:t>
            </a:r>
            <a:r>
              <a:rPr lang="en-US" sz="18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So exception will be caught by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prints message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Division by zero.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and set the value of a to 0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proceeds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RUNTIME ERROR!!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Displaying a Description of an Exception</a:t>
            </a:r>
            <a:endParaRPr/>
          </a:p>
        </p:txBody>
      </p:sp>
      <p:sp>
        <p:nvSpPr>
          <p:cNvPr id="343" name="Google Shape;343;p27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686800" cy="53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display this description in a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println( )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by simply passing the exception as an argument.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Exc3{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public static void main(String args[])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{	</a:t>
            </a: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int d = 0;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int a = 42 / d;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catch(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ArithmeticException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System.out.println("The exception occurred is "+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/>
          </a:p>
        </p:txBody>
      </p:sp>
      <p:pic>
        <p:nvPicPr>
          <p:cNvPr id="354" name="Google Shape;35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8600"/>
            <a:ext cx="87249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3962400"/>
            <a:ext cx="6781800" cy="2509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9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361" name="Google Shape;361;p2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Herbert Schildt, Java: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Complete Reference, 8/e, Tata McGraw Hill, 2011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2243</Words>
  <Application>Microsoft Office PowerPoint</Application>
  <PresentationFormat>On-screen Show (4:3)</PresentationFormat>
  <Paragraphs>305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Sigmar One</vt:lpstr>
      <vt:lpstr>Noto Sans Symbols</vt:lpstr>
      <vt:lpstr>Times New Roman</vt:lpstr>
      <vt:lpstr>Calibri</vt:lpstr>
      <vt:lpstr>Arial</vt:lpstr>
      <vt:lpstr>1_Office Theme</vt:lpstr>
      <vt:lpstr>2_Office Theme</vt:lpstr>
      <vt:lpstr>4_Office Theme</vt:lpstr>
      <vt:lpstr>Office Theme</vt:lpstr>
      <vt:lpstr>3_Office Theme</vt:lpstr>
      <vt:lpstr>PBCST304 Object Oriented Programming Module 3 - More features of Java  (Part 3)</vt:lpstr>
      <vt:lpstr>Topics</vt:lpstr>
      <vt:lpstr>Exception Handling</vt:lpstr>
      <vt:lpstr>Exception Handling(contd.)</vt:lpstr>
      <vt:lpstr>Exception Types </vt:lpstr>
      <vt:lpstr>PowerPoint Presentation</vt:lpstr>
      <vt:lpstr>Unchecked exception</vt:lpstr>
      <vt:lpstr>Unchecked exception(contd.)</vt:lpstr>
      <vt:lpstr>Checked exception</vt:lpstr>
      <vt:lpstr>Checked exception(contd.)</vt:lpstr>
      <vt:lpstr>PowerPoint Presentation</vt:lpstr>
      <vt:lpstr>Exception handling fundamentals</vt:lpstr>
      <vt:lpstr>Exception handling fundamentals(contd.)</vt:lpstr>
      <vt:lpstr>PowerPoint Presentation</vt:lpstr>
      <vt:lpstr>Uncaught Exceptions</vt:lpstr>
      <vt:lpstr>PowerPoint Presentation</vt:lpstr>
      <vt:lpstr>PowerPoint Presentation</vt:lpstr>
      <vt:lpstr>PowerPoint Presentation</vt:lpstr>
      <vt:lpstr>try Block and catch Clause</vt:lpstr>
      <vt:lpstr>PowerPoint Presentation</vt:lpstr>
      <vt:lpstr>PowerPoint Presentation</vt:lpstr>
      <vt:lpstr>PowerPoint Presentation</vt:lpstr>
      <vt:lpstr>try-catch block to handle division by zero exception</vt:lpstr>
      <vt:lpstr>Working of the program</vt:lpstr>
      <vt:lpstr>try-catch (contd.)</vt:lpstr>
      <vt:lpstr>try-catch Example</vt:lpstr>
      <vt:lpstr>Displaying a Description of an Exception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RENETHA J B</cp:lastModifiedBy>
  <cp:revision>1</cp:revision>
  <dcterms:created xsi:type="dcterms:W3CDTF">2006-08-16T00:00:00Z</dcterms:created>
  <dcterms:modified xsi:type="dcterms:W3CDTF">2025-09-22T00:16:38Z</dcterms:modified>
</cp:coreProperties>
</file>