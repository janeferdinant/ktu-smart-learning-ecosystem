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721a5b799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g3721a5b799e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721a5b799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g3721a5b799e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721a5b799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g3721a5b799e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cxnSp>
        <p:nvCxnSpPr>
          <p:cNvPr id="51" name="Google Shape;51;p13"/>
          <p:cNvCxnSpPr/>
          <p:nvPr/>
        </p:nvCxnSpPr>
        <p:spPr>
          <a:xfrm>
            <a:off x="1047127" y="1816100"/>
            <a:ext cx="7055700" cy="0"/>
          </a:xfrm>
          <a:prstGeom prst="straightConnector1">
            <a:avLst/>
          </a:prstGeom>
          <a:noFill/>
          <a:ln cap="flat" cmpd="sng" w="15875">
            <a:solidFill>
              <a:schemeClr val="accent1"/>
            </a:solidFill>
            <a:prstDash val="solid"/>
            <a:round/>
            <a:headEnd len="sm" w="sm" type="none"/>
            <a:tailEnd len="sm" w="sm" type="none"/>
          </a:ln>
        </p:spPr>
      </p:cxnSp>
      <p:sp>
        <p:nvSpPr>
          <p:cNvPr id="52" name="Google Shape;52;p13"/>
          <p:cNvSpPr txBox="1"/>
          <p:nvPr>
            <p:ph type="title"/>
          </p:nvPr>
        </p:nvSpPr>
        <p:spPr>
          <a:xfrm>
            <a:off x="971552" y="736599"/>
            <a:ext cx="7200900" cy="9777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rgbClr val="262626"/>
              </a:buClr>
              <a:buSzPts val="1400"/>
              <a:buNone/>
              <a:defRPr/>
            </a:lvl1pPr>
            <a:lvl2pPr lvl="1" algn="l">
              <a:spcBef>
                <a:spcPts val="0"/>
              </a:spcBef>
              <a:spcAft>
                <a:spcPts val="0"/>
              </a:spcAft>
              <a:buSzPts val="2800"/>
              <a:buNone/>
              <a:defRPr/>
            </a:lvl2pPr>
            <a:lvl3pPr lvl="2" algn="l">
              <a:spcBef>
                <a:spcPts val="0"/>
              </a:spcBef>
              <a:spcAft>
                <a:spcPts val="0"/>
              </a:spcAft>
              <a:buSzPts val="2800"/>
              <a:buNone/>
              <a:defRPr/>
            </a:lvl3pPr>
            <a:lvl4pPr lvl="3" algn="l">
              <a:spcBef>
                <a:spcPts val="0"/>
              </a:spcBef>
              <a:spcAft>
                <a:spcPts val="0"/>
              </a:spcAft>
              <a:buSzPts val="2800"/>
              <a:buNone/>
              <a:defRPr/>
            </a:lvl4pPr>
            <a:lvl5pPr lvl="4" algn="l">
              <a:spcBef>
                <a:spcPts val="0"/>
              </a:spcBef>
              <a:spcAft>
                <a:spcPts val="0"/>
              </a:spcAft>
              <a:buSzPts val="2800"/>
              <a:buNone/>
              <a:defRPr/>
            </a:lvl5pPr>
            <a:lvl6pPr lvl="5" algn="l">
              <a:spcBef>
                <a:spcPts val="0"/>
              </a:spcBef>
              <a:spcAft>
                <a:spcPts val="0"/>
              </a:spcAft>
              <a:buSzPts val="2800"/>
              <a:buNone/>
              <a:defRPr/>
            </a:lvl6pPr>
            <a:lvl7pPr lvl="6" algn="l">
              <a:spcBef>
                <a:spcPts val="0"/>
              </a:spcBef>
              <a:spcAft>
                <a:spcPts val="0"/>
              </a:spcAft>
              <a:buSzPts val="2800"/>
              <a:buNone/>
              <a:defRPr/>
            </a:lvl7pPr>
            <a:lvl8pPr lvl="7" algn="l">
              <a:spcBef>
                <a:spcPts val="0"/>
              </a:spcBef>
              <a:spcAft>
                <a:spcPts val="0"/>
              </a:spcAft>
              <a:buSzPts val="2800"/>
              <a:buNone/>
              <a:defRPr/>
            </a:lvl8pPr>
            <a:lvl9pPr lvl="8" algn="l">
              <a:spcBef>
                <a:spcPts val="0"/>
              </a:spcBef>
              <a:spcAft>
                <a:spcPts val="0"/>
              </a:spcAft>
              <a:buSzPts val="2800"/>
              <a:buNone/>
              <a:defRPr/>
            </a:lvl9pPr>
          </a:lstStyle>
          <a:p/>
        </p:txBody>
      </p:sp>
      <p:sp>
        <p:nvSpPr>
          <p:cNvPr id="53" name="Google Shape;53;p13"/>
          <p:cNvSpPr txBox="1"/>
          <p:nvPr>
            <p:ph idx="1" type="body"/>
          </p:nvPr>
        </p:nvSpPr>
        <p:spPr>
          <a:xfrm>
            <a:off x="971551" y="1917699"/>
            <a:ext cx="7200900" cy="2489100"/>
          </a:xfrm>
          <a:prstGeom prst="rect">
            <a:avLst/>
          </a:prstGeom>
          <a:noFill/>
          <a:ln>
            <a:noFill/>
          </a:ln>
        </p:spPr>
        <p:txBody>
          <a:bodyPr anchorCtr="0" anchor="t" bIns="34275" lIns="68575" spcFirstLastPara="1" rIns="68575" wrap="square" tIns="34275">
            <a:normAutofit/>
          </a:bodyPr>
          <a:lstStyle>
            <a:lvl1pPr indent="-330200" lvl="0" marL="457200" algn="l">
              <a:spcBef>
                <a:spcPts val="300"/>
              </a:spcBef>
              <a:spcAft>
                <a:spcPts val="0"/>
              </a:spcAft>
              <a:buSzPts val="1600"/>
              <a:buChar char="●"/>
              <a:defRPr/>
            </a:lvl1pPr>
            <a:lvl2pPr indent="-330200" lvl="1" marL="914400" algn="l">
              <a:spcBef>
                <a:spcPts val="500"/>
              </a:spcBef>
              <a:spcAft>
                <a:spcPts val="0"/>
              </a:spcAft>
              <a:buSzPts val="1600"/>
              <a:buChar char="○"/>
              <a:defRPr/>
            </a:lvl2pPr>
            <a:lvl3pPr indent="-330200" lvl="2" marL="1371600" algn="l">
              <a:spcBef>
                <a:spcPts val="500"/>
              </a:spcBef>
              <a:spcAft>
                <a:spcPts val="0"/>
              </a:spcAft>
              <a:buSzPts val="1600"/>
              <a:buChar char="■"/>
              <a:defRPr/>
            </a:lvl3pPr>
            <a:lvl4pPr indent="-330200" lvl="3" marL="1828800" algn="l">
              <a:spcBef>
                <a:spcPts val="500"/>
              </a:spcBef>
              <a:spcAft>
                <a:spcPts val="0"/>
              </a:spcAft>
              <a:buSzPts val="1600"/>
              <a:buChar char="●"/>
              <a:defRPr/>
            </a:lvl4pPr>
            <a:lvl5pPr indent="-330200" lvl="4" marL="2286000" algn="l">
              <a:spcBef>
                <a:spcPts val="500"/>
              </a:spcBef>
              <a:spcAft>
                <a:spcPts val="0"/>
              </a:spcAft>
              <a:buSzPts val="1600"/>
              <a:buChar char="○"/>
              <a:defRPr/>
            </a:lvl5pPr>
            <a:lvl6pPr indent="-330200" lvl="5" marL="2743200" algn="l">
              <a:spcBef>
                <a:spcPts val="500"/>
              </a:spcBef>
              <a:spcAft>
                <a:spcPts val="0"/>
              </a:spcAft>
              <a:buSzPts val="1600"/>
              <a:buChar char="■"/>
              <a:defRPr/>
            </a:lvl6pPr>
            <a:lvl7pPr indent="-330200" lvl="6" marL="3200400" algn="l">
              <a:spcBef>
                <a:spcPts val="500"/>
              </a:spcBef>
              <a:spcAft>
                <a:spcPts val="0"/>
              </a:spcAft>
              <a:buSzPts val="1600"/>
              <a:buChar char="●"/>
              <a:defRPr/>
            </a:lvl7pPr>
            <a:lvl8pPr indent="-330200" lvl="7" marL="3657600" algn="l">
              <a:spcBef>
                <a:spcPts val="500"/>
              </a:spcBef>
              <a:spcAft>
                <a:spcPts val="0"/>
              </a:spcAft>
              <a:buSzPts val="1600"/>
              <a:buChar char="○"/>
              <a:defRPr/>
            </a:lvl8pPr>
            <a:lvl9pPr indent="-330200" lvl="8" marL="4114800" algn="l">
              <a:spcBef>
                <a:spcPts val="500"/>
              </a:spcBef>
              <a:spcAft>
                <a:spcPts val="500"/>
              </a:spcAft>
              <a:buSzPts val="1600"/>
              <a:buChar char="■"/>
              <a:defRPr/>
            </a:lvl9pPr>
          </a:lstStyle>
          <a:p/>
        </p:txBody>
      </p:sp>
      <p:sp>
        <p:nvSpPr>
          <p:cNvPr id="54" name="Google Shape;54;p13"/>
          <p:cNvSpPr txBox="1"/>
          <p:nvPr>
            <p:ph idx="10" type="dt"/>
          </p:nvPr>
        </p:nvSpPr>
        <p:spPr>
          <a:xfrm>
            <a:off x="6508126" y="4476750"/>
            <a:ext cx="1200300" cy="2094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5" name="Google Shape;55;p13"/>
          <p:cNvSpPr txBox="1"/>
          <p:nvPr>
            <p:ph idx="11" type="ftr"/>
          </p:nvPr>
        </p:nvSpPr>
        <p:spPr>
          <a:xfrm>
            <a:off x="971551" y="4476750"/>
            <a:ext cx="5479500" cy="2094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6" name="Google Shape;56;p13"/>
          <p:cNvSpPr txBox="1"/>
          <p:nvPr>
            <p:ph idx="12" type="sldNum"/>
          </p:nvPr>
        </p:nvSpPr>
        <p:spPr>
          <a:xfrm>
            <a:off x="7765426" y="4476750"/>
            <a:ext cx="407100" cy="209400"/>
          </a:xfrm>
          <a:prstGeom prst="rect">
            <a:avLst/>
          </a:prstGeom>
          <a:noFill/>
          <a:ln>
            <a:noFill/>
          </a:ln>
        </p:spPr>
        <p:txBody>
          <a:bodyPr anchorCtr="0" anchor="ctr" bIns="34275" lIns="68575" spcFirstLastPara="1" rIns="68575" wrap="square" tIns="34275">
            <a:normAutofit lnSpcReduction="10000"/>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PBCST304 OOP</a:t>
            </a:r>
            <a:endParaRPr/>
          </a:p>
        </p:txBody>
      </p:sp>
      <p:sp>
        <p:nvSpPr>
          <p:cNvPr id="62" name="Google Shape;62;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Clr>
                <a:srgbClr val="262626"/>
              </a:buClr>
              <a:buSzPts val="3300"/>
              <a:buFont typeface="Garamond"/>
              <a:buNone/>
            </a:pPr>
            <a:r>
              <a:rPr b="1" lang="en">
                <a:solidFill>
                  <a:schemeClr val="dk1"/>
                </a:solidFill>
              </a:rPr>
              <a:t>Class loader subsystem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971552" y="736599"/>
            <a:ext cx="7200900" cy="977700"/>
          </a:xfrm>
          <a:prstGeom prst="rect">
            <a:avLst/>
          </a:prstGeom>
          <a:noFill/>
          <a:ln>
            <a:noFill/>
          </a:ln>
        </p:spPr>
        <p:txBody>
          <a:bodyPr anchorCtr="0" anchor="ctr" bIns="34275" lIns="68575" spcFirstLastPara="1" rIns="68575" wrap="square" tIns="34275">
            <a:normAutofit/>
          </a:bodyPr>
          <a:lstStyle/>
          <a:p>
            <a:pPr indent="0" lvl="0" marL="0" rtl="0" algn="ctr">
              <a:spcBef>
                <a:spcPts val="0"/>
              </a:spcBef>
              <a:spcAft>
                <a:spcPts val="0"/>
              </a:spcAft>
              <a:buClr>
                <a:srgbClr val="262626"/>
              </a:buClr>
              <a:buSzPts val="3300"/>
              <a:buFont typeface="Garamond"/>
              <a:buNone/>
            </a:pPr>
            <a:r>
              <a:rPr b="1" lang="en"/>
              <a:t>Class loader subsystem </a:t>
            </a:r>
            <a:endParaRPr/>
          </a:p>
        </p:txBody>
      </p:sp>
      <p:sp>
        <p:nvSpPr>
          <p:cNvPr id="68" name="Google Shape;68;p15"/>
          <p:cNvSpPr txBox="1"/>
          <p:nvPr>
            <p:ph idx="1" type="body"/>
          </p:nvPr>
        </p:nvSpPr>
        <p:spPr>
          <a:xfrm>
            <a:off x="971551" y="1917699"/>
            <a:ext cx="7200900" cy="2489100"/>
          </a:xfrm>
          <a:prstGeom prst="rect">
            <a:avLst/>
          </a:prstGeom>
          <a:noFill/>
          <a:ln>
            <a:noFill/>
          </a:ln>
        </p:spPr>
        <p:txBody>
          <a:bodyPr anchorCtr="0" anchor="t" bIns="34275" lIns="68575" spcFirstLastPara="1" rIns="68575" wrap="square" tIns="34275">
            <a:normAutofit fontScale="85000" lnSpcReduction="20000"/>
          </a:bodyPr>
          <a:lstStyle/>
          <a:p>
            <a:pPr indent="-202248" lvl="0" marL="215900" rtl="0" algn="l">
              <a:spcBef>
                <a:spcPts val="0"/>
              </a:spcBef>
              <a:spcAft>
                <a:spcPts val="0"/>
              </a:spcAft>
              <a:buSzPct val="116667"/>
              <a:buChar char="●"/>
            </a:pPr>
            <a:r>
              <a:rPr lang="en"/>
              <a:t>Class loader subsystem will load the </a:t>
            </a:r>
            <a:r>
              <a:rPr b="1" lang="en"/>
              <a:t>.class </a:t>
            </a:r>
            <a:r>
              <a:rPr lang="en"/>
              <a:t>file into java stack and later sufficient memory will be allocated for all the properties of the java program into following five memory locations. </a:t>
            </a:r>
            <a:endParaRPr/>
          </a:p>
          <a:p>
            <a:pPr indent="0" lvl="1" marL="342900" rtl="0" algn="l">
              <a:spcBef>
                <a:spcPts val="800"/>
              </a:spcBef>
              <a:spcAft>
                <a:spcPts val="0"/>
              </a:spcAft>
              <a:buSzPct val="121429"/>
              <a:buNone/>
            </a:pPr>
            <a:r>
              <a:rPr lang="en"/>
              <a:t>• Heap area </a:t>
            </a:r>
            <a:endParaRPr/>
          </a:p>
          <a:p>
            <a:pPr indent="0" lvl="1" marL="342900" rtl="0" algn="l">
              <a:spcBef>
                <a:spcPts val="800"/>
              </a:spcBef>
              <a:spcAft>
                <a:spcPts val="0"/>
              </a:spcAft>
              <a:buSzPct val="121429"/>
              <a:buNone/>
            </a:pPr>
            <a:r>
              <a:rPr lang="en"/>
              <a:t>• Method area </a:t>
            </a:r>
            <a:endParaRPr/>
          </a:p>
          <a:p>
            <a:pPr indent="0" lvl="1" marL="342900" rtl="0" algn="l">
              <a:spcBef>
                <a:spcPts val="800"/>
              </a:spcBef>
              <a:spcAft>
                <a:spcPts val="0"/>
              </a:spcAft>
              <a:buSzPct val="121429"/>
              <a:buNone/>
            </a:pPr>
            <a:r>
              <a:rPr lang="en"/>
              <a:t>• Java stack </a:t>
            </a:r>
            <a:endParaRPr/>
          </a:p>
          <a:p>
            <a:pPr indent="0" lvl="1" marL="342900" rtl="0" algn="l">
              <a:spcBef>
                <a:spcPts val="800"/>
              </a:spcBef>
              <a:spcAft>
                <a:spcPts val="0"/>
              </a:spcAft>
              <a:buSzPct val="121429"/>
              <a:buNone/>
            </a:pPr>
            <a:r>
              <a:rPr lang="en"/>
              <a:t>• PC register </a:t>
            </a:r>
            <a:endParaRPr/>
          </a:p>
          <a:p>
            <a:pPr indent="0" lvl="1" marL="342900" rtl="0" algn="l">
              <a:spcBef>
                <a:spcPts val="800"/>
              </a:spcBef>
              <a:spcAft>
                <a:spcPts val="0"/>
              </a:spcAft>
              <a:buSzPct val="121429"/>
              <a:buNone/>
            </a:pPr>
            <a:r>
              <a:rPr lang="en"/>
              <a:t>• Native stack </a:t>
            </a:r>
            <a:endParaRPr/>
          </a:p>
          <a:p>
            <a:pPr indent="-88900" lvl="0" marL="215900" rtl="0" algn="l">
              <a:spcBef>
                <a:spcPts val="800"/>
              </a:spcBef>
              <a:spcAft>
                <a:spcPts val="0"/>
              </a:spcAft>
              <a:buSzPct val="116667"/>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971552" y="736599"/>
            <a:ext cx="7200900" cy="977700"/>
          </a:xfrm>
          <a:prstGeom prst="rect">
            <a:avLst/>
          </a:prstGeom>
          <a:noFill/>
          <a:ln>
            <a:noFill/>
          </a:ln>
        </p:spPr>
        <p:txBody>
          <a:bodyPr anchorCtr="0" anchor="ctr" bIns="34275" lIns="68575" spcFirstLastPara="1" rIns="68575" wrap="square" tIns="34275">
            <a:normAutofit/>
          </a:bodyPr>
          <a:lstStyle/>
          <a:p>
            <a:pPr indent="0" lvl="0" marL="0" rtl="0" algn="ctr">
              <a:spcBef>
                <a:spcPts val="0"/>
              </a:spcBef>
              <a:spcAft>
                <a:spcPts val="0"/>
              </a:spcAft>
              <a:buClr>
                <a:srgbClr val="262626"/>
              </a:buClr>
              <a:buSzPts val="3300"/>
              <a:buFont typeface="Garamond"/>
              <a:buNone/>
            </a:pPr>
            <a:r>
              <a:t/>
            </a:r>
            <a:endParaRPr/>
          </a:p>
        </p:txBody>
      </p:sp>
      <p:sp>
        <p:nvSpPr>
          <p:cNvPr id="74" name="Google Shape;74;p16"/>
          <p:cNvSpPr txBox="1"/>
          <p:nvPr>
            <p:ph idx="1" type="body"/>
          </p:nvPr>
        </p:nvSpPr>
        <p:spPr>
          <a:xfrm>
            <a:off x="971551" y="1917698"/>
            <a:ext cx="7200900" cy="2796300"/>
          </a:xfrm>
          <a:prstGeom prst="rect">
            <a:avLst/>
          </a:prstGeom>
          <a:noFill/>
          <a:ln>
            <a:noFill/>
          </a:ln>
        </p:spPr>
        <p:txBody>
          <a:bodyPr anchorCtr="0" anchor="t" bIns="34275" lIns="68575" spcFirstLastPara="1" rIns="68575" wrap="square" tIns="34275">
            <a:normAutofit fontScale="70000" lnSpcReduction="10000"/>
          </a:bodyPr>
          <a:lstStyle/>
          <a:p>
            <a:pPr indent="0" lvl="0" marL="0" rtl="0" algn="l">
              <a:spcBef>
                <a:spcPts val="0"/>
              </a:spcBef>
              <a:spcAft>
                <a:spcPts val="0"/>
              </a:spcAft>
              <a:buSzPct val="116667"/>
              <a:buNone/>
            </a:pPr>
            <a:r>
              <a:rPr b="1" lang="en"/>
              <a:t>Heap area: </a:t>
            </a:r>
            <a:endParaRPr/>
          </a:p>
          <a:p>
            <a:pPr indent="0" lvl="0" marL="0" rtl="0" algn="l">
              <a:spcBef>
                <a:spcPts val="800"/>
              </a:spcBef>
              <a:spcAft>
                <a:spcPts val="0"/>
              </a:spcAft>
              <a:buSzPct val="116667"/>
              <a:buNone/>
            </a:pPr>
            <a:r>
              <a:rPr lang="en"/>
              <a:t>In which object references will be stored. </a:t>
            </a:r>
            <a:endParaRPr/>
          </a:p>
          <a:p>
            <a:pPr indent="0" lvl="0" marL="0" rtl="0" algn="l">
              <a:spcBef>
                <a:spcPts val="800"/>
              </a:spcBef>
              <a:spcAft>
                <a:spcPts val="0"/>
              </a:spcAft>
              <a:buSzPct val="116667"/>
              <a:buNone/>
            </a:pPr>
            <a:r>
              <a:rPr b="1" lang="en"/>
              <a:t>Method area </a:t>
            </a:r>
            <a:endParaRPr/>
          </a:p>
          <a:p>
            <a:pPr indent="0" lvl="0" marL="0" rtl="0" algn="l">
              <a:spcBef>
                <a:spcPts val="800"/>
              </a:spcBef>
              <a:spcAft>
                <a:spcPts val="0"/>
              </a:spcAft>
              <a:buSzPct val="116667"/>
              <a:buNone/>
            </a:pPr>
            <a:r>
              <a:rPr lang="en"/>
              <a:t>In which static variables non-static and static method will be stored. </a:t>
            </a:r>
            <a:endParaRPr/>
          </a:p>
          <a:p>
            <a:pPr indent="0" lvl="0" marL="0" rtl="0" algn="l">
              <a:spcBef>
                <a:spcPts val="800"/>
              </a:spcBef>
              <a:spcAft>
                <a:spcPts val="0"/>
              </a:spcAft>
              <a:buSzPct val="116667"/>
              <a:buNone/>
            </a:pPr>
            <a:r>
              <a:rPr b="1" lang="en"/>
              <a:t>Java Stack </a:t>
            </a:r>
            <a:endParaRPr/>
          </a:p>
          <a:p>
            <a:pPr indent="0" lvl="0" marL="0" rtl="0" algn="l">
              <a:spcBef>
                <a:spcPts val="800"/>
              </a:spcBef>
              <a:spcAft>
                <a:spcPts val="0"/>
              </a:spcAft>
              <a:buSzPct val="116667"/>
              <a:buNone/>
            </a:pPr>
            <a:r>
              <a:rPr lang="en"/>
              <a:t>In which all the non-static variable of class will be stored and whose address referred by object reference. </a:t>
            </a:r>
            <a:endParaRPr/>
          </a:p>
          <a:p>
            <a:pPr indent="0" lvl="0" marL="0" rtl="0" algn="l">
              <a:spcBef>
                <a:spcPts val="800"/>
              </a:spcBef>
              <a:spcAft>
                <a:spcPts val="0"/>
              </a:spcAft>
              <a:buSzPct val="116667"/>
              <a:buNone/>
            </a:pPr>
            <a:r>
              <a:rPr b="1" lang="en"/>
              <a:t>PC Register </a:t>
            </a:r>
            <a:endParaRPr/>
          </a:p>
          <a:p>
            <a:pPr indent="0" lvl="0" marL="0" rtl="0" algn="l">
              <a:spcBef>
                <a:spcPts val="800"/>
              </a:spcBef>
              <a:spcAft>
                <a:spcPts val="0"/>
              </a:spcAft>
              <a:buSzPct val="116667"/>
              <a:buNone/>
            </a:pPr>
            <a:r>
              <a:rPr lang="en"/>
              <a:t>Which holds the address of next executable instruction that means that use the priority for the method in the execution process.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971552" y="736599"/>
            <a:ext cx="7200900" cy="977700"/>
          </a:xfrm>
          <a:prstGeom prst="rect">
            <a:avLst/>
          </a:prstGeom>
          <a:noFill/>
          <a:ln>
            <a:noFill/>
          </a:ln>
        </p:spPr>
        <p:txBody>
          <a:bodyPr anchorCtr="0" anchor="ctr" bIns="34275" lIns="68575" spcFirstLastPara="1" rIns="68575" wrap="square" tIns="34275">
            <a:normAutofit/>
          </a:bodyPr>
          <a:lstStyle/>
          <a:p>
            <a:pPr indent="0" lvl="0" marL="0" rtl="0" algn="ctr">
              <a:spcBef>
                <a:spcPts val="0"/>
              </a:spcBef>
              <a:spcAft>
                <a:spcPts val="0"/>
              </a:spcAft>
              <a:buClr>
                <a:srgbClr val="262626"/>
              </a:buClr>
              <a:buSzPts val="3300"/>
              <a:buFont typeface="Garamond"/>
              <a:buNone/>
            </a:pPr>
            <a:r>
              <a:t/>
            </a:r>
            <a:endParaRPr/>
          </a:p>
        </p:txBody>
      </p:sp>
      <p:sp>
        <p:nvSpPr>
          <p:cNvPr id="80" name="Google Shape;80;p17"/>
          <p:cNvSpPr txBox="1"/>
          <p:nvPr>
            <p:ph idx="1" type="body"/>
          </p:nvPr>
        </p:nvSpPr>
        <p:spPr>
          <a:xfrm>
            <a:off x="714676" y="1917699"/>
            <a:ext cx="7811700" cy="2825100"/>
          </a:xfrm>
          <a:prstGeom prst="rect">
            <a:avLst/>
          </a:prstGeom>
          <a:noFill/>
          <a:ln>
            <a:noFill/>
          </a:ln>
        </p:spPr>
        <p:txBody>
          <a:bodyPr anchorCtr="0" anchor="t" bIns="34275" lIns="68575" spcFirstLastPara="1" rIns="68575" wrap="square" tIns="34275">
            <a:normAutofit fontScale="77500"/>
          </a:bodyPr>
          <a:lstStyle/>
          <a:p>
            <a:pPr indent="-192246" lvl="0" marL="215900" rtl="0" algn="l">
              <a:spcBef>
                <a:spcPts val="0"/>
              </a:spcBef>
              <a:spcAft>
                <a:spcPts val="0"/>
              </a:spcAft>
              <a:buSzPct val="116667"/>
              <a:buChar char="●"/>
            </a:pPr>
            <a:r>
              <a:rPr b="1" lang="en"/>
              <a:t>Native stack </a:t>
            </a:r>
            <a:r>
              <a:rPr lang="en"/>
              <a:t>holds the instruction of native code (other than java code) native stack depends on native library. Native interface will access interface between native stack and native library. </a:t>
            </a:r>
            <a:endParaRPr/>
          </a:p>
          <a:p>
            <a:pPr indent="0" lvl="0" marL="0" rtl="0" algn="l">
              <a:spcBef>
                <a:spcPts val="800"/>
              </a:spcBef>
              <a:spcAft>
                <a:spcPts val="0"/>
              </a:spcAft>
              <a:buSzPct val="116667"/>
              <a:buNone/>
            </a:pPr>
            <a:r>
              <a:rPr b="1" lang="en"/>
              <a:t>Execution Engine </a:t>
            </a:r>
            <a:endParaRPr/>
          </a:p>
          <a:p>
            <a:pPr indent="-192246" lvl="0" marL="215900" rtl="0" algn="l">
              <a:spcBef>
                <a:spcPts val="800"/>
              </a:spcBef>
              <a:spcAft>
                <a:spcPts val="0"/>
              </a:spcAft>
              <a:buSzPct val="116667"/>
              <a:buChar char="●"/>
            </a:pPr>
            <a:r>
              <a:rPr lang="en"/>
              <a:t>Which contains </a:t>
            </a:r>
            <a:r>
              <a:rPr b="1" lang="en"/>
              <a:t>Interpreter </a:t>
            </a:r>
            <a:r>
              <a:rPr lang="en"/>
              <a:t>and </a:t>
            </a:r>
            <a:r>
              <a:rPr b="1" lang="en"/>
              <a:t>JIT compiler </a:t>
            </a:r>
            <a:r>
              <a:rPr lang="en"/>
              <a:t>whenever any java program is executing at the first time interpreter will comes into picture and it converts one by one byte code instruction into machine level instruction JIT compiler (just in time compiler) will comes into picture from the second time onward if the same java program is executing and it gives the machine level instruction to the process which are available in the buffer memory. </a:t>
            </a:r>
            <a:endParaRPr/>
          </a:p>
          <a:p>
            <a:pPr indent="-192246" lvl="0" marL="215900" rtl="0" algn="l">
              <a:spcBef>
                <a:spcPts val="800"/>
              </a:spcBef>
              <a:spcAft>
                <a:spcPts val="0"/>
              </a:spcAft>
              <a:buSzPct val="116667"/>
              <a:buChar char="●"/>
            </a:pPr>
            <a:r>
              <a:rPr b="1" lang="en"/>
              <a:t>Note: </a:t>
            </a:r>
            <a:r>
              <a:rPr lang="en"/>
              <a:t>The main aim of JIT compiler is to speed up the execution of java program.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