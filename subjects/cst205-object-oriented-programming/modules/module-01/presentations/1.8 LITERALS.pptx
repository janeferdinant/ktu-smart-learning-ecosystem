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652" r:id="rId3"/>
  </p:sldMasterIdLst>
  <p:notesMasterIdLst>
    <p:notesMasterId r:id="rId2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8" roundtripDataSignature="AMtx7mgvmAj81/2ExlsdNOB7Yw55mSSv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80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79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82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7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just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7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7" name="Google Shape;57;p7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7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7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8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8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9" name="Google Shape;79;p8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0" name="Google Shape;80;p8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1" name="Google Shape;81;p8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2" name="Google Shape;82;p8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8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8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8" name="Google Shape;88;p8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9" name="Google Shape;89;p8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8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8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8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8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8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6175" y="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7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7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0" y="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7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7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7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7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7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7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7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7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7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.x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685800" y="1447800"/>
            <a:ext cx="8153400" cy="215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Times New Roman"/>
              <a:buNone/>
            </a:pPr>
            <a:r>
              <a:rPr lang="en-US" sz="4000" dirty="0">
                <a:solidFill>
                  <a:srgbClr val="0000CC"/>
                </a:solidFill>
              </a:rPr>
              <a:t>Object Oriented Programming using Java</a:t>
            </a:r>
            <a:br>
              <a:rPr lang="en-US" sz="4000" dirty="0"/>
            </a:br>
            <a:r>
              <a:rPr lang="en-US" sz="4000" dirty="0"/>
              <a:t>Introduction to Java(</a:t>
            </a:r>
            <a:r>
              <a:rPr lang="en-US" sz="4000"/>
              <a:t>part 8)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Times New Roman"/>
              <a:buNone/>
            </a:pPr>
            <a:endParaRPr sz="4000" dirty="0">
              <a:solidFill>
                <a:srgbClr val="0000CC"/>
              </a:solidFill>
            </a:endParaRPr>
          </a:p>
        </p:txBody>
      </p:sp>
      <p:sp>
        <p:nvSpPr>
          <p:cNvPr id="103" name="Google Shape;103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200"/>
              <a:buNone/>
            </a:pPr>
            <a:r>
              <a:rPr lang="en-US" sz="3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Literals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Variables</a:t>
            </a:r>
            <a:endParaRPr dirty="0"/>
          </a:p>
        </p:txBody>
      </p:sp>
      <p:sp>
        <p:nvSpPr>
          <p:cNvPr id="112" name="Google Shape;112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Literals</a:t>
            </a:r>
            <a:endParaRPr/>
          </a:p>
        </p:txBody>
      </p:sp>
      <p:sp>
        <p:nvSpPr>
          <p:cNvPr id="119" name="Google Shape;1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 value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Java is created by using a </a:t>
            </a:r>
            <a:r>
              <a:rPr lang="en-US" sz="2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literal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representation</a:t>
            </a:r>
            <a:r>
              <a:rPr lang="en-US" sz="2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Integer Literals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Floating-Point Literals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Literals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 Literals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Literals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Integer Literals</a:t>
            </a:r>
            <a:endParaRPr/>
          </a:p>
        </p:txBody>
      </p:sp>
      <p:sp>
        <p:nvSpPr>
          <p:cNvPr id="127" name="Google Shape;12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whole number value is an integer literal.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are 1, 2, 3, and 42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three bases which can be used in integer literals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Decimal(base 10) 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octal (base 8) 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hexadecimal (base 16).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Integer Literals</a:t>
            </a:r>
            <a:endParaRPr/>
          </a:p>
        </p:txBody>
      </p:sp>
      <p:sp>
        <p:nvSpPr>
          <p:cNvPr id="135" name="Google Shape;135;p5"/>
          <p:cNvSpPr txBox="1">
            <a:spLocks noGrp="1"/>
          </p:cNvSpPr>
          <p:nvPr>
            <p:ph type="body" idx="1"/>
          </p:nvPr>
        </p:nvSpPr>
        <p:spPr>
          <a:xfrm>
            <a:off x="381000" y="990600"/>
            <a:ext cx="8229600" cy="498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decimal numbers 	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have a leading zero.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use digits from 0 to 9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Octal values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denoted by a leading zero.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use digits from 0 to 7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 012, 0356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Hexadecimal constant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denoted with a leading zero-x, (</a:t>
            </a:r>
            <a:r>
              <a:rPr lang="en-US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 or 0X).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digits from 0 to 9 and letters </a:t>
            </a:r>
            <a:r>
              <a:rPr lang="en-US" sz="2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 </a:t>
            </a:r>
            <a:r>
              <a:rPr lang="en-US" sz="2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(or a through f ) </a:t>
            </a:r>
            <a:r>
              <a:rPr lang="en-US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0x234, 0X3B5c</a:t>
            </a:r>
            <a:endParaRPr/>
          </a:p>
          <a:p>
            <a:pPr marL="342900" marR="0" lvl="0" indent="-1778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Integer Literals</a:t>
            </a:r>
            <a:endParaRPr/>
          </a:p>
        </p:txBody>
      </p:sp>
      <p:sp>
        <p:nvSpPr>
          <p:cNvPr id="143" name="Google Shape;143;p6"/>
          <p:cNvSpPr txBox="1">
            <a:spLocks noGrp="1"/>
          </p:cNvSpPr>
          <p:nvPr>
            <p:ph type="body" idx="1"/>
          </p:nvPr>
        </p:nvSpPr>
        <p:spPr>
          <a:xfrm>
            <a:off x="609600" y="1219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integer literal can always be assigned to a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 variable.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Append an upper- or lowercase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to the literal</a:t>
            </a:r>
            <a:endParaRPr/>
          </a:p>
          <a:p>
            <a:pPr marL="1143000" marR="0" lvl="2" indent="-2286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9223372036854775807L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integer can also be assigned to a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 as it is within range.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literal value is assigned to a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short variable as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 as it is within range.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Floating-Point Literals</a:t>
            </a:r>
            <a:endParaRPr/>
          </a:p>
        </p:txBody>
      </p:sp>
      <p:sp>
        <p:nvSpPr>
          <p:cNvPr id="151" name="Google Shape;151;p7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Floating-point numbers represent </a:t>
            </a: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decimal values with a fractional component.</a:t>
            </a:r>
            <a:endParaRPr/>
          </a:p>
          <a:p>
            <a:pPr marL="342900" marR="0" lvl="0" indent="-1905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1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notation</a:t>
            </a:r>
            <a:r>
              <a:rPr lang="en-US" sz="24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consists of a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whole number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 followed by a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decimal point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followed by a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fractional component.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3.14159, 	2.0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Scientific notation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a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standard-notation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floating-point number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plus a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suffix (that specifies a power of 10 by which the number is to be multiplied.)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exponent is indicated by an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or e followed by a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decimal number, which can be positive or negative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	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6.022E23, 	314159E–05, 	2e+100.</a:t>
            </a:r>
            <a:endParaRPr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Floating-Point Literals</a:t>
            </a:r>
            <a:endParaRPr/>
          </a:p>
        </p:txBody>
      </p:sp>
      <p:sp>
        <p:nvSpPr>
          <p:cNvPr id="159" name="Google Shape;159;p8"/>
          <p:cNvSpPr txBox="1">
            <a:spLocks noGrp="1"/>
          </p:cNvSpPr>
          <p:nvPr>
            <p:ph type="body" idx="1"/>
          </p:nvPr>
        </p:nvSpPr>
        <p:spPr>
          <a:xfrm>
            <a:off x="533400" y="11430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Floating-point literals in Java are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precision by default.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specify a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literal, we must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append an </a:t>
            </a:r>
            <a:r>
              <a:rPr lang="en-US" sz="26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lang="en-US" sz="26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constant.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also explicitly specify a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literal by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appending a </a:t>
            </a:r>
            <a:r>
              <a:rPr lang="en-US" sz="26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-US" sz="26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default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 consumes 64 bits of storage, while the less-accurate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 requires only 32 bits</a:t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61" name="Google Shape;161;p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Literals</a:t>
            </a:r>
            <a:endParaRPr/>
          </a:p>
        </p:txBody>
      </p:sp>
      <p:sp>
        <p:nvSpPr>
          <p:cNvPr id="167" name="Google Shape;16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literals are simple.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only two logical values that a boolean value can have,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–"/>
            </a:pPr>
            <a:r>
              <a:rPr lang="en-US" sz="24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values of true and false do not convert into any numerical representation.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literal in Java </a:t>
            </a:r>
            <a:r>
              <a:rPr lang="en-US" sz="26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equal 1</a:t>
            </a:r>
            <a:endParaRPr sz="26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literal in Java </a:t>
            </a:r>
            <a:r>
              <a:rPr lang="en-US" sz="26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equal 0. </a:t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 Literals</a:t>
            </a:r>
            <a:endParaRPr/>
          </a:p>
        </p:txBody>
      </p:sp>
      <p:sp>
        <p:nvSpPr>
          <p:cNvPr id="175" name="Google Shape;175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Characters in Java are i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ndices into the Unicode character set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are 16-bit values that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converted into integers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manipulated with the integer operators, such as the addition  and subtraction operators.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literal character is represented inside a pair of single quotes.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of the visible ASCII characters can be directly entered inside the quotes, such as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‘a’, ‘z’, and ‘@’.</a:t>
            </a:r>
            <a:endParaRPr/>
          </a:p>
        </p:txBody>
      </p:sp>
      <p:sp>
        <p:nvSpPr>
          <p:cNvPr id="176" name="Google Shape;176;p1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77" name="Google Shape;177;p1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 Literals</a:t>
            </a:r>
            <a:endParaRPr/>
          </a:p>
        </p:txBody>
      </p:sp>
      <p:sp>
        <p:nvSpPr>
          <p:cNvPr id="183" name="Google Shape;18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‘\n’ for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newline character.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‘\’’ for the single-quote character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octal notation, use the backslash followed by the three-digit number.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‘141’ is the letter ‘a’.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hexadecimal, you enter a backslash-u (</a:t>
            </a:r>
            <a:r>
              <a:rPr lang="en-US" sz="26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\u), then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exactly four hexadecimal digits.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\u0061’</a:t>
            </a:r>
            <a:endParaRPr/>
          </a:p>
        </p:txBody>
      </p:sp>
      <p:sp>
        <p:nvSpPr>
          <p:cNvPr id="184" name="Google Shape;184;p1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85" name="Google Shape;185;p1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Literals</a:t>
            </a:r>
            <a:endParaRPr/>
          </a:p>
        </p:txBody>
      </p:sp>
      <p:sp>
        <p:nvSpPr>
          <p:cNvPr id="191" name="Google Shape;191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literals in Java are specified like they are in most other languages—by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enclosing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sequence of characters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between a pair of double quotes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of string literals are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“Hello World”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“two\nlines”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“\”This is in quotes\””</a:t>
            </a:r>
            <a:endParaRPr/>
          </a:p>
        </p:txBody>
      </p:sp>
      <p:sp>
        <p:nvSpPr>
          <p:cNvPr id="192" name="Google Shape;192;p1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93" name="Google Shape;193;p1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</a:t>
            </a:r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variable is the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unit of storage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 Java program.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variable is defined by 	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combination of an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identifier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an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optional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initializer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variables have a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scope,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defines their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visibility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a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lifetime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01" name="Google Shape;201;p1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Declaring a Variable</a:t>
            </a:r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body" idx="1"/>
          </p:nvPr>
        </p:nvSpPr>
        <p:spPr>
          <a:xfrm>
            <a:off x="304800" y="11430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variables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be declared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they can be used.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basic form of a variable declaration is :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Arial"/>
              <a:buNone/>
            </a:pPr>
            <a:r>
              <a:rPr lang="en-US" sz="2600" b="0" i="1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identifier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[[ </a:t>
            </a:r>
            <a:r>
              <a:rPr lang="en-US" sz="26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value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][, </a:t>
            </a:r>
            <a:r>
              <a:rPr lang="en-US" sz="26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identifier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[= value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... ] ;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type is one of Java’s atomic types, or the name of a class or interface.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identifier is the name of the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Square bracket denote that =Value is optional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declaration.</a:t>
            </a:r>
            <a:endParaRPr/>
          </a:p>
          <a:p>
            <a:pPr marL="342900" marR="0" lvl="0" indent="-1778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1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09" name="Google Shape;209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Example- variable declaration</a:t>
            </a:r>
            <a:endParaRPr/>
          </a:p>
        </p:txBody>
      </p:sp>
      <p:sp>
        <p:nvSpPr>
          <p:cNvPr id="215" name="Google Shape;21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Char char="•"/>
            </a:pP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a, b, c;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declares three int, a, b, and c.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Char char="•"/>
            </a:pP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d = 3, e, f = 5;</a:t>
            </a:r>
            <a:r>
              <a:rPr lang="en-US" sz="26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declares three int, </a:t>
            </a:r>
            <a:endParaRPr/>
          </a:p>
          <a:p>
            <a:pPr marL="2057400" marR="0" lvl="4" indent="-2286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// initializes d to 3 and f to 5.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Char char="•"/>
            </a:pP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 z = 22;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// initializes z to 22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Char char="•"/>
            </a:pP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pi = 3.14159;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declares an approximation of pi.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Char char="•"/>
            </a:pP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x = 'x';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// the variable x has the value 'x'.</a:t>
            </a:r>
            <a:endParaRPr/>
          </a:p>
        </p:txBody>
      </p:sp>
      <p:sp>
        <p:nvSpPr>
          <p:cNvPr id="216" name="Google Shape;216;p1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17" name="Google Shape;217;p1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Initialization</a:t>
            </a:r>
            <a:endParaRPr/>
          </a:p>
        </p:txBody>
      </p:sp>
      <p:sp>
        <p:nvSpPr>
          <p:cNvPr id="223" name="Google Shape;2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allows variables to be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initialized dynamically, using any </a:t>
            </a: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expression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 at the time the variable is declared.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Demonstrate dynamic initialization.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DynInit {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a = 3.0, b = 4.0;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c = Math.sqrt(a * a + b * b);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Here c is dynamically initialized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System.out.println("Hypotenuse is " + c);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24" name="Google Shape;224;p1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Scope and Lifetime of Variables</a:t>
            </a:r>
            <a:endParaRPr/>
          </a:p>
        </p:txBody>
      </p:sp>
      <p:sp>
        <p:nvSpPr>
          <p:cNvPr id="231" name="Google Shape;231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of the variables used have been declared at the start of the main( ) method.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allows variables to be declared within any block.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block begins with an opening curly brace and ended by a closing curly brace.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block defines a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scope. 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block begins with{  and end with 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determines </a:t>
            </a:r>
            <a:r>
              <a:rPr lang="en-US" sz="26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objects are visible to other parts of your program.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also determines the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lifetime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those objects.</a:t>
            </a:r>
            <a:endParaRPr/>
          </a:p>
          <a:p>
            <a:pPr marL="342900" marR="0" lvl="0" indent="-1778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1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Scope and Lifetime of Variables(contd.)</a:t>
            </a:r>
            <a:endParaRPr/>
          </a:p>
        </p:txBody>
      </p:sp>
      <p:sp>
        <p:nvSpPr>
          <p:cNvPr id="239" name="Google Shape;239;p1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major scopes are 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defined by a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defined by a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declared inside a scope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visible (that is, accessible) to </a:t>
            </a:r>
            <a:r>
              <a:rPr lang="en-US" sz="26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that is defined outside that scope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variable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Scope and Lifetime of variables(contd.)</a:t>
            </a:r>
            <a:endParaRPr/>
          </a:p>
        </p:txBody>
      </p:sp>
      <p:sp>
        <p:nvSpPr>
          <p:cNvPr id="247" name="Google Shape;24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Scopes can be nested.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time you create a block of code, we are creating a new, nested scope.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outer scope encloses the inner scope.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means that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 declared in the </a:t>
            </a:r>
            <a:r>
              <a:rPr lang="en-US" sz="2400" b="1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outer scope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be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visible to code within the inner scope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{//outer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{//inner</a:t>
            </a:r>
            <a:endParaRPr/>
          </a:p>
          <a:p>
            <a:pPr marL="1600200" marR="0" lvl="3" indent="-228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{//innermost</a:t>
            </a:r>
            <a:endParaRPr/>
          </a:p>
          <a:p>
            <a:pPr marL="1600200" marR="0" lvl="3" indent="-228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 txBox="1">
            <a:spLocks noGrp="1"/>
          </p:cNvSpPr>
          <p:nvPr>
            <p:ph type="body" idx="1"/>
          </p:nvPr>
        </p:nvSpPr>
        <p:spPr>
          <a:xfrm>
            <a:off x="533400" y="0"/>
            <a:ext cx="8229600" cy="551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Sample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(String args[])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x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	</a:t>
            </a:r>
            <a:r>
              <a:rPr lang="en-US" sz="22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known to all code within main function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if(x == 10) 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// start new scope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y = 20; </a:t>
            </a:r>
            <a:r>
              <a:rPr lang="en-US" sz="2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known only to this block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// </a:t>
            </a:r>
            <a:r>
              <a:rPr lang="en-US" sz="22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x(OUTER SCOPE)</a:t>
            </a:r>
            <a:r>
              <a:rPr lang="en-US" sz="2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y both known here.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System.out.println("x and y: " + </a:t>
            </a:r>
            <a:r>
              <a:rPr lang="en-US" sz="22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" " + y);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y * 2;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y = 100; </a:t>
            </a:r>
            <a:r>
              <a:rPr lang="en-US" sz="2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Error! y not known here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// x is still known here.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System.out.println("x is " + x);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Scope and Lifetime of variables(contd.)</a:t>
            </a:r>
            <a:endParaRPr/>
          </a:p>
        </p:txBody>
      </p:sp>
      <p:sp>
        <p:nvSpPr>
          <p:cNvPr id="262" name="Google Shape;262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This fragment is </a:t>
            </a:r>
            <a:r>
              <a:rPr lang="en-US" sz="26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wrong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!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 = 100;  </a:t>
            </a:r>
            <a:r>
              <a:rPr lang="en-US" sz="2600" b="0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cannot use </a:t>
            </a:r>
            <a:r>
              <a:rPr lang="en-US" sz="26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</a:t>
            </a:r>
            <a:r>
              <a:rPr lang="en-US" sz="2600" b="0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before it is declared!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count;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are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when their scope is entered, and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destroyed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when their scope is left.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means that a variable </a:t>
            </a:r>
            <a:r>
              <a:rPr lang="en-US" sz="24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not hold its value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it has gone out of scope. 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Demonstrate lifetime of a variable.</a:t>
            </a:r>
            <a:b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270" name="Google Shape;270;p22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211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 can be reinitialized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time it enters the block in which it is declared</a:t>
            </a:r>
            <a:endParaRPr sz="26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LifeTime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x;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for(x = 0; x &lt; 2; x++)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y = -1;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y is initialized each time block is entered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System.out.println("y is: " + y);   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this always prints -1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100;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System.out.println("y is now: " + y);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}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6629400" y="1828800"/>
            <a:ext cx="1531937" cy="2032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is: -1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is now: 100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is: -1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is now: 100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is: -1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is now: 100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25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23"/>
          <p:cNvSpPr txBox="1">
            <a:spLocks noGrp="1"/>
          </p:cNvSpPr>
          <p:nvPr>
            <p:ph type="body" idx="1"/>
          </p:nvPr>
        </p:nvSpPr>
        <p:spPr>
          <a:xfrm>
            <a:off x="457200" y="838200"/>
            <a:ext cx="8229600" cy="52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Although blocks can be nested, you cannot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declare a variable to have the </a:t>
            </a:r>
            <a:r>
              <a:rPr lang="en-US" sz="26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name as one in an </a:t>
            </a: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outer scope</a:t>
            </a:r>
            <a:r>
              <a:rPr lang="en-US" sz="26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This program will not compile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ScopeErr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Arial"/>
              <a:buNone/>
            </a:pPr>
            <a:r>
              <a:rPr lang="en-US" sz="26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</a:t>
            </a:r>
            <a:r>
              <a:rPr lang="en-US" sz="26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2600" b="0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creates a new scope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int </a:t>
            </a:r>
            <a:r>
              <a:rPr lang="en-US" sz="26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2; </a:t>
            </a:r>
            <a:r>
              <a:rPr lang="en-US" sz="2600" b="0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Compile-time error 			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0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//  </a:t>
            </a:r>
            <a:r>
              <a:rPr lang="en-US" sz="2600" b="0" i="1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</a:t>
            </a:r>
            <a:r>
              <a:rPr lang="en-US" sz="2600" b="0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already defined in outer scope!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Arial"/>
              <a:buNone/>
            </a:pPr>
            <a:r>
              <a:rPr lang="en-US" sz="26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1731</Words>
  <Application>Microsoft Office PowerPoint</Application>
  <PresentationFormat>On-screen Show (4:3)</PresentationFormat>
  <Paragraphs>232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Times New Roman</vt:lpstr>
      <vt:lpstr>1_Office Theme</vt:lpstr>
      <vt:lpstr>2_Office Theme</vt:lpstr>
      <vt:lpstr>Office Theme</vt:lpstr>
      <vt:lpstr>Object Oriented Programming using Java Introduction to Java(part 8) </vt:lpstr>
      <vt:lpstr>Topics</vt:lpstr>
      <vt:lpstr>Literals</vt:lpstr>
      <vt:lpstr>Integer Literals</vt:lpstr>
      <vt:lpstr>Integer Literals</vt:lpstr>
      <vt:lpstr>Integer Literals</vt:lpstr>
      <vt:lpstr>Floating-Point Literals</vt:lpstr>
      <vt:lpstr>Floating-Point Literals</vt:lpstr>
      <vt:lpstr>Boolean Literals</vt:lpstr>
      <vt:lpstr>Character Literals</vt:lpstr>
      <vt:lpstr>Character Literals</vt:lpstr>
      <vt:lpstr>String Literals</vt:lpstr>
      <vt:lpstr>Variables</vt:lpstr>
      <vt:lpstr>Declaring a Variable</vt:lpstr>
      <vt:lpstr>Example- variable declaration</vt:lpstr>
      <vt:lpstr>Dynamic Initialization</vt:lpstr>
      <vt:lpstr>The Scope and Lifetime of Variables</vt:lpstr>
      <vt:lpstr>The Scope and Lifetime of Variables(contd.)</vt:lpstr>
      <vt:lpstr>The Scope and Lifetime of variables(contd.)</vt:lpstr>
      <vt:lpstr>PowerPoint Presentation</vt:lpstr>
      <vt:lpstr>The Scope and Lifetime of variables(contd.)</vt:lpstr>
      <vt:lpstr>// Demonstrate lifetime of a variable.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RENETHA J B</cp:lastModifiedBy>
  <cp:revision>8</cp:revision>
  <dcterms:created xsi:type="dcterms:W3CDTF">2006-08-16T00:00:00Z</dcterms:created>
  <dcterms:modified xsi:type="dcterms:W3CDTF">2025-07-16T10:48:43Z</dcterms:modified>
</cp:coreProperties>
</file>