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34C630-B476-44C1-8B96-514883755C87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560950-B67A-4C60-86AB-1A774A72B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118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Word of Warning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Now that Java includes autoboxing and auto-unboxing, some might be tempted to use objects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such as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Integer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exclusively, abandoning primitives altogether. For example, with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autoboxing/unboxing it is possible to write code like this: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// A bad use of autoboxing/unboxing!</a:t>
            </a:r>
          </a:p>
          <a:p>
            <a:r>
              <a:rPr lang="en-I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 a, b, c;</a:t>
            </a:r>
          </a:p>
          <a:p>
            <a:r>
              <a:rPr lang="en-I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= 10.0;</a:t>
            </a:r>
          </a:p>
          <a:p>
            <a:r>
              <a:rPr lang="en-I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 = 4.0;</a:t>
            </a:r>
          </a:p>
          <a:p>
            <a:r>
              <a:rPr lang="en-I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 = </a:t>
            </a:r>
            <a:r>
              <a:rPr lang="en-IN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Math.sqrt</a:t>
            </a:r>
            <a:r>
              <a:rPr lang="en-I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(a*a + b*b);</a:t>
            </a:r>
          </a:p>
          <a:p>
            <a:r>
              <a:rPr lang="en-IN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System.out.println</a:t>
            </a:r>
            <a:r>
              <a:rPr lang="en-I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("Hypotenuse is " + c);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example, objects of type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hold values that are used to calculate the hypotenuse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a right triangle. Although this code is technically correct and does, in fact, work properly,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is a very bad use of autoboxing/unboxing. It is far less efficient than the equivalent code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written using the primitive type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The reason is that each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autobox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auto-unbox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adds overhead that is not present if the primitive type is used.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560950-B67A-4C60-86AB-1A774A72B356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981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7B120-D7B0-E8AE-C6DF-C93BCFF99E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3C43CC-962F-8B2C-6E3B-280CE2A67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5188E-1051-6F04-07BA-822BF4A6F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E7A2A-C600-4E06-A50D-5BFF157C4F8E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946CE-F219-DB1D-5BD3-507D52511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05595-69A4-436F-4989-64C04DB9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17874-94F0-4565-8FC6-0ED006F67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847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56B84-7C72-DB64-5751-821A63D67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CA70C-C108-BBEA-56AF-9B057686C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BD1BB-64E0-8E22-6C80-E5608DB5D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E7A2A-C600-4E06-A50D-5BFF157C4F8E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1185E-2EF8-31BE-08CE-DAEF58413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22399-871C-E036-5298-85836DFB5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17874-94F0-4565-8FC6-0ED006F67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619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A5D88-1CB1-2D0F-A46A-4B2F15A62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697DB-3A28-6D25-0A6A-227A0A8C4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C5716-2F42-84A3-84A8-979C0BAB7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E7A2A-C600-4E06-A50D-5BFF157C4F8E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9DE22-39F7-4617-B6AC-C8C68D958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18865-64F5-AD5D-8334-9694D6997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17874-94F0-4565-8FC6-0ED006F67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095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4ECE2-6911-4E99-F7DB-49E0BD88F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C360E-400A-B4D9-C77F-80A83F04F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1FF66C-BE37-B291-100C-7878531912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63991D-C011-9579-272B-C4E145B34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E7A2A-C600-4E06-A50D-5BFF157C4F8E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612815-D482-87D2-8156-05B61966D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FE1BB3-282F-6297-3FBA-0F27AB3CF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17874-94F0-4565-8FC6-0ED006F67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28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B8194-3808-FE5A-6E87-B59C8E3BF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C885A-F46B-3082-0354-25FA320A3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E141A3-4A5E-4A09-AB32-7BFA336454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3EA1FB-A6F1-FD62-67F7-02812E0F0A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2F905E-3149-F639-E0E4-4A3E2AFAB7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720F8A-3017-9997-0CEF-A22C6F1A9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E7A2A-C600-4E06-A50D-5BFF157C4F8E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B890B3-AAF1-D545-48C0-664F40AD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3F398E-E154-74C1-7FEC-5D89A4C12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17874-94F0-4565-8FC6-0ED006F67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210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F9F89-AF19-0B05-1261-054103E9E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6BFCC5-5FFD-F548-3F83-1B9C1F6F0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E7A2A-C600-4E06-A50D-5BFF157C4F8E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5459DB-36CD-0DA0-1734-70C83A2A2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E4A7DC-AEB6-5AE0-1AD4-91CF6189E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17874-94F0-4565-8FC6-0ED006F67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552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11D89B-7923-22A2-A51D-7B29C77D7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E7A2A-C600-4E06-A50D-5BFF157C4F8E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091296-11C3-3A68-F74B-4F0A848BA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C96D6-1454-CB15-8832-79B533A7B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17874-94F0-4565-8FC6-0ED006F67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656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68674-009F-CA9C-B8FE-E1BC02940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AEB99-BCB4-54B2-8B53-E69C361F8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1CFA7F-14FA-FF97-9852-CE9284FFD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39CCC-74C1-CB22-B845-8C70804D5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E7A2A-C600-4E06-A50D-5BFF157C4F8E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614EA8-A681-C331-6392-1C491CC9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75E1A9-741F-27E6-5FCE-5D1BF322A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17874-94F0-4565-8FC6-0ED006F67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303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63DB8-72D3-9926-5E72-DBD3567E5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AE7921-85A8-B07A-3711-02E95E59A4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5661E-729C-162F-ECDA-9DC57B0A57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703ED-FC2B-6912-C217-3A399BC89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E7A2A-C600-4E06-A50D-5BFF157C4F8E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83850-91A1-4485-364B-3ED73CCB0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5AAB10-B7FE-9777-4459-EE222F931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17874-94F0-4565-8FC6-0ED006F67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287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2412F-446E-41A2-231F-797BF9567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F961DB-5982-8C53-691B-8C59C42F7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C8FF2-63BB-DCBD-F180-0D9EBE124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E7A2A-C600-4E06-A50D-5BFF157C4F8E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8BD37-6C18-1EF1-A0BF-CA67F3E15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52844-56D9-EA4A-ADF2-62CFCCE7E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17874-94F0-4565-8FC6-0ED006F67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70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2426C0-EF86-B8A7-3678-8CE4534B06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17C4AE-F5B7-E2FF-508D-825360E38E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DF2CB-15C5-1B87-F838-90A8821DB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E7A2A-C600-4E06-A50D-5BFF157C4F8E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1D0EF-A2BE-195B-4372-1FB052774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AFF4E-352A-6462-C68A-8957C7A2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17874-94F0-4565-8FC6-0ED006F67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152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22AAAC-B33A-73A6-414E-BEA898D4F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2974A-693C-0B3F-1D47-B013E93A3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B8B84-BC0E-6062-DEA0-E75DEA875D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BE7A2A-C600-4E06-A50D-5BFF157C4F8E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7AC78-41F6-48E4-568C-59E6CA8A81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0AA1B-93A3-A1A1-87B4-80E22DE55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17874-94F0-4565-8FC6-0ED006F67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317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A84BE-A253-F203-9DB6-A2EFD17BAD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OOP part 5</a:t>
            </a:r>
            <a:br>
              <a:rPr lang="en-IN" dirty="0"/>
            </a:br>
            <a:br>
              <a:rPr lang="en-IN" dirty="0"/>
            </a:br>
            <a:r>
              <a:rPr lang="en-IN" dirty="0"/>
              <a:t>(</a:t>
            </a:r>
            <a:r>
              <a:rPr lang="en-IN" sz="3200" dirty="0"/>
              <a:t>autoboxing)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6FC17E-E513-E6ED-9AAB-1F652AAAF2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err="1"/>
              <a:t>Renetha</a:t>
            </a:r>
            <a:r>
              <a:rPr lang="en-IN" dirty="0"/>
              <a:t> J.B.</a:t>
            </a:r>
          </a:p>
        </p:txBody>
      </p:sp>
    </p:spTree>
    <p:extLst>
      <p:ext uri="{BB962C8B-B14F-4D97-AF65-F5344CB8AC3E}">
        <p14:creationId xmlns:p14="http://schemas.microsoft.com/office/powerpoint/2010/main" val="4133346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71434-F25E-2F6D-7725-7CCC10DD4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E92BE-12D8-10D6-15D3-70D8C1D9B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AutoBoxing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481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A6DBF-2B0B-B30D-7C6E-5484ACD12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AutoBoxing</a:t>
            </a:r>
            <a:r>
              <a:rPr lang="en-IN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AFA75-C9A5-D017-874A-CE3719314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AutoBoxing</a:t>
            </a:r>
            <a:r>
              <a:rPr lang="en-US" dirty="0"/>
              <a:t> is the process by which a </a:t>
            </a:r>
            <a:r>
              <a:rPr lang="en-US" u="sng" dirty="0"/>
              <a:t>primitive type is </a:t>
            </a:r>
            <a:r>
              <a:rPr lang="en-US" b="1" u="sng" dirty="0"/>
              <a:t>automatically</a:t>
            </a:r>
            <a:r>
              <a:rPr lang="en-US" u="sng" dirty="0"/>
              <a:t> </a:t>
            </a:r>
            <a:r>
              <a:rPr lang="en-US" b="1" u="sng" dirty="0"/>
              <a:t>encapsulated</a:t>
            </a:r>
            <a:r>
              <a:rPr lang="en-US" u="sng" dirty="0"/>
              <a:t> (boxed)into its equivalent type wrapper </a:t>
            </a:r>
            <a:r>
              <a:rPr lang="en-US" dirty="0"/>
              <a:t>whenever an object of that type is needed. </a:t>
            </a:r>
          </a:p>
          <a:p>
            <a:pPr lvl="1"/>
            <a:r>
              <a:rPr lang="en-US" dirty="0"/>
              <a:t>There is no need to explicitly construct an object. </a:t>
            </a:r>
          </a:p>
          <a:p>
            <a:r>
              <a:rPr lang="en-US" dirty="0"/>
              <a:t>Auto-unboxing is the process by which </a:t>
            </a:r>
            <a:r>
              <a:rPr lang="en-US" u="sng" dirty="0"/>
              <a:t>the value of a boxed object is </a:t>
            </a:r>
            <a:r>
              <a:rPr lang="en-US" b="1" u="sng" dirty="0"/>
              <a:t>automatically</a:t>
            </a:r>
            <a:r>
              <a:rPr lang="en-US" u="sng" dirty="0"/>
              <a:t> </a:t>
            </a:r>
            <a:r>
              <a:rPr lang="en-US" b="1" u="sng" dirty="0"/>
              <a:t>extracted</a:t>
            </a:r>
            <a:r>
              <a:rPr lang="en-US" u="sng" dirty="0"/>
              <a:t> (unboxed) from a type wrapper </a:t>
            </a:r>
            <a:r>
              <a:rPr lang="en-US" dirty="0"/>
              <a:t>when its value is needed.</a:t>
            </a:r>
          </a:p>
          <a:p>
            <a:pPr lvl="1"/>
            <a:r>
              <a:rPr lang="en-US" dirty="0"/>
              <a:t>There is no need to call a method such as </a:t>
            </a:r>
            <a:r>
              <a:rPr lang="en-US" b="1" dirty="0" err="1"/>
              <a:t>intValue</a:t>
            </a:r>
            <a:r>
              <a:rPr lang="en-US" b="1" dirty="0"/>
              <a:t>( ) </a:t>
            </a:r>
            <a:r>
              <a:rPr lang="en-US" dirty="0"/>
              <a:t>or </a:t>
            </a:r>
            <a:r>
              <a:rPr lang="en-US" b="1" dirty="0" err="1"/>
              <a:t>doubleValue</a:t>
            </a:r>
            <a:r>
              <a:rPr lang="en-US" b="1" dirty="0"/>
              <a:t>( )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2443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3ECCF-1A34-E839-A608-A47CEA048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AutoBoxing|UnBoxing</a:t>
            </a:r>
            <a:r>
              <a:rPr lang="en-IN" dirty="0"/>
              <a:t> -Advantages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53174-5197-C625-6093-9B56F233E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removes tedious manually boxing and unboxing values. </a:t>
            </a:r>
          </a:p>
          <a:p>
            <a:r>
              <a:rPr lang="en-US" dirty="0"/>
              <a:t>Helps to prevent errors.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4472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C0368-4452-1E39-907D-243D344B5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AutoBoxing|Autounboxing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920FA-49A5-E45C-ADC7-CF5DA6FDC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construct </a:t>
            </a:r>
            <a:r>
              <a:rPr lang="en-US" dirty="0"/>
              <a:t>an </a:t>
            </a:r>
            <a:r>
              <a:rPr lang="en-US" b="1" dirty="0"/>
              <a:t>Integer </a:t>
            </a:r>
            <a:r>
              <a:rPr lang="en-US" dirty="0"/>
              <a:t>object that has the value 100:</a:t>
            </a:r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r>
              <a:rPr lang="de-DE" sz="2400" dirty="0"/>
              <a:t>(No need to use construtor as in:-  </a:t>
            </a:r>
            <a:r>
              <a:rPr lang="en-IN" sz="2400" dirty="0"/>
              <a:t>Integer </a:t>
            </a:r>
            <a:r>
              <a:rPr lang="en-IN" sz="2400" dirty="0" err="1"/>
              <a:t>ob</a:t>
            </a:r>
            <a:r>
              <a:rPr lang="en-IN" sz="2400" dirty="0"/>
              <a:t> = new Integer(100);        )</a:t>
            </a:r>
          </a:p>
          <a:p>
            <a:pPr marL="0" indent="0">
              <a:buNone/>
            </a:pPr>
            <a:endParaRPr lang="en-IN" sz="2400" dirty="0"/>
          </a:p>
          <a:p>
            <a:r>
              <a:rPr lang="en-US" dirty="0"/>
              <a:t>To unbox an object, simply assign that object reference to a primitive-type variable.</a:t>
            </a:r>
          </a:p>
          <a:p>
            <a:pPr lvl="1"/>
            <a:r>
              <a:rPr lang="en-US" dirty="0"/>
              <a:t>For example, to </a:t>
            </a:r>
            <a:r>
              <a:rPr lang="en-US" b="1" dirty="0"/>
              <a:t>unbox</a:t>
            </a:r>
            <a:r>
              <a:rPr lang="en-US" dirty="0"/>
              <a:t> the</a:t>
            </a:r>
            <a:r>
              <a:rPr lang="en-US" b="1" dirty="0"/>
              <a:t> </a:t>
            </a:r>
            <a:r>
              <a:rPr lang="en-US" b="1" dirty="0" err="1"/>
              <a:t>ob</a:t>
            </a:r>
            <a:r>
              <a:rPr lang="en-US" dirty="0"/>
              <a:t> object in the above code, 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045A84-EDB3-5C66-1D62-F1272F385893}"/>
              </a:ext>
            </a:extLst>
          </p:cNvPr>
          <p:cNvSpPr txBox="1"/>
          <p:nvPr/>
        </p:nvSpPr>
        <p:spPr>
          <a:xfrm>
            <a:off x="2389239" y="2428568"/>
            <a:ext cx="2431307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 ob = 100;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D9EB10-092A-066D-CD80-706FA0109716}"/>
              </a:ext>
            </a:extLst>
          </p:cNvPr>
          <p:cNvSpPr txBox="1"/>
          <p:nvPr/>
        </p:nvSpPr>
        <p:spPr>
          <a:xfrm>
            <a:off x="1964410" y="5579807"/>
            <a:ext cx="1422505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400" dirty="0"/>
              <a:t>int </a:t>
            </a:r>
            <a:r>
              <a:rPr lang="en-IN" sz="2400" dirty="0" err="1"/>
              <a:t>i</a:t>
            </a:r>
            <a:r>
              <a:rPr lang="en-IN" sz="2400" dirty="0"/>
              <a:t> = </a:t>
            </a:r>
            <a:r>
              <a:rPr lang="en-IN" sz="2400" dirty="0" err="1"/>
              <a:t>ob</a:t>
            </a:r>
            <a:r>
              <a:rPr lang="en-IN" sz="2400" dirty="0"/>
              <a:t>;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179014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1215E-D853-0A60-7ABB-DAC2BCC55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Example-Autoboxing|unboxing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40B01-D16D-55D3-8ED8-853380EC5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5239"/>
            <a:ext cx="10515600" cy="53117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Demonstrate autoboxing/unboxing.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Sample 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void main(String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[])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457200" lvl="1" indent="0">
              <a:buNone/>
            </a:pPr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 ob = 100; 		// autobox an int</a:t>
            </a:r>
          </a:p>
          <a:p>
            <a:pPr marL="457200" lvl="1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			// auto-unbox</a:t>
            </a:r>
          </a:p>
          <a:p>
            <a:pPr marL="457200" lvl="1" indent="0">
              <a:buNone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" " +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	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18082A-B3EC-A289-AF69-F09CB089ED40}"/>
              </a:ext>
            </a:extLst>
          </p:cNvPr>
          <p:cNvSpPr txBox="1"/>
          <p:nvPr/>
        </p:nvSpPr>
        <p:spPr>
          <a:xfrm>
            <a:off x="8819535" y="4513006"/>
            <a:ext cx="9925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Output:</a:t>
            </a:r>
          </a:p>
          <a:p>
            <a:r>
              <a:rPr lang="en-IN" dirty="0"/>
              <a:t>100  100</a:t>
            </a:r>
          </a:p>
        </p:txBody>
      </p:sp>
    </p:spTree>
    <p:extLst>
      <p:ext uri="{BB962C8B-B14F-4D97-AF65-F5344CB8AC3E}">
        <p14:creationId xmlns:p14="http://schemas.microsoft.com/office/powerpoint/2010/main" val="1694889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DA0B9-E6A3-F508-C3AE-56ABB85C0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Autoboxing and Methods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B8AB2-E4D0-985E-B862-7E1A9ABC0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Autoboxing/unboxing might occur </a:t>
            </a:r>
          </a:p>
          <a:p>
            <a:pPr lvl="1"/>
            <a:r>
              <a:rPr lang="en-US" dirty="0"/>
              <a:t>when an argument is passed to a method, or </a:t>
            </a:r>
          </a:p>
          <a:p>
            <a:pPr lvl="1"/>
            <a:r>
              <a:rPr lang="en-US" dirty="0"/>
              <a:t>when a value is returned by a method.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7560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5DD41-C72D-84DB-6AEB-9484164E9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Autoboxing/Unboxing Occurs in Expressions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A19D7-9CE8-8599-E212-9A82E5A9F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Within an expression, a numeric object is automatically unboxed. </a:t>
            </a:r>
          </a:p>
          <a:p>
            <a:r>
              <a:rPr lang="en-US" dirty="0"/>
              <a:t>The outcome of the expression is </a:t>
            </a:r>
            <a:r>
              <a:rPr lang="en-US" dirty="0" err="1"/>
              <a:t>reboxed</a:t>
            </a:r>
            <a:r>
              <a:rPr lang="en-US" dirty="0"/>
              <a:t>, if necessary,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5691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DB693-AF38-FC7E-090C-0D1FAC4C1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Autoboxing/Unboxing Boolean and Character Values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C5BF8-3F89-1933-DAF3-92D1F2FB4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Autoboxing/unboxing applies to these </a:t>
            </a:r>
            <a:r>
              <a:rPr lang="en-US" b="1" dirty="0"/>
              <a:t>Boolean </a:t>
            </a:r>
            <a:r>
              <a:rPr lang="en-US" dirty="0"/>
              <a:t>and </a:t>
            </a:r>
            <a:r>
              <a:rPr lang="en-US" b="1" dirty="0"/>
              <a:t>Character </a:t>
            </a:r>
            <a:r>
              <a:rPr lang="en-US" dirty="0"/>
              <a:t>wrappers, too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747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897CF-E5E8-9BAF-97A8-1E96326AB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Autoboxing/Unboxing Helps Prevent Errors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81855-F475-5744-63AC-3A05C9E04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A</a:t>
            </a:r>
            <a:r>
              <a:rPr lang="en-US" dirty="0" err="1"/>
              <a:t>utoboxing</a:t>
            </a:r>
            <a:r>
              <a:rPr lang="en-US" dirty="0"/>
              <a:t>/unboxing can also help prevent </a:t>
            </a:r>
            <a:r>
              <a:rPr lang="en-IN" dirty="0"/>
              <a:t>errors.</a:t>
            </a:r>
          </a:p>
          <a:p>
            <a:pPr marL="0" indent="0">
              <a:buNone/>
            </a:pPr>
            <a:r>
              <a:rPr lang="en-US" dirty="0"/>
              <a:t>// An error produced by manual unboxing.</a:t>
            </a:r>
          </a:p>
          <a:p>
            <a:pPr marL="0" indent="0">
              <a:buNone/>
            </a:pPr>
            <a:r>
              <a:rPr lang="en-IN" dirty="0"/>
              <a:t>class </a:t>
            </a:r>
            <a:r>
              <a:rPr lang="en-IN" dirty="0" err="1"/>
              <a:t>UnboxingErrorExample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US" dirty="0"/>
              <a:t>public static void main(String </a:t>
            </a:r>
            <a:r>
              <a:rPr lang="en-US" dirty="0" err="1"/>
              <a:t>args</a:t>
            </a:r>
            <a:r>
              <a:rPr lang="en-US" dirty="0"/>
              <a:t>[]) 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457200" lvl="1" indent="0">
              <a:buNone/>
            </a:pPr>
            <a:r>
              <a:rPr lang="en-US" dirty="0"/>
              <a:t>Integer </a:t>
            </a:r>
            <a:r>
              <a:rPr lang="en-US" dirty="0" err="1"/>
              <a:t>ob</a:t>
            </a:r>
            <a:r>
              <a:rPr lang="en-US" dirty="0"/>
              <a:t> = 1000; 		// </a:t>
            </a:r>
            <a:r>
              <a:rPr lang="en-US" dirty="0" err="1"/>
              <a:t>autobox</a:t>
            </a:r>
            <a:r>
              <a:rPr lang="en-US" dirty="0"/>
              <a:t> the value 1000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C00000"/>
                </a:solidFill>
              </a:rPr>
              <a:t>int </a:t>
            </a:r>
            <a:r>
              <a:rPr lang="en-US" b="1" dirty="0" err="1">
                <a:solidFill>
                  <a:srgbClr val="C00000"/>
                </a:solidFill>
              </a:rPr>
              <a:t>i</a:t>
            </a:r>
            <a:r>
              <a:rPr lang="en-US" b="1" dirty="0">
                <a:solidFill>
                  <a:srgbClr val="C00000"/>
                </a:solidFill>
              </a:rPr>
              <a:t> = </a:t>
            </a:r>
            <a:r>
              <a:rPr lang="en-US" b="1" dirty="0" err="1">
                <a:solidFill>
                  <a:srgbClr val="C00000"/>
                </a:solidFill>
              </a:rPr>
              <a:t>ob.byteValue</a:t>
            </a:r>
            <a:r>
              <a:rPr lang="en-US" b="1" dirty="0">
                <a:solidFill>
                  <a:srgbClr val="C00000"/>
                </a:solidFill>
              </a:rPr>
              <a:t>(); 	// manually unbox as byte !!!</a:t>
            </a:r>
          </a:p>
          <a:p>
            <a:pPr marL="457200" lvl="1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); 	//  THIS DOES NOT DISPLAY THE VALUE 1000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58098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</TotalTime>
  <Words>587</Words>
  <Application>Microsoft Office PowerPoint</Application>
  <PresentationFormat>Widescreen</PresentationFormat>
  <Paragraphs>71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OOP part 5  (autoboxing)</vt:lpstr>
      <vt:lpstr>PowerPoint Presentation</vt:lpstr>
      <vt:lpstr>AutoBoxing </vt:lpstr>
      <vt:lpstr>AutoBoxing|UnBoxing -Advantages</vt:lpstr>
      <vt:lpstr>AutoBoxing|Autounboxing</vt:lpstr>
      <vt:lpstr>Example-Autoboxing|unboxing</vt:lpstr>
      <vt:lpstr>Autoboxing and Methods</vt:lpstr>
      <vt:lpstr>Autoboxing/Unboxing Occurs in Expressions</vt:lpstr>
      <vt:lpstr>Autoboxing/Unboxing Boolean and Character Values</vt:lpstr>
      <vt:lpstr>Autoboxing/Unboxing Helps Prevent Errors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RENETHA J B</dc:creator>
  <cp:lastModifiedBy>RENETHA J B</cp:lastModifiedBy>
  <cp:revision>25</cp:revision>
  <dcterms:created xsi:type="dcterms:W3CDTF">2025-07-13T14:29:21Z</dcterms:created>
  <dcterms:modified xsi:type="dcterms:W3CDTF">2025-07-16T10:47:33Z</dcterms:modified>
</cp:coreProperties>
</file>