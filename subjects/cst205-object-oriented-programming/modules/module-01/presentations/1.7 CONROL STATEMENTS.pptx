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0" r:id="rId27"/>
    <p:sldId id="322" r:id="rId28"/>
    <p:sldId id="321" r:id="rId29"/>
    <p:sldId id="279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325" r:id="rId45"/>
    <p:sldId id="326" r:id="rId46"/>
    <p:sldId id="295" r:id="rId47"/>
    <p:sldId id="296" r:id="rId48"/>
    <p:sldId id="297" r:id="rId49"/>
    <p:sldId id="298" r:id="rId50"/>
    <p:sldId id="299" r:id="rId51"/>
    <p:sldId id="300" r:id="rId52"/>
    <p:sldId id="323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9" r:id="rId66"/>
    <p:sldId id="320" r:id="rId67"/>
    <p:sldId id="313" r:id="rId68"/>
    <p:sldId id="314" r:id="rId69"/>
    <p:sldId id="315" r:id="rId70"/>
    <p:sldId id="316" r:id="rId71"/>
    <p:sldId id="317" r:id="rId72"/>
    <p:sldId id="318" r:id="rId73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5" roundtripDataSignature="AMtx7mgZr4L9uKwClJJuCdcCdCS4PQR0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A397869D-DC82-3A5C-F794-D79C2564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>
            <a:extLst>
              <a:ext uri="{FF2B5EF4-FFF2-40B4-BE49-F238E27FC236}">
                <a16:creationId xmlns:a16="http://schemas.microsoft.com/office/drawing/2014/main" id="{A7654C8A-1995-6CBD-F19F-FF559AA16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5:notes">
            <a:extLst>
              <a:ext uri="{FF2B5EF4-FFF2-40B4-BE49-F238E27FC236}">
                <a16:creationId xmlns:a16="http://schemas.microsoft.com/office/drawing/2014/main" id="{3F118540-5E08-3980-A330-793DF989C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90098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10CBFAD2-6874-FC80-FC00-573EF3699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>
            <a:extLst>
              <a:ext uri="{FF2B5EF4-FFF2-40B4-BE49-F238E27FC236}">
                <a16:creationId xmlns:a16="http://schemas.microsoft.com/office/drawing/2014/main" id="{43975F6A-6CB0-89DA-ED28-BDB50D650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5:notes">
            <a:extLst>
              <a:ext uri="{FF2B5EF4-FFF2-40B4-BE49-F238E27FC236}">
                <a16:creationId xmlns:a16="http://schemas.microsoft.com/office/drawing/2014/main" id="{1C5AB23A-581F-20E6-E57F-1D78E3FCE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69770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5F9A13A6-70E2-8E81-E65D-7952D10A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:notes">
            <a:extLst>
              <a:ext uri="{FF2B5EF4-FFF2-40B4-BE49-F238E27FC236}">
                <a16:creationId xmlns:a16="http://schemas.microsoft.com/office/drawing/2014/main" id="{4040153B-0A54-C042-AC1F-76E63D8A3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0:notes">
            <a:extLst>
              <a:ext uri="{FF2B5EF4-FFF2-40B4-BE49-F238E27FC236}">
                <a16:creationId xmlns:a16="http://schemas.microsoft.com/office/drawing/2014/main" id="{1A449F3E-02DB-7424-6BC8-F6802A3C7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1404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0C40631D-3361-9E7D-5EBE-748DACF5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:notes">
            <a:extLst>
              <a:ext uri="{FF2B5EF4-FFF2-40B4-BE49-F238E27FC236}">
                <a16:creationId xmlns:a16="http://schemas.microsoft.com/office/drawing/2014/main" id="{382F2611-F299-7F29-4991-E40BE9C0D1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0:notes">
            <a:extLst>
              <a:ext uri="{FF2B5EF4-FFF2-40B4-BE49-F238E27FC236}">
                <a16:creationId xmlns:a16="http://schemas.microsoft.com/office/drawing/2014/main" id="{897D55E5-FE9F-9206-EAD7-6FF4F0CD8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57885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52231794-FB92-9A63-63C8-A8F357F6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7:notes">
            <a:extLst>
              <a:ext uri="{FF2B5EF4-FFF2-40B4-BE49-F238E27FC236}">
                <a16:creationId xmlns:a16="http://schemas.microsoft.com/office/drawing/2014/main" id="{7C1B22E7-CF51-23C1-7F55-237E83B35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7:notes">
            <a:extLst>
              <a:ext uri="{FF2B5EF4-FFF2-40B4-BE49-F238E27FC236}">
                <a16:creationId xmlns:a16="http://schemas.microsoft.com/office/drawing/2014/main" id="{F7DE43B1-5F15-F6A4-4EE9-7D9B5CB2D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84344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8CD8090D-0EC8-BC8E-B607-5CC5A586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7:notes">
            <a:extLst>
              <a:ext uri="{FF2B5EF4-FFF2-40B4-BE49-F238E27FC236}">
                <a16:creationId xmlns:a16="http://schemas.microsoft.com/office/drawing/2014/main" id="{85E7CF9F-7C3F-1308-13C5-4D9E51DBD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7:notes">
            <a:extLst>
              <a:ext uri="{FF2B5EF4-FFF2-40B4-BE49-F238E27FC236}">
                <a16:creationId xmlns:a16="http://schemas.microsoft.com/office/drawing/2014/main" id="{DF9B2725-413B-A34A-7343-E118D0DFA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484108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9" name="Google Shape;79;p7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0" name="Google Shape;80;p7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1" name="Google Shape;81;p7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2" name="Google Shape;82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8" name="Google Shape;88;p7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9" name="Google Shape;89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6175" y="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6175" y="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5.x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slide53.xml" TargetMode="External"/><Relationship Id="rId4" Type="http://schemas.openxmlformats.org/officeDocument/2006/relationships/hyperlink" Target="http://slide30.x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1447800"/>
            <a:ext cx="81534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 New Roman"/>
              <a:buNone/>
            </a:pPr>
            <a:r>
              <a:rPr lang="en-US" sz="4000" dirty="0">
                <a:solidFill>
                  <a:srgbClr val="0000CC"/>
                </a:solidFill>
              </a:rPr>
              <a:t>Object Oriented Programming using Java</a:t>
            </a:r>
            <a:br>
              <a:rPr lang="en-US" sz="4000" dirty="0"/>
            </a:br>
            <a:r>
              <a:rPr lang="en-US" sz="4000" dirty="0"/>
              <a:t>Introduction to Java(</a:t>
            </a:r>
            <a:r>
              <a:rPr lang="en-US" sz="4000"/>
              <a:t>part 7)</a:t>
            </a:r>
            <a:endParaRPr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lang="en-US" sz="3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Statements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Selection Statements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/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Iteration Statements </a:t>
            </a:r>
            <a:endParaRPr/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Statements.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statements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programming language uses control statements to cause the </a:t>
            </a:r>
            <a:r>
              <a:rPr lang="en-US" sz="26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of execution</a:t>
            </a:r>
            <a:r>
              <a:rPr lang="en-US" sz="26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6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 </a:t>
            </a:r>
            <a:r>
              <a:rPr lang="en-US" sz="26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6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branch </a:t>
            </a:r>
            <a:r>
              <a:rPr lang="en-US" sz="26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changes to the state of a program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Categories of control statements</a:t>
            </a:r>
            <a:endParaRPr/>
          </a:p>
          <a:p>
            <a:pPr marL="914400" marR="0" lvl="1" indent="-5143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Statements, </a:t>
            </a:r>
            <a:endParaRPr/>
          </a:p>
          <a:p>
            <a:pPr marL="914400" marR="0" lvl="1" indent="-5143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 Statements </a:t>
            </a:r>
            <a:endParaRPr/>
          </a:p>
          <a:p>
            <a:pPr marL="914400" marR="0" lvl="1" indent="-5143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Jump Statements.</a:t>
            </a:r>
            <a:endParaRPr/>
          </a:p>
          <a:p>
            <a:pPr marL="914400" marR="0" lvl="1" indent="-3619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statements(contd.)</a:t>
            </a:r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statements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the program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n-US" sz="26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different paths of executio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based on condition (outcome of an expression or the state of a variable).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 statements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 program execution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one or more statements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(that is, iteration statements form loops).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Jump statements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your program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execute in </a:t>
            </a:r>
            <a:r>
              <a:rPr lang="en-US" sz="26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nonlinear fashion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Selection Statements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called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making statements.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statements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the flow of program’s execution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upon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conditions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known only during run time.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helps to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different paths of executio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based on condition.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supports two selection statements: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</a:t>
            </a:r>
            <a:endParaRPr/>
          </a:p>
        </p:txBody>
      </p:sp>
      <p:sp>
        <p:nvSpPr>
          <p:cNvPr id="143" name="Google Shape;14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Java’s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branch statement.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used to route program execution through different paths.</a:t>
            </a:r>
            <a:endParaRPr/>
          </a:p>
          <a:p>
            <a:pPr marL="742950" marR="0" lvl="1" indent="-133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of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if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(condition)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block of code to be executed if the condition is true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………………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if E.g.</a:t>
            </a:r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a=5;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(a&gt;0)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System.out.println(" a is a positive number”);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If-else statement</a:t>
            </a:r>
            <a:endParaRPr/>
          </a:p>
        </p:txBody>
      </p:sp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75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 of 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statement: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600" b="1" i="1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statement1;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statement2;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may be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statement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compound statement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enclosed in curly braces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(that is, a block).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1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any expression that returns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value.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clause is optional.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if-else</a:t>
            </a:r>
            <a:endParaRPr/>
          </a:p>
        </p:txBody>
      </p:sp>
      <p:sp>
        <p:nvSpPr>
          <p:cNvPr id="167" name="Google Shape;16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600" b="1" i="1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statement1;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statement2;</a:t>
            </a: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condition is true, then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statement1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executed.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Otherwise,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statement2 (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it exists) is executed.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statements will not be executed at the same time. 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If-else E.g</a:t>
            </a:r>
            <a:endParaRPr/>
          </a:p>
        </p:txBody>
      </p:sp>
      <p:sp>
        <p:nvSpPr>
          <p:cNvPr id="175" name="Google Shape;17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a=5, b=3;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if(a &lt; b)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dirty="0"/>
              <a:t>	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= 0;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b = 0;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 a=" + a);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 b=" + b);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6934200" y="2895600"/>
            <a:ext cx="1133475" cy="9239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b=0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statement(contd.0</a:t>
            </a:r>
            <a:endParaRPr/>
          </a:p>
        </p:txBody>
      </p:sp>
      <p:sp>
        <p:nvSpPr>
          <p:cNvPr id="184" name="Google Shape;184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statement can be controlled using a boolean variable.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dataAvailable;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...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(dataAvailable)		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//if dataAvailable is true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ProcessData();		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//call this function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waitForMoreData();	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//call this function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statement(contd.)</a:t>
            </a:r>
            <a:endParaRPr/>
          </a:p>
        </p:txBody>
      </p:sp>
      <p:sp>
        <p:nvSpPr>
          <p:cNvPr id="192" name="Google Shape;192;p12"/>
          <p:cNvSpPr txBox="1">
            <a:spLocks noGrp="1"/>
          </p:cNvSpPr>
          <p:nvPr>
            <p:ph type="body" idx="1"/>
          </p:nvPr>
        </p:nvSpPr>
        <p:spPr>
          <a:xfrm>
            <a:off x="533400" y="914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one statement can appear directly after the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the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Statement1;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want to include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statements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or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we have  to create a block (start with 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 end with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Statement1;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Statement1;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…..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ifs</a:t>
            </a:r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if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if statement that is the inside (target of ) another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statement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refers to the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 if statement 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hat is within the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block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the else and that is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already associated with an else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if E.g</a:t>
            </a:r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if(i == 10)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if(j &lt; 20) a = b;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if(k &gt; 100) c = d; 	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if is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else a = c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		// associated with this else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a = d; // this else refers to if(i == 10)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if-else-if Ladder</a:t>
            </a:r>
            <a:endParaRPr/>
          </a:p>
        </p:txBody>
      </p:sp>
      <p:sp>
        <p:nvSpPr>
          <p:cNvPr id="216" name="Google Shape;216;p15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common programming construct that is based upon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nested ifs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if-else-if ladder.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statement;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statement;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statement;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statement;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if-else-if Ladder(contd.)</a:t>
            </a:r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if statements are executed from 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down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soon as one of the conditions controlling 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is true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associated with that if is executed,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of the ladder is bypassed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 of the conditions is true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the final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statement will be executed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acts as a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condition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that is, if all other conditional tests fail, then the last else statement is performed.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7"/>
          <p:cNvSpPr txBox="1">
            <a:spLocks noGrp="1"/>
          </p:cNvSpPr>
          <p:nvPr>
            <p:ph type="body" idx="1"/>
          </p:nvPr>
        </p:nvSpPr>
        <p:spPr>
          <a:xfrm>
            <a:off x="533400" y="731837"/>
            <a:ext cx="8229600" cy="612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IfElse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month = 4; // April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season;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if(month == 12 || month == 1 || month == 2)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"Winter";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if(month == 3 || month == 4 || month == 5)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"Spring";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if(month == 6 || month == 7 || month == 8)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"Summer";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if(month == 9 || month == 10 || month == 11)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"Autumn";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"Bogus Month";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System.out.println("April is in the " + season + ".");}}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533400" y="731837"/>
            <a:ext cx="8229600" cy="612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IfElse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 = 4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// April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season;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if(month == 12 || month == 1 || month == 2)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"Winter";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if(month == 3 ||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 == 4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|| month == 5)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"Spring";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if(month == 6 || month == 7 || month == 8)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"Summer";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if(month == 9 || month == 10 || month == 11)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"Autumn";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 = "Bogus Month";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System.out.println("April is in the " + season + ".");}}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</a:t>
            </a:r>
            <a:endParaRPr/>
          </a:p>
        </p:txBody>
      </p:sp>
      <p:sp>
        <p:nvSpPr>
          <p:cNvPr id="248" name="Google Shape;248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switch statement is Java’s </a:t>
            </a:r>
            <a:r>
              <a:rPr lang="en-US" sz="26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multiway branch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an </a:t>
            </a:r>
            <a:r>
              <a:rPr lang="en-US" sz="2600" b="0" i="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alternative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a large series of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if-else-if 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statements.</a:t>
            </a:r>
            <a:endParaRPr dirty="0"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>
            <a:spLocks noGrp="1"/>
          </p:cNvSpPr>
          <p:nvPr>
            <p:ph type="title"/>
          </p:nvPr>
        </p:nvSpPr>
        <p:spPr>
          <a:xfrm>
            <a:off x="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of switch</a:t>
            </a:r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body" idx="1"/>
          </p:nvPr>
        </p:nvSpPr>
        <p:spPr>
          <a:xfrm>
            <a:off x="381000" y="7620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value1</a:t>
            </a:r>
            <a:r>
              <a:rPr lang="en-US" sz="2400" b="0" i="1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statement sequence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value2: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statement sequence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valueN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statement sequence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default statement sequence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257" name="Google Shape;257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Switch(contd.)</a:t>
            </a:r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){…..}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inside switch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 of type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byte, short, int, or char;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of the values specified in the case statements must be of a type compatible with the expression. (An enumeration value can also be used to control a switch statement)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switch</a:t>
            </a:r>
            <a:endParaRPr/>
          </a:p>
        </p:txBody>
      </p:sp>
      <p:sp>
        <p:nvSpPr>
          <p:cNvPr id="272" name="Google Shape;272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of the expression inside </a:t>
            </a:r>
            <a:r>
              <a:rPr lang="en-US" sz="2600" b="0" i="0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compared with each of the literal values in the 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statements.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is found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code sequence following that case statement is executed.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none of the constants in the </a:t>
            </a:r>
            <a:r>
              <a:rPr lang="en-US" sz="2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matches the value of the expression, then the </a:t>
            </a:r>
            <a:r>
              <a:rPr lang="en-US" sz="2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is executed.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is optional.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no case matches and no default is present, then no further action is taken.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switch(cond.)</a:t>
            </a:r>
            <a:endParaRPr/>
          </a:p>
        </p:txBody>
      </p:sp>
      <p:sp>
        <p:nvSpPr>
          <p:cNvPr id="280" name="Google Shape;280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is used inside the switch to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terminate a statement sequence.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</a:t>
            </a:r>
            <a:r>
              <a:rPr lang="en-US" sz="26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is encountered,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branches to the first line of code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entire switch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has the effect of “</a:t>
            </a:r>
            <a:r>
              <a:rPr lang="en-US" sz="26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jumping out”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switch.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5"/>
          <p:cNvSpPr txBox="1">
            <a:spLocks noGrp="1"/>
          </p:cNvSpPr>
          <p:nvPr>
            <p:ph type="body" idx="1"/>
          </p:nvPr>
        </p:nvSpPr>
        <p:spPr>
          <a:xfrm>
            <a:off x="304800" y="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Switcheg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IN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IN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0: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zero.");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one.");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two.");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greater than 2.");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 }</a:t>
            </a:r>
            <a:endParaRPr dirty="0"/>
          </a:p>
        </p:txBody>
      </p:sp>
      <p:sp>
        <p:nvSpPr>
          <p:cNvPr id="298" name="Google Shape;298;p2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6858000" y="2438400"/>
            <a:ext cx="2032000" cy="14772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zero.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one.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two.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greater than 2.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1D41EC34-6DDD-565A-36EC-22199B5D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>
            <a:extLst>
              <a:ext uri="{FF2B5EF4-FFF2-40B4-BE49-F238E27FC236}">
                <a16:creationId xmlns:a16="http://schemas.microsoft.com/office/drawing/2014/main" id="{A451401C-5F3E-52FC-DD8A-E44EC325FD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5">
            <a:extLst>
              <a:ext uri="{FF2B5EF4-FFF2-40B4-BE49-F238E27FC236}">
                <a16:creationId xmlns:a16="http://schemas.microsoft.com/office/drawing/2014/main" id="{AC9DAA6D-99C6-1573-B36F-5C027C703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Switcheg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IN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IN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0: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zero.");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break;</a:t>
            </a:r>
            <a:endParaRPr dirty="0">
              <a:solidFill>
                <a:srgbClr val="FF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one.");</a:t>
            </a:r>
          </a:p>
          <a:p>
            <a:pPr marL="342900" lvl="0" indent="-342900">
              <a:spcBef>
                <a:spcPts val="0"/>
              </a:spcBef>
              <a:buNone/>
            </a:pPr>
            <a:r>
              <a:rPr lang="en-US" dirty="0"/>
              <a:t>	 </a:t>
            </a:r>
            <a:r>
              <a:rPr lang="en-US" dirty="0">
                <a:solidFill>
                  <a:srgbClr val="FF0000"/>
                </a:solidFill>
              </a:rPr>
              <a:t>break;</a:t>
            </a:r>
            <a:endParaRPr dirty="0">
              <a:solidFill>
                <a:srgbClr val="FF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two.");</a:t>
            </a:r>
            <a:endParaRPr dirty="0"/>
          </a:p>
          <a:p>
            <a:pPr marL="342900" indent="-342900">
              <a:spcBef>
                <a:spcPts val="0"/>
              </a:spcBef>
              <a:buClr>
                <a:srgbClr val="C00000"/>
              </a:buClr>
              <a:buNone/>
            </a:pPr>
            <a:r>
              <a:rPr lang="en-US" sz="26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dirty="0">
                <a:solidFill>
                  <a:srgbClr val="FF0000"/>
                </a:solidFill>
              </a:rPr>
              <a:t>break;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greater than 2.");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 }</a:t>
            </a:r>
            <a:endParaRPr dirty="0"/>
          </a:p>
        </p:txBody>
      </p:sp>
      <p:sp>
        <p:nvSpPr>
          <p:cNvPr id="298" name="Google Shape;298;p25">
            <a:extLst>
              <a:ext uri="{FF2B5EF4-FFF2-40B4-BE49-F238E27FC236}">
                <a16:creationId xmlns:a16="http://schemas.microsoft.com/office/drawing/2014/main" id="{EA1B9D3E-C400-A2DB-F64D-9B4C50D7580C}"/>
              </a:ext>
            </a:extLst>
          </p:cNvPr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9" name="Google Shape;299;p25">
            <a:extLst>
              <a:ext uri="{FF2B5EF4-FFF2-40B4-BE49-F238E27FC236}">
                <a16:creationId xmlns:a16="http://schemas.microsoft.com/office/drawing/2014/main" id="{7C1A99C5-A40F-EAD6-6EAC-F41B62CDF79B}"/>
              </a:ext>
            </a:extLst>
          </p:cNvPr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/>
          </a:p>
        </p:txBody>
      </p:sp>
      <p:sp>
        <p:nvSpPr>
          <p:cNvPr id="300" name="Google Shape;300;p25">
            <a:extLst>
              <a:ext uri="{FF2B5EF4-FFF2-40B4-BE49-F238E27FC236}">
                <a16:creationId xmlns:a16="http://schemas.microsoft.com/office/drawing/2014/main" id="{9D82FEE6-1318-D381-B5C0-A7F87C12BFE6}"/>
              </a:ext>
            </a:extLst>
          </p:cNvPr>
          <p:cNvSpPr txBox="1"/>
          <p:nvPr/>
        </p:nvSpPr>
        <p:spPr>
          <a:xfrm>
            <a:off x="6858000" y="2438400"/>
            <a:ext cx="2032000" cy="64629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zero.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787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7A7B6F37-174A-A1D2-57E7-C6137044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>
            <a:extLst>
              <a:ext uri="{FF2B5EF4-FFF2-40B4-BE49-F238E27FC236}">
                <a16:creationId xmlns:a16="http://schemas.microsoft.com/office/drawing/2014/main" id="{6C863565-656B-9A78-9F48-4D66D93848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5">
            <a:extLst>
              <a:ext uri="{FF2B5EF4-FFF2-40B4-BE49-F238E27FC236}">
                <a16:creationId xmlns:a16="http://schemas.microsoft.com/office/drawing/2014/main" id="{4008722E-D1ED-7DE4-4E71-CFD27D0EEB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Switcheg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&lt;4;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++)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0: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zero.");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one.");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two.");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greater than 2.");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 }</a:t>
            </a:r>
            <a:endParaRPr dirty="0"/>
          </a:p>
        </p:txBody>
      </p:sp>
      <p:sp>
        <p:nvSpPr>
          <p:cNvPr id="298" name="Google Shape;298;p25">
            <a:extLst>
              <a:ext uri="{FF2B5EF4-FFF2-40B4-BE49-F238E27FC236}">
                <a16:creationId xmlns:a16="http://schemas.microsoft.com/office/drawing/2014/main" id="{F43D6ACD-7DE0-7AA7-CFDA-68F187F3D162}"/>
              </a:ext>
            </a:extLst>
          </p:cNvPr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9" name="Google Shape;299;p25">
            <a:extLst>
              <a:ext uri="{FF2B5EF4-FFF2-40B4-BE49-F238E27FC236}">
                <a16:creationId xmlns:a16="http://schemas.microsoft.com/office/drawing/2014/main" id="{86EC590A-7861-1EE7-1FAA-8B04848EC1E0}"/>
              </a:ext>
            </a:extLst>
          </p:cNvPr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/>
          </a:p>
        </p:txBody>
      </p:sp>
      <p:sp>
        <p:nvSpPr>
          <p:cNvPr id="300" name="Google Shape;300;p25">
            <a:extLst>
              <a:ext uri="{FF2B5EF4-FFF2-40B4-BE49-F238E27FC236}">
                <a16:creationId xmlns:a16="http://schemas.microsoft.com/office/drawing/2014/main" id="{637F2310-D534-5E45-5AD5-1DB8427A0755}"/>
              </a:ext>
            </a:extLst>
          </p:cNvPr>
          <p:cNvSpPr txBox="1"/>
          <p:nvPr/>
        </p:nvSpPr>
        <p:spPr>
          <a:xfrm>
            <a:off x="6858000" y="2438400"/>
            <a:ext cx="2032000" cy="23082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is zero.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is one.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is two.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is one.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is two.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is two.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is greater than 2.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49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4"/>
          <p:cNvSpPr txBox="1">
            <a:spLocks noGrp="1"/>
          </p:cNvSpPr>
          <p:nvPr>
            <p:ph type="body" idx="1"/>
          </p:nvPr>
        </p:nvSpPr>
        <p:spPr>
          <a:xfrm>
            <a:off x="304800" y="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SampleSwitch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&lt;4;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++)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0: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zero.");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1: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one.");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two.");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greater than 2.");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 }</a:t>
            </a:r>
            <a:endParaRPr dirty="0"/>
          </a:p>
        </p:txBody>
      </p:sp>
      <p:sp>
        <p:nvSpPr>
          <p:cNvPr id="289" name="Google Shape;289;p2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858000" y="2438400"/>
            <a:ext cx="2032000" cy="14772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zero.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one.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two.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greater than 2.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6"/>
          <p:cNvSpPr txBox="1">
            <a:spLocks noGrp="1"/>
          </p:cNvSpPr>
          <p:nvPr>
            <p:ph type="body" idx="1"/>
          </p:nvPr>
        </p:nvSpPr>
        <p:spPr>
          <a:xfrm>
            <a:off x="304800" y="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</a:t>
            </a: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java.util.Scanner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Switchvow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Scanner </a:t>
            </a: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=new Scanner(System.in);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("Enter a letter:");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c=</a:t>
            </a: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sc.</a:t>
            </a:r>
            <a:r>
              <a:rPr lang="en-US" sz="2000" b="1" i="0" u="none" dirty="0" err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</a:t>
            </a:r>
            <a:r>
              <a:rPr lang="en-US" sz="2000" b="1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().</a:t>
            </a:r>
            <a:r>
              <a:rPr lang="en-US" sz="2000" b="1" i="0" u="none" dirty="0" err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charAt</a:t>
            </a:r>
            <a:r>
              <a:rPr lang="en-US" sz="2000" b="1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(0)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switch(c)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'a':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'e':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</a:t>
            </a: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'o':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'u':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'A':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'E':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'I':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'O':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'U':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("vowel");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 	</a:t>
            </a: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("Not vowel-may be </a:t>
            </a:r>
            <a:r>
              <a:rPr lang="en-US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consonent</a:t>
            </a:r>
            <a:r>
              <a:rPr lang="en-US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");  } } }</a:t>
            </a:r>
            <a:endParaRPr dirty="0"/>
          </a:p>
        </p:txBody>
      </p:sp>
      <p:sp>
        <p:nvSpPr>
          <p:cNvPr id="307" name="Google Shape;307;p2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6858000" y="2438400"/>
            <a:ext cx="1570037" cy="12001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a letter: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vowel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switch Statements</a:t>
            </a:r>
            <a:endParaRPr/>
          </a:p>
        </p:txBody>
      </p:sp>
      <p:sp>
        <p:nvSpPr>
          <p:cNvPr id="315" name="Google Shape;315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use a switch as part of the statement 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an outer switch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This is called a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switch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</a:t>
            </a:r>
            <a:r>
              <a:rPr lang="en-US" sz="20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</a:t>
            </a:r>
            <a:r>
              <a:rPr lang="en-US" sz="2000" b="1" i="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nested switch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0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System.out.println("target is zero");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break;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0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sz="2000" b="1" i="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 // no conflicts with outer switch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System.out.println("target is one");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break;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break;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 // ...   }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of the switch statement</a:t>
            </a:r>
            <a:endParaRPr/>
          </a:p>
        </p:txBody>
      </p:sp>
      <p:sp>
        <p:nvSpPr>
          <p:cNvPr id="321" name="Google Shape;32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switch differs from the if in that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can only test for 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equality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whereas if can evaluate any type of Boolean expression.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looks only for a match between the </a:t>
            </a:r>
            <a:r>
              <a:rPr lang="en-US" sz="22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of the expression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one of its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two case constants in the same switch can have identical values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a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statement and an enclosing outer switch can have case constants in common.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switch statement is usually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efficient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 a set of nested ifs.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Swich(features)</a:t>
            </a:r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compiler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compiles a switch statement, it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inspect each of the case constants and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“jump table”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it will use for selecting the path of execution depending on the value of the expression.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switch statement will run much faster than the equivalent logic coded using a sequence of if-elses.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compiler can do this because it knows that the case constants are all the same type and simply must be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for equality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switch expression.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compiler has no such knowledge of a long list of if expressions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 Statements</a:t>
            </a:r>
            <a:endParaRPr/>
          </a:p>
        </p:txBody>
      </p:sp>
      <p:sp>
        <p:nvSpPr>
          <p:cNvPr id="337" name="Google Shape;337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iteration statements  or loop repeatedly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executes the same set of instructions until a termination condition is met.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iteration statements (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looping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statements) are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do-while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endParaRPr/>
          </a:p>
        </p:txBody>
      </p:sp>
      <p:sp>
        <p:nvSpPr>
          <p:cNvPr id="345" name="Google Shape;345;p3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while loop is Java’s most fundamental loop statement. It is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 CONTROLLED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statements inside the body of </a:t>
            </a:r>
            <a:r>
              <a:rPr lang="en-US" sz="24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executed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if the </a:t>
            </a:r>
            <a:r>
              <a:rPr lang="en-US" sz="2400" b="0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 inside while is </a:t>
            </a:r>
            <a:r>
              <a:rPr lang="en-US" sz="2400" b="1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repeats a statement or block while its controlling expression is true.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body of loop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>
            <a:spLocks noGrp="1"/>
          </p:cNvSpPr>
          <p:nvPr>
            <p:ph type="title"/>
          </p:nvPr>
        </p:nvSpPr>
        <p:spPr>
          <a:xfrm>
            <a:off x="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while</a:t>
            </a:r>
            <a:endParaRPr/>
          </a:p>
        </p:txBody>
      </p:sp>
      <p:sp>
        <p:nvSpPr>
          <p:cNvPr id="353" name="Google Shape;353;p32"/>
          <p:cNvSpPr txBox="1">
            <a:spLocks noGrp="1"/>
          </p:cNvSpPr>
          <p:nvPr>
            <p:ph type="body" idx="1"/>
          </p:nvPr>
        </p:nvSpPr>
        <p:spPr>
          <a:xfrm>
            <a:off x="457200" y="685800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body of loop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any Boolean expression.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of the loop will be executed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long as the conditional expression is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condition becomes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passes to the next line of code immediately after the loop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While(contd.)</a:t>
            </a:r>
            <a:endParaRPr/>
          </a:p>
        </p:txBody>
      </p:sp>
      <p:sp>
        <p:nvSpPr>
          <p:cNvPr id="361" name="Google Shape;361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curly braces are not needed if only a single statement is being repeated.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Statement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63" name="Google Shape;363;p3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4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the while loop.</a:t>
            </a:r>
            <a:endParaRPr dirty="0"/>
          </a:p>
          <a:p>
            <a:pPr marL="360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Whileeg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60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493200" lvl="2" indent="-342900">
              <a:spcBef>
                <a:spcPts val="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</a:t>
            </a:r>
          </a:p>
          <a:p>
            <a:pPr marL="493200" lvl="2" indent="-342900">
              <a:spcBef>
                <a:spcPts val="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493200" lvl="3" indent="-342900">
              <a:spcBef>
                <a:spcPts val="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int n = 1;</a:t>
            </a:r>
            <a:endParaRPr dirty="0"/>
          </a:p>
          <a:p>
            <a:pPr marL="950400" lvl="4" indent="-342900">
              <a:spcBef>
                <a:spcPts val="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while(n &lt;=10) </a:t>
            </a:r>
          </a:p>
          <a:p>
            <a:pPr marL="950400" lvl="4" indent="-342900">
              <a:spcBef>
                <a:spcPts val="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950400" lvl="4" indent="-342900">
              <a:spcBef>
                <a:spcPts val="0"/>
              </a:spcBef>
              <a:buSzPts val="2600"/>
              <a:buNone/>
            </a:pPr>
            <a:r>
              <a:rPr lang="en-US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("tick " + n);</a:t>
            </a:r>
            <a:endParaRPr dirty="0"/>
          </a:p>
          <a:p>
            <a:pPr marL="950400" lvl="4" indent="-342900">
              <a:spcBef>
                <a:spcPts val="0"/>
              </a:spcBef>
              <a:buSzPts val="2600"/>
              <a:buNone/>
            </a:pPr>
            <a:r>
              <a:rPr lang="en-IN" dirty="0"/>
              <a:t>n++</a:t>
            </a:r>
            <a:endParaRPr dirty="0"/>
          </a:p>
          <a:p>
            <a:pPr marL="950400" lvl="3" indent="-342900">
              <a:spcBef>
                <a:spcPts val="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493200" lvl="1" indent="-342900">
              <a:spcBef>
                <a:spcPts val="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60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370" name="Google Shape;370;p34"/>
          <p:cNvSpPr txBox="1"/>
          <p:nvPr/>
        </p:nvSpPr>
        <p:spPr>
          <a:xfrm>
            <a:off x="7010400" y="2743200"/>
            <a:ext cx="1828800" cy="31400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3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4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5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7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8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9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10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While(contd.)</a:t>
            </a:r>
            <a:endParaRPr/>
          </a:p>
        </p:txBody>
      </p:sp>
      <p:sp>
        <p:nvSpPr>
          <p:cNvPr id="376" name="Google Shape;376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body of the while (or any other of Java’s loops) can be empty.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because a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statement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(one that consists only of a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semicolon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syntactically valid in Java.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(condition) 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if condition is true no statement is executed as part of while</a:t>
            </a:r>
            <a:endParaRPr/>
          </a:p>
        </p:txBody>
      </p:sp>
      <p:sp>
        <p:nvSpPr>
          <p:cNvPr id="377" name="Google Shape;377;p3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Whileeg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800100" lvl="1" indent="-342900">
              <a:spcBef>
                <a:spcPts val="52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</a:t>
            </a:r>
            <a:endParaRPr dirty="0"/>
          </a:p>
          <a:p>
            <a:pPr marL="800100" lvl="1" indent="-342900">
              <a:spcBef>
                <a:spcPts val="52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800100" lvl="1" indent="-342900">
              <a:spcBef>
                <a:spcPts val="52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 n = 10;</a:t>
            </a:r>
            <a:endParaRPr dirty="0"/>
          </a:p>
          <a:p>
            <a:pPr marL="800100" lvl="1" indent="-342900">
              <a:spcBef>
                <a:spcPts val="52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while(n &gt; 0)</a:t>
            </a:r>
            <a:endParaRPr dirty="0"/>
          </a:p>
          <a:p>
            <a:pPr marL="800100" lvl="1" indent="-342900">
              <a:spcBef>
                <a:spcPts val="52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{</a:t>
            </a:r>
            <a:endParaRPr dirty="0"/>
          </a:p>
          <a:p>
            <a:pPr marL="800100" lvl="1" indent="-342900">
              <a:spcBef>
                <a:spcPts val="52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</a:t>
            </a:r>
            <a:r>
              <a:rPr lang="en-US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("tick " + n);</a:t>
            </a:r>
            <a:endParaRPr dirty="0"/>
          </a:p>
          <a:p>
            <a:pPr marL="800100" lvl="1" indent="-342900">
              <a:spcBef>
                <a:spcPts val="52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 dirty="0"/>
          </a:p>
          <a:p>
            <a:pPr marL="800100" lvl="1" indent="-342900">
              <a:spcBef>
                <a:spcPts val="520"/>
              </a:spcBef>
              <a:buSzPts val="2600"/>
              <a:buNone/>
            </a:pPr>
            <a:r>
              <a:rPr lang="en-US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3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86" name="Google Shape;386;p3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/>
          </a:p>
        </p:txBody>
      </p:sp>
      <p:sp>
        <p:nvSpPr>
          <p:cNvPr id="387" name="Google Shape;387;p36"/>
          <p:cNvSpPr txBox="1"/>
          <p:nvPr/>
        </p:nvSpPr>
        <p:spPr>
          <a:xfrm>
            <a:off x="6858000" y="2209800"/>
            <a:ext cx="1851025" cy="3416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10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10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tick 10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INFINITE LOOP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do-while</a:t>
            </a:r>
            <a:endParaRPr/>
          </a:p>
        </p:txBody>
      </p:sp>
      <p:sp>
        <p:nvSpPr>
          <p:cNvPr id="393" name="Google Shape;393;p37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do-while loop always executes its body at least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once, because its conditional expression is at the bottom of the loop.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//statements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(condition);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95" name="Google Shape;395;p3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do-while</a:t>
            </a:r>
            <a:endParaRPr/>
          </a:p>
        </p:txBody>
      </p:sp>
      <p:sp>
        <p:nvSpPr>
          <p:cNvPr id="401" name="Google Shape;401;p38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do-while is EXIT CONTROLLED loop.</a:t>
            </a: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//statements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1" i="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Initially 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inside the do-while loop is executed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only 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inside while is checked.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 loop is executed only if that condition is true.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is condition is checked only during exit from do-while loop.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3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03" name="Google Shape;403;p3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Menu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r>
              <a:rPr lang="en-US" sz="24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 java.io.IOException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choice = (</a:t>
            </a: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400" b="0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System.in.read();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System.in.read( )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used here to obtain the value of choice from user. So main() function  </a:t>
            </a:r>
            <a:r>
              <a:rPr lang="en-US" sz="24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 java.io.IOException </a:t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11" name="Google Shape;411;p3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718C3627-540A-E135-8956-622D598B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4C618272-06E0-34B0-3B44-676362FED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0">
            <a:extLst>
              <a:ext uri="{FF2B5EF4-FFF2-40B4-BE49-F238E27FC236}">
                <a16:creationId xmlns:a16="http://schemas.microsoft.com/office/drawing/2014/main" id="{E35B878C-3408-406A-11E6-557A3BBE5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Whileeg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dirty="0"/>
              <a:t>	int </a:t>
            </a:r>
            <a:r>
              <a:rPr lang="en-US" dirty="0" err="1"/>
              <a:t>i</a:t>
            </a:r>
            <a:r>
              <a:rPr lang="en-US" dirty="0"/>
              <a:t>=1;</a:t>
            </a:r>
            <a:endParaRPr dirty="0"/>
          </a:p>
          <a:p>
            <a:pPr marL="342900" lvl="0" indent="-342900"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b="1" dirty="0">
                <a:solidFill>
                  <a:srgbClr val="0000CC"/>
                </a:solidFill>
              </a:rPr>
              <a:t> while</a:t>
            </a:r>
            <a:r>
              <a:rPr lang="en-US" dirty="0"/>
              <a:t>(</a:t>
            </a:r>
            <a:r>
              <a:rPr lang="en-US" b="1" dirty="0" err="1"/>
              <a:t>i</a:t>
            </a:r>
            <a:r>
              <a:rPr lang="en-US" b="1" dirty="0"/>
              <a:t>&gt;10</a:t>
            </a:r>
            <a:r>
              <a:rPr lang="en-US" dirty="0"/>
              <a:t>)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418" name="Google Shape;418;p40">
            <a:extLst>
              <a:ext uri="{FF2B5EF4-FFF2-40B4-BE49-F238E27FC236}">
                <a16:creationId xmlns:a16="http://schemas.microsoft.com/office/drawing/2014/main" id="{B3400C7E-C8D8-B576-AE33-FF424EBD3B70}"/>
              </a:ext>
            </a:extLst>
          </p:cNvPr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19" name="Google Shape;419;p40">
            <a:extLst>
              <a:ext uri="{FF2B5EF4-FFF2-40B4-BE49-F238E27FC236}">
                <a16:creationId xmlns:a16="http://schemas.microsoft.com/office/drawing/2014/main" id="{4A6DC7C3-9987-DB5E-8C99-06E348834934}"/>
              </a:ext>
            </a:extLst>
          </p:cNvPr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/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814497CF-76BF-176F-E532-12C73A105D1A}"/>
              </a:ext>
            </a:extLst>
          </p:cNvPr>
          <p:cNvSpPr txBox="1"/>
          <p:nvPr/>
        </p:nvSpPr>
        <p:spPr>
          <a:xfrm>
            <a:off x="6858000" y="2209800"/>
            <a:ext cx="1851025" cy="58473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750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9505C456-74AC-008C-5FF5-26831C717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A99D5A03-ED35-8DFA-1E8F-07D9DCD96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0">
            <a:extLst>
              <a:ext uri="{FF2B5EF4-FFF2-40B4-BE49-F238E27FC236}">
                <a16:creationId xmlns:a16="http://schemas.microsoft.com/office/drawing/2014/main" id="{01F5DF52-06A0-7847-CE98-CDFFF09D3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Whileeg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dirty="0"/>
              <a:t>	int </a:t>
            </a:r>
            <a:r>
              <a:rPr lang="en-US" dirty="0" err="1"/>
              <a:t>i</a:t>
            </a:r>
            <a:r>
              <a:rPr lang="en-US" dirty="0"/>
              <a:t>=1;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1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r>
              <a:rPr lang="en-US" sz="2600" b="1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418" name="Google Shape;418;p40">
            <a:extLst>
              <a:ext uri="{FF2B5EF4-FFF2-40B4-BE49-F238E27FC236}">
                <a16:creationId xmlns:a16="http://schemas.microsoft.com/office/drawing/2014/main" id="{E443FA5B-C0AD-C35E-5EA9-D649A442DDCA}"/>
              </a:ext>
            </a:extLst>
          </p:cNvPr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19" name="Google Shape;419;p40">
            <a:extLst>
              <a:ext uri="{FF2B5EF4-FFF2-40B4-BE49-F238E27FC236}">
                <a16:creationId xmlns:a16="http://schemas.microsoft.com/office/drawing/2014/main" id="{9125BBD7-7E84-43A9-9361-B0AC439904EF}"/>
              </a:ext>
            </a:extLst>
          </p:cNvPr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/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8EC6A5E4-26A2-4061-62A0-8538863AAA10}"/>
              </a:ext>
            </a:extLst>
          </p:cNvPr>
          <p:cNvSpPr txBox="1"/>
          <p:nvPr/>
        </p:nvSpPr>
        <p:spPr>
          <a:xfrm>
            <a:off x="6858000" y="2209800"/>
            <a:ext cx="1851025" cy="64629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024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Whileeg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System.out.println(“Hello”);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418" name="Google Shape;418;p4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19" name="Google Shape;419;p4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/>
          </a:p>
        </p:txBody>
      </p:sp>
      <p:sp>
        <p:nvSpPr>
          <p:cNvPr id="420" name="Google Shape;420;p40"/>
          <p:cNvSpPr txBox="1"/>
          <p:nvPr/>
        </p:nvSpPr>
        <p:spPr>
          <a:xfrm>
            <a:off x="6858000" y="2209800"/>
            <a:ext cx="1851025" cy="369411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b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INFINITE LOOP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between while and do-while</a:t>
            </a:r>
            <a:endParaRPr/>
          </a:p>
        </p:txBody>
      </p:sp>
      <p:sp>
        <p:nvSpPr>
          <p:cNvPr id="426" name="Google Shape;426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28" name="Google Shape;428;p4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/>
          </a:p>
        </p:txBody>
      </p:sp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" y="1295400"/>
            <a:ext cx="91186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endParaRPr/>
          </a:p>
        </p:txBody>
      </p:sp>
      <p:sp>
        <p:nvSpPr>
          <p:cNvPr id="435" name="Google Shape;435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an iteration statement(looping)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1" i="1" u="none" dirty="0">
                <a:solidFill>
                  <a:srgbClr val="33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</a:t>
            </a:r>
            <a:r>
              <a:rPr lang="en-US" sz="26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r>
              <a:rPr lang="en-US" sz="2600" b="0" i="1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condition;</a:t>
            </a:r>
            <a:r>
              <a:rPr lang="en-US" sz="26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</a:t>
            </a:r>
            <a:r>
              <a:rPr lang="en-US" sz="26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body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436" name="Google Shape;436;p4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37" name="Google Shape;437;p4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3"/>
          <p:cNvSpPr txBox="1">
            <a:spLocks noGrp="1"/>
          </p:cNvSpPr>
          <p:nvPr>
            <p:ph type="title"/>
          </p:nvPr>
        </p:nvSpPr>
        <p:spPr>
          <a:xfrm>
            <a:off x="3810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for loop</a:t>
            </a:r>
            <a:endParaRPr/>
          </a:p>
        </p:txBody>
      </p:sp>
      <p:sp>
        <p:nvSpPr>
          <p:cNvPr id="443" name="Google Shape;443;p43"/>
          <p:cNvSpPr txBox="1">
            <a:spLocks noGrp="1"/>
          </p:cNvSpPr>
          <p:nvPr>
            <p:ph type="body" idx="1"/>
          </p:nvPr>
        </p:nvSpPr>
        <p:spPr>
          <a:xfrm>
            <a:off x="304800" y="8382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loop first starts, the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portion of the loop is executed. It acts as a loop control variable (counter).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initialization expression is only executed once.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condition is evaluated.(Boolean expression)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usually tests the loop control variable against a target value.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this expression is 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the body of the loop is executed.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it is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loop terminates.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the iteration portion of the loop is executed.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increments or decrements the loop control variable.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condition is evaluated.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process continues until condition becomes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endParaRPr/>
          </a:p>
        </p:txBody>
      </p:sp>
      <p:sp>
        <p:nvSpPr>
          <p:cNvPr id="444" name="Google Shape;444;p4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45" name="Google Shape;445;p4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 ; ; 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...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452" name="Google Shape;452;p4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53" name="Google Shape;453;p4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/>
          </a:p>
        </p:txBody>
      </p:sp>
      <p:sp>
        <p:nvSpPr>
          <p:cNvPr id="454" name="Google Shape;454;p44"/>
          <p:cNvSpPr txBox="1"/>
          <p:nvPr/>
        </p:nvSpPr>
        <p:spPr>
          <a:xfrm>
            <a:off x="6858000" y="2209800"/>
            <a:ext cx="1851025" cy="3698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INFINITE LOOP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For-Each Version of the for Loop</a:t>
            </a:r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var :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collection) statement-block;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specifies the type and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specifies the name of an iteration variable that will receive the elements from a collection, one at a time, from beginning to end.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collection being cycled through is specified by collection</a:t>
            </a:r>
            <a:endParaRPr/>
          </a:p>
        </p:txBody>
      </p:sp>
      <p:sp>
        <p:nvSpPr>
          <p:cNvPr id="461" name="Google Shape;461;p4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62" name="Google Shape;462;p4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C780-B91D-B5AE-80D1-D6F8EEA2E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8343F-831B-8BA5-12CD-924EFCE84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0" indent="0">
              <a:buNone/>
            </a:pPr>
            <a:r>
              <a:rPr lang="en-IN" dirty="0"/>
              <a:t>class </a:t>
            </a:r>
            <a:r>
              <a:rPr lang="en-IN" dirty="0" err="1"/>
              <a:t>Foreg</a:t>
            </a:r>
            <a:r>
              <a:rPr lang="en-IN" dirty="0"/>
              <a:t> </a:t>
            </a:r>
          </a:p>
          <a:p>
            <a:pPr marL="63500" indent="0">
              <a:buNone/>
            </a:pPr>
            <a:r>
              <a:rPr lang="en-IN" dirty="0"/>
              <a:t>{</a:t>
            </a:r>
          </a:p>
          <a:p>
            <a:pPr marL="63500" indent="0">
              <a:buNone/>
            </a:pPr>
            <a:r>
              <a:rPr lang="en-IN" dirty="0"/>
              <a:t>	public static void main(String </a:t>
            </a:r>
            <a:r>
              <a:rPr lang="en-IN" dirty="0" err="1"/>
              <a:t>args</a:t>
            </a:r>
            <a:r>
              <a:rPr lang="en-IN" dirty="0"/>
              <a:t>[]) </a:t>
            </a:r>
          </a:p>
          <a:p>
            <a:pPr marL="63500" indent="0">
              <a:buNone/>
            </a:pPr>
            <a:r>
              <a:rPr lang="en-IN" dirty="0"/>
              <a:t>	{</a:t>
            </a:r>
          </a:p>
          <a:p>
            <a:pPr marL="63500" indent="0">
              <a:buNone/>
            </a:pPr>
            <a:r>
              <a:rPr lang="en-IN" dirty="0"/>
              <a:t> 		int </a:t>
            </a:r>
            <a:r>
              <a:rPr lang="en-IN" dirty="0" err="1"/>
              <a:t>n,i</a:t>
            </a:r>
            <a:r>
              <a:rPr lang="en-IN" dirty="0"/>
              <a:t>;</a:t>
            </a:r>
          </a:p>
          <a:p>
            <a:pPr marL="63500" indent="0">
              <a:buNone/>
            </a:pPr>
            <a:r>
              <a:rPr lang="en-IN" dirty="0"/>
              <a:t>		for(</a:t>
            </a:r>
            <a:r>
              <a:rPr lang="en-IN" dirty="0" err="1"/>
              <a:t>i</a:t>
            </a:r>
            <a:r>
              <a:rPr lang="en-IN" dirty="0"/>
              <a:t>=1;i&lt;=10;i++)</a:t>
            </a:r>
          </a:p>
          <a:p>
            <a:pPr marL="63500" indent="0">
              <a:buNone/>
            </a:pPr>
            <a:r>
              <a:rPr lang="en-IN" dirty="0"/>
              <a:t>		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pPr marL="63500" indent="0">
              <a:buNone/>
            </a:pPr>
            <a:r>
              <a:rPr lang="en-IN" dirty="0"/>
              <a:t>}</a:t>
            </a:r>
          </a:p>
          <a:p>
            <a:pPr marL="63500" indent="0">
              <a:buNone/>
            </a:pPr>
            <a:r>
              <a:rPr lang="en-IN" dirty="0"/>
              <a:t>}</a:t>
            </a:r>
          </a:p>
          <a:p>
            <a:pPr marL="6350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75664-B089-1BC6-EEA1-7A33485AAB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Google Shape;470;p46">
            <a:extLst>
              <a:ext uri="{FF2B5EF4-FFF2-40B4-BE49-F238E27FC236}">
                <a16:creationId xmlns:a16="http://schemas.microsoft.com/office/drawing/2014/main" id="{332491B3-B349-A4ED-1626-57AED489AE5B}"/>
              </a:ext>
            </a:extLst>
          </p:cNvPr>
          <p:cNvSpPr txBox="1"/>
          <p:nvPr/>
        </p:nvSpPr>
        <p:spPr>
          <a:xfrm>
            <a:off x="7420897" y="2293143"/>
            <a:ext cx="1133475" cy="31400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289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/>
          <p:cNvSpPr txBox="1">
            <a:spLocks noGrp="1"/>
          </p:cNvSpPr>
          <p:nvPr>
            <p:ph type="body" idx="1"/>
          </p:nvPr>
        </p:nvSpPr>
        <p:spPr>
          <a:xfrm>
            <a:off x="240891" y="136525"/>
            <a:ext cx="8229600" cy="589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Foreacheg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 = { 1, 2, 3, 4, 5, 6, 7, 8, 9, 10 };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x: </a:t>
            </a:r>
            <a:r>
              <a:rPr lang="en-US" sz="26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nums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each pass through the loop, x is automatically given a value equal to the next element in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nums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on the first iteration, x contains 1; 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second iteration, x contains 2; and so on.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only is the syntax streamlined, but it also prevents boundary errors.</a:t>
            </a:r>
            <a:endParaRPr dirty="0"/>
          </a:p>
        </p:txBody>
      </p:sp>
      <p:sp>
        <p:nvSpPr>
          <p:cNvPr id="468" name="Google Shape;468;p4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69" name="Google Shape;469;p4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51</a:t>
            </a:fld>
            <a:endParaRPr/>
          </a:p>
        </p:txBody>
      </p:sp>
      <p:sp>
        <p:nvSpPr>
          <p:cNvPr id="470" name="Google Shape;470;p46"/>
          <p:cNvSpPr txBox="1"/>
          <p:nvPr/>
        </p:nvSpPr>
        <p:spPr>
          <a:xfrm>
            <a:off x="6280355" y="555523"/>
            <a:ext cx="1133475" cy="31400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 = { 1, 2, 3, 4, 5, 6, 7, 8, 9, 10 };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sum = 0;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x: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each pass through the loop, x is automatically given a value equal to the next element in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on the first iteration, x contains 1; 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second iteration, x contains 2; and so on.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only is the syntax streamlined, but it also prevents boundary errors.</a:t>
            </a:r>
            <a:endParaRPr dirty="0"/>
          </a:p>
        </p:txBody>
      </p:sp>
      <p:sp>
        <p:nvSpPr>
          <p:cNvPr id="477" name="Google Shape;477;p4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78" name="Google Shape;478;p4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/>
          </a:p>
        </p:txBody>
      </p:sp>
      <p:sp>
        <p:nvSpPr>
          <p:cNvPr id="479" name="Google Shape;479;p47"/>
          <p:cNvSpPr txBox="1"/>
          <p:nvPr/>
        </p:nvSpPr>
        <p:spPr>
          <a:xfrm>
            <a:off x="7772400" y="1219200"/>
            <a:ext cx="441325" cy="28622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loops</a:t>
            </a:r>
            <a:endParaRPr/>
          </a:p>
        </p:txBody>
      </p:sp>
      <p:sp>
        <p:nvSpPr>
          <p:cNvPr id="485" name="Google Shape;485;p48"/>
          <p:cNvSpPr txBox="1">
            <a:spLocks noGrp="1"/>
          </p:cNvSpPr>
          <p:nvPr>
            <p:ph type="body" idx="1"/>
          </p:nvPr>
        </p:nvSpPr>
        <p:spPr>
          <a:xfrm>
            <a:off x="304800" y="762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Loops may be nested.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Foreg2{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&lt;4;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++)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for(j=0; j&lt;3;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j++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="+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+" j="+j + "\t\t");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87" name="Google Shape;487;p4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/>
          </a:p>
        </p:txBody>
      </p:sp>
      <p:sp>
        <p:nvSpPr>
          <p:cNvPr id="488" name="Google Shape;488;p48"/>
          <p:cNvSpPr txBox="1"/>
          <p:nvPr/>
        </p:nvSpPr>
        <p:spPr>
          <a:xfrm>
            <a:off x="4114800" y="4303712"/>
            <a:ext cx="4572000" cy="16303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i=0 j=0         i=0 j=1         i=0 j=2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i=1 j=0         i=1 j=1         i=1 j=2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i=2 j=0         i=2 j=1         i=2 j=2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i=3 j=0         i=3 j=1         i=3 j=2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9"/>
          <p:cNvSpPr txBox="1">
            <a:spLocks noGrp="1"/>
          </p:cNvSpPr>
          <p:nvPr>
            <p:ph type="body" idx="1"/>
          </p:nvPr>
        </p:nvSpPr>
        <p:spPr>
          <a:xfrm>
            <a:off x="457200" y="381000"/>
            <a:ext cx="8229600" cy="574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Loops may be nested.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Foreg2{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i&lt;4; i++)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for(j=0; j&lt;3; j++)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System.out.print(i +"\t\t");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4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495" name="Google Shape;495;p4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54</a:t>
            </a:fld>
            <a:endParaRPr/>
          </a:p>
        </p:txBody>
      </p:sp>
      <p:sp>
        <p:nvSpPr>
          <p:cNvPr id="496" name="Google Shape;496;p49"/>
          <p:cNvSpPr txBox="1"/>
          <p:nvPr/>
        </p:nvSpPr>
        <p:spPr>
          <a:xfrm>
            <a:off x="5715000" y="2057400"/>
            <a:ext cx="2514600" cy="16311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	0	0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1	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2	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	3	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"/>
          <p:cNvSpPr txBox="1">
            <a:spLocks noGrp="1"/>
          </p:cNvSpPr>
          <p:nvPr>
            <p:ph type="body" idx="1"/>
          </p:nvPr>
        </p:nvSpPr>
        <p:spPr>
          <a:xfrm>
            <a:off x="457200" y="381000"/>
            <a:ext cx="8229600" cy="574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Loops may be nested.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Foreg2{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i&lt;4; i++)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for(j=0; j&lt;3; j++)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System.out.print(j+"\t\t");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5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03" name="Google Shape;503;p5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55</a:t>
            </a:fld>
            <a:endParaRPr/>
          </a:p>
        </p:txBody>
      </p:sp>
      <p:sp>
        <p:nvSpPr>
          <p:cNvPr id="504" name="Google Shape;504;p50"/>
          <p:cNvSpPr txBox="1"/>
          <p:nvPr/>
        </p:nvSpPr>
        <p:spPr>
          <a:xfrm>
            <a:off x="5715000" y="2057400"/>
            <a:ext cx="2514600" cy="16311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loops</a:t>
            </a:r>
            <a:endParaRPr/>
          </a:p>
        </p:txBody>
      </p:sp>
      <p:sp>
        <p:nvSpPr>
          <p:cNvPr id="510" name="Google Shape;510;p51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Loops may be nested.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Nested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&lt;=4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++)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for(j=0; j&lt;2; 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j++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	</a:t>
            </a: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(“*");    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511" name="Google Shape;511;p5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12" name="Google Shape;512;p5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56</a:t>
            </a:fld>
            <a:endParaRPr/>
          </a:p>
        </p:txBody>
      </p:sp>
      <p:sp>
        <p:nvSpPr>
          <p:cNvPr id="513" name="Google Shape;513;p51"/>
          <p:cNvSpPr txBox="1"/>
          <p:nvPr/>
        </p:nvSpPr>
        <p:spPr>
          <a:xfrm>
            <a:off x="6858000" y="2209800"/>
            <a:ext cx="2057400" cy="181584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loops</a:t>
            </a:r>
            <a:endParaRPr/>
          </a:p>
        </p:txBody>
      </p:sp>
      <p:sp>
        <p:nvSpPr>
          <p:cNvPr id="519" name="Google Shape;519;p52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Loops may be nested.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Nested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i&lt;4; i++)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for(j=i; j&lt;4; j++)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System.out.print(“*");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520" name="Google Shape;520;p5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21" name="Google Shape;521;p5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57</a:t>
            </a:fld>
            <a:endParaRPr/>
          </a:p>
        </p:txBody>
      </p:sp>
      <p:sp>
        <p:nvSpPr>
          <p:cNvPr id="522" name="Google Shape;522;p52"/>
          <p:cNvSpPr txBox="1"/>
          <p:nvPr/>
        </p:nvSpPr>
        <p:spPr>
          <a:xfrm>
            <a:off x="6858000" y="2209800"/>
            <a:ext cx="2133600" cy="181584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Jump Statements</a:t>
            </a:r>
            <a:endParaRPr/>
          </a:p>
        </p:txBody>
      </p:sp>
      <p:sp>
        <p:nvSpPr>
          <p:cNvPr id="528" name="Google Shape;528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supports three jump statements: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endParaRPr/>
          </a:p>
        </p:txBody>
      </p:sp>
      <p:sp>
        <p:nvSpPr>
          <p:cNvPr id="529" name="Google Shape;529;p5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30" name="Google Shape;530;p5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58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statement</a:t>
            </a:r>
            <a:endParaRPr/>
          </a:p>
        </p:txBody>
      </p:sp>
      <p:sp>
        <p:nvSpPr>
          <p:cNvPr id="536" name="Google Shape;536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uses.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 it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terminates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statement sequence in a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statement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Second, it can be used to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Third, it can be used as a “civilized” form of goto.</a:t>
            </a:r>
            <a:endParaRPr/>
          </a:p>
        </p:txBody>
      </p:sp>
      <p:sp>
        <p:nvSpPr>
          <p:cNvPr id="537" name="Google Shape;537;p5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38" name="Google Shape;538;p5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59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E.g</a:t>
            </a:r>
            <a:endParaRPr/>
          </a:p>
        </p:txBody>
      </p:sp>
      <p:sp>
        <p:nvSpPr>
          <p:cNvPr id="544" name="Google Shape;544;p55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Using break to exit a loop.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BreakLoop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i=0; i&lt;6; i++)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if(i == 3)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lang="en-US" sz="26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terminate loop if i is 3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System.out.println("i: " + i);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System.out.println("Loop complete.");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545" name="Google Shape;545;p5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46" name="Google Shape;546;p5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60</a:t>
            </a:fld>
            <a:endParaRPr/>
          </a:p>
        </p:txBody>
      </p:sp>
      <p:sp>
        <p:nvSpPr>
          <p:cNvPr id="547" name="Google Shape;547;p55"/>
          <p:cNvSpPr txBox="1"/>
          <p:nvPr/>
        </p:nvSpPr>
        <p:spPr>
          <a:xfrm>
            <a:off x="6858000" y="2209800"/>
            <a:ext cx="2133600" cy="193833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Loop complete.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break as a Form of Goto</a:t>
            </a:r>
            <a:endParaRPr/>
          </a:p>
        </p:txBody>
      </p:sp>
      <p:sp>
        <p:nvSpPr>
          <p:cNvPr id="553" name="Google Shape;553;p5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this form of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break, you can, for example, break out of 	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 more blocks of code.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general form of the labeled break statement is 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label;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5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55" name="Google Shape;555;p5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61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/>
          <p:cNvSpPr txBox="1">
            <a:spLocks noGrp="1"/>
          </p:cNvSpPr>
          <p:nvPr>
            <p:ph type="body" idx="1"/>
          </p:nvPr>
        </p:nvSpPr>
        <p:spPr>
          <a:xfrm>
            <a:off x="457200" y="136525"/>
            <a:ext cx="8229600" cy="521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</a:t>
            </a: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break as a civilized form of </a:t>
            </a:r>
            <a:r>
              <a:rPr lang="en-US" sz="24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Breakeg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 = true;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</a:t>
            </a:r>
            <a:r>
              <a:rPr lang="en-US" sz="2400" b="1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{</a:t>
            </a:r>
            <a:endParaRPr dirty="0">
              <a:solidFill>
                <a:srgbClr val="FF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1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</a:t>
            </a:r>
            <a:r>
              <a:rPr lang="en-US" sz="2400" b="0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{</a:t>
            </a:r>
            <a:endParaRPr dirty="0">
              <a:solidFill>
                <a:srgbClr val="00B05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("Before the break.");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if(t) </a:t>
            </a: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//break of second block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("This won't execute");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>
              <a:solidFill>
                <a:srgbClr val="00B05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("After third block.");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>
              <a:solidFill>
                <a:srgbClr val="FF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(“After second block.");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/>
              <a:t>System.out.println</a:t>
            </a:r>
            <a:r>
              <a:rPr lang="en-US" sz="2400" dirty="0"/>
              <a:t>(“After first block.");</a:t>
            </a:r>
            <a:endParaRPr sz="2400"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sp>
        <p:nvSpPr>
          <p:cNvPr id="561" name="Google Shape;561;p5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62" name="Google Shape;562;p5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62</a:t>
            </a:fld>
            <a:endParaRPr/>
          </a:p>
        </p:txBody>
      </p:sp>
      <p:sp>
        <p:nvSpPr>
          <p:cNvPr id="563" name="Google Shape;563;p57"/>
          <p:cNvSpPr txBox="1"/>
          <p:nvPr/>
        </p:nvSpPr>
        <p:spPr>
          <a:xfrm>
            <a:off x="6477000" y="5036731"/>
            <a:ext cx="2667000" cy="16311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the break.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third block.</a:t>
            </a:r>
            <a:endParaRPr dirty="0"/>
          </a:p>
          <a:p>
            <a:pPr lvl="0"/>
            <a:r>
              <a:rPr lang="en-US" sz="2000" dirty="0">
                <a:solidFill>
                  <a:schemeClr val="dk1"/>
                </a:solidFill>
              </a:rPr>
              <a:t>After second block.</a:t>
            </a:r>
          </a:p>
          <a:p>
            <a:pPr lvl="0"/>
            <a:r>
              <a:rPr lang="en-US" sz="2000" dirty="0">
                <a:solidFill>
                  <a:schemeClr val="dk1"/>
                </a:solidFill>
              </a:rPr>
              <a:t>After first block.</a:t>
            </a: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6AEC83CC-D0C6-7F1E-F5BC-B7754727C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>
            <a:extLst>
              <a:ext uri="{FF2B5EF4-FFF2-40B4-BE49-F238E27FC236}">
                <a16:creationId xmlns:a16="http://schemas.microsoft.com/office/drawing/2014/main" id="{41D34B4D-3805-4A8A-4387-58F4ECBA9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36525"/>
            <a:ext cx="8229600" cy="521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</a:t>
            </a: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break as a civilized form of </a:t>
            </a:r>
            <a:r>
              <a:rPr lang="en-US" sz="24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Breakeg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 = true;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>
              <a:solidFill>
                <a:srgbClr val="FF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1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</a:t>
            </a:r>
            <a:r>
              <a:rPr lang="en-US" sz="2400" b="0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{</a:t>
            </a:r>
            <a:endParaRPr dirty="0">
              <a:solidFill>
                <a:srgbClr val="00B05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("Before the break.");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if(t) </a:t>
            </a: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//break of second block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("This won't execute");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>
              <a:solidFill>
                <a:srgbClr val="00B05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("After third block.");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>
              <a:solidFill>
                <a:srgbClr val="FF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(“After second block.");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/>
              <a:t>System.out.println</a:t>
            </a:r>
            <a:r>
              <a:rPr lang="en-US" sz="2400" dirty="0"/>
              <a:t>(“After first block.");</a:t>
            </a:r>
            <a:endParaRPr sz="2400"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sp>
        <p:nvSpPr>
          <p:cNvPr id="561" name="Google Shape;561;p57">
            <a:extLst>
              <a:ext uri="{FF2B5EF4-FFF2-40B4-BE49-F238E27FC236}">
                <a16:creationId xmlns:a16="http://schemas.microsoft.com/office/drawing/2014/main" id="{4BFAE3C0-3E94-AF27-FC9B-AE1C95E4996B}"/>
              </a:ext>
            </a:extLst>
          </p:cNvPr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62" name="Google Shape;562;p57">
            <a:extLst>
              <a:ext uri="{FF2B5EF4-FFF2-40B4-BE49-F238E27FC236}">
                <a16:creationId xmlns:a16="http://schemas.microsoft.com/office/drawing/2014/main" id="{9C6D70A6-DF17-AD8A-A3BF-60CAD850028A}"/>
              </a:ext>
            </a:extLst>
          </p:cNvPr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63</a:t>
            </a:fld>
            <a:endParaRPr/>
          </a:p>
        </p:txBody>
      </p:sp>
      <p:sp>
        <p:nvSpPr>
          <p:cNvPr id="563" name="Google Shape;563;p57">
            <a:extLst>
              <a:ext uri="{FF2B5EF4-FFF2-40B4-BE49-F238E27FC236}">
                <a16:creationId xmlns:a16="http://schemas.microsoft.com/office/drawing/2014/main" id="{7ED84A0B-50AB-10BD-12A9-98C68CB9227B}"/>
              </a:ext>
            </a:extLst>
          </p:cNvPr>
          <p:cNvSpPr txBox="1"/>
          <p:nvPr/>
        </p:nvSpPr>
        <p:spPr>
          <a:xfrm>
            <a:off x="6477000" y="5257800"/>
            <a:ext cx="2667000" cy="16311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the break.</a:t>
            </a:r>
            <a:endParaRPr dirty="0"/>
          </a:p>
          <a:p>
            <a:pPr lvl="0"/>
            <a:r>
              <a:rPr lang="en-US" sz="2000" dirty="0">
                <a:solidFill>
                  <a:schemeClr val="dk1"/>
                </a:solidFill>
              </a:rPr>
              <a:t>After second block.</a:t>
            </a:r>
          </a:p>
          <a:p>
            <a:pPr lvl="0"/>
            <a:r>
              <a:rPr lang="en-US" sz="2000" dirty="0">
                <a:solidFill>
                  <a:schemeClr val="dk1"/>
                </a:solidFill>
              </a:rPr>
              <a:t>After first block.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36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25644CDE-E4B1-E149-F6F4-94380088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>
            <a:extLst>
              <a:ext uri="{FF2B5EF4-FFF2-40B4-BE49-F238E27FC236}">
                <a16:creationId xmlns:a16="http://schemas.microsoft.com/office/drawing/2014/main" id="{1087C5E1-34C8-4AEF-ACE8-0AF0D2441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36525"/>
            <a:ext cx="8229600" cy="521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</a:t>
            </a: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break as a civilized form of </a:t>
            </a:r>
            <a:r>
              <a:rPr lang="en-US" sz="24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Breakeg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 = true;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dirty="0">
              <a:solidFill>
                <a:schemeClr val="bg2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>
              <a:solidFill>
                <a:srgbClr val="FF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1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</a:t>
            </a:r>
            <a:r>
              <a:rPr lang="en-US" sz="2400" b="0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{</a:t>
            </a:r>
            <a:endParaRPr dirty="0">
              <a:solidFill>
                <a:srgbClr val="00B05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("Before the break.");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if(t) </a:t>
            </a: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//break of second block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("This won't execute");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400" b="0" i="0" u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>
              <a:solidFill>
                <a:srgbClr val="00B05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("After third block.");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4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>
              <a:solidFill>
                <a:srgbClr val="FF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(“After second block.");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/>
              <a:t>System.out.println</a:t>
            </a:r>
            <a:r>
              <a:rPr lang="en-US" sz="2400" dirty="0"/>
              <a:t>(“After first block.");</a:t>
            </a:r>
            <a:endParaRPr sz="2400"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sp>
        <p:nvSpPr>
          <p:cNvPr id="561" name="Google Shape;561;p57">
            <a:extLst>
              <a:ext uri="{FF2B5EF4-FFF2-40B4-BE49-F238E27FC236}">
                <a16:creationId xmlns:a16="http://schemas.microsoft.com/office/drawing/2014/main" id="{14EA22AF-9871-EB8E-0278-4E9F0DD6F2F7}"/>
              </a:ext>
            </a:extLst>
          </p:cNvPr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62" name="Google Shape;562;p57">
            <a:extLst>
              <a:ext uri="{FF2B5EF4-FFF2-40B4-BE49-F238E27FC236}">
                <a16:creationId xmlns:a16="http://schemas.microsoft.com/office/drawing/2014/main" id="{C6D6D403-3233-AFD5-3D3E-1EBAED31C531}"/>
              </a:ext>
            </a:extLst>
          </p:cNvPr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64</a:t>
            </a:fld>
            <a:endParaRPr/>
          </a:p>
        </p:txBody>
      </p:sp>
      <p:sp>
        <p:nvSpPr>
          <p:cNvPr id="563" name="Google Shape;563;p57">
            <a:extLst>
              <a:ext uri="{FF2B5EF4-FFF2-40B4-BE49-F238E27FC236}">
                <a16:creationId xmlns:a16="http://schemas.microsoft.com/office/drawing/2014/main" id="{2A6A6BC4-E706-9E57-DF83-FF9E198A0503}"/>
              </a:ext>
            </a:extLst>
          </p:cNvPr>
          <p:cNvSpPr txBox="1"/>
          <p:nvPr/>
        </p:nvSpPr>
        <p:spPr>
          <a:xfrm>
            <a:off x="6477000" y="5257800"/>
            <a:ext cx="2667000" cy="13233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the break.</a:t>
            </a:r>
            <a:endParaRPr dirty="0"/>
          </a:p>
          <a:p>
            <a:pPr lvl="0"/>
            <a:r>
              <a:rPr lang="en-US" sz="2000" dirty="0">
                <a:solidFill>
                  <a:schemeClr val="dk1"/>
                </a:solidFill>
              </a:rPr>
              <a:t>After first block.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058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statement</a:t>
            </a:r>
            <a:endParaRPr/>
          </a:p>
        </p:txBody>
      </p:sp>
      <p:sp>
        <p:nvSpPr>
          <p:cNvPr id="569" name="Google Shape;569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lang="en-US" sz="2600" b="1" i="0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600" b="1" i="0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do-while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loops, a </a:t>
            </a:r>
            <a:r>
              <a:rPr lang="en-US" sz="2600" b="1" i="0" u="none">
                <a:solidFill>
                  <a:srgbClr val="33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causes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to be transferred directly to the c</a:t>
            </a: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onditional expression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controls the loop.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</a:t>
            </a:r>
            <a:r>
              <a:rPr lang="en-US" sz="2600" b="1" i="0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loop,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goes </a:t>
            </a: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to the iteration portion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for statement and </a:t>
            </a: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to the conditional expression</a:t>
            </a:r>
            <a:r>
              <a:rPr lang="en-US" sz="26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three loops,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intermediate code after continue is bypassed(skipped).</a:t>
            </a:r>
            <a:endParaRPr/>
          </a:p>
        </p:txBody>
      </p:sp>
      <p:sp>
        <p:nvSpPr>
          <p:cNvPr id="570" name="Google Shape;570;p5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71" name="Google Shape;571;p5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65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9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E.g</a:t>
            </a:r>
            <a:endParaRPr/>
          </a:p>
        </p:txBody>
      </p:sp>
      <p:sp>
        <p:nvSpPr>
          <p:cNvPr id="577" name="Google Shape;577;p59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Using break to exit a loop.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continueeg{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i=0; i&lt;6; i++)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if(i ==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lang="en-US" sz="26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skip remaining stmts if i is 3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// continue loop.control goes to iteration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System.out.println("i: " + i);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System.out.println("Loop complete.");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578" name="Google Shape;578;p5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79" name="Google Shape;579;p5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66</a:t>
            </a:fld>
            <a:endParaRPr/>
          </a:p>
        </p:txBody>
      </p:sp>
      <p:sp>
        <p:nvSpPr>
          <p:cNvPr id="580" name="Google Shape;580;p59"/>
          <p:cNvSpPr txBox="1"/>
          <p:nvPr/>
        </p:nvSpPr>
        <p:spPr>
          <a:xfrm>
            <a:off x="6858000" y="2209800"/>
            <a:ext cx="2133600" cy="25542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i: 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Loop complete.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continue.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Continueeg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i=0; i&lt;10; i++)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System.out.print(i + " 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(i%2 == 0) continue;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</a:t>
            </a:r>
            <a:r>
              <a:rPr lang="en-US" sz="26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println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587" name="Google Shape;587;p6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88" name="Google Shape;588;p6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67</a:t>
            </a:fld>
            <a:endParaRPr/>
          </a:p>
        </p:txBody>
      </p:sp>
      <p:sp>
        <p:nvSpPr>
          <p:cNvPr id="589" name="Google Shape;589;p60"/>
          <p:cNvSpPr txBox="1"/>
          <p:nvPr/>
        </p:nvSpPr>
        <p:spPr>
          <a:xfrm>
            <a:off x="6858000" y="2209800"/>
            <a:ext cx="2133600" cy="193833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6 7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8 9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1"/>
          <p:cNvSpPr txBox="1"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statement</a:t>
            </a:r>
            <a:endParaRPr/>
          </a:p>
        </p:txBody>
      </p:sp>
      <p:sp>
        <p:nvSpPr>
          <p:cNvPr id="595" name="Google Shape;595;p61"/>
          <p:cNvSpPr txBox="1">
            <a:spLocks noGrp="1"/>
          </p:cNvSpPr>
          <p:nvPr>
            <p:ph type="body" idx="1"/>
          </p:nvPr>
        </p:nvSpPr>
        <p:spPr>
          <a:xfrm>
            <a:off x="533400" y="914400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is used to explicitly return from a method.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causes program control to transfer back to the caller of the method.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is executed the method terminates.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eturn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causes execution to return to the Java run-time system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that have a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type other than void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a value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 calling method(function)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is the value is returned to the calling function</a:t>
            </a:r>
            <a:endParaRPr/>
          </a:p>
        </p:txBody>
      </p:sp>
      <p:sp>
        <p:nvSpPr>
          <p:cNvPr id="596" name="Google Shape;596;p6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597" name="Google Shape;597;p6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6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return.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Return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t = true;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System.out.println("Before the return.");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if(t)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System.out.println("This won't execute.");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604" name="Google Shape;604;p6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605" name="Google Shape;605;p6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69</a:t>
            </a:fld>
            <a:endParaRPr/>
          </a:p>
        </p:txBody>
      </p:sp>
      <p:sp>
        <p:nvSpPr>
          <p:cNvPr id="606" name="Google Shape;606;p62"/>
          <p:cNvSpPr txBox="1"/>
          <p:nvPr/>
        </p:nvSpPr>
        <p:spPr>
          <a:xfrm>
            <a:off x="6858000" y="2209800"/>
            <a:ext cx="2133600" cy="7080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the return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612" name="Google Shape;612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6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70</a:t>
            </a:fld>
            <a:endParaRPr/>
          </a:p>
        </p:txBody>
      </p:sp>
      <p:sp>
        <p:nvSpPr>
          <p:cNvPr id="614" name="Google Shape;614;p6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5437</Words>
  <Application>Microsoft Office PowerPoint</Application>
  <PresentationFormat>On-screen Show (4:3)</PresentationFormat>
  <Paragraphs>947</Paragraphs>
  <Slides>70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Arial</vt:lpstr>
      <vt:lpstr>Calibri</vt:lpstr>
      <vt:lpstr>Noto Sans Symbols</vt:lpstr>
      <vt:lpstr>Times New Roman</vt:lpstr>
      <vt:lpstr>1_Office Theme</vt:lpstr>
      <vt:lpstr>2_Office Theme</vt:lpstr>
      <vt:lpstr>Office Theme</vt:lpstr>
      <vt:lpstr>Object Oriented Programming using Java Introduction to Java(part 7)</vt:lpstr>
      <vt:lpstr>Topics</vt:lpstr>
      <vt:lpstr>Control statements</vt:lpstr>
      <vt:lpstr>Control statements(contd.)</vt:lpstr>
      <vt:lpstr>Java’s Selection Statements</vt:lpstr>
      <vt:lpstr>if statement</vt:lpstr>
      <vt:lpstr>Simple if E.g.</vt:lpstr>
      <vt:lpstr>If-else statement</vt:lpstr>
      <vt:lpstr>Working of if-else</vt:lpstr>
      <vt:lpstr>If-else E.g</vt:lpstr>
      <vt:lpstr>If statement(contd.0</vt:lpstr>
      <vt:lpstr>If statement(contd.)</vt:lpstr>
      <vt:lpstr>Nested ifs</vt:lpstr>
      <vt:lpstr>Nested if E.g</vt:lpstr>
      <vt:lpstr>The if-else-if Ladder</vt:lpstr>
      <vt:lpstr>The if-else-if Ladder(contd.)</vt:lpstr>
      <vt:lpstr>PowerPoint Presentation</vt:lpstr>
      <vt:lpstr>PowerPoint Presentation</vt:lpstr>
      <vt:lpstr>switch statement</vt:lpstr>
      <vt:lpstr>Syntax of switch</vt:lpstr>
      <vt:lpstr>Switch(contd.)</vt:lpstr>
      <vt:lpstr>Working of switch</vt:lpstr>
      <vt:lpstr>Working of switch(cond.)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Nested switch Statements</vt:lpstr>
      <vt:lpstr>Features of the switch statement</vt:lpstr>
      <vt:lpstr>Swich(features)</vt:lpstr>
      <vt:lpstr>Iteration Statements</vt:lpstr>
      <vt:lpstr>while</vt:lpstr>
      <vt:lpstr>Working of while</vt:lpstr>
      <vt:lpstr>While(contd.)</vt:lpstr>
      <vt:lpstr>PowerPoint Presentation</vt:lpstr>
      <vt:lpstr>While(contd.)</vt:lpstr>
      <vt:lpstr>PowerPoint Presentation</vt:lpstr>
      <vt:lpstr>do-while</vt:lpstr>
      <vt:lpstr>Working of do-while</vt:lpstr>
      <vt:lpstr>PowerPoint Presentation</vt:lpstr>
      <vt:lpstr>PowerPoint Presentation</vt:lpstr>
      <vt:lpstr>PowerPoint Presentation</vt:lpstr>
      <vt:lpstr>PowerPoint Presentation</vt:lpstr>
      <vt:lpstr>Difference between while and do-while</vt:lpstr>
      <vt:lpstr>for</vt:lpstr>
      <vt:lpstr>Working of for loop</vt:lpstr>
      <vt:lpstr>PowerPoint Presentation</vt:lpstr>
      <vt:lpstr>The For-Each Version of the for Loop</vt:lpstr>
      <vt:lpstr>PowerPoint Presentation</vt:lpstr>
      <vt:lpstr>PowerPoint Presentation</vt:lpstr>
      <vt:lpstr>PowerPoint Presentation</vt:lpstr>
      <vt:lpstr>Nested loops</vt:lpstr>
      <vt:lpstr>PowerPoint Presentation</vt:lpstr>
      <vt:lpstr>PowerPoint Presentation</vt:lpstr>
      <vt:lpstr>Nested loops</vt:lpstr>
      <vt:lpstr>Nested loops</vt:lpstr>
      <vt:lpstr>Jump Statements</vt:lpstr>
      <vt:lpstr>break statement</vt:lpstr>
      <vt:lpstr>break E.g</vt:lpstr>
      <vt:lpstr>Using break as a Form of Goto</vt:lpstr>
      <vt:lpstr>PowerPoint Presentation</vt:lpstr>
      <vt:lpstr>PowerPoint Presentation</vt:lpstr>
      <vt:lpstr>PowerPoint Presentation</vt:lpstr>
      <vt:lpstr>continue statement</vt:lpstr>
      <vt:lpstr>continue E.g</vt:lpstr>
      <vt:lpstr>PowerPoint Presentation</vt:lpstr>
      <vt:lpstr>return statement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14</cp:revision>
  <dcterms:created xsi:type="dcterms:W3CDTF">2006-08-16T00:00:00Z</dcterms:created>
  <dcterms:modified xsi:type="dcterms:W3CDTF">2025-07-16T10:48:19Z</dcterms:modified>
</cp:coreProperties>
</file>