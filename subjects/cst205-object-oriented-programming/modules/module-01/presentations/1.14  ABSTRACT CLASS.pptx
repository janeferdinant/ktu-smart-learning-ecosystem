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  <p:sldMasterId id="2147483652" r:id="rId3"/>
    <p:sldMasterId id="2147483654" r:id="rId4"/>
    <p:sldMasterId id="2147483662" r:id="rId5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 type="screen4x3"/>
  <p:notesSz cx="7315200" cy="9601200"/>
  <p:embeddedFontLst>
    <p:embeddedFont>
      <p:font typeface="Sigmar One" panose="020B0604020202020204" charset="0"/>
      <p:regular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000000"/>
          </p15:clr>
        </p15:guide>
        <p15:guide id="2" pos="2304">
          <p15:clr>
            <a:srgbClr val="000000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ghrB6AM+BpYBrNj4DyYEQ0bJMs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375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3700" algn="just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810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810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810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4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»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»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6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body" idx="1"/>
          </p:nvPr>
        </p:nvSpPr>
        <p:spPr>
          <a:xfrm rot="5400000">
            <a:off x="2042319" y="-518319"/>
            <a:ext cx="505936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1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4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3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6" name="Google Shape;106;p3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7" name="Google Shape;107;p3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8" name="Google Shape;108;p3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9" name="Google Shape;109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3800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9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72375" y="-762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1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8575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3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3800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3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33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" name="Google Shape;101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"/>
          <p:cNvSpPr txBox="1">
            <a:spLocks noGrp="1"/>
          </p:cNvSpPr>
          <p:nvPr>
            <p:ph type="ctrTitle"/>
          </p:nvPr>
        </p:nvSpPr>
        <p:spPr>
          <a:xfrm>
            <a:off x="381000" y="1219200"/>
            <a:ext cx="8458200" cy="238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Times New Roman"/>
              <a:buNone/>
            </a:pPr>
            <a:r>
              <a:rPr lang="en-US" sz="3600" b="0" i="0" u="none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CS205 Object Oriented Programming in Java</a:t>
            </a:r>
            <a:br>
              <a:rPr lang="en-US" sz="3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2 - </a:t>
            </a:r>
            <a:r>
              <a:rPr lang="en-US" sz="36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Java Fundamentals</a:t>
            </a:r>
            <a:br>
              <a:rPr lang="en-US" sz="36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(Part 7)</a:t>
            </a:r>
            <a:endParaRPr dirty="0"/>
          </a:p>
        </p:txBody>
      </p:sp>
      <p:sp>
        <p:nvSpPr>
          <p:cNvPr id="117" name="Google Shape;117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000"/>
              <a:buNone/>
            </a:pPr>
            <a:r>
              <a:rPr lang="en-US" sz="2000" b="0" i="0" u="none" dirty="0">
                <a:solidFill>
                  <a:srgbClr val="898989"/>
                </a:solidFill>
                <a:latin typeface="Sigmar One"/>
                <a:ea typeface="Sigmar One"/>
                <a:cs typeface="Sigmar One"/>
                <a:sym typeface="Sigmar One"/>
              </a:rPr>
              <a:t>Prepared by </a:t>
            </a: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2500"/>
              <a:buNone/>
            </a:pPr>
            <a:r>
              <a:rPr lang="en-US" sz="2500" b="1" i="0" u="none" dirty="0" err="1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Renetha</a:t>
            </a:r>
            <a:r>
              <a:rPr lang="en-US" sz="2500" b="1" i="0" u="none" dirty="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J.</a:t>
            </a:r>
            <a:r>
              <a:rPr lang="en-US" sz="2500" b="1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</a:t>
            </a:r>
            <a:endParaRPr dirty="0"/>
          </a:p>
        </p:txBody>
      </p:sp>
      <p:sp>
        <p:nvSpPr>
          <p:cNvPr id="118" name="Google Shape;118;p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/>
          </a:p>
        </p:txBody>
      </p:sp>
      <p:sp>
        <p:nvSpPr>
          <p:cNvPr id="119" name="Google Shape;119;p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</a:t>
            </a:r>
            <a:endParaRPr/>
          </a:p>
        </p:txBody>
      </p:sp>
      <p:sp>
        <p:nvSpPr>
          <p:cNvPr id="125" name="Google Shape;125;p2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Java Fundamentals</a:t>
            </a:r>
            <a:r>
              <a:rPr lang="en-US" sz="2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742950" marR="0" lvl="1" indent="-285750" algn="just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Inheritance 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1143000" marR="0" lvl="2" indent="-228600" algn="just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Classes and Methods</a:t>
            </a:r>
            <a:endParaRPr dirty="0"/>
          </a:p>
        </p:txBody>
      </p:sp>
      <p:sp>
        <p:nvSpPr>
          <p:cNvPr id="126" name="Google Shape;126;p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Classes and Methods</a:t>
            </a:r>
            <a:endParaRPr/>
          </a:p>
        </p:txBody>
      </p:sp>
      <p:sp>
        <p:nvSpPr>
          <p:cNvPr id="133" name="Google Shape;133;p3"/>
          <p:cNvSpPr txBox="1">
            <a:spLocks noGrp="1"/>
          </p:cNvSpPr>
          <p:nvPr>
            <p:ph type="body" idx="1"/>
          </p:nvPr>
        </p:nvSpPr>
        <p:spPr>
          <a:xfrm>
            <a:off x="457200" y="838200"/>
            <a:ext cx="8229600" cy="52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Sometimes we may want to create a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superclass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only </a:t>
            </a:r>
            <a:r>
              <a:rPr lang="en-US"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a generalized form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will be shared by all of its subclasses and </a:t>
            </a:r>
            <a:r>
              <a:rPr lang="en-US"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leaves the implementation to be filled by each subclass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ensure that </a:t>
            </a: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subclass should override all necessary methods(implementations), 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have to make them </a:t>
            </a: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methods in superclass.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making a method an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method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have use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type modifier.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Classes and Methods(contd.)</a:t>
            </a:r>
            <a:endParaRPr/>
          </a:p>
        </p:txBody>
      </p:sp>
      <p:sp>
        <p:nvSpPr>
          <p:cNvPr id="141" name="Google Shape;141;p4"/>
          <p:cNvSpPr txBox="1">
            <a:spLocks noGrp="1"/>
          </p:cNvSpPr>
          <p:nvPr>
            <p:ph type="body" idx="1"/>
          </p:nvPr>
        </p:nvSpPr>
        <p:spPr>
          <a:xfrm>
            <a:off x="457200" y="9906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methods have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implementation(function body) in the superclass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they are also called as </a:t>
            </a:r>
            <a:r>
              <a:rPr lang="en-US" sz="2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subclasser responsibility 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should be there </a:t>
            </a: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subclasses by overriding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those methods.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declare an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abstract method in </a:t>
            </a:r>
            <a:r>
              <a:rPr lang="en-US" sz="2400" b="1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superclass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 is :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name(parameter-list)</a:t>
            </a:r>
            <a:r>
              <a:rPr lang="en-US" sz="2400" b="1" i="1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semicolon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after the function header shows that abstract function has no body in superclass.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/>
          </a:p>
        </p:txBody>
      </p:sp>
      <p:sp>
        <p:nvSpPr>
          <p:cNvPr id="144" name="Google Shape;144;p4"/>
          <p:cNvSpPr txBox="1"/>
          <p:nvPr/>
        </p:nvSpPr>
        <p:spPr>
          <a:xfrm>
            <a:off x="381000" y="4495800"/>
            <a:ext cx="4724400" cy="685800"/>
          </a:xfrm>
          <a:prstGeom prst="rect">
            <a:avLst/>
          </a:prstGeom>
          <a:noFill/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Classes and Methods(contd.)</a:t>
            </a:r>
            <a:endParaRPr/>
          </a:p>
        </p:txBody>
      </p:sp>
      <p:sp>
        <p:nvSpPr>
          <p:cNvPr id="150" name="Google Shape;150;p5"/>
          <p:cNvSpPr txBox="1">
            <a:spLocks noGrp="1"/>
          </p:cNvSpPr>
          <p:nvPr>
            <p:ph type="body" idx="1"/>
          </p:nvPr>
        </p:nvSpPr>
        <p:spPr>
          <a:xfrm>
            <a:off x="457200" y="685800"/>
            <a:ext cx="8229600" cy="544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Char char="•"/>
            </a:pPr>
            <a:r>
              <a:rPr lang="en-US" sz="2800" b="1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CLASS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contains </a:t>
            </a:r>
            <a:r>
              <a:rPr lang="en-US" sz="2400" b="1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or more abstract methods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also be declared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declare a class abstract, use the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keyword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front of the class keyword at the beginning of the class declaration.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classname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//members.abstract or nonabsract method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class can have </a:t>
            </a:r>
            <a:r>
              <a:rPr lang="en-US"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 abstract methods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concrete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methods) also.</a:t>
            </a:r>
            <a:endParaRPr/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60198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6629400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Classes and Methods(contd.)</a:t>
            </a:r>
            <a:endParaRPr/>
          </a:p>
        </p:txBody>
      </p:sp>
      <p:sp>
        <p:nvSpPr>
          <p:cNvPr id="158" name="Google Shape;158;p6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5211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classes </a:t>
            </a:r>
            <a:r>
              <a:rPr lang="en-US"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be instantiated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operator.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i.e.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Objects are not created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abstract class.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Such objects would be </a:t>
            </a:r>
            <a:r>
              <a:rPr lang="en-US" sz="24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useless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because an </a:t>
            </a:r>
            <a:r>
              <a:rPr lang="en-US"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class is not fully defined.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</a:t>
            </a:r>
            <a:r>
              <a:rPr lang="en-US" sz="24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constructors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or </a:t>
            </a:r>
            <a:r>
              <a:rPr lang="en-US" sz="2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</a:t>
            </a:r>
            <a:r>
              <a:rPr lang="en-US"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static methods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</a:t>
            </a:r>
            <a:r>
              <a:rPr lang="en-US" sz="24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subclass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an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class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</a:t>
            </a:r>
            <a:r>
              <a:rPr lang="en-US" sz="24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either </a:t>
            </a:r>
            <a:r>
              <a:rPr lang="en-US" sz="2400" b="1" i="1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all of the abstract methods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the superclass, </a:t>
            </a:r>
            <a:r>
              <a:rPr lang="en-US" sz="24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should be </a:t>
            </a:r>
            <a:r>
              <a:rPr lang="en-US" sz="2400" b="1" i="1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declared abstract class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60" name="Google Shape;160;p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 txBox="1">
            <a:spLocks noGrp="1"/>
          </p:cNvSpPr>
          <p:nvPr>
            <p:ph type="body" idx="1"/>
          </p:nvPr>
        </p:nvSpPr>
        <p:spPr>
          <a:xfrm>
            <a:off x="152400" y="0"/>
            <a:ext cx="4419600" cy="6126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A Simple demonstration of abstract with abstract and concrete methods.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A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void callme();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callmetoo()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System.out.println("concrete method.");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 extends A {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callme() {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System.out.println("callme in B");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}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66" name="Google Shape;166;p7"/>
          <p:cNvSpPr txBox="1">
            <a:spLocks noGrp="1"/>
          </p:cNvSpPr>
          <p:nvPr>
            <p:ph type="body" idx="2"/>
          </p:nvPr>
        </p:nvSpPr>
        <p:spPr>
          <a:xfrm>
            <a:off x="4648200" y="0"/>
            <a:ext cx="4495800" cy="6126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AbstractDemo {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{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b = new B();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b.callme();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b.callmetoo();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67" name="Google Shape;167;p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68" name="Google Shape;168;p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/>
          </a:p>
        </p:txBody>
      </p:sp>
      <p:sp>
        <p:nvSpPr>
          <p:cNvPr id="169" name="Google Shape;169;p7"/>
          <p:cNvSpPr txBox="1"/>
          <p:nvPr/>
        </p:nvSpPr>
        <p:spPr>
          <a:xfrm>
            <a:off x="4648200" y="4648200"/>
            <a:ext cx="2438400" cy="923925"/>
          </a:xfrm>
          <a:prstGeom prst="rect">
            <a:avLst/>
          </a:prstGeom>
          <a:noFill/>
          <a:ln w="9525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callme in B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concrete method.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Classes(contd.)</a:t>
            </a:r>
            <a:endParaRPr/>
          </a:p>
        </p:txBody>
      </p:sp>
      <p:sp>
        <p:nvSpPr>
          <p:cNvPr id="175" name="Google Shape;175;p8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Although abstract classes cannot be used to instantiate objects, 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classes can be used to </a:t>
            </a:r>
            <a:r>
              <a:rPr lang="en-US" sz="26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object references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superlassname  superclassobjectrefernce ;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superclassobjectrefernce =subclassobjectreference;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Java’s </a:t>
            </a:r>
            <a:r>
              <a:rPr lang="en-US" sz="26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run-time polymorphism(dynamic binding)</a:t>
            </a:r>
            <a:r>
              <a:rPr lang="en-US" sz="26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implemented through the use of </a:t>
            </a:r>
            <a:r>
              <a:rPr lang="en-US" sz="2600" b="1" i="1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superclass references.</a:t>
            </a:r>
            <a:endParaRPr/>
          </a:p>
        </p:txBody>
      </p:sp>
      <p:sp>
        <p:nvSpPr>
          <p:cNvPr id="176" name="Google Shape;176;p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77" name="Google Shape;177;p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/>
          </a:p>
        </p:txBody>
      </p:sp>
      <p:sp>
        <p:nvSpPr>
          <p:cNvPr id="178" name="Google Shape;178;p8"/>
          <p:cNvSpPr txBox="1"/>
          <p:nvPr/>
        </p:nvSpPr>
        <p:spPr>
          <a:xfrm>
            <a:off x="697425" y="3124200"/>
            <a:ext cx="6770100" cy="1057800"/>
          </a:xfrm>
          <a:prstGeom prst="rect">
            <a:avLst/>
          </a:prstGeom>
          <a:noFill/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 txBox="1">
            <a:spLocks noGrp="1"/>
          </p:cNvSpPr>
          <p:nvPr>
            <p:ph type="body" idx="1"/>
          </p:nvPr>
        </p:nvSpPr>
        <p:spPr>
          <a:xfrm>
            <a:off x="152400" y="0"/>
            <a:ext cx="4419600" cy="6126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DYNAMIC(run-time) BINDING(polymorphism).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Figure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	double dim1;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double dim2;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Figure(double a, double b)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 dim1 = a;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dim2 = b;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double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area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Rectangle </a:t>
            </a:r>
            <a:r>
              <a:rPr lang="en-US" sz="2000" b="1" i="0" u="none" strike="noStrike" cap="none">
                <a:solidFill>
                  <a:srgbClr val="1025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extends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Figure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Rectangle(double a, double b)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</a:t>
            </a:r>
            <a:r>
              <a:rPr lang="en-US" sz="2000" b="1" i="0" u="none" strike="noStrike" cap="none">
                <a:solidFill>
                  <a:srgbClr val="1025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(a, b);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area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	System.out.println("Rectangle Area");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return dim1 * dim2;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}</a:t>
            </a:r>
            <a:endParaRPr/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9"/>
          <p:cNvSpPr txBox="1">
            <a:spLocks noGrp="1"/>
          </p:cNvSpPr>
          <p:nvPr>
            <p:ph type="body" idx="2"/>
          </p:nvPr>
        </p:nvSpPr>
        <p:spPr>
          <a:xfrm>
            <a:off x="4648200" y="0"/>
            <a:ext cx="4495800" cy="6126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Triangle </a:t>
            </a:r>
            <a:r>
              <a:rPr lang="en-US" sz="1800" b="1" i="0" u="none">
                <a:solidFill>
                  <a:srgbClr val="1025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extends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Figure {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Triangle(double a, double b)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super(a, b);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area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System.out.println("Triangle Area");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dim1 * dim2 / 2;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}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AbstractAreas {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{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lang="en-US" sz="1800" b="0" i="1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Figure f = new Figure(10, 10); </a:t>
            </a:r>
            <a:r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illegal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Rectangle r = new Rectangle(9, 5);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Triangle t = new Triangle(10, 8);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figref;  </a:t>
            </a:r>
            <a:r>
              <a:rPr lang="en-US" sz="1800" b="0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superclass object reference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figref = r;	    </a:t>
            </a:r>
            <a:r>
              <a:rPr lang="en-US" sz="1600" b="0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//figref  refers to object of Rectangle</a:t>
            </a:r>
            <a:endParaRPr sz="1800" b="0" i="1" u="none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System.out.println("Area is " + figref.area());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figref = t; </a:t>
            </a:r>
            <a:r>
              <a:rPr lang="en-US" sz="1800" b="0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//figref  refers to object of Triangle</a:t>
            </a:r>
            <a:endParaRPr sz="1800" b="0" i="1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System.out.println("Area is " + figref.area());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85" name="Google Shape;185;p9"/>
          <p:cNvSpPr txBox="1"/>
          <p:nvPr/>
        </p:nvSpPr>
        <p:spPr>
          <a:xfrm>
            <a:off x="5943600" y="632460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0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86" name="Google Shape;186;p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binding(program)contd.</a:t>
            </a:r>
            <a:endParaRPr/>
          </a:p>
        </p:txBody>
      </p:sp>
      <p:sp>
        <p:nvSpPr>
          <p:cNvPr id="192" name="Google Shape;192;p10"/>
          <p:cNvSpPr txBox="1">
            <a:spLocks noGrp="1"/>
          </p:cNvSpPr>
          <p:nvPr>
            <p:ph type="body" idx="1"/>
          </p:nvPr>
        </p:nvSpPr>
        <p:spPr>
          <a:xfrm>
            <a:off x="304800" y="2057400"/>
            <a:ext cx="82296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all subclasses of abstract class </a:t>
            </a:r>
            <a:r>
              <a:rPr lang="en-US" sz="2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</a:t>
            </a: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override abstract method area( ).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the statement </a:t>
            </a:r>
            <a:r>
              <a:rPr lang="en-US" sz="2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figref; </a:t>
            </a: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notcreating object but creating an object refernce.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statement </a:t>
            </a:r>
            <a:r>
              <a:rPr lang="en-US" sz="2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figref = r; </a:t>
            </a: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means that superclass reference figref now points to subclass(Rectangle)  object r. So the value of dim1 and dim2 are the values in r. The statement </a:t>
            </a:r>
            <a:r>
              <a:rPr lang="en-US" sz="2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figref.area() </a:t>
            </a: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will call area() method in that subclass(Rectangle)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statement </a:t>
            </a:r>
            <a:r>
              <a:rPr lang="en-US" sz="2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figref = t; </a:t>
            </a: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means that superclass reference figref now points to subclass(Triangle)  object t. So the value of dim1 and dim2 are the values in t. The statement </a:t>
            </a:r>
            <a:r>
              <a:rPr lang="en-US" sz="2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figref.area() </a:t>
            </a: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will call area() method in that subclas(Triangle)</a:t>
            </a:r>
            <a:endParaRPr/>
          </a:p>
          <a:p>
            <a:pPr marL="342900" marR="0" lvl="0" indent="-2032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94" name="Google Shape;194;p1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/>
          </a:p>
        </p:txBody>
      </p:sp>
      <p:sp>
        <p:nvSpPr>
          <p:cNvPr id="195" name="Google Shape;195;p10"/>
          <p:cNvSpPr txBox="1"/>
          <p:nvPr/>
        </p:nvSpPr>
        <p:spPr>
          <a:xfrm>
            <a:off x="1752600" y="685800"/>
            <a:ext cx="2590800" cy="1477962"/>
          </a:xfrm>
          <a:prstGeom prst="rect">
            <a:avLst/>
          </a:prstGeom>
          <a:noFill/>
          <a:ln w="9525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Rectangle Area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Area is 45.0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Triangle Area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Area is 40.0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953</Words>
  <Application>Microsoft Office PowerPoint</Application>
  <PresentationFormat>On-screen Show (4:3)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Times New Roman</vt:lpstr>
      <vt:lpstr>Arial</vt:lpstr>
      <vt:lpstr>Calibri</vt:lpstr>
      <vt:lpstr>Sigmar One</vt:lpstr>
      <vt:lpstr>Noto Sans Symbols</vt:lpstr>
      <vt:lpstr>1_Office Theme</vt:lpstr>
      <vt:lpstr>2_Office Theme</vt:lpstr>
      <vt:lpstr>3_Office Theme</vt:lpstr>
      <vt:lpstr>Office Theme</vt:lpstr>
      <vt:lpstr>4_Office Theme</vt:lpstr>
      <vt:lpstr>CS205 Object Oriented Programming in Java Module 2 - Core Java Fundamentals (Part 7)</vt:lpstr>
      <vt:lpstr>Topics</vt:lpstr>
      <vt:lpstr>Abstract Classes and Methods</vt:lpstr>
      <vt:lpstr>Abstract Classes and Methods(contd.)</vt:lpstr>
      <vt:lpstr>Abstract Classes and Methods(contd.)</vt:lpstr>
      <vt:lpstr>Abstract Classes and Methods(contd.)</vt:lpstr>
      <vt:lpstr>PowerPoint Presentation</vt:lpstr>
      <vt:lpstr>Abstract Classes(contd.)</vt:lpstr>
      <vt:lpstr>PowerPoint Presentation</vt:lpstr>
      <vt:lpstr>Dynamic binding(program)contd.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RENETHA J B</cp:lastModifiedBy>
  <cp:revision>3</cp:revision>
  <dcterms:created xsi:type="dcterms:W3CDTF">2006-08-16T00:00:00Z</dcterms:created>
  <dcterms:modified xsi:type="dcterms:W3CDTF">2025-07-16T11:38:04Z</dcterms:modified>
</cp:coreProperties>
</file>