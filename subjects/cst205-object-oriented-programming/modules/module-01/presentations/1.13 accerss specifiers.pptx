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6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y="6858000" cx="9144000"/>
  <p:notesSz cx="7315200" cy="9601200"/>
  <p:embeddedFontLst>
    <p:embeddedFont>
      <p:font typeface="Sigmar On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17" roundtripDataSignature="AMtx7mhzmBowauC4U90bZ2b/Nuegh/Kc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customschemas.google.com/relationships/presentationmetadata" Target="metadata"/><Relationship Id="rId16" Type="http://schemas.openxmlformats.org/officeDocument/2006/relationships/font" Target="fonts/SigmarOne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" type="body"/>
          </p:nvPr>
        </p:nvSpPr>
        <p:spPr>
          <a:xfrm rot="5400000">
            <a:off x="2042319" y="-518319"/>
            <a:ext cx="50593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7" name="Google Shape;5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0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9" name="Google Shape;79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2" name="Google Shape;92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3" name="Google Shape;93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4" name="Google Shape;94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5" name="Google Shape;95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8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0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34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2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42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slide10.x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/>
          <p:nvPr>
            <p:ph type="ctrTitle"/>
          </p:nvPr>
        </p:nvSpPr>
        <p:spPr>
          <a:xfrm>
            <a:off x="381000" y="1219200"/>
            <a:ext cx="845820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OOP </a:t>
            </a: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1 </a:t>
            </a: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13</a:t>
            </a:r>
            <a:endParaRPr/>
          </a:p>
        </p:txBody>
      </p:sp>
      <p:sp>
        <p:nvSpPr>
          <p:cNvPr id="103" name="Google Shape;103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200"/>
              <a:buNone/>
            </a:pPr>
            <a:r>
              <a:rPr b="0" i="0" lang="en-US" sz="2200" u="none">
                <a:solidFill>
                  <a:srgbClr val="898989"/>
                </a:solidFill>
                <a:latin typeface="Sigmar One"/>
                <a:ea typeface="Sigmar One"/>
                <a:cs typeface="Sigmar One"/>
                <a:sym typeface="Sigmar One"/>
              </a:rPr>
              <a:t>Prepared by 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898989"/>
              </a:buClr>
              <a:buSzPts val="2200"/>
              <a:buNone/>
            </a:pPr>
            <a:r>
              <a:rPr b="0" i="0" lang="en-US" sz="22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Renetha J.B.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898989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914400" y="1449400"/>
            <a:ext cx="8229600" cy="4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Access Control</a:t>
            </a:r>
            <a:r>
              <a:rPr lang="en-US"/>
              <a:t> specifiers</a:t>
            </a:r>
            <a:endParaRPr/>
          </a:p>
          <a:p>
            <a:pPr indent="-1778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 Specifiers</a:t>
            </a:r>
            <a:endParaRPr/>
          </a:p>
        </p:txBody>
      </p:sp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encapsulation, we can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parts of a program can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the members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class.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controlling access, you can prevent misuse.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a member can be accessed is determined by the </a:t>
            </a:r>
            <a:r>
              <a:rPr b="0" i="1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specifier that modifies its declaration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Java’s access specifiers are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Control(contd.)</a:t>
            </a:r>
            <a:endParaRPr/>
          </a:p>
        </p:txBody>
      </p:sp>
      <p:sp>
        <p:nvSpPr>
          <p:cNvPr id="127" name="Google Shape;127;p10"/>
          <p:cNvSpPr txBox="1"/>
          <p:nvPr>
            <p:ph idx="1" type="body"/>
          </p:nvPr>
        </p:nvSpPr>
        <p:spPr>
          <a:xfrm>
            <a:off x="457200" y="1036637"/>
            <a:ext cx="82296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class is modified by the </a:t>
            </a:r>
            <a:r>
              <a:rPr b="1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specifier, then that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 can be accessed by any other code.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(ACCESSIBLE TO ALL)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i;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member of a class is specified as </a:t>
            </a:r>
            <a:r>
              <a:rPr b="1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that member can only be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accessed by any members of the same class.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a;</a:t>
            </a:r>
            <a:endParaRPr/>
          </a:p>
        </p:txBody>
      </p:sp>
      <p:sp>
        <p:nvSpPr>
          <p:cNvPr id="128" name="Google Shape;128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Control(contd.)</a:t>
            </a:r>
            <a:endParaRPr/>
          </a:p>
        </p:txBody>
      </p:sp>
      <p:sp>
        <p:nvSpPr>
          <p:cNvPr id="135" name="Google Shape;135;p11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member of a class is specified as </a:t>
            </a:r>
            <a:r>
              <a:rPr b="1" i="0" lang="en-US" sz="26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r>
              <a:rPr b="1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that member can be accessed within the package and by any of  its subclasses.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6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char c;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access specifier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there, then its access specifier is </a:t>
            </a:r>
            <a:r>
              <a:rPr b="1" i="0" lang="en-US" sz="26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accessed within its own package, but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accessed outside of its package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c;</a:t>
            </a:r>
            <a:endParaRPr/>
          </a:p>
        </p:txBody>
      </p:sp>
      <p:sp>
        <p:nvSpPr>
          <p:cNvPr id="136" name="Google Shape;136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sp</a:t>
            </a:r>
            <a:r>
              <a:rPr lang="en-US"/>
              <a:t>e</a:t>
            </a: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cifier-E.g.</a:t>
            </a:r>
            <a:endParaRPr/>
          </a:p>
        </p:txBody>
      </p:sp>
      <p:sp>
        <p:nvSpPr>
          <p:cNvPr id="143" name="Google Shape;143;p12"/>
          <p:cNvSpPr txBox="1"/>
          <p:nvPr>
            <p:ph idx="1" type="body"/>
          </p:nvPr>
        </p:nvSpPr>
        <p:spPr>
          <a:xfrm>
            <a:off x="457200" y="685800"/>
            <a:ext cx="86868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A{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i;		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double j;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 c;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f;			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//default access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myMethod(int a, char b) 	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//public method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//..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44" name="Google Shape;144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986837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3"/>
          <p:cNvSpPr txBox="1"/>
          <p:nvPr/>
        </p:nvSpPr>
        <p:spPr>
          <a:xfrm>
            <a:off x="8001000" y="5867400"/>
            <a:ext cx="5953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5791200" y="5705475"/>
            <a:ext cx="205263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SAME PACKAGE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ANY SUBCLASS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3810000" y="5638800"/>
            <a:ext cx="21161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F6228"/>
                </a:solidFill>
                <a:latin typeface="Arial"/>
                <a:ea typeface="Arial"/>
                <a:cs typeface="Arial"/>
                <a:sym typeface="Arial"/>
              </a:rPr>
              <a:t>SAME PACKAGE,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1981200" y="5638800"/>
            <a:ext cx="16589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SAME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