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  <p:sldMasterId id="2147483652" r:id="rId3"/>
  </p:sldMasterIdLst>
  <p:notesMasterIdLst>
    <p:notesMasterId r:id="rId27"/>
  </p:notesMasterIdLst>
  <p:sldIdLst>
    <p:sldId id="256" r:id="rId4"/>
    <p:sldId id="257" r:id="rId5"/>
    <p:sldId id="258" r:id="rId6"/>
    <p:sldId id="259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g/ELavqDMnjYXlPtAFYtkVqB8y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8CD6D61-7384-4F9F-A38D-0C9C01E7697C}">
  <a:tblStyle styleId="{88CD6D61-7384-4F9F-A38D-0C9C01E7697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375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0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3700" algn="just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810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810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810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3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7" name="Google Shape;57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3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4" name="Google Shape;64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9" name="Google Shape;79;p3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0" name="Google Shape;80;p3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1" name="Google Shape;81;p3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2" name="Google Shape;82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8" name="Google Shape;88;p3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9" name="Google Shape;89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96175" y="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96175" y="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685800" y="1447800"/>
            <a:ext cx="8153400" cy="215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4000"/>
              <a:buFont typeface="Times New Roman"/>
              <a:buNone/>
            </a:pPr>
            <a:r>
              <a:rPr lang="en-US" sz="4000" b="0" i="0" u="none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Oriented Programming</a:t>
            </a:r>
            <a:br>
              <a:rPr lang="en-US" sz="40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dirty="0"/>
              <a:t>part 3</a:t>
            </a:r>
            <a:endParaRPr dirty="0"/>
          </a:p>
        </p:txBody>
      </p:sp>
      <p:sp>
        <p:nvSpPr>
          <p:cNvPr id="103" name="Google Shape;103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200"/>
              <a:buNone/>
            </a:pPr>
            <a:r>
              <a:rPr lang="en-US" sz="3200" b="0" i="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/>
          </a:p>
        </p:txBody>
      </p:sp>
      <p:sp>
        <p:nvSpPr>
          <p:cNvPr id="105" name="Google Shape;105;p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</a:t>
            </a:r>
            <a:endParaRPr/>
          </a:p>
        </p:txBody>
      </p:sp>
      <p:sp>
        <p:nvSpPr>
          <p:cNvPr id="111" name="Google Shape;111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 sz="2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Primitive </a:t>
            </a:r>
            <a:r>
              <a:rPr lang="en-US" sz="2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types</a:t>
            </a:r>
            <a:endParaRPr dirty="0"/>
          </a:p>
          <a:p>
            <a:pPr marL="914400" marR="0" lvl="1" indent="-51435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Integers</a:t>
            </a:r>
            <a:endParaRPr dirty="0"/>
          </a:p>
          <a:p>
            <a:pPr marL="914400" marR="0" lvl="1" indent="-51435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Floating Point Types</a:t>
            </a:r>
            <a:endParaRPr dirty="0"/>
          </a:p>
          <a:p>
            <a:pPr marL="914400" marR="0" lvl="1" indent="-51435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Characters</a:t>
            </a:r>
            <a:endParaRPr dirty="0"/>
          </a:p>
          <a:p>
            <a:pPr marL="914400" marR="0" lvl="1" indent="-51435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</a:t>
            </a:r>
            <a:endParaRPr dirty="0"/>
          </a:p>
        </p:txBody>
      </p:sp>
      <p:sp>
        <p:nvSpPr>
          <p:cNvPr id="112" name="Google Shape;112;p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119" name="Google Shape;119;p3"/>
          <p:cNvSpPr txBox="1">
            <a:spLocks noGrp="1"/>
          </p:cNvSpPr>
          <p:nvPr>
            <p:ph type="body" idx="1"/>
          </p:nvPr>
        </p:nvSpPr>
        <p:spPr>
          <a:xfrm>
            <a:off x="457200" y="990600"/>
            <a:ext cx="82296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fundamental elements of Java: 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types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arrays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Introduction(contd.)</a:t>
            </a:r>
            <a:endParaRPr/>
          </a:p>
        </p:txBody>
      </p:sp>
      <p:sp>
        <p:nvSpPr>
          <p:cNvPr id="127" name="Google Shape;127;p4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Is a </a:t>
            </a:r>
            <a:r>
              <a:rPr lang="en-US" sz="26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Strongly Typed Language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First, every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has a </a:t>
            </a:r>
            <a:r>
              <a:rPr lang="en-US" sz="24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every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expression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has a </a:t>
            </a:r>
            <a:r>
              <a:rPr lang="en-US" sz="24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every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is strictly defined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Second, </a:t>
            </a:r>
            <a:r>
              <a:rPr lang="en-US" sz="2400" b="1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assignments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whether explicit or via parameter passing in method calls, are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checked for type compatibility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automatic coercions or conversions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</a:t>
            </a:r>
            <a:r>
              <a:rPr lang="en-US"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conflicting types .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Java </a:t>
            </a:r>
            <a:r>
              <a:rPr lang="en-US"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compiler checks all expressions and parameters to ensure that the types are compatible. 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type mismatches are errors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must be corrected before the compiler will finish compiling the class</a:t>
            </a:r>
            <a:endParaRPr/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>
            <a:spLocks noGrp="1"/>
          </p:cNvSpPr>
          <p:nvPr>
            <p:ph type="title"/>
          </p:nvPr>
        </p:nvSpPr>
        <p:spPr>
          <a:xfrm>
            <a:off x="0" y="-76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Primitive Types</a:t>
            </a:r>
            <a:endParaRPr/>
          </a:p>
        </p:txBody>
      </p:sp>
      <p:sp>
        <p:nvSpPr>
          <p:cNvPr id="135" name="Google Shape;135;p5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marR="0" lvl="1" indent="-133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primitive types are also commonly referred to as </a:t>
            </a:r>
            <a:r>
              <a:rPr lang="en-US" sz="26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types.</a:t>
            </a:r>
            <a:endParaRPr/>
          </a:p>
          <a:p>
            <a:pPr marL="342900" marR="0" lvl="0" indent="-1778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1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primitive types represent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values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—not complex objects</a:t>
            </a:r>
            <a:endParaRPr/>
          </a:p>
          <a:p>
            <a:pPr marL="342900" marR="0" lvl="0" indent="-1778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1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778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1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 txBox="1"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Primitive Types(contd.)</a:t>
            </a:r>
            <a:endParaRPr dirty="0"/>
          </a:p>
        </p:txBody>
      </p:sp>
      <p:sp>
        <p:nvSpPr>
          <p:cNvPr id="151" name="Google Shape;151;p7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</a:t>
            </a:r>
            <a:r>
              <a:rPr lang="en-US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eight </a:t>
            </a:r>
            <a:r>
              <a:rPr lang="en-US" sz="24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primitive types of data- </a:t>
            </a:r>
            <a:r>
              <a:rPr lang="en-US" sz="24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FOUR GROUPS</a:t>
            </a:r>
            <a:r>
              <a:rPr lang="en-US" sz="24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</a:t>
            </a:r>
            <a:endParaRPr dirty="0"/>
          </a:p>
          <a:p>
            <a:pPr marL="342900" marR="0" lvl="0" indent="-1905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</a:t>
            </a:r>
            <a:endParaRPr dirty="0"/>
          </a:p>
          <a:p>
            <a:pPr marL="342900" marR="0" lvl="0" indent="-1905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</a:t>
            </a:r>
            <a:endParaRPr dirty="0"/>
          </a:p>
          <a:p>
            <a:pPr marL="342900" marR="0" lvl="0" indent="-1905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</a:t>
            </a:r>
            <a:endParaRPr dirty="0"/>
          </a:p>
        </p:txBody>
      </p:sp>
      <p:sp>
        <p:nvSpPr>
          <p:cNvPr id="152" name="Google Shape;152;p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53" name="Google Shape;153;p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1873250" y="1676400"/>
            <a:ext cx="533400" cy="1676400"/>
          </a:xfrm>
          <a:prstGeom prst="rightBrace">
            <a:avLst>
              <a:gd name="adj1" fmla="val 573"/>
              <a:gd name="adj2" fmla="val 50000"/>
            </a:avLst>
          </a:prstGeom>
          <a:noFill/>
          <a:ln w="222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2025650" y="3659187"/>
            <a:ext cx="762000" cy="914400"/>
          </a:xfrm>
          <a:prstGeom prst="rightBrace">
            <a:avLst>
              <a:gd name="adj1" fmla="val 1500"/>
              <a:gd name="adj2" fmla="val 45714"/>
            </a:avLst>
          </a:prstGeom>
          <a:noFill/>
          <a:ln w="22225" cap="flat" cmpd="sng">
            <a:solidFill>
              <a:srgbClr val="4A7EB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" name="Google Shape;156;p7"/>
          <p:cNvCxnSpPr/>
          <p:nvPr/>
        </p:nvCxnSpPr>
        <p:spPr>
          <a:xfrm>
            <a:off x="1981200" y="5334000"/>
            <a:ext cx="838200" cy="1587"/>
          </a:xfrm>
          <a:prstGeom prst="straightConnector1">
            <a:avLst/>
          </a:prstGeom>
          <a:noFill/>
          <a:ln w="222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157" name="Google Shape;157;p7"/>
          <p:cNvCxnSpPr/>
          <p:nvPr/>
        </p:nvCxnSpPr>
        <p:spPr>
          <a:xfrm>
            <a:off x="2178050" y="6170612"/>
            <a:ext cx="685800" cy="1587"/>
          </a:xfrm>
          <a:prstGeom prst="straightConnector1">
            <a:avLst/>
          </a:prstGeom>
          <a:noFill/>
          <a:ln w="222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158" name="Google Shape;158;p7"/>
          <p:cNvSpPr txBox="1"/>
          <p:nvPr/>
        </p:nvSpPr>
        <p:spPr>
          <a:xfrm>
            <a:off x="2711450" y="2286000"/>
            <a:ext cx="58991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INTEGERS</a:t>
            </a:r>
            <a:endParaRPr/>
          </a:p>
        </p:txBody>
      </p:sp>
      <p:sp>
        <p:nvSpPr>
          <p:cNvPr id="159" name="Google Shape;159;p7"/>
          <p:cNvSpPr txBox="1"/>
          <p:nvPr/>
        </p:nvSpPr>
        <p:spPr>
          <a:xfrm>
            <a:off x="2787650" y="3886200"/>
            <a:ext cx="58991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FLOATING-POINT NUMBERS</a:t>
            </a:r>
            <a:endParaRPr/>
          </a:p>
        </p:txBody>
      </p:sp>
      <p:sp>
        <p:nvSpPr>
          <p:cNvPr id="160" name="Google Shape;160;p7"/>
          <p:cNvSpPr txBox="1"/>
          <p:nvPr/>
        </p:nvSpPr>
        <p:spPr>
          <a:xfrm>
            <a:off x="2863850" y="5105400"/>
            <a:ext cx="58991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CHARACTERS</a:t>
            </a:r>
            <a:endParaRPr/>
          </a:p>
        </p:txBody>
      </p:sp>
      <p:sp>
        <p:nvSpPr>
          <p:cNvPr id="161" name="Google Shape;161;p7"/>
          <p:cNvSpPr txBox="1"/>
          <p:nvPr/>
        </p:nvSpPr>
        <p:spPr>
          <a:xfrm>
            <a:off x="2940050" y="5924550"/>
            <a:ext cx="58991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ECF5C4-ACDC-7829-668E-E88D3D9D7BCB}"/>
              </a:ext>
            </a:extLst>
          </p:cNvPr>
          <p:cNvSpPr txBox="1"/>
          <p:nvPr/>
        </p:nvSpPr>
        <p:spPr>
          <a:xfrm>
            <a:off x="142226" y="4877657"/>
            <a:ext cx="454361" cy="4563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/>
              <a:t>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695AEA-1C84-C4AF-51BF-9A8F90B132F6}"/>
              </a:ext>
            </a:extLst>
          </p:cNvPr>
          <p:cNvSpPr txBox="1"/>
          <p:nvPr/>
        </p:nvSpPr>
        <p:spPr>
          <a:xfrm>
            <a:off x="18601" y="1040946"/>
            <a:ext cx="533400" cy="217989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>
                <a:solidFill>
                  <a:srgbClr val="FF0000"/>
                </a:solidFill>
              </a:rPr>
              <a:t>Bits</a:t>
            </a:r>
          </a:p>
          <a:p>
            <a:pPr>
              <a:lnSpc>
                <a:spcPct val="200000"/>
              </a:lnSpc>
            </a:pPr>
            <a:r>
              <a:rPr lang="en-IN" b="1" dirty="0"/>
              <a:t>8</a:t>
            </a:r>
          </a:p>
          <a:p>
            <a:pPr>
              <a:lnSpc>
                <a:spcPct val="200000"/>
              </a:lnSpc>
            </a:pPr>
            <a:r>
              <a:rPr lang="en-IN" b="1" dirty="0"/>
              <a:t>16</a:t>
            </a:r>
          </a:p>
          <a:p>
            <a:pPr>
              <a:lnSpc>
                <a:spcPct val="200000"/>
              </a:lnSpc>
            </a:pPr>
            <a:r>
              <a:rPr lang="en-IN" b="1" dirty="0"/>
              <a:t>32</a:t>
            </a:r>
          </a:p>
          <a:p>
            <a:pPr>
              <a:lnSpc>
                <a:spcPct val="200000"/>
              </a:lnSpc>
            </a:pPr>
            <a:r>
              <a:rPr lang="en-IN" b="1" dirty="0"/>
              <a:t>64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D72ACE-2FBE-B51B-7C92-D26DA3F0D0E7}"/>
              </a:ext>
            </a:extLst>
          </p:cNvPr>
          <p:cNvSpPr txBox="1"/>
          <p:nvPr/>
        </p:nvSpPr>
        <p:spPr>
          <a:xfrm>
            <a:off x="133041" y="3637162"/>
            <a:ext cx="574881" cy="8872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/>
              <a:t>32</a:t>
            </a:r>
          </a:p>
          <a:p>
            <a:pPr>
              <a:lnSpc>
                <a:spcPct val="200000"/>
              </a:lnSpc>
            </a:pPr>
            <a:r>
              <a:rPr lang="en-IN" b="1" dirty="0"/>
              <a:t>64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D57BE6-ABF7-69EB-CC7C-4468182DEAA0}"/>
              </a:ext>
            </a:extLst>
          </p:cNvPr>
          <p:cNvSpPr txBox="1"/>
          <p:nvPr/>
        </p:nvSpPr>
        <p:spPr>
          <a:xfrm>
            <a:off x="227381" y="5765420"/>
            <a:ext cx="284052" cy="4563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/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 build="p"/>
      <p:bldP spid="154" grpId="0" animBg="1"/>
      <p:bldP spid="155" grpId="0" animBg="1"/>
      <p:bldP spid="158" grpId="0"/>
      <p:bldP spid="159" grpId="0"/>
      <p:bldP spid="160" grpId="0"/>
      <p:bldP spid="161" grpId="0"/>
      <p:bldP spid="2" grpId="0" animBg="1"/>
      <p:bldP spid="3" grpId="0" animBg="1"/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Primitive Types -four groups</a:t>
            </a:r>
            <a:b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167" name="Google Shape;167;p8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Char char="•"/>
            </a:pPr>
            <a:r>
              <a:rPr lang="en-US" sz="26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Integers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group includes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byte, short, int, and long,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are for </a:t>
            </a:r>
            <a:r>
              <a:rPr lang="en-US" sz="26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whole-valued signed</a:t>
            </a:r>
            <a:r>
              <a:rPr lang="en-US" sz="2600" b="0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numbers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marR="0" lvl="0" indent="-342900" algn="just" rtl="0">
              <a:lnSpc>
                <a:spcPct val="14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Char char="•"/>
            </a:pPr>
            <a:r>
              <a:rPr lang="en-US" sz="26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Floating-point numbers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group includes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 and double,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represent </a:t>
            </a:r>
            <a:r>
              <a:rPr lang="en-US" sz="26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numbers with fractional precision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marR="0" lvl="0" indent="-342900" algn="just" rtl="0">
              <a:lnSpc>
                <a:spcPct val="14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lang="en-US" sz="24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Characters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group includes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char, which represents symbols in a character set,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like </a:t>
            </a:r>
            <a:r>
              <a:rPr lang="en-US" sz="24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letters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US" sz="24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numbers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marR="0" lvl="0" indent="-342900" algn="just" rtl="0">
              <a:lnSpc>
                <a:spcPct val="14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lang="en-US" sz="24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group includes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boolean, which is a special type for representing </a:t>
            </a:r>
            <a:r>
              <a:rPr lang="en-US" sz="24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</a:t>
            </a:r>
            <a:r>
              <a:rPr lang="en-US" sz="2400" b="1" i="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false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values.</a:t>
            </a:r>
            <a:endParaRPr/>
          </a:p>
        </p:txBody>
      </p:sp>
      <p:sp>
        <p:nvSpPr>
          <p:cNvPr id="168" name="Google Shape;168;p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/>
          </a:p>
        </p:txBody>
      </p:sp>
      <p:sp>
        <p:nvSpPr>
          <p:cNvPr id="169" name="Google Shape;169;p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Integers</a:t>
            </a:r>
            <a:endParaRPr/>
          </a:p>
        </p:txBody>
      </p:sp>
      <p:sp>
        <p:nvSpPr>
          <p:cNvPr id="175" name="Google Shape;175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defines four integer types: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signed, positive or negative values.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not support unsigned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positive-only integers.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width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an integer type is not the amount of storage it consumes, but it is the 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behavior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defines for variables and expressions of that type</a:t>
            </a:r>
            <a:endParaRPr/>
          </a:p>
        </p:txBody>
      </p:sp>
      <p:sp>
        <p:nvSpPr>
          <p:cNvPr id="176" name="Google Shape;176;p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/>
          </a:p>
        </p:txBody>
      </p:sp>
      <p:sp>
        <p:nvSpPr>
          <p:cNvPr id="177" name="Google Shape;177;p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Integers</a:t>
            </a:r>
            <a:endParaRPr/>
          </a:p>
        </p:txBody>
      </p:sp>
      <p:graphicFrame>
        <p:nvGraphicFramePr>
          <p:cNvPr id="183" name="Google Shape;183;p10"/>
          <p:cNvGraphicFramePr/>
          <p:nvPr/>
        </p:nvGraphicFramePr>
        <p:xfrm>
          <a:off x="457200" y="1600200"/>
          <a:ext cx="8229600" cy="2651810"/>
        </p:xfrm>
        <a:graphic>
          <a:graphicData uri="http://schemas.openxmlformats.org/drawingml/2006/table">
            <a:tbl>
              <a:tblPr>
                <a:noFill/>
                <a:tableStyleId>{88CD6D61-7384-4F9F-A38D-0C9C01E7697C}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Width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Range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long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–9,223,372,036,854,775,808 to 9,223,372,036,854,775,807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–2,147,483,648 to 2,147,483,647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short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–32,768 to 32,767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–128 to 127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4" name="Google Shape;184;p1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/>
          </a:p>
        </p:txBody>
      </p:sp>
      <p:sp>
        <p:nvSpPr>
          <p:cNvPr id="185" name="Google Shape;185;p1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1295400" y="1981200"/>
            <a:ext cx="533400" cy="838200"/>
          </a:xfrm>
          <a:prstGeom prst="flowChartMagneticDisk">
            <a:avLst/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1752600" y="2895600"/>
            <a:ext cx="457200" cy="533400"/>
          </a:xfrm>
          <a:prstGeom prst="flowChartMagneticDisk">
            <a:avLst/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2209800" y="3505200"/>
            <a:ext cx="381000" cy="304800"/>
          </a:xfrm>
          <a:prstGeom prst="flowChartMagneticDisk">
            <a:avLst/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2743200" y="4038600"/>
            <a:ext cx="304800" cy="228600"/>
          </a:xfrm>
          <a:prstGeom prst="flowChartMagneticDisk">
            <a:avLst/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</a:t>
            </a:r>
            <a:endParaRPr/>
          </a:p>
        </p:txBody>
      </p:sp>
      <p:sp>
        <p:nvSpPr>
          <p:cNvPr id="195" name="Google Shape;195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smallest integer type is byte.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a signed 8-bit type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has a range from –128 to 127.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Useful when working with a stream of data from a network or file.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declares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two byte variables called b and c: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None/>
            </a:pPr>
            <a:r>
              <a:rPr lang="en-US" sz="26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b, c;</a:t>
            </a:r>
            <a:endParaRPr/>
          </a:p>
          <a:p>
            <a:pPr marL="342900" marR="0" lvl="0" indent="-1778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1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/>
          </a:p>
        </p:txBody>
      </p:sp>
      <p:sp>
        <p:nvSpPr>
          <p:cNvPr id="197" name="Google Shape;197;p1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</a:t>
            </a:r>
            <a:endParaRPr/>
          </a:p>
        </p:txBody>
      </p:sp>
      <p:sp>
        <p:nvSpPr>
          <p:cNvPr id="203" name="Google Shape;203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 is a signed 16-bit type. 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has a range from –32,768 to 32,767.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the least-used Java type.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of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 variable declarations: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None/>
            </a:pPr>
            <a:r>
              <a:rPr lang="en-US" sz="26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s;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None/>
            </a:pPr>
            <a:r>
              <a:rPr lang="en-US" sz="26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t;</a:t>
            </a:r>
            <a:endParaRPr/>
          </a:p>
        </p:txBody>
      </p:sp>
      <p:sp>
        <p:nvSpPr>
          <p:cNvPr id="204" name="Google Shape;204;p1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/>
          </a:p>
        </p:txBody>
      </p:sp>
      <p:sp>
        <p:nvSpPr>
          <p:cNvPr id="205" name="Google Shape;205;p1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endParaRPr/>
          </a:p>
        </p:txBody>
      </p:sp>
      <p:sp>
        <p:nvSpPr>
          <p:cNvPr id="211" name="Google Shape;211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 of type </a:t>
            </a:r>
            <a:r>
              <a:rPr lang="en-US" sz="26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</a:t>
            </a:r>
            <a:r>
              <a:rPr lang="en-US" sz="260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</a:t>
            </a:r>
            <a:r>
              <a:rPr lang="en-US" sz="26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commonly employed </a:t>
            </a:r>
            <a:endParaRPr dirty="0"/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 control loops </a:t>
            </a:r>
            <a:endParaRPr dirty="0"/>
          </a:p>
          <a:p>
            <a:pPr marL="742950" marR="0" lvl="1" indent="-28575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index arrays.</a:t>
            </a:r>
            <a:endParaRPr dirty="0"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</a:t>
            </a:r>
            <a:r>
              <a:rPr lang="en-US" sz="26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6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values are </a:t>
            </a:r>
            <a:r>
              <a:rPr lang="en-US" sz="26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in an expression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they </a:t>
            </a:r>
            <a:r>
              <a:rPr lang="en-US" sz="2600" b="0" i="0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promoted to int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when the expression is evaluated.</a:t>
            </a:r>
            <a:endParaRPr dirty="0"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is often </a:t>
            </a:r>
            <a:r>
              <a:rPr lang="en-US" sz="26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best choice 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an integer is needed.</a:t>
            </a:r>
            <a:endParaRPr dirty="0"/>
          </a:p>
        </p:txBody>
      </p:sp>
      <p:sp>
        <p:nvSpPr>
          <p:cNvPr id="212" name="Google Shape;212;p1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/>
          </a:p>
        </p:txBody>
      </p:sp>
      <p:sp>
        <p:nvSpPr>
          <p:cNvPr id="213" name="Google Shape;213;p1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</a:t>
            </a:r>
            <a:endParaRPr/>
          </a:p>
        </p:txBody>
      </p:sp>
      <p:sp>
        <p:nvSpPr>
          <p:cNvPr id="219" name="Google Shape;219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 is a signed 64-bit type and is useful for those occasions where an </a:t>
            </a:r>
            <a:r>
              <a:rPr lang="en-US" sz="2600" b="0" i="1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type is not large enough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hold the desired value.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range of a long is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quite large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220" name="Google Shape;220;p1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/>
          </a:p>
        </p:txBody>
      </p:sp>
      <p:sp>
        <p:nvSpPr>
          <p:cNvPr id="221" name="Google Shape;221;p1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Floating-Point Types</a:t>
            </a:r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Floating-point numbers, also known as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numbers.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are used when evaluating expressions that require fractional precision.</a:t>
            </a:r>
            <a:endParaRPr/>
          </a:p>
          <a:p>
            <a:pPr marL="342900" marR="0" lvl="0" indent="-1778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778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778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778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778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778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28" name="Google Shape;228;p15"/>
          <p:cNvGraphicFramePr/>
          <p:nvPr/>
        </p:nvGraphicFramePr>
        <p:xfrm>
          <a:off x="685800" y="3124200"/>
          <a:ext cx="7391375" cy="1828775"/>
        </p:xfrm>
        <a:graphic>
          <a:graphicData uri="http://schemas.openxmlformats.org/drawingml/2006/table">
            <a:tbl>
              <a:tblPr>
                <a:noFill/>
                <a:tableStyleId>{88CD6D61-7384-4F9F-A38D-0C9C01E7697C}</a:tableStyleId>
              </a:tblPr>
              <a:tblGrid>
                <a:gridCol w="1570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6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Width in Bits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Approximate Range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double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4.9e–324 to 1.8e+308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float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1.4e–045 to 3.4e+038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9" name="Google Shape;229;p1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/>
          </a:p>
        </p:txBody>
      </p:sp>
      <p:sp>
        <p:nvSpPr>
          <p:cNvPr id="230" name="Google Shape;230;p1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</a:t>
            </a:r>
            <a:endParaRPr/>
          </a:p>
        </p:txBody>
      </p:sp>
      <p:sp>
        <p:nvSpPr>
          <p:cNvPr id="236" name="Google Shape;236;p16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type float specifies a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single-precision value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uses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 bits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storage.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precision is 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 on some processors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takes </a:t>
            </a:r>
            <a:r>
              <a:rPr lang="en-US" sz="26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half as much space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double precision,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but will become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imprecise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when the values are either 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large or very small.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 of type float are useful when you need a 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fractional component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but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don’t require a large degree of precision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 variable declarations: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None/>
            </a:pPr>
            <a:r>
              <a:rPr lang="en-US" sz="26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hightemp, lowtemp;</a:t>
            </a:r>
            <a:endParaRPr/>
          </a:p>
        </p:txBody>
      </p:sp>
      <p:sp>
        <p:nvSpPr>
          <p:cNvPr id="237" name="Google Shape;237;p1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/>
          </a:p>
        </p:txBody>
      </p:sp>
      <p:sp>
        <p:nvSpPr>
          <p:cNvPr id="238" name="Google Shape;238;p1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</a:t>
            </a:r>
            <a:endParaRPr/>
          </a:p>
        </p:txBody>
      </p:sp>
      <p:sp>
        <p:nvSpPr>
          <p:cNvPr id="244" name="Google Shape;244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precision, as denoted by the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keyword, uses 64 bits to store a value.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precision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actually faster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 single precision on </a:t>
            </a:r>
            <a:r>
              <a:rPr lang="en-US" sz="26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modern processors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 functions, such as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 ), cos( ), and sqrt( ),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values.</a:t>
            </a:r>
            <a:endParaRPr/>
          </a:p>
        </p:txBody>
      </p:sp>
      <p:sp>
        <p:nvSpPr>
          <p:cNvPr id="245" name="Google Shape;245;p1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/>
          </a:p>
        </p:txBody>
      </p:sp>
      <p:sp>
        <p:nvSpPr>
          <p:cNvPr id="246" name="Google Shape;246;p1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double</a:t>
            </a:r>
            <a:endParaRPr/>
          </a:p>
        </p:txBody>
      </p:sp>
      <p:sp>
        <p:nvSpPr>
          <p:cNvPr id="252" name="Google Shape;252;p18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98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Compute the area of a circle.</a:t>
            </a:r>
            <a:endParaRPr/>
          </a:p>
          <a:p>
            <a:pPr marL="342900" marR="0" lvl="0" indent="-34290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Area {</a:t>
            </a:r>
            <a:endParaRPr/>
          </a:p>
          <a:p>
            <a:pPr marL="342900" marR="0" lvl="0" indent="-34290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public static void main(String args[]) </a:t>
            </a:r>
            <a:endParaRPr/>
          </a:p>
          <a:p>
            <a:pPr marL="342900" marR="0" lvl="0" indent="-34290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marL="742950" marR="0" lvl="1" indent="-28575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pi, r, a;</a:t>
            </a:r>
            <a:endParaRPr/>
          </a:p>
          <a:p>
            <a:pPr marL="742950" marR="0" lvl="1" indent="-28575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= 10.8; </a:t>
            </a:r>
            <a:endParaRPr/>
          </a:p>
          <a:p>
            <a:pPr marL="742950" marR="0" lvl="1" indent="-28575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 = 3.1416; </a:t>
            </a:r>
            <a:endParaRPr/>
          </a:p>
          <a:p>
            <a:pPr marL="742950" marR="0" lvl="1" indent="-28575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pi * r * r; </a:t>
            </a:r>
            <a:endParaRPr/>
          </a:p>
          <a:p>
            <a:pPr marL="742950" marR="0" lvl="1" indent="-28575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System.out.println("Area of circle is " + a);</a:t>
            </a:r>
            <a:endParaRPr/>
          </a:p>
          <a:p>
            <a:pPr marL="342900" marR="0" lvl="0" indent="-34290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marL="342900" marR="0" lvl="0" indent="-34290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/>
          </a:p>
          <a:p>
            <a:pPr marL="342900" marR="0" lvl="0" indent="-34290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Area of circle is 366.436224</a:t>
            </a:r>
            <a:endParaRPr/>
          </a:p>
        </p:txBody>
      </p:sp>
      <p:sp>
        <p:nvSpPr>
          <p:cNvPr id="253" name="Google Shape;253;p1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/>
          </a:p>
        </p:txBody>
      </p:sp>
      <p:sp>
        <p:nvSpPr>
          <p:cNvPr id="254" name="Google Shape;254;p1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Characters</a:t>
            </a:r>
            <a:endParaRPr/>
          </a:p>
        </p:txBody>
      </p:sp>
      <p:sp>
        <p:nvSpPr>
          <p:cNvPr id="260" name="Google Shape;260;p19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Java, the data type used to </a:t>
            </a:r>
            <a:r>
              <a:rPr lang="en-US" sz="2600" b="1" i="0" u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 characters 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lang="en-US" sz="26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char.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 in Java is </a:t>
            </a:r>
            <a:r>
              <a:rPr lang="en-US" sz="26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the same 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char in C or C++. </a:t>
            </a:r>
            <a:endParaRPr dirty="0"/>
          </a:p>
          <a:p>
            <a:pPr marL="742950" marR="0" lvl="1" indent="-28575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C/C++, char is 8 bits wide. 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uses </a:t>
            </a:r>
            <a:r>
              <a:rPr lang="en-US" sz="26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Unicode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represent characters. 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Unicode defines a </a:t>
            </a:r>
            <a:r>
              <a:rPr lang="en-US" sz="26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fully international character set 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can represent all of the characters found in all human languages.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it requires </a:t>
            </a:r>
            <a:r>
              <a:rPr lang="en-US" sz="26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bits.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range of a char is</a:t>
            </a:r>
            <a:r>
              <a:rPr lang="en-US" sz="26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 to 65,536. 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</a:t>
            </a:r>
            <a:r>
              <a:rPr lang="en-US" sz="26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negative chars</a:t>
            </a:r>
            <a:endParaRPr dirty="0"/>
          </a:p>
          <a:p>
            <a:pPr marL="342900" marR="0" lvl="0" indent="-34290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None/>
            </a:pPr>
            <a:r>
              <a:rPr lang="en-US" sz="2600" b="0" i="0" u="none" dirty="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</a:t>
            </a:r>
            <a:r>
              <a:rPr lang="en-US" sz="26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ch1=‘a’;</a:t>
            </a:r>
            <a:endParaRPr dirty="0"/>
          </a:p>
        </p:txBody>
      </p:sp>
      <p:sp>
        <p:nvSpPr>
          <p:cNvPr id="261" name="Google Shape;261;p1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/>
          </a:p>
        </p:txBody>
      </p:sp>
      <p:sp>
        <p:nvSpPr>
          <p:cNvPr id="262" name="Google Shape;262;p1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20"/>
          <p:cNvSpPr txBox="1">
            <a:spLocks noGrp="1"/>
          </p:cNvSpPr>
          <p:nvPr>
            <p:ph type="body" idx="1"/>
          </p:nvPr>
        </p:nvSpPr>
        <p:spPr>
          <a:xfrm>
            <a:off x="381000" y="13716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Demonstrate char data type.</a:t>
            </a:r>
            <a:endParaRPr/>
          </a:p>
          <a:p>
            <a:pPr marL="342900" marR="0" lvl="0" indent="-34290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CharDemo </a:t>
            </a:r>
            <a:endParaRPr/>
          </a:p>
          <a:p>
            <a:pPr marL="342900" marR="0" lvl="0" indent="-34290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742950" marR="0" lvl="1" indent="-28575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</a:t>
            </a:r>
            <a:endParaRPr/>
          </a:p>
          <a:p>
            <a:pPr marL="742950" marR="0" lvl="1" indent="-28575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742950" marR="0" lvl="1" indent="-28575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 ch1, ch2;</a:t>
            </a:r>
            <a:endParaRPr/>
          </a:p>
          <a:p>
            <a:pPr marL="742950" marR="0" lvl="1" indent="-28575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ch1 = 88; 		// code for X</a:t>
            </a:r>
            <a:endParaRPr/>
          </a:p>
          <a:p>
            <a:pPr marL="742950" marR="0" lvl="1" indent="-28575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ch2 = 'Y';</a:t>
            </a:r>
            <a:endParaRPr/>
          </a:p>
          <a:p>
            <a:pPr marL="742950" marR="0" lvl="1" indent="-28575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System.out.print("ch1 and ch2: ");</a:t>
            </a:r>
            <a:endParaRPr/>
          </a:p>
          <a:p>
            <a:pPr marL="742950" marR="0" lvl="1" indent="-28575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System.out.println(ch1 + " " + ch2);</a:t>
            </a:r>
            <a:endParaRPr/>
          </a:p>
          <a:p>
            <a:pPr marL="742950" marR="0" lvl="1" indent="-28575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</a:t>
            </a:r>
            <a:endParaRPr/>
          </a:p>
          <a:p>
            <a:pPr marL="342900" marR="0" lvl="0" indent="-34290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ch1 and ch2:X Y</a:t>
            </a:r>
            <a:endParaRPr/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6868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 act as integer type</a:t>
            </a:r>
            <a:br>
              <a:rPr lang="en-US" sz="3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-arithmetic  operations</a:t>
            </a:r>
            <a:endParaRPr/>
          </a:p>
        </p:txBody>
      </p:sp>
      <p:sp>
        <p:nvSpPr>
          <p:cNvPr id="276" name="Google Shape;276;p21"/>
          <p:cNvSpPr txBox="1">
            <a:spLocks noGrp="1"/>
          </p:cNvSpPr>
          <p:nvPr>
            <p:ph type="body" idx="1"/>
          </p:nvPr>
        </p:nvSpPr>
        <p:spPr>
          <a:xfrm>
            <a:off x="381000" y="914400"/>
            <a:ext cx="8229600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</a:t>
            </a: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char variables behave like integers.</a:t>
            </a: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CharDemo2 </a:t>
            </a:r>
            <a:endParaRPr/>
          </a:p>
          <a:p>
            <a:pPr marL="342900" marR="0" lvl="0" indent="-34290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742950" marR="0" lvl="1" indent="-28575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</a:t>
            </a:r>
            <a:endParaRPr/>
          </a:p>
          <a:p>
            <a:pPr marL="742950" marR="0" lvl="1" indent="-28575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742950" marR="0" lvl="1" indent="-28575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 ch1;</a:t>
            </a:r>
            <a:endParaRPr/>
          </a:p>
          <a:p>
            <a:pPr marL="742950" marR="0" lvl="1" indent="-28575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ch1 = 'X';</a:t>
            </a:r>
            <a:endParaRPr/>
          </a:p>
          <a:p>
            <a:pPr marL="742950" marR="0" lvl="1" indent="-28575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System.out.println("ch1 contains " + ch1);</a:t>
            </a:r>
            <a:endParaRPr/>
          </a:p>
          <a:p>
            <a:pPr marL="742950" marR="0" lvl="1" indent="-28575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ch1++;		 </a:t>
            </a:r>
            <a:r>
              <a:rPr lang="en-US" sz="2400" b="0" i="0" u="none" strike="noStrike" cap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increment ch1</a:t>
            </a:r>
            <a:endParaRPr/>
          </a:p>
          <a:p>
            <a:pPr marL="742950" marR="0" lvl="1" indent="-28575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System.out.println("ch1 is now " + ch1);</a:t>
            </a:r>
            <a:endParaRPr/>
          </a:p>
          <a:p>
            <a:pPr marL="742950" marR="0" lvl="1" indent="-28575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just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/>
          </a:p>
          <a:p>
            <a:pPr marL="342900" marR="0" lvl="0" indent="-342900" algn="just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ch1 contains X</a:t>
            </a:r>
            <a:endParaRPr/>
          </a:p>
          <a:p>
            <a:pPr marL="342900" marR="0" lvl="0" indent="-342900" algn="just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ch1 is now Y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Booleans</a:t>
            </a:r>
            <a:endParaRPr/>
          </a:p>
        </p:txBody>
      </p:sp>
      <p:sp>
        <p:nvSpPr>
          <p:cNvPr id="284" name="Google Shape;284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has a primitive 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type, called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for </a:t>
            </a:r>
            <a:r>
              <a:rPr lang="en-US" sz="2600" b="1" i="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logical values. 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have only one of two possible </a:t>
            </a:r>
            <a:r>
              <a:rPr lang="en-US" sz="26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values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lang="en-US" sz="2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the </a:t>
            </a:r>
            <a:r>
              <a:rPr lang="en-US" sz="26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returned by all relational operators</a:t>
            </a: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/>
          </a:p>
          <a:p>
            <a:pPr marL="742950" marR="0" lvl="1" indent="-285750" algn="just" rtl="0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is also the type required by the conditional expressions that govern the control statements such as if and for.</a:t>
            </a:r>
            <a:endParaRPr/>
          </a:p>
        </p:txBody>
      </p:sp>
      <p:sp>
        <p:nvSpPr>
          <p:cNvPr id="285" name="Google Shape;285;p2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3"/>
          <p:cNvSpPr txBox="1">
            <a:spLocks noGrp="1"/>
          </p:cNvSpPr>
          <p:nvPr>
            <p:ph type="body" idx="1"/>
          </p:nvPr>
        </p:nvSpPr>
        <p:spPr>
          <a:xfrm>
            <a:off x="457200" y="0"/>
            <a:ext cx="8229600" cy="6126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Demonstrate boolean values.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BoolTest 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 {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b;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= false;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System.out.println("b is " + b);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= true;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System.out.println("b is " + b);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if(b)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System.out.println("This is executed.");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= false;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if(b)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System.out.println("This is not executed.");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System.out.println("10 &gt; 9 is " + (10 &gt; 9)); </a:t>
            </a:r>
            <a:endParaRPr/>
          </a:p>
          <a:p>
            <a:pPr marL="742950" marR="0" lvl="1" indent="-28575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}</a:t>
            </a:r>
            <a:endParaRPr/>
          </a:p>
          <a:p>
            <a:pPr marL="342900" marR="0" lvl="0" indent="-2032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23"/>
          <p:cNvSpPr txBox="1"/>
          <p:nvPr/>
        </p:nvSpPr>
        <p:spPr>
          <a:xfrm>
            <a:off x="6324600" y="2819400"/>
            <a:ext cx="2209800" cy="178435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lang="en-US" sz="22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22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is false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is true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executed.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lang="en-US" sz="2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&gt; 9 is true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  <a:endParaRPr/>
          </a:p>
        </p:txBody>
      </p:sp>
      <p:sp>
        <p:nvSpPr>
          <p:cNvPr id="300" name="Google Shape;300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Herbert Schildt, Java: The Complete Reference, 8/e, Tata McGraw Hill, 2011.</a:t>
            </a:r>
            <a:endParaRPr/>
          </a:p>
          <a:p>
            <a:pPr marL="342900" marR="0" lvl="0" indent="-1778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2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lang="en-US" sz="1200" b="1" i="1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1415</Words>
  <Application>Microsoft Office PowerPoint</Application>
  <PresentationFormat>On-screen Show (4:3)</PresentationFormat>
  <Paragraphs>258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Noto Sans Symbols</vt:lpstr>
      <vt:lpstr>Times New Roman</vt:lpstr>
      <vt:lpstr>1_Office Theme</vt:lpstr>
      <vt:lpstr>2_Office Theme</vt:lpstr>
      <vt:lpstr>Office Theme</vt:lpstr>
      <vt:lpstr>Object Oriented Programming part 3</vt:lpstr>
      <vt:lpstr>Topics</vt:lpstr>
      <vt:lpstr>Introduction</vt:lpstr>
      <vt:lpstr>Introduction(contd.)</vt:lpstr>
      <vt:lpstr>The Primitive Types</vt:lpstr>
      <vt:lpstr>The Primitive Types(contd.)</vt:lpstr>
      <vt:lpstr>Primitive Types -four groups </vt:lpstr>
      <vt:lpstr>Integers</vt:lpstr>
      <vt:lpstr>Integers</vt:lpstr>
      <vt:lpstr>byte</vt:lpstr>
      <vt:lpstr>short</vt:lpstr>
      <vt:lpstr>int</vt:lpstr>
      <vt:lpstr>long</vt:lpstr>
      <vt:lpstr>Floating-Point Types</vt:lpstr>
      <vt:lpstr>float</vt:lpstr>
      <vt:lpstr>double</vt:lpstr>
      <vt:lpstr>E.g. double</vt:lpstr>
      <vt:lpstr>Characters</vt:lpstr>
      <vt:lpstr>PowerPoint Presentation</vt:lpstr>
      <vt:lpstr>char act as integer type  -arithmetic  operations</vt:lpstr>
      <vt:lpstr>Booleans</vt:lpstr>
      <vt:lpstr>PowerPoint Presentation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RENETHA J B</cp:lastModifiedBy>
  <cp:revision>5</cp:revision>
  <dcterms:created xsi:type="dcterms:W3CDTF">2006-08-16T00:00:00Z</dcterms:created>
  <dcterms:modified xsi:type="dcterms:W3CDTF">2025-07-11T05:04:24Z</dcterms:modified>
</cp:coreProperties>
</file>