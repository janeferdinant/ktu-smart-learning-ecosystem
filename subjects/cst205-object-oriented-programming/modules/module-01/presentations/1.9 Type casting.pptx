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301" r:id="rId9"/>
    <p:sldId id="284" r:id="rId10"/>
    <p:sldId id="302" r:id="rId11"/>
    <p:sldId id="286" r:id="rId12"/>
    <p:sldId id="285" r:id="rId13"/>
    <p:sldId id="287" r:id="rId14"/>
    <p:sldId id="288" r:id="rId15"/>
    <p:sldId id="289" r:id="rId16"/>
    <p:sldId id="303" r:id="rId17"/>
    <p:sldId id="290" r:id="rId18"/>
    <p:sldId id="29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4C630-B476-44C1-8B96-514883755C8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60950-B67A-4C60-86AB-1A774A72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11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6" name="Google Shape;38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7B120-D7B0-E8AE-C6DF-C93BCFF99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C43CC-962F-8B2C-6E3B-280CE2A67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5188E-1051-6F04-07BA-822BF4A6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946CE-F219-DB1D-5BD3-507D5251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05595-69A4-436F-4989-64C04DB9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84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6B84-7C72-DB64-5751-821A63D6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A70C-C108-BBEA-56AF-9B057686C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BD1BB-64E0-8E22-6C80-E5608DB5D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1185E-2EF8-31BE-08CE-DAEF5841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22399-871C-E036-5298-85836DFB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61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5D88-1CB1-2D0F-A46A-4B2F15A6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697DB-3A28-6D25-0A6A-227A0A8C4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C5716-2F42-84A3-84A8-979C0BAB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9DE22-39F7-4617-B6AC-C8C68D95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18865-64F5-AD5D-8334-9694D699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9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ECE2-6911-4E99-F7DB-49E0BD88F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360E-400A-B4D9-C77F-80A83F04F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FF66C-BE37-B291-100C-787853191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3991D-C011-9579-272B-C4E145B3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12815-D482-87D2-8156-05B61966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E1BB3-282F-6297-3FBA-0F27AB3C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2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8194-3808-FE5A-6E87-B59C8E3B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C885A-F46B-3082-0354-25FA320A3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41A3-4A5E-4A09-AB32-7BFA33645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EA1FB-A6F1-FD62-67F7-02812E0F0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F905E-3149-F639-E0E4-4A3E2AFAB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20F8A-3017-9997-0CEF-A22C6F1A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B890B3-AAF1-D545-48C0-664F40AD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F398E-E154-74C1-7FEC-5D89A4C1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21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F9F89-AF19-0B05-1261-054103E9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BFCC5-5FFD-F548-3F83-1B9C1F6F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459DB-36CD-0DA0-1734-70C83A2A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4A7DC-AEB6-5AE0-1AD4-91CF6189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55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1D89B-7923-22A2-A51D-7B29C77D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91296-11C3-3A68-F74B-4F0A848B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C96D6-1454-CB15-8832-79B533A7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65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8674-009F-CA9C-B8FE-E1BC0294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EB99-BCB4-54B2-8B53-E69C361F8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CFA7F-14FA-FF97-9852-CE9284FFD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39CCC-74C1-CB22-B845-8C70804D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14EA8-A681-C331-6392-1C491CC9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5E1A9-741F-27E6-5FCE-5D1BF322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30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3DB8-72D3-9926-5E72-DBD3567E5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AE7921-85A8-B07A-3711-02E95E59A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5661E-729C-162F-ECDA-9DC57B0A5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703ED-FC2B-6912-C217-3A399BC89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83850-91A1-4485-364B-3ED73CCB0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AAB10-B7FE-9777-4459-EE222F93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287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412F-446E-41A2-231F-797BF956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961DB-5982-8C53-691B-8C59C42F7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C8FF2-63BB-DCBD-F180-0D9EBE12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8BD37-6C18-1EF1-A0BF-CA67F3E1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52844-56D9-EA4A-ADF2-62CFCCE7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0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426C0-EF86-B8A7-3678-8CE4534B0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7C4AE-F5B7-E2FF-508D-825360E38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F2CB-15C5-1B87-F838-90A8821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1D0EF-A2BE-195B-4372-1FB05277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AFF4E-352A-6462-C68A-8957C7A2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15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22AAAC-B33A-73A6-414E-BEA898D4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2974A-693C-0B3F-1D47-B013E93A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B8B84-BC0E-6062-DEA0-E75DEA875D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E7A2A-C600-4E06-A50D-5BFF157C4F8E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7AC78-41F6-48E4-568C-59E6CA8A8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0AA1B-93A3-A1A1-87B4-80E22DE55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31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84BE-A253-F203-9DB6-A2EFD17BA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OOP Module1 part 9</a:t>
            </a:r>
            <a:br>
              <a:rPr lang="en-IN" dirty="0"/>
            </a:br>
            <a:br>
              <a:rPr lang="en-IN" dirty="0"/>
            </a:br>
            <a:r>
              <a:rPr lang="en-IN" dirty="0"/>
              <a:t>(</a:t>
            </a:r>
            <a:r>
              <a:rPr lang="en-IN" sz="3200" dirty="0"/>
              <a:t>Type casting)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FC17E-E513-E6ED-9AAB-1F652AAAF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Renetha</a:t>
            </a:r>
            <a:r>
              <a:rPr lang="en-IN" dirty="0"/>
              <a:t> J.B.</a:t>
            </a:r>
          </a:p>
        </p:txBody>
      </p:sp>
    </p:spTree>
    <p:extLst>
      <p:ext uri="{BB962C8B-B14F-4D97-AF65-F5344CB8AC3E}">
        <p14:creationId xmlns:p14="http://schemas.microsoft.com/office/powerpoint/2010/main" val="413334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1434-F25E-2F6D-7725-7CCC10DD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E92BE-12D8-10D6-15D3-70D8C1D9B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Type casting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48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 txBox="1">
            <a:spLocks noGrp="1"/>
          </p:cNvSpPr>
          <p:nvPr>
            <p:ph type="title"/>
          </p:nvPr>
        </p:nvSpPr>
        <p:spPr>
          <a:xfrm>
            <a:off x="1912374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Conversion and Casting</a:t>
            </a:r>
            <a:endParaRPr dirty="0"/>
          </a:p>
        </p:txBody>
      </p:sp>
      <p:sp>
        <p:nvSpPr>
          <p:cNvPr id="287" name="Google Shape;287;p24"/>
          <p:cNvSpPr txBox="1">
            <a:spLocks noGrp="1"/>
          </p:cNvSpPr>
          <p:nvPr>
            <p:ph type="body" idx="1"/>
          </p:nvPr>
        </p:nvSpPr>
        <p:spPr>
          <a:xfrm>
            <a:off x="1912373" y="1025015"/>
            <a:ext cx="8657303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store value of a variable in another variable, </a:t>
            </a:r>
          </a:p>
          <a:p>
            <a:pPr marL="800100" lvl="1" indent="-3429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data type of both are </a:t>
            </a:r>
            <a:r>
              <a:rPr lang="en-US" sz="22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compatible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Java will perform the 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</a:t>
            </a:r>
            <a:r>
              <a:rPr lang="en-US" sz="2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automatically(implicitly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177200" lvl="2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dirty="0"/>
              <a:t>We can store an </a:t>
            </a:r>
            <a:r>
              <a:rPr lang="en-US" sz="2200" b="1" dirty="0"/>
              <a:t>int </a:t>
            </a:r>
            <a:r>
              <a:rPr lang="en-US" sz="2200" dirty="0"/>
              <a:t>value in a </a:t>
            </a:r>
            <a:r>
              <a:rPr lang="en-US" sz="2200" b="1" dirty="0"/>
              <a:t>long </a:t>
            </a:r>
            <a:r>
              <a:rPr lang="en-US" sz="2200" dirty="0"/>
              <a:t>variable(compatible types). Value will be automatically converted to long.</a:t>
            </a:r>
          </a:p>
          <a:p>
            <a:pPr marL="1177200" lvl="2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endParaRPr lang="en-US" sz="2200" dirty="0"/>
          </a:p>
          <a:p>
            <a:pPr marL="800100" lvl="1" indent="-342900" algn="just">
              <a:lnSpc>
                <a:spcPct val="15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 (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incompatible types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the conversion has to be done </a:t>
            </a:r>
            <a:r>
              <a:rPr lang="en-US" sz="2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explicitly(CASTING).</a:t>
            </a:r>
          </a:p>
          <a:p>
            <a:pPr lvl="2"/>
            <a:r>
              <a:rPr lang="en-US" sz="2200" dirty="0"/>
              <a:t>When we try to store double value in byte variable there is no automatic conversion from </a:t>
            </a:r>
            <a:r>
              <a:rPr lang="en-US" sz="2200" b="1" dirty="0"/>
              <a:t>double </a:t>
            </a:r>
            <a:r>
              <a:rPr lang="en-US" sz="2200" dirty="0"/>
              <a:t>to </a:t>
            </a:r>
            <a:r>
              <a:rPr lang="en-US" sz="2200" b="1" dirty="0"/>
              <a:t>byte</a:t>
            </a:r>
            <a:endParaRPr sz="2200" dirty="0"/>
          </a:p>
          <a:p>
            <a:pPr marL="342900" indent="-1778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endParaRPr sz="22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177800"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endParaRPr sz="22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>
            <a:spLocks noGrp="1"/>
          </p:cNvSpPr>
          <p:nvPr>
            <p:ph type="title"/>
          </p:nvPr>
        </p:nvSpPr>
        <p:spPr>
          <a:xfrm>
            <a:off x="1981200" y="8782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Automatic Conversions</a:t>
            </a:r>
            <a:endParaRPr dirty="0"/>
          </a:p>
        </p:txBody>
      </p:sp>
      <p:sp>
        <p:nvSpPr>
          <p:cNvPr id="295" name="Google Shape;295;p25"/>
          <p:cNvSpPr txBox="1">
            <a:spLocks noGrp="1"/>
          </p:cNvSpPr>
          <p:nvPr>
            <p:ph type="body" idx="1"/>
          </p:nvPr>
        </p:nvSpPr>
        <p:spPr>
          <a:xfrm>
            <a:off x="1981200" y="95126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one type of data is assigned to another type variable, an 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type conversion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take place if the following two conditions are met:</a:t>
            </a:r>
            <a:endParaRPr lang="en-IN" sz="2400"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lang="en-IN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lang="en-IN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	=	source;</a:t>
            </a:r>
            <a:endParaRPr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</a:t>
            </a:r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or </a:t>
            </a:r>
            <a:r>
              <a:rPr lang="en-US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</a:t>
            </a:r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	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conversion is called </a:t>
            </a:r>
            <a:r>
              <a:rPr lang="en-US" sz="24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widening conversion.</a:t>
            </a:r>
          </a:p>
          <a:p>
            <a:pPr marL="0" indent="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US" sz="2400" i="1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E.g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      int a;</a:t>
            </a:r>
          </a:p>
          <a:p>
            <a:pPr marL="0" indent="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US" sz="2400" i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           byte b=10;</a:t>
            </a:r>
          </a:p>
          <a:p>
            <a:pPr marL="0" indent="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US" sz="2400" i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	a=b;			(size of a) int&gt;byte (size of b)</a:t>
            </a:r>
            <a:endParaRPr sz="2400" dirty="0"/>
          </a:p>
        </p:txBody>
      </p:sp>
      <p:sp>
        <p:nvSpPr>
          <p:cNvPr id="296" name="Google Shape;296;p25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4</a:t>
            </a:fld>
            <a:endParaRPr/>
          </a:p>
        </p:txBody>
      </p:sp>
      <p:cxnSp>
        <p:nvCxnSpPr>
          <p:cNvPr id="298" name="Google Shape;298;p25"/>
          <p:cNvCxnSpPr/>
          <p:nvPr/>
        </p:nvCxnSpPr>
        <p:spPr>
          <a:xfrm rot="10800000">
            <a:off x="3695700" y="3429000"/>
            <a:ext cx="1905000" cy="1587"/>
          </a:xfrm>
          <a:prstGeom prst="straightConnector1">
            <a:avLst/>
          </a:prstGeom>
          <a:noFill/>
          <a:ln w="19050" cap="flat" cmpd="sng">
            <a:solidFill>
              <a:srgbClr val="0000CC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3D2C801-1EFE-6E50-05A9-5E0448952BBF}"/>
              </a:ext>
            </a:extLst>
          </p:cNvPr>
          <p:cNvSpPr txBox="1"/>
          <p:nvPr/>
        </p:nvSpPr>
        <p:spPr>
          <a:xfrm>
            <a:off x="2369574" y="2247015"/>
            <a:ext cx="7413523" cy="8951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two types are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compatible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400"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is </a:t>
            </a: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the source type.</a:t>
            </a:r>
            <a:endParaRPr lang="en-I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Automatic Conversions(contd.)</a:t>
            </a:r>
            <a:endParaRPr/>
          </a:p>
        </p:txBody>
      </p:sp>
      <p:sp>
        <p:nvSpPr>
          <p:cNvPr id="304" name="Google Shape;304;p26"/>
          <p:cNvSpPr txBox="1">
            <a:spLocks noGrp="1"/>
          </p:cNvSpPr>
          <p:nvPr>
            <p:ph type="body" idx="1"/>
          </p:nvPr>
        </p:nvSpPr>
        <p:spPr>
          <a:xfrm>
            <a:off x="1981199" y="1600200"/>
            <a:ext cx="8952271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widening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conversions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 types-integer and floating-point types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are </a:t>
            </a:r>
            <a:r>
              <a:rPr lang="en-US" sz="24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compatible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each other.</a:t>
            </a:r>
            <a:endParaRPr sz="2400" dirty="0"/>
          </a:p>
          <a:p>
            <a:pPr marL="742950" lvl="1" indent="-28575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umeric types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NOT be automatically converted to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 or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/>
          </a:p>
          <a:p>
            <a:pPr marL="342900" indent="-342900" algn="just">
              <a:lnSpc>
                <a:spcPct val="15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also performs an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conversion when </a:t>
            </a:r>
            <a:r>
              <a:rPr lang="en-US" sz="24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integer </a:t>
            </a:r>
            <a:r>
              <a:rPr lang="en-US" sz="2400" b="1" i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</a:t>
            </a:r>
            <a:r>
              <a:rPr lang="en-US" sz="24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stored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variables of type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byte, short, long, or char.  </a:t>
            </a:r>
          </a:p>
          <a:p>
            <a:pPr marL="800100" lvl="1" indent="-342900" algn="just">
              <a:lnSpc>
                <a:spcPct val="15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   byte x=10;   // 10 is int constant It is converted to byte and stored in x</a:t>
            </a:r>
            <a:endParaRPr sz="2000" dirty="0"/>
          </a:p>
        </p:txBody>
      </p:sp>
      <p:sp>
        <p:nvSpPr>
          <p:cNvPr id="305" name="Google Shape;305;p26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7"/>
          <p:cNvSpPr txBox="1">
            <a:spLocks noGrp="1"/>
          </p:cNvSpPr>
          <p:nvPr>
            <p:ph type="body" idx="1"/>
          </p:nvPr>
        </p:nvSpPr>
        <p:spPr>
          <a:xfrm>
            <a:off x="653844" y="1166019"/>
            <a:ext cx="11135033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600"/>
              <a:buNone/>
            </a:pPr>
            <a:endParaRPr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-&gt; short -&gt;int -&gt;long -&gt; float -&gt; double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endParaRPr sz="2600" dirty="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0000CC"/>
              </a:buClr>
              <a:buSzPts val="2600"/>
              <a:buNone/>
            </a:pP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-US" sz="26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WIDENING CONVERSION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0000CC"/>
              </a:buClr>
              <a:buSzPts val="2600"/>
              <a:buNone/>
            </a:pP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SMALL---------------------------------</a:t>
            </a: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LARGE</a:t>
            </a: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0000CC"/>
              </a:buClr>
              <a:buSzPts val="2600"/>
              <a:buNone/>
            </a:pPr>
            <a:endParaRPr lang="en-US" sz="2600" dirty="0">
              <a:solidFill>
                <a:srgbClr val="0000CC"/>
              </a:solidFill>
              <a:latin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0000CC"/>
              </a:buClr>
              <a:buSzPts val="2600"/>
              <a:buNone/>
            </a:pPr>
            <a:r>
              <a:rPr lang="en-US" sz="2600" dirty="0">
                <a:solidFill>
                  <a:srgbClr val="0000CC"/>
                </a:solidFill>
                <a:latin typeface="Times New Roman"/>
                <a:cs typeface="Times New Roman"/>
                <a:sym typeface="Times New Roman"/>
              </a:rPr>
              <a:t>large=small;   //Here small sized value is converted to large datatype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endParaRPr lang="en-IN"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I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I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a =2;	</a:t>
            </a: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I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b;</a:t>
            </a:r>
          </a:p>
          <a:p>
            <a:pPr marL="342900" indent="-342900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I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b=a;		//size of b(int)&gt;size of a(byte) so WIDENING a is widened(converted) to int</a:t>
            </a:r>
            <a:br>
              <a:rPr lang="en-IN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177800"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endParaRPr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6</a:t>
            </a:fld>
            <a:endParaRPr/>
          </a:p>
        </p:txBody>
      </p:sp>
      <p:cxnSp>
        <p:nvCxnSpPr>
          <p:cNvPr id="315" name="Google Shape;315;p27"/>
          <p:cNvCxnSpPr/>
          <p:nvPr/>
        </p:nvCxnSpPr>
        <p:spPr>
          <a:xfrm>
            <a:off x="759542" y="2467898"/>
            <a:ext cx="6019800" cy="1587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A8C3DE83-AE56-6661-D5A8-A6A96CDAB155}"/>
              </a:ext>
            </a:extLst>
          </p:cNvPr>
          <p:cNvSpPr/>
          <p:nvPr/>
        </p:nvSpPr>
        <p:spPr>
          <a:xfrm rot="10800000">
            <a:off x="879986" y="4344092"/>
            <a:ext cx="1221658" cy="458942"/>
          </a:xfrm>
          <a:prstGeom prst="uturnArrow">
            <a:avLst>
              <a:gd name="adj1" fmla="val 25000"/>
              <a:gd name="adj2" fmla="val 25000"/>
              <a:gd name="adj3" fmla="val 31427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Casting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Incompatible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Types</a:t>
            </a:r>
            <a:endParaRPr/>
          </a:p>
        </p:txBody>
      </p:sp>
      <p:sp>
        <p:nvSpPr>
          <p:cNvPr id="321" name="Google Shape;321;p28"/>
          <p:cNvSpPr txBox="1">
            <a:spLocks noGrp="1"/>
          </p:cNvSpPr>
          <p:nvPr>
            <p:ph type="body" idx="1"/>
          </p:nvPr>
        </p:nvSpPr>
        <p:spPr>
          <a:xfrm>
            <a:off x="20574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want to assign an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value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variable	.</a:t>
            </a:r>
            <a:endParaRPr sz="2400" dirty="0"/>
          </a:p>
          <a:p>
            <a:pPr marL="742950" lvl="1" indent="-28575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conversion will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performed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because a </a:t>
            </a:r>
            <a:r>
              <a:rPr lang="en-US" sz="20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is smaller than an int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/>
          </a:p>
          <a:p>
            <a:pPr marL="742950" lvl="1" indent="-28575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variable=integer</a:t>
            </a:r>
            <a:endParaRPr sz="2000" dirty="0"/>
          </a:p>
          <a:p>
            <a:pPr marL="742950" lvl="1" indent="-28575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(small)	    (large)</a:t>
            </a:r>
            <a:endParaRPr sz="2000" dirty="0"/>
          </a:p>
          <a:p>
            <a:pPr marL="342900" indent="-342900" algn="just">
              <a:lnSpc>
                <a:spcPct val="15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called </a:t>
            </a:r>
            <a:r>
              <a:rPr lang="en-US" sz="2400" b="1" i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narrowing</a:t>
            </a:r>
            <a:r>
              <a:rPr lang="en-US" sz="24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conversion.</a:t>
            </a:r>
            <a:endParaRPr sz="2400" dirty="0"/>
          </a:p>
          <a:p>
            <a:pPr marL="342900" indent="-342900" algn="just">
              <a:lnSpc>
                <a:spcPct val="15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conversion between two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incompatible types,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must use a </a:t>
            </a:r>
            <a:r>
              <a:rPr lang="en-US" sz="24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742950" lvl="1" indent="-28575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variable=(byte)integer</a:t>
            </a:r>
            <a:endParaRPr lang="en-US" dirty="0"/>
          </a:p>
        </p:txBody>
      </p:sp>
      <p:sp>
        <p:nvSpPr>
          <p:cNvPr id="322" name="Google Shape;322;p28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7</a:t>
            </a:fld>
            <a:endParaRPr/>
          </a:p>
        </p:txBody>
      </p:sp>
      <p:cxnSp>
        <p:nvCxnSpPr>
          <p:cNvPr id="324" name="Google Shape;324;p28"/>
          <p:cNvCxnSpPr/>
          <p:nvPr/>
        </p:nvCxnSpPr>
        <p:spPr>
          <a:xfrm rot="10800000">
            <a:off x="3505200" y="4038601"/>
            <a:ext cx="685800" cy="1587"/>
          </a:xfrm>
          <a:prstGeom prst="straightConnector1">
            <a:avLst/>
          </a:prstGeom>
          <a:noFill/>
          <a:ln w="222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2" name="Arrow: U-Turn 1">
            <a:extLst>
              <a:ext uri="{FF2B5EF4-FFF2-40B4-BE49-F238E27FC236}">
                <a16:creationId xmlns:a16="http://schemas.microsoft.com/office/drawing/2014/main" id="{4449DBCA-7C5C-5D90-4BAC-F90130C3CC3F}"/>
              </a:ext>
            </a:extLst>
          </p:cNvPr>
          <p:cNvSpPr/>
          <p:nvPr/>
        </p:nvSpPr>
        <p:spPr>
          <a:xfrm rot="10800000">
            <a:off x="2991465" y="3197941"/>
            <a:ext cx="1221658" cy="458942"/>
          </a:xfrm>
          <a:prstGeom prst="uturnArrow">
            <a:avLst>
              <a:gd name="adj1" fmla="val 25000"/>
              <a:gd name="adj2" fmla="val 25000"/>
              <a:gd name="adj3" fmla="val 31427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BF84-9D60-0A1F-F108-CBCDDA4D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BBB37-8F11-AEE1-DC38-2A0807849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Byteerr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public static void main(String </a:t>
            </a:r>
            <a:r>
              <a:rPr lang="en-IN" dirty="0" err="1"/>
              <a:t>args</a:t>
            </a:r>
            <a:r>
              <a:rPr lang="en-IN" dirty="0"/>
              <a:t>[])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a=2;</a:t>
            </a:r>
          </a:p>
          <a:p>
            <a:pPr marL="0" indent="0">
              <a:buNone/>
            </a:pPr>
            <a:r>
              <a:rPr lang="en-IN" dirty="0"/>
              <a:t>byte b;</a:t>
            </a:r>
          </a:p>
          <a:p>
            <a:pPr marL="0" indent="0">
              <a:buNone/>
            </a:pPr>
            <a:r>
              <a:rPr lang="en-IN" dirty="0"/>
              <a:t>b = a;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(b);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47F5E-69C4-1FBA-3EB2-E6FCC1B60054}"/>
              </a:ext>
            </a:extLst>
          </p:cNvPr>
          <p:cNvSpPr txBox="1"/>
          <p:nvPr/>
        </p:nvSpPr>
        <p:spPr>
          <a:xfrm>
            <a:off x="5688593" y="3820903"/>
            <a:ext cx="4517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ERROR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Lossy conversion from int to byte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Int is larger than byte. So data will be lost when integer value is stored in byte,</a:t>
            </a:r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06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Casting Incompatible Types(contd.)</a:t>
            </a:r>
            <a:endParaRPr/>
          </a:p>
        </p:txBody>
      </p:sp>
      <p:sp>
        <p:nvSpPr>
          <p:cNvPr id="330" name="Google Shape;330;p29"/>
          <p:cNvSpPr txBox="1">
            <a:spLocks noGrp="1"/>
          </p:cNvSpPr>
          <p:nvPr>
            <p:ph type="body" idx="1"/>
          </p:nvPr>
        </p:nvSpPr>
        <p:spPr>
          <a:xfrm>
            <a:off x="1981200" y="1295400"/>
            <a:ext cx="8229600" cy="48307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simply an </a:t>
            </a:r>
            <a:r>
              <a:rPr lang="en-US" sz="2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conversion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It has this general form: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</a:t>
            </a:r>
            <a:r>
              <a:rPr lang="en-US" sz="26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target-type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value</a:t>
            </a:r>
            <a:endParaRPr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target-type specifies the </a:t>
            </a:r>
            <a:r>
              <a:rPr lang="en-US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desired type </a:t>
            </a:r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which value is to be converted.</a:t>
            </a:r>
            <a:endParaRPr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a;</a:t>
            </a:r>
            <a:endParaRPr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ts val="2400"/>
              <a:buNone/>
            </a:pPr>
            <a:r>
              <a:rPr lang="en-US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b;</a:t>
            </a:r>
            <a:endParaRPr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(</a:t>
            </a: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a;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integer’s value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the range of a byte(-128 and 127), it will be </a:t>
            </a:r>
            <a:r>
              <a:rPr lang="en-US" sz="2400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to</a:t>
            </a:r>
            <a:r>
              <a:rPr lang="en-US" sz="2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modulo 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(the remainder of an integer division)</a:t>
            </a:r>
            <a:r>
              <a:rPr lang="en-US" sz="2400" i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byte’s range(256).</a:t>
            </a:r>
            <a:endParaRPr dirty="0"/>
          </a:p>
        </p:txBody>
      </p:sp>
      <p:sp>
        <p:nvSpPr>
          <p:cNvPr id="331" name="Google Shape;331;p29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9</a:t>
            </a:fld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4267201" y="4419601"/>
            <a:ext cx="5718175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//Here integer value in variable a is </a:t>
            </a:r>
            <a:r>
              <a:rPr lang="en-US" sz="1600" b="1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casted(converted</a:t>
            </a:r>
            <a:r>
              <a:rPr lang="en-US" sz="16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to byte type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FBA2-914A-17B3-7063-43EABC30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23F8-038A-D0CC-DD0B-81572CA6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D7E5D-74B3-03C7-C208-2C0ED5E2A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Byteerr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public static void main(String </a:t>
            </a:r>
            <a:r>
              <a:rPr lang="en-IN" dirty="0" err="1"/>
              <a:t>args</a:t>
            </a:r>
            <a:r>
              <a:rPr lang="en-IN" dirty="0"/>
              <a:t>[])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a=2;</a:t>
            </a:r>
          </a:p>
          <a:p>
            <a:pPr marL="0" indent="0">
              <a:buNone/>
            </a:pPr>
            <a:r>
              <a:rPr lang="en-IN" dirty="0"/>
              <a:t>byte b;</a:t>
            </a:r>
          </a:p>
          <a:p>
            <a:pPr marL="0" indent="0">
              <a:buNone/>
            </a:pPr>
            <a:r>
              <a:rPr lang="en-IN" dirty="0"/>
              <a:t>b = </a:t>
            </a:r>
            <a:r>
              <a:rPr lang="en-IN" b="1" dirty="0">
                <a:solidFill>
                  <a:srgbClr val="0070C0"/>
                </a:solidFill>
              </a:rPr>
              <a:t>(byte)</a:t>
            </a:r>
            <a:r>
              <a:rPr lang="en-IN" dirty="0"/>
              <a:t>a</a:t>
            </a:r>
            <a:r>
              <a:rPr lang="en-IN" i="1" dirty="0"/>
              <a:t>;         </a:t>
            </a:r>
            <a:r>
              <a:rPr lang="en-IN" sz="2600" i="1" dirty="0"/>
              <a:t>// Here a is casted to byte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(b);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B3076-F58B-D923-713F-FD575BDAD8C2}"/>
              </a:ext>
            </a:extLst>
          </p:cNvPr>
          <p:cNvSpPr txBox="1"/>
          <p:nvPr/>
        </p:nvSpPr>
        <p:spPr>
          <a:xfrm>
            <a:off x="7895303" y="3795252"/>
            <a:ext cx="1067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OUTPUT</a:t>
            </a:r>
          </a:p>
          <a:p>
            <a:r>
              <a:rPr lang="en-IN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5945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Casting Incompatible Types(contd.)</a:t>
            </a:r>
            <a:endParaRPr/>
          </a:p>
        </p:txBody>
      </p:sp>
      <p:sp>
        <p:nvSpPr>
          <p:cNvPr id="347" name="Google Shape;347;p31"/>
          <p:cNvSpPr txBox="1">
            <a:spLocks noGrp="1"/>
          </p:cNvSpPr>
          <p:nvPr>
            <p:ph type="body" idx="1"/>
          </p:nvPr>
        </p:nvSpPr>
        <p:spPr>
          <a:xfrm>
            <a:off x="2057400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size of the whole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 is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 large to fit into the target integer type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that value will be reduced that number </a:t>
            </a:r>
            <a:r>
              <a:rPr lang="en-US" sz="2000" b="1" u="sng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modulo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target type’s range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  <a:endParaRPr sz="2000" dirty="0"/>
          </a:p>
          <a:p>
            <a:pPr lvl="2" algn="just">
              <a:lnSpc>
                <a:spcPct val="100000"/>
              </a:lnSpc>
              <a:spcBef>
                <a:spcPts val="480"/>
              </a:spcBef>
              <a:buClr>
                <a:srgbClr val="0000CC"/>
              </a:buClr>
              <a:buSzPts val="2400"/>
              <a:buNone/>
            </a:pPr>
            <a:r>
              <a:rPr lang="en-US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b;</a:t>
            </a:r>
            <a:endParaRPr sz="1800" dirty="0"/>
          </a:p>
          <a:p>
            <a:pPr lvl="2" algn="just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ts val="2400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257;</a:t>
            </a:r>
            <a:endParaRPr sz="1800" dirty="0"/>
          </a:p>
          <a:p>
            <a:pPr lvl="2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b=(</a:t>
            </a:r>
            <a:r>
              <a:rPr lang="en-US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byte)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800"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range of target type i.e. byte(-128 to 127) is smaller than 257, so 257 cannot be stored in byte b, Hence, the value stored in b is </a:t>
            </a:r>
            <a:endParaRPr sz="2000" dirty="0"/>
          </a:p>
          <a:p>
            <a:pPr marL="742950" lvl="1" indent="-28575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257 mod 256=1</a:t>
            </a:r>
            <a:endParaRPr sz="2000" dirty="0"/>
          </a:p>
          <a:p>
            <a:pPr marL="800100" lvl="1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When a </a:t>
            </a:r>
            <a:r>
              <a:rPr lang="en-US" sz="16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value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cast into a 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variable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lang="en-US" sz="16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lang="en-US" sz="16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remainder of the division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value by 256(i.e. value mod 256)</a:t>
            </a:r>
            <a:endParaRPr sz="2000" dirty="0"/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Casting Incompatible Types(contd.)</a:t>
            </a:r>
            <a:endParaRPr/>
          </a:p>
        </p:txBody>
      </p:sp>
      <p:sp>
        <p:nvSpPr>
          <p:cNvPr id="339" name="Google Shape;339;p30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different type of conversion will occur when a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value </a:t>
            </a:r>
            <a:r>
              <a:rPr lang="en-US" sz="26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assigned to an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type: </a:t>
            </a:r>
            <a:r>
              <a:rPr lang="en-US" sz="2600" b="1" i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TRUNCATION.</a:t>
            </a:r>
            <a:endParaRPr dirty="0"/>
          </a:p>
          <a:p>
            <a:pPr marL="742950" lvl="1" indent="-28575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value 5.23 is assigned to an integer, the resulting value will simply be 5.</a:t>
            </a:r>
            <a:endParaRPr dirty="0"/>
          </a:p>
          <a:p>
            <a:pPr marL="742950" lvl="1" indent="-285750" algn="just">
              <a:lnSpc>
                <a:spcPct val="150000"/>
              </a:lnSpc>
              <a:spcBef>
                <a:spcPts val="480"/>
              </a:spcBef>
              <a:buClr>
                <a:srgbClr val="C00000"/>
              </a:buClr>
              <a:buSzPts val="2400"/>
              <a:buFont typeface="Arial"/>
              <a:buChar char="–"/>
            </a:pPr>
            <a:r>
              <a:rPr lang="en-US" b="1" i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a=5.23;	</a:t>
            </a:r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here variable  value </a:t>
            </a:r>
            <a:r>
              <a:rPr lang="en-I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is stored in a</a:t>
            </a:r>
            <a:endParaRPr dirty="0"/>
          </a:p>
          <a:p>
            <a:pPr marL="742950" lvl="1" indent="-285750" algn="just">
              <a:lnSpc>
                <a:spcPct val="150000"/>
              </a:lnSpc>
              <a:spcBef>
                <a:spcPts val="480"/>
              </a:spcBef>
              <a:buClr>
                <a:srgbClr val="C00000"/>
              </a:buClr>
              <a:buSzPts val="2400"/>
              <a:buNone/>
            </a:pPr>
            <a:r>
              <a:rPr lang="en-US" b="1" i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</a:t>
            </a:r>
            <a:r>
              <a:rPr lang="en-US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.23 will have been truncated</a:t>
            </a:r>
            <a:endParaRPr b="1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50000"/>
              </a:lnSpc>
              <a:spcBef>
                <a:spcPts val="520"/>
              </a:spcBef>
              <a:buClr>
                <a:srgbClr val="C00000"/>
              </a:buClr>
              <a:buSzPts val="2600"/>
              <a:buNone/>
            </a:pPr>
            <a:r>
              <a:rPr lang="en-US" sz="2600" b="1" i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dirty="0"/>
          </a:p>
        </p:txBody>
      </p:sp>
      <p:sp>
        <p:nvSpPr>
          <p:cNvPr id="340" name="Google Shape;340;p30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body" idx="1"/>
          </p:nvPr>
        </p:nvSpPr>
        <p:spPr>
          <a:xfrm>
            <a:off x="1981200" y="381000"/>
            <a:ext cx="8932606" cy="53641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600"/>
              <a:buNone/>
            </a:pPr>
            <a:r>
              <a:rPr lang="en-IN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</a:t>
            </a:r>
            <a:endParaRPr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0000CC"/>
              </a:buClr>
              <a:buSzPts val="2600"/>
              <a:buNone/>
            </a:pP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-&gt; short  -&gt;int  -&gt;long  -&gt; float  -&gt; double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0000CC"/>
              </a:buClr>
              <a:buSzPts val="2600"/>
              <a:buNone/>
            </a:pP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US" sz="24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WIDENING CONVERSION </a:t>
            </a:r>
            <a:endParaRPr sz="2400"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0000CC"/>
              </a:buClr>
              <a:buSzPts val="2600"/>
              <a:buNone/>
            </a:pPr>
            <a:r>
              <a:rPr lang="en-US" sz="24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(AUTOMATIC / IMPLICIT)</a:t>
            </a:r>
            <a:endParaRPr sz="2400" dirty="0"/>
          </a:p>
          <a:p>
            <a:pPr marL="342900" indent="-342900" algn="just">
              <a:lnSpc>
                <a:spcPct val="100000"/>
              </a:lnSpc>
              <a:spcBef>
                <a:spcPts val="560"/>
              </a:spcBef>
              <a:buClr>
                <a:srgbClr val="0000CC"/>
              </a:buClr>
              <a:buSzPts val="2000"/>
              <a:buNone/>
            </a:pPr>
            <a:r>
              <a:rPr lang="en-IN" sz="26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variable=small sized variable or value;</a:t>
            </a:r>
          </a:p>
          <a:p>
            <a:pPr marL="342900" indent="-342900" algn="just">
              <a:lnSpc>
                <a:spcPct val="100000"/>
              </a:lnSpc>
              <a:spcBef>
                <a:spcPts val="560"/>
              </a:spcBef>
              <a:buClr>
                <a:srgbClr val="0000CC"/>
              </a:buClr>
              <a:buSzPts val="2000"/>
              <a:buNone/>
            </a:pPr>
            <a:r>
              <a:rPr lang="en-US" u="sng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value is converted(widened) into</a:t>
            </a:r>
            <a:r>
              <a:rPr lang="en-US" sz="3600" u="sng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u="sng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type.</a:t>
            </a:r>
          </a:p>
          <a:p>
            <a:pPr marL="342900" indent="-342900" algn="just">
              <a:lnSpc>
                <a:spcPct val="100000"/>
              </a:lnSpc>
              <a:spcBef>
                <a:spcPts val="560"/>
              </a:spcBef>
              <a:buClr>
                <a:srgbClr val="0000CC"/>
              </a:buClr>
              <a:buSzPts val="2000"/>
              <a:buNone/>
            </a:pPr>
            <a:endParaRPr lang="en-IN" sz="2600" dirty="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60"/>
              </a:spcBef>
              <a:buClr>
                <a:srgbClr val="0000CC"/>
              </a:buClr>
              <a:buSzPts val="2000"/>
              <a:buNone/>
            </a:pPr>
            <a:r>
              <a:rPr lang="en-IN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……………………………………………………………….</a:t>
            </a:r>
            <a:endParaRPr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ts val="2600"/>
              <a:buNone/>
            </a:pPr>
            <a:r>
              <a:rPr lang="en-US" sz="2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-&gt;</a:t>
            </a:r>
            <a:r>
              <a:rPr lang="en-US" sz="2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float </a:t>
            </a: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-&gt;</a:t>
            </a:r>
            <a:r>
              <a:rPr lang="en-US" sz="2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</a:t>
            </a: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-&gt;</a:t>
            </a:r>
            <a:r>
              <a:rPr lang="en-US" sz="2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-&gt;</a:t>
            </a:r>
            <a:r>
              <a:rPr lang="en-US" sz="2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short </a:t>
            </a:r>
            <a:r>
              <a:rPr lang="en-US" sz="26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-&gt;</a:t>
            </a:r>
            <a:r>
              <a:rPr lang="en-US" sz="2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byte 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ts val="2600"/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NARROWING CONVERSION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ts val="2600"/>
              <a:buNone/>
            </a:pPr>
            <a:r>
              <a:rPr lang="en-US" sz="2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EXPLICIT</a:t>
            </a: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ts val="2600"/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sized variable= large sized value or variable;</a:t>
            </a: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ts val="2600"/>
              <a:buNone/>
            </a:pPr>
            <a:r>
              <a:rPr lang="en-US" sz="2400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</a:t>
            </a:r>
            <a:r>
              <a:rPr lang="en-US" sz="2600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is narrow down into </a:t>
            </a:r>
            <a:r>
              <a:rPr lang="en-US" sz="2000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type.</a:t>
            </a:r>
            <a:endParaRPr lang="en-US" sz="2600" b="1" u="sng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ts val="2600"/>
              <a:buNone/>
            </a:pPr>
            <a:endParaRPr lang="en-US" sz="26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ts val="2600"/>
              <a:buNone/>
            </a:pP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endParaRPr sz="26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endParaRPr sz="26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177800"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endParaRPr sz="26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Type </a:t>
            </a:r>
            <a:r>
              <a:rPr lang="en-US" sz="32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Promotion</a:t>
            </a: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Expressions</a:t>
            </a:r>
            <a:endParaRPr dirty="0"/>
          </a:p>
        </p:txBody>
      </p:sp>
      <p:sp>
        <p:nvSpPr>
          <p:cNvPr id="365" name="Google Shape;365;p33"/>
          <p:cNvSpPr txBox="1">
            <a:spLocks noGrp="1"/>
          </p:cNvSpPr>
          <p:nvPr>
            <p:ph type="body" idx="1"/>
          </p:nvPr>
        </p:nvSpPr>
        <p:spPr>
          <a:xfrm>
            <a:off x="1892710" y="857864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</a:t>
            </a:r>
            <a:r>
              <a:rPr lang="en-US" sz="24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40;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</a:t>
            </a:r>
            <a:r>
              <a:rPr lang="en-US" sz="24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50;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c = 100;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d = </a:t>
            </a:r>
            <a:r>
              <a:rPr lang="en-US" sz="24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</a:t>
            </a:r>
            <a:r>
              <a:rPr lang="en-US" sz="2400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c;</a:t>
            </a:r>
            <a:r>
              <a:rPr lang="en-US" sz="2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// conversions occur in expressions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Here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 * b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(40*50=2000) exceeds the range of  its byte operands(-128 to 127) a and b.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 handle this kind of problem, Java automatically </a:t>
            </a:r>
            <a:r>
              <a:rPr 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promotes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each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byte, short,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or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char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operand to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u="sng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when evaluating an expression. </a:t>
            </a:r>
          </a:p>
          <a:p>
            <a:pPr marL="0" indent="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here, Java promotes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 into int before any arithmetic operation </a:t>
            </a:r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NO ERROR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Variable d will contain 2000/100=20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6" name="Google Shape;366;p33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4400"/>
            </a:pP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promotion</a:t>
            </a:r>
            <a:endParaRPr/>
          </a:p>
        </p:txBody>
      </p:sp>
      <p:sp>
        <p:nvSpPr>
          <p:cNvPr id="373" name="Google Shape;373;p34"/>
          <p:cNvSpPr txBox="1">
            <a:spLocks noGrp="1"/>
          </p:cNvSpPr>
          <p:nvPr>
            <p:ph type="body" idx="1"/>
          </p:nvPr>
        </p:nvSpPr>
        <p:spPr>
          <a:xfrm>
            <a:off x="1981200" y="1113504"/>
            <a:ext cx="8229600" cy="5334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600"/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byte b = 50;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 = b * 2; 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</a:t>
            </a: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What value will be stored in b?</a:t>
            </a: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600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Error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! Cannot assign an int to a byte!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440"/>
              </a:spcBef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 </a:t>
            </a:r>
            <a:r>
              <a:rPr 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expression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b*2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</a:t>
            </a:r>
            <a:r>
              <a:rPr lang="en-US" sz="2200" dirty="0">
                <a:solidFill>
                  <a:srgbClr val="0000C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automatic promotion 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occurs . i.e. result of b*2 (50*2=100)  is </a:t>
            </a: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promoted to integer.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440"/>
              </a:spcBef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This result(integer value) is larger than byte 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type variable b where it is to be stored</a:t>
            </a: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 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So.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ERROR</a:t>
            </a: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is shown.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 </a:t>
            </a: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solve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this issue,  </a:t>
            </a: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explicit conversion 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is needed for result.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byte b = 50;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 = (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byte</a:t>
            </a:r>
            <a:r>
              <a:rPr lang="en-US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)(b * 2);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520"/>
              </a:spcBef>
              <a:buClr>
                <a:srgbClr val="00B050"/>
              </a:buClr>
              <a:buSzPts val="2600"/>
              <a:buNone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NO ERROR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75" name="Google Shape;375;p34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ADC38-A677-47E5-E882-1DE99C4AF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118F7-D0A5-4936-3641-1E143BB0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Widening</a:t>
            </a:r>
            <a:r>
              <a:rPr lang="en-US" dirty="0"/>
              <a:t>− Converting a lower datatype to a higher datatype is known as widening. It is done implicitly(AUTOMATIC).</a:t>
            </a:r>
          </a:p>
          <a:p>
            <a:r>
              <a:rPr lang="en-US" b="1" dirty="0"/>
              <a:t>Narrowing</a:t>
            </a:r>
            <a:r>
              <a:rPr lang="en-US" dirty="0"/>
              <a:t>− Converting a higher datatype to a lower datatype is known as narrowing. It is done explicitly using the cast operator.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273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Type Promotion Rules</a:t>
            </a:r>
            <a:endParaRPr/>
          </a:p>
        </p:txBody>
      </p:sp>
      <p:sp>
        <p:nvSpPr>
          <p:cNvPr id="381" name="Google Shape;381;p35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all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byte, short, and char values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promoted to </a:t>
            </a:r>
            <a:r>
              <a:rPr lang="en-US" sz="2600" b="1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indent="-342900" algn="just">
              <a:lnSpc>
                <a:spcPct val="15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operand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whole expression is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promoted to </a:t>
            </a:r>
            <a:r>
              <a:rPr lang="en-US" sz="26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indent="-342900" algn="just">
              <a:lnSpc>
                <a:spcPct val="15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operand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entire expression is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promoted to </a:t>
            </a:r>
            <a:r>
              <a:rPr lang="en-US" sz="26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indent="-342900" algn="just">
              <a:lnSpc>
                <a:spcPct val="150000"/>
              </a:lnSpc>
              <a:spcBef>
                <a:spcPts val="520"/>
              </a:spcBef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any of the operands is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result is 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382" name="Google Shape;382;p35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83" name="Google Shape;383;p35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6"/>
          <p:cNvSpPr txBox="1">
            <a:spLocks noGrp="1"/>
          </p:cNvSpPr>
          <p:nvPr>
            <p:ph type="body" idx="1"/>
          </p:nvPr>
        </p:nvSpPr>
        <p:spPr>
          <a:xfrm>
            <a:off x="732502" y="83107"/>
            <a:ext cx="8229600" cy="61261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Promote {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[]) {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rgbClr val="0000CC"/>
              </a:buClr>
              <a:buSzPts val="2400"/>
              <a:buNone/>
            </a:pPr>
            <a:r>
              <a:rPr lang="en-US" sz="24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42;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rgbClr val="4F6228"/>
              </a:buClr>
              <a:buSzPts val="2400"/>
              <a:buNone/>
            </a:pPr>
            <a:r>
              <a:rPr lang="en-US" sz="2400" b="1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c</a:t>
            </a:r>
            <a:r>
              <a:rPr lang="en-US" sz="2400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'a';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1024;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50000;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rgbClr val="FF0000"/>
              </a:buClr>
              <a:buSzPts val="2400"/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f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5.67f;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rgbClr val="C00000"/>
              </a:buClr>
              <a:buSzPts val="2400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.1234;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result = (</a:t>
            </a: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</a:t>
            </a:r>
            <a:r>
              <a:rPr lang="en-US" sz="2400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(</a:t>
            </a: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en-US" sz="2400" b="1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- (</a:t>
            </a: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</a:t>
            </a:r>
            <a:r>
              <a:rPr lang="en-US" sz="24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indent="-34290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389" name="Google Shape;389;p36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1200"/>
            </a:pPr>
            <a:r>
              <a:rPr lang="en-US"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90" name="Google Shape;390;p36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18</a:t>
            </a:fld>
            <a:endParaRPr/>
          </a:p>
        </p:txBody>
      </p:sp>
      <p:sp>
        <p:nvSpPr>
          <p:cNvPr id="391" name="Google Shape;391;p36"/>
          <p:cNvSpPr txBox="1"/>
          <p:nvPr/>
        </p:nvSpPr>
        <p:spPr>
          <a:xfrm>
            <a:off x="6127750" y="1122414"/>
            <a:ext cx="6032500" cy="4939773"/>
          </a:xfrm>
          <a:prstGeom prst="rect">
            <a:avLst/>
          </a:prstGeom>
          <a:noFill/>
          <a:ln w="12700" cap="flat" cmpd="sng">
            <a:solidFill>
              <a:srgbClr val="0000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SzPts val="1800"/>
            </a:pPr>
            <a:r>
              <a:rPr lang="en-US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lang="en-US" b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is float. b is byte. So b is promoted to a </a:t>
            </a:r>
            <a:r>
              <a:rPr lang="en-US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(result f*b is float)</a:t>
            </a:r>
            <a:endParaRPr dirty="0"/>
          </a:p>
          <a:p>
            <a:pPr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b="1" dirty="0">
                <a:solidFill>
                  <a:srgbClr val="4F622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is int. c is char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is promoted to int, and the result i/c is 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>
              <a:lnSpc>
                <a:spcPct val="150000"/>
              </a:lnSpc>
              <a:buClr>
                <a:srgbClr val="C00000"/>
              </a:buClr>
              <a:buSzPts val="1800"/>
            </a:pPr>
            <a:r>
              <a:rPr lang="en-US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value of s is promoted to </a:t>
            </a:r>
            <a:r>
              <a:rPr lang="en-US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double –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lang="en-US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double</a:t>
            </a:r>
          </a:p>
          <a:p>
            <a:pPr>
              <a:lnSpc>
                <a:spcPct val="150000"/>
              </a:lnSpc>
              <a:buClr>
                <a:srgbClr val="C00000"/>
              </a:buClr>
              <a:buSzPts val="1800"/>
            </a:pPr>
            <a:endParaRPr lang="en-US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</a:t>
            </a:r>
            <a:r>
              <a:rPr lang="en-US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en-US" b="1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- (</a:t>
            </a: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</a:t>
            </a:r>
            <a:r>
              <a:rPr lang="en-US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</a:p>
          <a:p>
            <a:pPr>
              <a:lnSpc>
                <a:spcPct val="150000"/>
              </a:lnSpc>
              <a:buClr>
                <a:srgbClr val="FF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</a:t>
            </a:r>
            <a:r>
              <a:rPr lang="en-US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en-US" b="1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  <a:p>
            <a:pPr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(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</a:t>
            </a:r>
            <a:r>
              <a:rPr lang="en-US" b="1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en-US" b="1" dirty="0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- (</a:t>
            </a: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</a:t>
            </a:r>
            <a:r>
              <a:rPr lang="en-US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 </a:t>
            </a:r>
            <a:r>
              <a:rPr lang="en-US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minus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-US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promoted to </a:t>
            </a:r>
            <a:r>
              <a:rPr lang="en-US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endParaRPr dirty="0"/>
          </a:p>
          <a:p>
            <a:pPr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RESULT is </a:t>
            </a:r>
            <a:r>
              <a:rPr lang="en-US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endParaRPr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1569</Words>
  <Application>Microsoft Office PowerPoint</Application>
  <PresentationFormat>Widescreen</PresentationFormat>
  <Paragraphs>189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OOP Module1 part 9  (Type casting)</vt:lpstr>
      <vt:lpstr>PowerPoint Presentation</vt:lpstr>
      <vt:lpstr>Type Conversion and Casting</vt:lpstr>
      <vt:lpstr>Java’s Automatic Conversions</vt:lpstr>
      <vt:lpstr>Java’s Automatic Conversions(contd.)</vt:lpstr>
      <vt:lpstr>PowerPoint Presentation</vt:lpstr>
      <vt:lpstr>Casting Incompatible Types</vt:lpstr>
      <vt:lpstr>PowerPoint Presentation</vt:lpstr>
      <vt:lpstr>Casting Incompatible Types(contd.)</vt:lpstr>
      <vt:lpstr>PowerPoint Presentation</vt:lpstr>
      <vt:lpstr>Casting Incompatible Types(contd.)</vt:lpstr>
      <vt:lpstr>Casting Incompatible Types(contd.)</vt:lpstr>
      <vt:lpstr>PowerPoint Presentation</vt:lpstr>
      <vt:lpstr>Automatic Type Promotion in Expressions</vt:lpstr>
      <vt:lpstr>Automatic promotion</vt:lpstr>
      <vt:lpstr>PowerPoint Presentation</vt:lpstr>
      <vt:lpstr>The Type Promotion Rules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RENETHA J B</dc:creator>
  <cp:lastModifiedBy>RENETHA J B</cp:lastModifiedBy>
  <cp:revision>32</cp:revision>
  <dcterms:created xsi:type="dcterms:W3CDTF">2025-07-13T14:29:21Z</dcterms:created>
  <dcterms:modified xsi:type="dcterms:W3CDTF">2025-07-18T05:20:03Z</dcterms:modified>
</cp:coreProperties>
</file>