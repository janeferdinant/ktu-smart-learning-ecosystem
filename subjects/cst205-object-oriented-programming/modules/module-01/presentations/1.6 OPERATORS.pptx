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41"/>
  </p:notesMasterIdLst>
  <p:sldIdLst>
    <p:sldId id="256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3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Kp5GcGC8ZI89XV1R4W+vkKH6C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" name="Google Shape;45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4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4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5" name="Google Shape;75;p4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4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6175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6175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1447800"/>
            <a:ext cx="81534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Times New Roman"/>
              <a:buNone/>
            </a:pPr>
            <a:r>
              <a:rPr lang="en-US" sz="40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</a:t>
            </a:r>
            <a:r>
              <a:rPr lang="en-US" sz="4000" dirty="0">
                <a:solidFill>
                  <a:srgbClr val="0000CC"/>
                </a:solidFill>
              </a:rPr>
              <a:t>Using </a:t>
            </a:r>
            <a:r>
              <a:rPr lang="en-US" sz="40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endParaRPr sz="4000" dirty="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Times New Roman"/>
              <a:buNone/>
            </a:pPr>
            <a:endParaRPr sz="4000" dirty="0">
              <a:solidFill>
                <a:srgbClr val="0000CC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Times New Roman"/>
              <a:buNone/>
            </a:pPr>
            <a:r>
              <a:rPr lang="en-US" sz="4000"/>
              <a:t>Introduction to Java(part 6)</a:t>
            </a:r>
            <a:b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lang="en-US" sz="3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Operators, 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Bitwise Operators, 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Operators, 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Logical Operators, 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Operator, 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(Ternary) Operator, 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514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Precedence.</a:t>
            </a:r>
            <a:endParaRPr dirty="0"/>
          </a:p>
        </p:txBody>
      </p:sp>
      <p:sp>
        <p:nvSpPr>
          <p:cNvPr id="112" name="Google Shape;112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-1524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 are used for performing operations.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Operators 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+, -, *, /, %  ++, +=, -=,*=, /=, %=,  - -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Bitwise Operators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 Bitwise unary NOT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&amp;,| ,^  , &gt;&gt; ,&gt;&gt;&gt; ,&lt;&lt; , &amp;=, |=, ^=, &gt;&gt;=, &gt;&gt;&gt;=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Operators 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=, !=, &gt;, &lt; , &lt;=, &gt;=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Logical Operators 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&amp;, |, ^, ||,&amp;&amp;,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&amp;=,| =, ^=, ==, !=, ?: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Operator</a:t>
            </a:r>
            <a:endParaRPr dirty="0"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=, +=, -=, *=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(Ternary) Operator 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?: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Operators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600200"/>
            <a:ext cx="8193087" cy="47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body" idx="1"/>
          </p:nvPr>
        </p:nvSpPr>
        <p:spPr>
          <a:xfrm>
            <a:off x="50800" y="304800"/>
            <a:ext cx="4445000" cy="6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BasicMath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static void main(String args[])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System.out.println("Integer Arithmetic");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a = 1 + 1;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b = a * 3;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c = b / 4;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d = c - a;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e = -d;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System.out.println("a = " + a);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System.out.println("b = " + b);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System.out.println("c = " + c);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System.out.println("d = " + d);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System.out.println("e = " + e);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>
            <a:spLocks noGrp="1"/>
          </p:cNvSpPr>
          <p:nvPr>
            <p:ph type="body" idx="1"/>
          </p:nvPr>
        </p:nvSpPr>
        <p:spPr>
          <a:xfrm>
            <a:off x="4419600" y="304800"/>
            <a:ext cx="4549775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System.out.println("\nFloating Point Arithmetic");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da = 1 + 1;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db = da * 3;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dc = db / 4;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dd = dc - a;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de = -dd;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System.out.println("da = " + da);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System.out.println("db = " + db);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System.out.println("dc = " + dc);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System.out.println("dd = " + dd);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System.out.println("de = " + de);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228600" y="5181600"/>
            <a:ext cx="508000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Arithmetic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2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6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1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-1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= 1 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2057400" y="5334000"/>
            <a:ext cx="457200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 Point Arithmetic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= 2.0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= 6.0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dc = 1.5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 = -0.5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= 0.5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Basic Arithmetic Operators</a:t>
            </a:r>
            <a:b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basic arithmetic operations—addition, subtraction, multiplication, and division works for all numeric types.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minus operator also has a unary form that negates its single operand.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	 int a=3;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int b=-a;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Modulus Operator</a:t>
            </a:r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77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modulus operator, </a:t>
            </a: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%, returns the remainder of a division operation.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applied to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types as well as integer types. </a:t>
            </a:r>
          </a:p>
          <a:p>
            <a:pPr marL="63500" indent="0">
              <a:buNone/>
            </a:pPr>
            <a:r>
              <a:rPr lang="en-IN" dirty="0"/>
              <a:t>42 % 10 = 2</a:t>
            </a:r>
          </a:p>
          <a:p>
            <a:pPr marL="63500" indent="0">
              <a:buNone/>
            </a:pPr>
            <a:r>
              <a:rPr lang="en-IN" dirty="0"/>
              <a:t>42.25 % 10 = 2.25</a:t>
            </a:r>
            <a:endParaRPr dirty="0"/>
          </a:p>
        </p:txBody>
      </p:sp>
      <p:sp>
        <p:nvSpPr>
          <p:cNvPr id="161" name="Google Shape;161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>
            <a:spLocks noGrp="1"/>
          </p:cNvSpPr>
          <p:nvPr>
            <p:ph type="title"/>
          </p:nvPr>
        </p:nvSpPr>
        <p:spPr>
          <a:xfrm>
            <a:off x="3048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Compound Assignment Operators</a:t>
            </a:r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</a:t>
            </a:r>
            <a:r>
              <a:rPr lang="en-US" sz="26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</a:t>
            </a:r>
            <a:r>
              <a:rPr lang="en-US" sz="26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same as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=Variable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programming: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a = a + 4;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written as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a += 4;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a=3;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a+=2;      //Now value of a is 3+2=5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the % operator.</a:t>
            </a:r>
            <a:b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74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Modulus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x = 42;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y = 42.25;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System.out.println("x mod 10 = " + x % 10);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System.out.println("y mod 10 = " + y % 10);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When you run this program, you will get the following output: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mod 10 = 2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mod 10 = 2.25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Pre-Increment Post increment</a:t>
            </a:r>
            <a:endParaRPr/>
          </a:p>
        </p:txBody>
      </p:sp>
      <p:sp>
        <p:nvSpPr>
          <p:cNvPr id="184" name="Google Shape;184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 increment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42;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++x;</a:t>
            </a:r>
            <a:endParaRPr dirty="0"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increment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42;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x++;</a:t>
            </a:r>
            <a:endParaRPr dirty="0"/>
          </a:p>
        </p:txBody>
      </p:sp>
      <p:sp>
        <p:nvSpPr>
          <p:cNvPr id="185" name="Google Shape;185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4114800" y="2362200"/>
            <a:ext cx="620712" cy="646112"/>
          </a:xfrm>
          <a:prstGeom prst="rect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43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43</a:t>
            </a:r>
            <a:endParaRPr dirty="0"/>
          </a:p>
        </p:txBody>
      </p:sp>
      <p:sp>
        <p:nvSpPr>
          <p:cNvPr id="188" name="Google Shape;188;p11"/>
          <p:cNvSpPr txBox="1"/>
          <p:nvPr/>
        </p:nvSpPr>
        <p:spPr>
          <a:xfrm>
            <a:off x="4343400" y="4419600"/>
            <a:ext cx="620712" cy="646112"/>
          </a:xfrm>
          <a:prstGeom prst="rect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43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42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D47A-E875-7FC4-4F36-9889C4FE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991F7-E776-EC68-E217-5EE30F557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0" indent="0">
              <a:buNone/>
            </a:pPr>
            <a:r>
              <a:rPr lang="en-IN" dirty="0"/>
              <a:t>a=3;</a:t>
            </a:r>
          </a:p>
          <a:p>
            <a:pPr marL="63500" indent="0">
              <a:buNone/>
            </a:pPr>
            <a:r>
              <a:rPr lang="en-IN" dirty="0"/>
              <a:t>b=8;</a:t>
            </a:r>
          </a:p>
          <a:p>
            <a:pPr marL="63500" indent="0">
              <a:buNone/>
            </a:pPr>
            <a:r>
              <a:rPr lang="en-IN" dirty="0"/>
              <a:t>c=a+++b;</a:t>
            </a:r>
          </a:p>
          <a:p>
            <a:pPr marL="63500" indent="0">
              <a:buNone/>
            </a:pPr>
            <a:endParaRPr lang="en-IN" dirty="0"/>
          </a:p>
          <a:p>
            <a:pPr marL="63500" indent="0">
              <a:buNone/>
            </a:pPr>
            <a:endParaRPr lang="en-IN" dirty="0"/>
          </a:p>
          <a:p>
            <a:pPr marL="63500" indent="0">
              <a:buNone/>
            </a:pPr>
            <a:endParaRPr lang="en-IN" dirty="0"/>
          </a:p>
          <a:p>
            <a:pPr marL="63500" indent="0">
              <a:buNone/>
            </a:pPr>
            <a:r>
              <a:rPr lang="en-IN" dirty="0"/>
              <a:t>a=3;</a:t>
            </a:r>
          </a:p>
          <a:p>
            <a:pPr marL="63500" indent="0">
              <a:buNone/>
            </a:pPr>
            <a:r>
              <a:rPr lang="en-IN" dirty="0"/>
              <a:t>b=8;</a:t>
            </a:r>
          </a:p>
          <a:p>
            <a:pPr marL="63500" indent="0">
              <a:buNone/>
            </a:pPr>
            <a:r>
              <a:rPr lang="en-IN" dirty="0"/>
              <a:t>c=a+++++b;</a:t>
            </a:r>
          </a:p>
          <a:p>
            <a:pPr marL="63500" indent="0">
              <a:buNone/>
            </a:pPr>
            <a:endParaRPr lang="en-IN" dirty="0"/>
          </a:p>
        </p:txBody>
      </p:sp>
      <p:sp>
        <p:nvSpPr>
          <p:cNvPr id="4" name="Google Shape;187;p11">
            <a:extLst>
              <a:ext uri="{FF2B5EF4-FFF2-40B4-BE49-F238E27FC236}">
                <a16:creationId xmlns:a16="http://schemas.microsoft.com/office/drawing/2014/main" id="{4CD6B27B-048B-9830-F856-FA2E9CEFF592}"/>
              </a:ext>
            </a:extLst>
          </p:cNvPr>
          <p:cNvSpPr txBox="1"/>
          <p:nvPr/>
        </p:nvSpPr>
        <p:spPr>
          <a:xfrm>
            <a:off x="3495368" y="1713271"/>
            <a:ext cx="4370438" cy="2308284"/>
          </a:xfrm>
          <a:prstGeom prst="rect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c=a+++b is same as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c=(a++)+b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First </a:t>
            </a:r>
            <a:r>
              <a:rPr lang="en-US" sz="1800" dirty="0" err="1">
                <a:solidFill>
                  <a:schemeClr val="dk1"/>
                </a:solidFill>
              </a:rPr>
              <a:t>a+b</a:t>
            </a:r>
            <a:r>
              <a:rPr lang="en-US" sz="1800" dirty="0">
                <a:solidFill>
                  <a:schemeClr val="dk1"/>
                </a:solidFill>
              </a:rPr>
              <a:t> is done then it is stored in c then a is incremented.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So values are</a:t>
            </a:r>
            <a:endParaRPr lang="en-IN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dirty="0">
                <a:solidFill>
                  <a:schemeClr val="dk1"/>
                </a:solidFill>
              </a:rPr>
              <a:t>b=8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c=11</a:t>
            </a:r>
            <a:endParaRPr lang="en-US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87;p11">
            <a:extLst>
              <a:ext uri="{FF2B5EF4-FFF2-40B4-BE49-F238E27FC236}">
                <a16:creationId xmlns:a16="http://schemas.microsoft.com/office/drawing/2014/main" id="{36218FF4-8BA3-0F02-A8F3-D15320B672F5}"/>
              </a:ext>
            </a:extLst>
          </p:cNvPr>
          <p:cNvSpPr txBox="1"/>
          <p:nvPr/>
        </p:nvSpPr>
        <p:spPr>
          <a:xfrm>
            <a:off x="3495368" y="4134626"/>
            <a:ext cx="4370438" cy="2585283"/>
          </a:xfrm>
          <a:prstGeom prst="rect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c=a++++b is same as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c=(a++)+(++b)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First bis incremented, then  </a:t>
            </a:r>
            <a:r>
              <a:rPr lang="en-US" sz="1800" dirty="0" err="1">
                <a:solidFill>
                  <a:schemeClr val="dk1"/>
                </a:solidFill>
              </a:rPr>
              <a:t>a+b</a:t>
            </a:r>
            <a:r>
              <a:rPr lang="en-US" sz="1800" dirty="0">
                <a:solidFill>
                  <a:schemeClr val="dk1"/>
                </a:solidFill>
              </a:rPr>
              <a:t> is done then it is stored in c then a is incremented.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So values are</a:t>
            </a:r>
            <a:endParaRPr lang="en-IN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dirty="0">
                <a:solidFill>
                  <a:schemeClr val="dk1"/>
                </a:solidFill>
              </a:rPr>
              <a:t>b=9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c=12</a:t>
            </a:r>
            <a:endParaRPr lang="en-US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138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Bitwise operators</a:t>
            </a:r>
            <a:endParaRPr/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524000"/>
            <a:ext cx="8961437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Bitwise logical oprators</a:t>
            </a:r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pic>
        <p:nvPicPr>
          <p:cNvPr id="206" name="Google Shape;20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600200"/>
            <a:ext cx="77724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pic>
        <p:nvPicPr>
          <p:cNvPr id="214" name="Google Shape;21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24000"/>
            <a:ext cx="3338512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800" y="1371600"/>
            <a:ext cx="3059112" cy="188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0" y="4343400"/>
            <a:ext cx="3598862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5791200" y="4343400"/>
            <a:ext cx="2700337" cy="18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body" idx="1"/>
          </p:nvPr>
        </p:nvSpPr>
        <p:spPr>
          <a:xfrm>
            <a:off x="228600" y="228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BitLogic {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binary[] = {"0000", "0001", "0010", "0011", "0100", "0101", "0110"};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3;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 = 6;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c = a | b;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 = a &amp; b;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e = a ^ b;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f = (~a &amp; b) | (a &amp; ~b);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g = ~a &amp; 0x0f;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 = " + binary[a]);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b = " + binary[b]);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a|b = " + binary[c]);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a&amp;b = " + binary[d]);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a^b = " + binary[e]);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System.out.println("~a&amp;b|a&amp;~b = " + binary[f]);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~a = " + binary[g]);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0011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0110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a|b = 0111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a&amp;b = 0010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a^b = 0101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~a&amp;b|a&amp;~b = 0101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~a = 1100</a:t>
            </a:r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6404600" y="2122175"/>
            <a:ext cx="4572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</a:rPr>
              <a:t>OUTPUT</a:t>
            </a:r>
            <a:endParaRPr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0011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0110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a|b = 0111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a&amp;b = 0010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a^b = 0101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~a&amp;b|a&amp;~b = 0101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~a = 1100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Shift</a:t>
            </a:r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body" idx="1"/>
          </p:nvPr>
        </p:nvSpPr>
        <p:spPr>
          <a:xfrm>
            <a:off x="457200" y="992187"/>
            <a:ext cx="8229600" cy="487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left shift operator, &lt;&lt;, shifts all of the bits in a value to the left a specified number of times.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&lt;&lt; num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shift left, the high-order bit(leftmost) is shifted out (and lost), and a zero is brought in on the right.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left shift is applied to an int operand, bits are lost once they are shifted past bit position 31.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operand is a long, then bits are lost after bit position 63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and short values are promoted to int when an expression is evaluated.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-1524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result of a left shift on a byte or short value will be an int, and the bits shifted left will not be lost until they shift past bit position 31.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131450" y="325721"/>
            <a:ext cx="8229600" cy="59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Left shifting a byte value.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ByteShift {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a = 64, b;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a &lt;&lt; 2;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(byte) (a &lt;&lt; 2);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a: " + a);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 and b: " + i + " " + b);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a: 64</a:t>
            </a:r>
            <a:endParaRPr sz="2400"/>
          </a:p>
          <a:p>
            <a:pPr marL="0" marR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and b: 256 0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5654025" y="1139525"/>
            <a:ext cx="3776700" cy="5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In the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 = a &lt;&lt; 2;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a is promoted to int for the purposes of evaluation, left-shifting the value 64 (0100 0000) twice results in i (i is int) containing the value 256 (1 0000 0000). 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in b = (byte) (a &lt;&lt; 2);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a&lt;&lt;2 result is convereted to byte and stored in byte b.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value in b(b is byte)  contains 0 because after the shift, the low-order byte is now zero. Its only 1 bit has been shifted out.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shift</a:t>
            </a:r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time you shift a value to the right, it divides that value by two—and discards any remainder. </a:t>
            </a:r>
            <a:endParaRPr/>
          </a:p>
          <a:p>
            <a:pPr marL="742950" marR="0" lvl="1" indent="-1333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are shifting right,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top (leftmost) bits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exposed by the right shift </a:t>
            </a:r>
            <a:r>
              <a:rPr lang="en-US" sz="2600" b="0" i="0" u="sng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filled in with the previous contents of the top bit.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is called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extension and serves to preserve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sign of negative numbers when you shift them right. For example, –8 &gt;&gt; 1 is –4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  <p:pic>
        <p:nvPicPr>
          <p:cNvPr id="244" name="Google Shape;2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4953000"/>
            <a:ext cx="3352800" cy="143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524000"/>
            <a:ext cx="7397750" cy="13954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shift e.g</a:t>
            </a:r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/>
          </a:p>
        </p:txBody>
      </p:sp>
      <p:pic>
        <p:nvPicPr>
          <p:cNvPr id="254" name="Google Shape;25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4572000"/>
            <a:ext cx="3400425" cy="1601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3429000"/>
            <a:ext cx="72898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nsigned, shift-right operator   &gt;&gt;&gt;</a:t>
            </a:r>
            <a:endParaRPr/>
          </a:p>
        </p:txBody>
      </p:sp>
      <p:sp>
        <p:nvSpPr>
          <p:cNvPr id="261" name="Google Shape;261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a zero into the high-order bit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(letftmost or top) no matter what its initial value was. This is known as an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unsigned shift.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unsigned, shift-right operator,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&gt;&gt;&gt;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always shifts zeros into the high-order bit.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is set to –1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sets all 32 bits to 1 in binary. This value is then shifted right 24 bits, filling the top 24 bits with zeros, ignoring normal sign extension. This sets a to 255.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  <p:pic>
        <p:nvPicPr>
          <p:cNvPr id="264" name="Google Shape;26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5029200"/>
            <a:ext cx="6591300" cy="893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operators</a:t>
            </a:r>
            <a:endParaRPr/>
          </a:p>
        </p:txBody>
      </p:sp>
      <p:sp>
        <p:nvSpPr>
          <p:cNvPr id="270" name="Google Shape;270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  <p:pic>
        <p:nvPicPr>
          <p:cNvPr id="273" name="Google Shape;27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75" y="1676400"/>
            <a:ext cx="81153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operator(contd.)</a:t>
            </a:r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4;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 = 1;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c = a &lt; b;	//c contains false. 4 is not less than 1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the result of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a&lt;b (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false)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stored in c.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done;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...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if(!done) ... // Valid in C/C++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if(done) ... // but </a:t>
            </a: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valid  in Java.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953000" y="3162300"/>
            <a:ext cx="4419600" cy="1447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if(done == 0) //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Java-style.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if(done != 0) 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457200" y="5638800"/>
            <a:ext cx="81565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Java, true and false are nonnumeric values that do not relate to zero or nonzero.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Logical Operators</a:t>
            </a:r>
            <a:endParaRPr/>
          </a:p>
        </p:txBody>
      </p:sp>
      <p:sp>
        <p:nvSpPr>
          <p:cNvPr id="288" name="Google Shape;288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/>
          </a:p>
        </p:txBody>
      </p:sp>
      <p:pic>
        <p:nvPicPr>
          <p:cNvPr id="291" name="Google Shape;29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219200"/>
            <a:ext cx="4572000" cy="49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logical Boolean operators,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&amp;, |, and ^, operate on boolean values in the same way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they operate on the bits of an integer.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/>
          </a:p>
        </p:txBody>
      </p:sp>
      <p:pic>
        <p:nvPicPr>
          <p:cNvPr id="300" name="Google Shape;30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00400"/>
            <a:ext cx="949642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5"/>
          <p:cNvSpPr txBox="1">
            <a:spLocks noGrp="1"/>
          </p:cNvSpPr>
          <p:nvPr>
            <p:ph type="body" idx="1"/>
          </p:nvPr>
        </p:nvSpPr>
        <p:spPr>
          <a:xfrm>
            <a:off x="457200" y="-33337"/>
            <a:ext cx="8229600" cy="6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the boolean logical operators.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BoolLogic {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a = true;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b = false;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c = a | b;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d = a &amp; b;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e = a ^ b;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f = (!a &amp; b) | (a &amp; !b);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g = !a;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 = " + a);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b = " + b);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a|b = " + c);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a&amp;b = " + d);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a^b = " + e);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System.out.println("!a&amp;b|a&amp;!b = " + f);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 !a = " + g);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4572000" y="1371600"/>
            <a:ext cx="4572000" cy="203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false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a|b = 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a&amp;b = false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a^b = 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a&amp;b|a&amp;!b = 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!a = false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82296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Short-Circuit Logical Operators</a:t>
            </a:r>
            <a:endParaRPr/>
          </a:p>
        </p:txBody>
      </p:sp>
      <p:sp>
        <p:nvSpPr>
          <p:cNvPr id="313" name="Google Shape;313;p26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485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versions of the Boolean AND and OR operators  are known as </a:t>
            </a:r>
            <a:r>
              <a:rPr lang="en-US" sz="2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short-circuit logical operators. || &amp;&amp;</a:t>
            </a:r>
            <a:endParaRPr sz="260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||B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Here OR operator results in true when A is true, no matter what B is.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A&amp;&amp;B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the AND operator results in false when A is false, no matter what B is.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use the || and &amp;&amp; forms Java </a:t>
            </a:r>
            <a:r>
              <a:rPr lang="en-US" sz="26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not bother to evaluate the right-hand operand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 of the expression can be determined by the left operand alone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Short-Circuit Logical Operators(E.g)</a:t>
            </a:r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denom != 0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&amp;&amp; num / denom &gt; 10)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if denom is 0 the second expression is not validated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there is no risk of causing a run-time exception when denom is zero.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this line of code were written using the single &amp; version of AND, both sides would be evaluated, causing a run-time exception when denom is zero.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Operator		</a:t>
            </a:r>
            <a:endParaRPr/>
          </a:p>
        </p:txBody>
      </p:sp>
      <p:sp>
        <p:nvSpPr>
          <p:cNvPr id="329" name="Google Shape;329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= expression;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the type of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must be compatible with the type of expression.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allows you to create a chain of assignments</a:t>
            </a:r>
            <a:endParaRPr sz="26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x, y, z;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y = z = 100; // set x, y, and z to 100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Ternary (conditional or three-way) operator</a:t>
            </a:r>
            <a:endParaRPr/>
          </a:p>
        </p:txBody>
      </p:sp>
      <p:sp>
        <p:nvSpPr>
          <p:cNvPr id="337" name="Google Shape;337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? Operator has this general form: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expression1 ? expression2 : expression3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expression1 can be any expression that evaluates to a boolean value.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expression1 is true, then expression2 is evaluated; otherwise, expression3 is evaluated.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 of the ? operation is that of the expression evaluated.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Both expression2 and expression3 are required to return the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type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</a:t>
            </a: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void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</p:txBody>
      </p:sp>
      <p:sp>
        <p:nvSpPr>
          <p:cNvPr id="345" name="Google Shape;345;p30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ratio = denom == 0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en-US" sz="26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 / denom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denom equals </a:t>
            </a: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zero,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the expression between the question mark and the colon is evaluated and used as the value of the entire ? expression. </a:t>
            </a:r>
            <a:endParaRPr/>
          </a:p>
          <a:p>
            <a:pPr marL="1143000" marR="0" lvl="2" indent="-228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0 is stored in ratio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denom does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equal zero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the expression after the colon is evaluated and used for the value of the entire ? expression.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 num/denom is stored in ratio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 produced by the ? operator is then assigned to ratio.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31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a=3,b=5;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c=(a&gt;b?a:b);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a&gt;b is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the value of b is stored in c.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Precedence</a:t>
            </a:r>
            <a:endParaRPr/>
          </a:p>
        </p:txBody>
      </p:sp>
      <p:sp>
        <p:nvSpPr>
          <p:cNvPr id="361" name="Google Shape;361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/>
          </a:p>
        </p:txBody>
      </p:sp>
      <p:pic>
        <p:nvPicPr>
          <p:cNvPr id="364" name="Google Shape;36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95400"/>
            <a:ext cx="5943600" cy="50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Associativity of operators</a:t>
            </a:r>
            <a:endParaRPr/>
          </a:p>
        </p:txBody>
      </p:sp>
      <p:sp>
        <p:nvSpPr>
          <p:cNvPr id="370" name="Google Shape;370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expression has two or more operators with the same precedence, the expression is evaluated according to its  </a:t>
            </a: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associativity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order of applying operators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3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Associativity</a:t>
            </a:r>
            <a:endParaRPr/>
          </a:p>
        </p:txBody>
      </p:sp>
      <p:sp>
        <p:nvSpPr>
          <p:cNvPr id="378" name="Google Shape;378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/>
          </a:p>
        </p:txBody>
      </p:sp>
      <p:pic>
        <p:nvPicPr>
          <p:cNvPr id="381" name="Google Shape;38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1371600"/>
            <a:ext cx="6072187" cy="52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/>
          </a:p>
        </p:txBody>
      </p:sp>
      <p:pic>
        <p:nvPicPr>
          <p:cNvPr id="390" name="Google Shape;39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87325"/>
            <a:ext cx="5867400" cy="66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Associativity</a:t>
            </a:r>
            <a:endParaRPr/>
          </a:p>
        </p:txBody>
      </p:sp>
      <p:sp>
        <p:nvSpPr>
          <p:cNvPr id="396" name="Google Shape;396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to Left associative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Unary operators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operators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Conditional(ternary) operators)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other operators are Left to Right associative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404" name="Google Shape;404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3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/>
          </a:p>
        </p:txBody>
      </p:sp>
      <p:sp>
        <p:nvSpPr>
          <p:cNvPr id="406" name="Google Shape;406;p3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2727</Words>
  <Application>Microsoft Office PowerPoint</Application>
  <PresentationFormat>On-screen Show (4:3)</PresentationFormat>
  <Paragraphs>371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Noto Sans Symbols</vt:lpstr>
      <vt:lpstr>Times New Roman</vt:lpstr>
      <vt:lpstr>1_Office Theme</vt:lpstr>
      <vt:lpstr>2_Office Theme</vt:lpstr>
      <vt:lpstr>Office Theme</vt:lpstr>
      <vt:lpstr>Object Oriented Programming Using Java  Introduction to Java(part 6) </vt:lpstr>
      <vt:lpstr>Topics</vt:lpstr>
      <vt:lpstr>Operators</vt:lpstr>
      <vt:lpstr>Arithmetic Operators</vt:lpstr>
      <vt:lpstr>PowerPoint Presentation</vt:lpstr>
      <vt:lpstr>The Basic Arithmetic Operators </vt:lpstr>
      <vt:lpstr>Modulus Operator</vt:lpstr>
      <vt:lpstr>Arithmetic Compound Assignment Operators</vt:lpstr>
      <vt:lpstr>// Demonstrate the % operator. </vt:lpstr>
      <vt:lpstr>Pre-Increment Post increment</vt:lpstr>
      <vt:lpstr>PowerPoint Presentation</vt:lpstr>
      <vt:lpstr>Bitwise operators</vt:lpstr>
      <vt:lpstr>Bitwise logical oprators</vt:lpstr>
      <vt:lpstr>Examples</vt:lpstr>
      <vt:lpstr>PowerPoint Presentation</vt:lpstr>
      <vt:lpstr>Left Shift</vt:lpstr>
      <vt:lpstr>PowerPoint Presentation</vt:lpstr>
      <vt:lpstr>Right shift</vt:lpstr>
      <vt:lpstr>Right shift e.g</vt:lpstr>
      <vt:lpstr>Unsigned, shift-right operator   &gt;&gt;&gt;</vt:lpstr>
      <vt:lpstr>Relational operators</vt:lpstr>
      <vt:lpstr>Relational operator(contd.)</vt:lpstr>
      <vt:lpstr>Boolean Logical Operators</vt:lpstr>
      <vt:lpstr>PowerPoint Presentation</vt:lpstr>
      <vt:lpstr>PowerPoint Presentation</vt:lpstr>
      <vt:lpstr>Short-Circuit Logical Operators</vt:lpstr>
      <vt:lpstr>Short-Circuit Logical Operators(E.g)</vt:lpstr>
      <vt:lpstr>Assignment Operator  </vt:lpstr>
      <vt:lpstr>Ternary (conditional or three-way) operator</vt:lpstr>
      <vt:lpstr>E.g.</vt:lpstr>
      <vt:lpstr>PowerPoint Presentation</vt:lpstr>
      <vt:lpstr>Operator Precedence</vt:lpstr>
      <vt:lpstr>Associativity of operators</vt:lpstr>
      <vt:lpstr>Operator Associativity</vt:lpstr>
      <vt:lpstr>PowerPoint Presentation</vt:lpstr>
      <vt:lpstr>Associativity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4</cp:revision>
  <cp:lastPrinted>2025-07-13T11:16:28Z</cp:lastPrinted>
  <dcterms:created xsi:type="dcterms:W3CDTF">2006-08-16T00:00:00Z</dcterms:created>
  <dcterms:modified xsi:type="dcterms:W3CDTF">2025-07-16T10:47:56Z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3A49CDF7E1A347948C930AEB8E5EE554_12</vt:lpwstr>
  </property>
  <property fmtid="{D5CDD505-2E9C-101B-9397-08002B2CF9AE}" pid="3" name="KSOProductBuildVer">
    <vt:lpwstr>1033-12.2.0.19805</vt:lpwstr>
  </property>
</Properties>
</file>