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6858000" type="screen4x3"/>
  <p:notesSz cx="7315200" cy="9601200"/>
  <p:embeddedFontLst>
    <p:embeddedFont>
      <p:font typeface="Snap ITC" panose="04040A07060A02020202" pitchFamily="82" charset="0"/>
      <p:regular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000000"/>
          </p15:clr>
        </p15:guide>
        <p15:guide id="2" pos="2304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8" roundtripDataSignature="AMtx7mj+Qfmlj5lilN7CkV+9+RFpQ0y9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BBB23E0-89A2-4F06-9CFE-B3EC149292F0}">
  <a:tblStyle styleId="{8BBB23E0-89A2-4F06-9CFE-B3EC149292F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474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customschemas.google.com/relationships/presentationmetadata" Target="meta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5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8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9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1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2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3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4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5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6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7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0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1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2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3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4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5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6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7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8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9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0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1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2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3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4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5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6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7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8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9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0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43800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5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5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72375" y="-762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3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3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3700" algn="just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810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810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810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3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3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48575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5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»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9" name="Google Shape;39;p5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»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5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43800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6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5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5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5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7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5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6" name="Google Shape;66;p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6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3" name="Google Shape;73;p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1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1"/>
          <p:cNvSpPr txBox="1">
            <a:spLocks noGrp="1"/>
          </p:cNvSpPr>
          <p:nvPr>
            <p:ph type="body" idx="1"/>
          </p:nvPr>
        </p:nvSpPr>
        <p:spPr>
          <a:xfrm rot="5400000">
            <a:off x="2042319" y="-518318"/>
            <a:ext cx="50593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6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6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6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6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6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6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51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4">
            <a:extLst>
              <a:ext uri="{FF2B5EF4-FFF2-40B4-BE49-F238E27FC236}">
                <a16:creationId xmlns:a16="http://schemas.microsoft.com/office/drawing/2014/main" id="{2A0B9DBB-D287-24A7-CEC9-82E2CA06E4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93DEBCC-1C63-4086-0741-C8A773FB025C}"/>
              </a:ext>
            </a:extLst>
          </p:cNvPr>
          <p:cNvSpPr txBox="1">
            <a:spLocks/>
          </p:cNvSpPr>
          <p:nvPr/>
        </p:nvSpPr>
        <p:spPr>
          <a:xfrm>
            <a:off x="381000" y="1219200"/>
            <a:ext cx="8458200" cy="202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>
                <a:solidFill>
                  <a:srgbClr val="0000CC"/>
                </a:solidFill>
              </a:rPr>
              <a:t>PBCST304 Object Oriented Programming in Java</a:t>
            </a:r>
            <a:br>
              <a:rPr lang="en-US" dirty="0"/>
            </a:br>
            <a:r>
              <a:rPr lang="en-US" dirty="0"/>
              <a:t>Module 4</a:t>
            </a:r>
            <a:br>
              <a:rPr lang="en-US" dirty="0"/>
            </a:br>
            <a:r>
              <a:rPr lang="en-US" dirty="0"/>
              <a:t>(Part 7)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EC750C2-CFEF-7A88-E076-9E77F455DF75}"/>
              </a:ext>
            </a:extLst>
          </p:cNvPr>
          <p:cNvSpPr txBox="1">
            <a:spLocks/>
          </p:cNvSpPr>
          <p:nvPr/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Font typeface="Arial" pitchFamily="34" charset="0"/>
              <a:buNone/>
              <a:defRPr/>
            </a:pPr>
            <a:r>
              <a:rPr lang="en-US">
                <a:latin typeface="Snap ITC" pitchFamily="82" charset="0"/>
              </a:rPr>
              <a:t>Prepared by </a:t>
            </a:r>
          </a:p>
          <a:p>
            <a:pPr>
              <a:buFont typeface="Arial" pitchFamily="34" charset="0"/>
              <a:buNone/>
              <a:defRPr/>
            </a:pPr>
            <a:r>
              <a:rPr lang="en-US" sz="4000" b="1"/>
              <a:t>Renetha J.B.</a:t>
            </a:r>
            <a:endParaRPr lang="en-US" sz="4000" b="1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3117EAD6-B79D-7900-7001-7A68583E1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defRPr/>
            </a:pPr>
            <a:fld id="{0B831C5C-37AA-4E91-8C39-54118789491F}" type="slidenum">
              <a:rPr lang="en-US"/>
              <a:pPr>
                <a:defRPr/>
              </a:pPr>
              <a:t>1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6304C968-FCE3-D29B-DAF0-B6C93BE93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Prepared by Renetha J.B.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Topics</a:t>
            </a:r>
            <a:endParaRPr/>
          </a:p>
        </p:txBody>
      </p:sp>
      <p:sp>
        <p:nvSpPr>
          <p:cNvPr id="101" name="Google Shape;101;p2"/>
          <p:cNvSpPr txBox="1">
            <a:spLocks noGrp="1"/>
          </p:cNvSpPr>
          <p:nvPr>
            <p:ph type="body" idx="1"/>
          </p:nvPr>
        </p:nvSpPr>
        <p:spPr>
          <a:xfrm>
            <a:off x="304800" y="838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Char char="•"/>
            </a:pPr>
            <a:r>
              <a:rPr lang="en-US" sz="2800" b="1">
                <a:solidFill>
                  <a:srgbClr val="C00000"/>
                </a:solidFill>
              </a:rPr>
              <a:t>Event handling:</a:t>
            </a:r>
            <a:r>
              <a:rPr lang="en-US">
                <a:solidFill>
                  <a:srgbClr val="C00000"/>
                </a:solidFill>
              </a:rPr>
              <a:t> </a:t>
            </a:r>
            <a:endParaRPr/>
          </a:p>
          <a:p>
            <a:pPr marL="742950" lvl="1" indent="-285750" algn="just" rtl="0">
              <a:lnSpc>
                <a:spcPct val="2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/>
              <a:t>  Event Classes</a:t>
            </a:r>
            <a:endParaRPr sz="2800" b="1">
              <a:solidFill>
                <a:srgbClr val="0000CC"/>
              </a:solidFill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03" name="Google Shape;103;p2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457200" y="-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Classes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body" idx="1"/>
          </p:nvPr>
        </p:nvSpPr>
        <p:spPr>
          <a:xfrm>
            <a:off x="457200" y="762000"/>
            <a:ext cx="8229600" cy="6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classes that represent events(Event classes) are at the core of Java’s event handling mechanism.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most widely used events are those defined by the AWT and those defined by Swing.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At the </a:t>
            </a:r>
            <a:r>
              <a:rPr lang="en-US" sz="2400" b="1">
                <a:solidFill>
                  <a:srgbClr val="C00000"/>
                </a:solidFill>
              </a:rPr>
              <a:t>root</a:t>
            </a:r>
            <a:r>
              <a:rPr lang="en-US" sz="2400" b="1"/>
              <a:t> of the Java event class hierarchy </a:t>
            </a:r>
            <a:r>
              <a:rPr lang="en-US" sz="2400"/>
              <a:t>is </a:t>
            </a:r>
            <a:r>
              <a:rPr lang="en-US" sz="2400" b="1">
                <a:solidFill>
                  <a:srgbClr val="0000CC"/>
                </a:solidFill>
              </a:rPr>
              <a:t>EventObject</a:t>
            </a:r>
            <a:r>
              <a:rPr lang="en-US" sz="2400" b="1"/>
              <a:t>, </a:t>
            </a:r>
            <a:r>
              <a:rPr lang="en-US" sz="2400"/>
              <a:t>which is in </a:t>
            </a:r>
            <a:r>
              <a:rPr lang="en-US" sz="2400" b="1">
                <a:solidFill>
                  <a:srgbClr val="0000CC"/>
                </a:solidFill>
              </a:rPr>
              <a:t>java.util</a:t>
            </a:r>
            <a:r>
              <a:rPr lang="en-US" sz="2400" b="1"/>
              <a:t>.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000"/>
              <a:buChar char="–"/>
            </a:pPr>
            <a:r>
              <a:rPr lang="en-US" sz="2000" b="1">
                <a:solidFill>
                  <a:srgbClr val="0000CC"/>
                </a:solidFill>
              </a:rPr>
              <a:t>EventObject </a:t>
            </a:r>
            <a:r>
              <a:rPr lang="en-US" sz="2200" b="1"/>
              <a:t>is the </a:t>
            </a:r>
            <a:r>
              <a:rPr lang="en-US" sz="2400"/>
              <a:t>superclass for all events. 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Its one constructor is :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	</a:t>
            </a:r>
            <a:r>
              <a:rPr lang="en-US" sz="2400" b="1">
                <a:solidFill>
                  <a:srgbClr val="0000CC"/>
                </a:solidFill>
              </a:rPr>
              <a:t>EventObject</a:t>
            </a:r>
            <a:r>
              <a:rPr lang="en-US" sz="2400"/>
              <a:t>(Object </a:t>
            </a:r>
            <a:r>
              <a:rPr lang="en-US" sz="2400" i="1"/>
              <a:t>src)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Here, </a:t>
            </a:r>
            <a:r>
              <a:rPr lang="en-US" sz="2200" i="1"/>
              <a:t>src is the object that generates this event.</a:t>
            </a:r>
            <a:endParaRPr/>
          </a:p>
          <a:p>
            <a:pPr marL="342900" lvl="0" indent="-1905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  <p:sp>
        <p:nvSpPr>
          <p:cNvPr id="110" name="Google Shape;110;p3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11" name="Google Shape;111;p3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1219200" y="5562600"/>
            <a:ext cx="3657600" cy="6096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Classes</a:t>
            </a:r>
            <a:r>
              <a:rPr lang="en-US" sz="2800"/>
              <a:t>(contd.)</a:t>
            </a:r>
            <a:endParaRPr/>
          </a:p>
        </p:txBody>
      </p:sp>
      <p:sp>
        <p:nvSpPr>
          <p:cNvPr id="118" name="Google Shape;118;p4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b="1"/>
              <a:t>EventObject </a:t>
            </a:r>
            <a:r>
              <a:rPr lang="en-US"/>
              <a:t>contains two methods: 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rgbClr val="C00000"/>
              </a:buClr>
              <a:buSzPts val="2600"/>
              <a:buNone/>
            </a:pPr>
            <a:r>
              <a:rPr lang="en-US" sz="2600" b="1">
                <a:solidFill>
                  <a:srgbClr val="C00000"/>
                </a:solidFill>
              </a:rPr>
              <a:t>getSource( )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rgbClr val="C00000"/>
              </a:buClr>
              <a:buSzPts val="2600"/>
              <a:buNone/>
            </a:pPr>
            <a:r>
              <a:rPr lang="en-US" sz="2600" b="1">
                <a:solidFill>
                  <a:srgbClr val="C00000"/>
                </a:solidFill>
              </a:rPr>
              <a:t>toString( ). 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The getSource( ) method </a:t>
            </a:r>
            <a:r>
              <a:rPr lang="en-US" u="sng"/>
              <a:t>returns the source of the event</a:t>
            </a:r>
            <a:r>
              <a:rPr lang="en-US"/>
              <a:t>. Its general form is :</a:t>
            </a:r>
            <a:endParaRPr/>
          </a:p>
          <a:p>
            <a:pPr marL="342900" lvl="0" indent="-1778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b="1"/>
              <a:t>toString( ) </a:t>
            </a:r>
            <a:r>
              <a:rPr lang="en-US" u="sng"/>
              <a:t>returns the string equivalent of the event</a:t>
            </a:r>
            <a:r>
              <a:rPr lang="en-US"/>
              <a:t>.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	</a:t>
            </a:r>
            <a:endParaRPr/>
          </a:p>
        </p:txBody>
      </p:sp>
      <p:sp>
        <p:nvSpPr>
          <p:cNvPr id="119" name="Google Shape;119;p4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20" name="Google Shape;120;p4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1371600" y="4343400"/>
            <a:ext cx="2743200" cy="6858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</a:t>
            </a:r>
            <a:r>
              <a:rPr lang="en-US" sz="24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getSource( )</a:t>
            </a:r>
            <a:endParaRPr sz="24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Classes</a:t>
            </a:r>
            <a:r>
              <a:rPr lang="en-US" sz="2800"/>
              <a:t>(contd.)</a:t>
            </a:r>
            <a:endParaRPr/>
          </a:p>
        </p:txBody>
      </p:sp>
      <p:sp>
        <p:nvSpPr>
          <p:cNvPr id="127" name="Google Shape;127;p5"/>
          <p:cNvSpPr txBox="1">
            <a:spLocks noGrp="1"/>
          </p:cNvSpPr>
          <p:nvPr>
            <p:ph type="body" idx="1"/>
          </p:nvPr>
        </p:nvSpPr>
        <p:spPr>
          <a:xfrm>
            <a:off x="3048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The class </a:t>
            </a:r>
            <a:r>
              <a:rPr lang="en-US" b="1"/>
              <a:t>AWTEvent</a:t>
            </a:r>
            <a:r>
              <a:rPr lang="en-US"/>
              <a:t>, defined within the </a:t>
            </a:r>
            <a:r>
              <a:rPr lang="en-US" b="1"/>
              <a:t>java.awt</a:t>
            </a:r>
            <a:r>
              <a:rPr lang="en-US"/>
              <a:t> package, is a </a:t>
            </a:r>
            <a:r>
              <a:rPr lang="en-US" u="sng"/>
              <a:t>subclass of EventObject.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It is the </a:t>
            </a:r>
            <a:r>
              <a:rPr lang="en-US" b="1">
                <a:solidFill>
                  <a:srgbClr val="0000CC"/>
                </a:solidFill>
              </a:rPr>
              <a:t>superclass</a:t>
            </a:r>
            <a:r>
              <a:rPr lang="en-US"/>
              <a:t> (either directly or indirectly) </a:t>
            </a:r>
            <a:r>
              <a:rPr lang="en-US" u="sng"/>
              <a:t>of all AWT-based events</a:t>
            </a:r>
            <a:r>
              <a:rPr lang="en-US"/>
              <a:t> used by the delegation event model. 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Its </a:t>
            </a:r>
            <a:r>
              <a:rPr lang="en-US" b="1">
                <a:solidFill>
                  <a:srgbClr val="C00000"/>
                </a:solidFill>
              </a:rPr>
              <a:t>getID( ) </a:t>
            </a:r>
            <a:r>
              <a:rPr lang="en-US"/>
              <a:t>method can be used to </a:t>
            </a:r>
            <a:r>
              <a:rPr lang="en-US" u="sng"/>
              <a:t>determine the type of the event. 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The signature of </a:t>
            </a:r>
            <a:r>
              <a:rPr lang="en-US" b="1">
                <a:solidFill>
                  <a:srgbClr val="C00000"/>
                </a:solidFill>
              </a:rPr>
              <a:t>getID( ) </a:t>
            </a:r>
            <a:r>
              <a:rPr lang="en-US"/>
              <a:t>method is</a:t>
            </a:r>
            <a:endParaRPr/>
          </a:p>
          <a:p>
            <a:pPr marL="742950" lvl="1" indent="-1333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sp>
        <p:nvSpPr>
          <p:cNvPr id="128" name="Google Shape;128;p5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29" name="Google Shape;129;p5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1676400" y="5486400"/>
            <a:ext cx="2895600" cy="5334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</a:t>
            </a:r>
            <a:r>
              <a:rPr lang="en-US" sz="24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getID( )</a:t>
            </a:r>
            <a:endParaRPr sz="24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Classes</a:t>
            </a:r>
            <a:r>
              <a:rPr lang="en-US" sz="2800"/>
              <a:t>(contd.)</a:t>
            </a:r>
            <a:endParaRPr/>
          </a:p>
        </p:txBody>
      </p:sp>
      <p:sp>
        <p:nvSpPr>
          <p:cNvPr id="136" name="Google Shape;136;p6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600"/>
              <a:buChar char="•"/>
            </a:pPr>
            <a:r>
              <a:rPr lang="en-US" b="1">
                <a:solidFill>
                  <a:srgbClr val="0000CC"/>
                </a:solidFill>
              </a:rPr>
              <a:t>EventObject</a:t>
            </a:r>
            <a:r>
              <a:rPr lang="en-US" b="1"/>
              <a:t> is a </a:t>
            </a:r>
            <a:r>
              <a:rPr lang="en-US" b="1">
                <a:solidFill>
                  <a:srgbClr val="C00000"/>
                </a:solidFill>
              </a:rPr>
              <a:t>superclass</a:t>
            </a:r>
            <a:r>
              <a:rPr lang="en-US" b="1"/>
              <a:t> of </a:t>
            </a:r>
            <a:r>
              <a:rPr lang="en-US" b="1">
                <a:solidFill>
                  <a:srgbClr val="C00000"/>
                </a:solidFill>
              </a:rPr>
              <a:t>all events</a:t>
            </a:r>
            <a:r>
              <a:rPr lang="en-US" b="1"/>
              <a:t>.</a:t>
            </a:r>
            <a:endParaRPr/>
          </a:p>
          <a:p>
            <a:pPr marL="342900" lvl="0" indent="-342900" algn="just" rtl="0">
              <a:lnSpc>
                <a:spcPct val="25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Char char="•"/>
            </a:pPr>
            <a:r>
              <a:rPr lang="en-US" b="1">
                <a:solidFill>
                  <a:srgbClr val="0000CC"/>
                </a:solidFill>
              </a:rPr>
              <a:t>AWTEvent</a:t>
            </a:r>
            <a:r>
              <a:rPr lang="en-US" b="1"/>
              <a:t> is a </a:t>
            </a:r>
            <a:r>
              <a:rPr lang="en-US" b="1">
                <a:solidFill>
                  <a:srgbClr val="C00000"/>
                </a:solidFill>
              </a:rPr>
              <a:t>superclass</a:t>
            </a:r>
            <a:r>
              <a:rPr lang="en-US" b="1"/>
              <a:t> of all </a:t>
            </a:r>
            <a:r>
              <a:rPr lang="en-US" b="1">
                <a:solidFill>
                  <a:srgbClr val="C00000"/>
                </a:solidFill>
              </a:rPr>
              <a:t>AWT events </a:t>
            </a:r>
            <a:r>
              <a:rPr lang="en-US" b="1"/>
              <a:t>that are handled by the delegation event model.</a:t>
            </a:r>
            <a:endParaRPr b="1"/>
          </a:p>
        </p:txBody>
      </p:sp>
      <p:sp>
        <p:nvSpPr>
          <p:cNvPr id="137" name="Google Shape;137;p6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38" name="Google Shape;138;p6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Class (contd.)</a:t>
            </a:r>
            <a:br>
              <a:rPr lang="en-US"/>
            </a:b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457200" y="152550"/>
            <a:ext cx="1979100" cy="1202700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ActionEvent </a:t>
            </a:r>
            <a:endParaRPr sz="1800" b="1" i="0" u="none" strike="noStrike" cap="non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2906663" y="-12"/>
            <a:ext cx="4202059" cy="1202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AE5F1"/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when a 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button is pressed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 list item is double-clicked, or a menu item is selected.</a:t>
            </a:r>
            <a:endParaRPr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57200" y="1011415"/>
            <a:ext cx="930236" cy="499302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AdjustmentEvent </a:t>
            </a:r>
            <a:endParaRPr sz="1800" b="1" i="0" u="none" strike="noStrike" cap="non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387435" y="1011415"/>
            <a:ext cx="4202059" cy="49930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AE5F1"/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when a scroll bar is manipulated.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57200" y="1139532"/>
            <a:ext cx="930236" cy="1257390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ComponentEvent </a:t>
            </a:r>
            <a:endParaRPr sz="1800" b="1" i="0" u="none" strike="noStrike" cap="non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1387436" y="1139532"/>
            <a:ext cx="930236" cy="125739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AE5F1"/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when a component is hidden, moved, resized, or becomes  visible.</a:t>
            </a:r>
            <a:endParaRPr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57200" y="1880768"/>
            <a:ext cx="930236" cy="789240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ContainerEvent </a:t>
            </a:r>
            <a:endParaRPr sz="1800" b="1" i="0" u="none" strike="noStrike" cap="non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387436" y="1880768"/>
            <a:ext cx="930236" cy="789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AE5F1"/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when a component is added to or removed from a container.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57200" y="2477166"/>
            <a:ext cx="930236" cy="610767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FocusEvent </a:t>
            </a:r>
            <a:endParaRPr sz="1800" b="1" i="0" u="none" strike="noStrike" cap="non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1387436" y="2477166"/>
            <a:ext cx="930236" cy="61076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AE5F1"/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when a component gains or loses keyboard focus.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57200" y="2908135"/>
            <a:ext cx="930236" cy="763150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InputEvent </a:t>
            </a:r>
            <a:endParaRPr sz="1800" b="1" i="0" u="none" strike="noStrike" cap="non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387436" y="2908135"/>
            <a:ext cx="930236" cy="7631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AE5F1"/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superclass for all component input event classes.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57200" y="3002401"/>
            <a:ext cx="930236" cy="1588941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ItemEvent </a:t>
            </a:r>
            <a:endParaRPr sz="1800" b="1" i="0" u="none" strike="noStrike" cap="non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1387436" y="3002401"/>
            <a:ext cx="930236" cy="158894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AE5F1"/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when a check box or list item is clicked; also occurs when a choice selection is made or a checkable menu item is selected or deselected.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457200" y="4054381"/>
            <a:ext cx="930236" cy="499302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KeyEvent </a:t>
            </a:r>
            <a:endParaRPr sz="1800" b="1" i="0" u="none" strike="noStrike" cap="non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1387436" y="4054381"/>
            <a:ext cx="930236" cy="49930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AE5F1"/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when input is received from the keyboard.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57200" y="4065080"/>
            <a:ext cx="930236" cy="1492227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MouseEvent </a:t>
            </a:r>
            <a:endParaRPr sz="1800" b="1" i="0" u="none" strike="noStrike" cap="non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1387436" y="4065080"/>
            <a:ext cx="930236" cy="149222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AE5F1"/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when the mouse is dragged, moved, clicked, pressed, or released;also generated when the mouse enters or exits a component.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57200" y="4957763"/>
            <a:ext cx="930236" cy="721183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MouseWheelEvent</a:t>
            </a:r>
            <a:endParaRPr sz="1800" b="1" i="0" u="none" strike="noStrike" cap="non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387436" y="4957763"/>
            <a:ext cx="930236" cy="72118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AE5F1"/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when the mouse wheel is moved.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57200" y="5575864"/>
            <a:ext cx="930236" cy="499302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TextEvent </a:t>
            </a:r>
            <a:endParaRPr sz="1800" b="1" i="0" u="none" strike="noStrike" cap="non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387436" y="5575864"/>
            <a:ext cx="930236" cy="49930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AE5F1"/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when the value of a text area or text field is changed.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57200" y="5564510"/>
            <a:ext cx="930236" cy="1536333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WindowEvent </a:t>
            </a:r>
            <a:endParaRPr sz="1800" b="1" i="0" u="none" strike="noStrike" cap="non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387436" y="5564510"/>
            <a:ext cx="930236" cy="153633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AE5F1"/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when a window is activated, closed, deactivated, deiconified, iconified, opened, or quit.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7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69" name="Google Shape;169;p7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Event classes</a:t>
            </a:r>
            <a:endParaRPr dirty="0"/>
          </a:p>
        </p:txBody>
      </p:sp>
      <p:sp>
        <p:nvSpPr>
          <p:cNvPr id="175" name="Google Shape;175;p8"/>
          <p:cNvSpPr/>
          <p:nvPr/>
        </p:nvSpPr>
        <p:spPr>
          <a:xfrm>
            <a:off x="68826" y="838200"/>
            <a:ext cx="1886715" cy="8240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ActionEvent</a:t>
            </a:r>
            <a:r>
              <a:rPr lang="en-US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/>
          <p:cNvSpPr/>
          <p:nvPr/>
        </p:nvSpPr>
        <p:spPr>
          <a:xfrm rot="5400000">
            <a:off x="4592034" y="-1186690"/>
            <a:ext cx="824088" cy="4936875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FD7E7">
              <a:alpha val="89803"/>
            </a:srgbClr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"/>
          <p:cNvSpPr txBox="1"/>
          <p:nvPr/>
        </p:nvSpPr>
        <p:spPr>
          <a:xfrm>
            <a:off x="2694850" y="970536"/>
            <a:ext cx="4292876" cy="526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when a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button is pressed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 list item is double-clicked, or a menu item is selected.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8826" y="1879282"/>
            <a:ext cx="2152186" cy="8240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AdjustmentEvent</a:t>
            </a:r>
            <a:r>
              <a:rPr lang="en-US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 rot="5400000">
            <a:off x="4965664" y="-594956"/>
            <a:ext cx="824088" cy="5585804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FD7E7">
              <a:alpha val="89803"/>
            </a:srgbClr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"/>
          <p:cNvSpPr txBox="1"/>
          <p:nvPr/>
        </p:nvSpPr>
        <p:spPr>
          <a:xfrm>
            <a:off x="2584789" y="1826130"/>
            <a:ext cx="4484605" cy="6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when a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scroll bar is manipulated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73875" y="2815522"/>
            <a:ext cx="2267552" cy="8240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ComponentEvent</a:t>
            </a:r>
            <a:r>
              <a:rPr lang="en-US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 rot="5400000">
            <a:off x="5000079" y="387157"/>
            <a:ext cx="824088" cy="5516977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FD7E7">
              <a:alpha val="89803"/>
            </a:srgbClr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"/>
          <p:cNvSpPr txBox="1"/>
          <p:nvPr/>
        </p:nvSpPr>
        <p:spPr>
          <a:xfrm>
            <a:off x="2653618" y="2773829"/>
            <a:ext cx="5516992" cy="529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when a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hidden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moved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resized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or becomes 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visible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0" y="3681303"/>
            <a:ext cx="1955541" cy="8240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ContainerEvent 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 rot="5400000">
            <a:off x="5162989" y="1171947"/>
            <a:ext cx="824088" cy="584280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FD7E7">
              <a:alpha val="89803"/>
            </a:srgbClr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"/>
          <p:cNvSpPr txBox="1"/>
          <p:nvPr/>
        </p:nvSpPr>
        <p:spPr>
          <a:xfrm>
            <a:off x="2653616" y="3721530"/>
            <a:ext cx="6731276" cy="671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when a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added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or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removed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68826" y="4629004"/>
            <a:ext cx="1886715" cy="8240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FocusEvent 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 rot="5400000">
            <a:off x="5104675" y="2248146"/>
            <a:ext cx="824088" cy="5585804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FD7E7">
              <a:alpha val="89803"/>
            </a:srgbClr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"/>
          <p:cNvSpPr txBox="1"/>
          <p:nvPr/>
        </p:nvSpPr>
        <p:spPr>
          <a:xfrm>
            <a:off x="2675739" y="4741177"/>
            <a:ext cx="5308057" cy="743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when a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 gains or loses keyboard focus.</a:t>
            </a: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68826" y="5553001"/>
            <a:ext cx="1853513" cy="8240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InputEvent 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/>
          <p:nvPr/>
        </p:nvSpPr>
        <p:spPr>
          <a:xfrm rot="5400000">
            <a:off x="5056598" y="3195846"/>
            <a:ext cx="824088" cy="5585806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FD7E7">
              <a:alpha val="89803"/>
            </a:srgbClr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"/>
          <p:cNvSpPr txBox="1"/>
          <p:nvPr/>
        </p:nvSpPr>
        <p:spPr>
          <a:xfrm>
            <a:off x="2852707" y="5709700"/>
            <a:ext cx="5408838" cy="51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superclass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all component input event classes.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8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94" name="Google Shape;194;p8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classes(contd.)</a:t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314631" y="762000"/>
            <a:ext cx="1681961" cy="84666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ItemEvent 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/>
          <p:nvPr/>
        </p:nvSpPr>
        <p:spPr>
          <a:xfrm rot="5400000">
            <a:off x="4714343" y="-1955752"/>
            <a:ext cx="846666" cy="6282169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FD7E7">
              <a:alpha val="89803"/>
            </a:srgbClr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"/>
          <p:cNvSpPr txBox="1"/>
          <p:nvPr/>
        </p:nvSpPr>
        <p:spPr>
          <a:xfrm>
            <a:off x="1996587" y="999100"/>
            <a:ext cx="6006871" cy="396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when a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box or list item is clicked;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also occurs when a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choice selection is made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a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checkable menu item is selected or deselected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314631" y="1735665"/>
            <a:ext cx="1608217" cy="84666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KeyEvent 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/>
          <p:nvPr/>
        </p:nvSpPr>
        <p:spPr>
          <a:xfrm rot="5400000">
            <a:off x="4458705" y="-726448"/>
            <a:ext cx="846666" cy="577089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FD7E7">
              <a:alpha val="89803"/>
            </a:srgbClr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"/>
          <p:cNvSpPr txBox="1"/>
          <p:nvPr/>
        </p:nvSpPr>
        <p:spPr>
          <a:xfrm>
            <a:off x="1996587" y="1776994"/>
            <a:ext cx="6095361" cy="764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when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received from the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keyboard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314632" y="2709330"/>
            <a:ext cx="1681960" cy="84666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MouseEvent</a:t>
            </a:r>
            <a:r>
              <a:rPr lang="en-US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/>
          <p:nvPr/>
        </p:nvSpPr>
        <p:spPr>
          <a:xfrm rot="5400000">
            <a:off x="4620934" y="77677"/>
            <a:ext cx="846666" cy="6095361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FD7E7">
              <a:alpha val="89803"/>
            </a:srgbClr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9"/>
          <p:cNvSpPr txBox="1"/>
          <p:nvPr/>
        </p:nvSpPr>
        <p:spPr>
          <a:xfrm>
            <a:off x="1996587" y="2750644"/>
            <a:ext cx="6006871" cy="503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when the mouse is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dragged, moved, clicked, pressed, or </a:t>
            </a:r>
            <a:r>
              <a:rPr lang="en-US" sz="18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released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;also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generated when the mouse enters or exits a component.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0" y="3733815"/>
            <a:ext cx="2458065" cy="84666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MouseWheelEvent</a:t>
            </a:r>
            <a:endParaRPr sz="18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/>
          <p:nvPr/>
        </p:nvSpPr>
        <p:spPr>
          <a:xfrm rot="5400000">
            <a:off x="5245286" y="963219"/>
            <a:ext cx="846666" cy="6203511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FD7E7">
              <a:alpha val="89803"/>
            </a:srgbClr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9"/>
          <p:cNvSpPr txBox="1"/>
          <p:nvPr/>
        </p:nvSpPr>
        <p:spPr>
          <a:xfrm>
            <a:off x="2566859" y="3724319"/>
            <a:ext cx="5770897" cy="764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when the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mouse wheel is moved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314631" y="4656660"/>
            <a:ext cx="1681961" cy="84666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TextEvent 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"/>
          <p:cNvSpPr/>
          <p:nvPr/>
        </p:nvSpPr>
        <p:spPr>
          <a:xfrm rot="5400000">
            <a:off x="4677472" y="1936085"/>
            <a:ext cx="846666" cy="635591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FD7E7">
              <a:alpha val="89803"/>
            </a:srgbClr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9"/>
          <p:cNvSpPr txBox="1"/>
          <p:nvPr/>
        </p:nvSpPr>
        <p:spPr>
          <a:xfrm>
            <a:off x="1996587" y="4697969"/>
            <a:ext cx="6203516" cy="764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when the value of a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area or text field is changed.</a:t>
            </a: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108155" y="5630325"/>
            <a:ext cx="1888437" cy="84666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WindowEvent</a:t>
            </a:r>
            <a:r>
              <a:rPr lang="en-US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9"/>
          <p:cNvSpPr/>
          <p:nvPr/>
        </p:nvSpPr>
        <p:spPr>
          <a:xfrm rot="5400000">
            <a:off x="4753672" y="2873244"/>
            <a:ext cx="846666" cy="6360827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FD7E7">
              <a:alpha val="89803"/>
            </a:srgbClr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"/>
          <p:cNvSpPr txBox="1"/>
          <p:nvPr/>
        </p:nvSpPr>
        <p:spPr>
          <a:xfrm>
            <a:off x="1996587" y="5671644"/>
            <a:ext cx="6508312" cy="621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when a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 is activated, closed, deactivated, </a:t>
            </a:r>
            <a:r>
              <a:rPr lang="en-US" sz="18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deiconified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iconified, opened, or quit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CC"/>
                </a:solidFill>
              </a:rPr>
              <a:t>The ActionEvent Class</a:t>
            </a:r>
            <a:endParaRPr>
              <a:solidFill>
                <a:srgbClr val="0000CC"/>
              </a:solidFill>
            </a:endParaRPr>
          </a:p>
        </p:txBody>
      </p:sp>
      <p:sp>
        <p:nvSpPr>
          <p:cNvPr id="223" name="Google Shape;223;p10"/>
          <p:cNvSpPr txBox="1">
            <a:spLocks noGrp="1"/>
          </p:cNvSpPr>
          <p:nvPr>
            <p:ph type="body" idx="1"/>
          </p:nvPr>
        </p:nvSpPr>
        <p:spPr>
          <a:xfrm>
            <a:off x="457200" y="990600"/>
            <a:ext cx="8229600" cy="513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An </a:t>
            </a:r>
            <a:r>
              <a:rPr lang="en-US" sz="2400" b="1"/>
              <a:t>ActionEvent </a:t>
            </a:r>
            <a:r>
              <a:rPr lang="en-US" sz="2400"/>
              <a:t>is generated when 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a button is pressed,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 a list item is double-clicked, 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menu item is selected</a:t>
            </a:r>
            <a:r>
              <a:rPr lang="en-US" sz="2000"/>
              <a:t>.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</a:t>
            </a:r>
            <a:r>
              <a:rPr lang="en-US" sz="2400" b="1"/>
              <a:t>ActionEvent </a:t>
            </a:r>
            <a:r>
              <a:rPr lang="en-US" sz="2400"/>
              <a:t>class defines four integer constants that can be used to </a:t>
            </a:r>
            <a:r>
              <a:rPr lang="en-US" sz="2400" u="sng"/>
              <a:t>identify any modifiers associated with an action event: 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 b="1"/>
              <a:t>ALT_MASK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 b="1"/>
              <a:t>CTRL_MASK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 b="1"/>
              <a:t> </a:t>
            </a:r>
            <a:r>
              <a:rPr lang="en-US" sz="2400" b="1"/>
              <a:t>META_MASK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 b="1"/>
              <a:t>SHIFT_MASK</a:t>
            </a:r>
            <a:r>
              <a:rPr lang="en-US" sz="2400"/>
              <a:t>.	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Integer constant </a:t>
            </a:r>
            <a:r>
              <a:rPr lang="en-US" sz="2400" b="1"/>
              <a:t>ACTION_ PERFORMED, </a:t>
            </a:r>
            <a:r>
              <a:rPr lang="en-US" sz="2400"/>
              <a:t>can be used to </a:t>
            </a:r>
            <a:r>
              <a:rPr lang="en-US" sz="2400" u="sng"/>
              <a:t>identify action events</a:t>
            </a:r>
            <a:r>
              <a:rPr lang="en-US" sz="2400"/>
              <a:t>.</a:t>
            </a:r>
            <a:endParaRPr sz="2400"/>
          </a:p>
        </p:txBody>
      </p:sp>
      <p:sp>
        <p:nvSpPr>
          <p:cNvPr id="224" name="Google Shape;224;p10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25" name="Google Shape;225;p10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ActionEvent Class</a:t>
            </a:r>
            <a:r>
              <a:rPr lang="en-US" sz="2800"/>
              <a:t>(contd.)</a:t>
            </a:r>
            <a:endParaRPr/>
          </a:p>
        </p:txBody>
      </p:sp>
      <p:sp>
        <p:nvSpPr>
          <p:cNvPr id="231" name="Google Shape;231;p11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ActionEvent has these three constructors: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ActionEvent(Object </a:t>
            </a:r>
            <a:r>
              <a:rPr lang="en-US" sz="2400" i="1"/>
              <a:t>src, int type, String cmd)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ActionEvent(Object </a:t>
            </a:r>
            <a:r>
              <a:rPr lang="en-US" sz="2400" i="1"/>
              <a:t>src, int type, String cmd, int modifiers)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ActionEvent(Object </a:t>
            </a:r>
            <a:r>
              <a:rPr lang="en-US" sz="2400" i="1"/>
              <a:t>src, int type, String cmd, long when,                      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i="1"/>
              <a:t>                       int modifiers)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Here, </a:t>
            </a:r>
            <a:r>
              <a:rPr lang="en-US" sz="2200" i="1"/>
              <a:t>src</a:t>
            </a:r>
            <a:r>
              <a:rPr lang="en-US" sz="2200"/>
              <a:t> is a reference to the object that generated this event. 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The type of the event is specified by </a:t>
            </a:r>
            <a:r>
              <a:rPr lang="en-US" sz="2200" i="1"/>
              <a:t>type</a:t>
            </a:r>
            <a:r>
              <a:rPr lang="en-US" sz="2200"/>
              <a:t>, and its command string is </a:t>
            </a:r>
            <a:r>
              <a:rPr lang="en-US" sz="2200" i="1"/>
              <a:t>cmd</a:t>
            </a:r>
            <a:r>
              <a:rPr lang="en-US" sz="2200"/>
              <a:t>. 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The argument </a:t>
            </a:r>
            <a:r>
              <a:rPr lang="en-US" sz="2200" i="1"/>
              <a:t>modifiers</a:t>
            </a:r>
            <a:r>
              <a:rPr lang="en-US" sz="2200"/>
              <a:t> indicates which modifier keys (ALT, CTRL, META, and/or SHIFT) were pressed when the event was generated. 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The </a:t>
            </a:r>
            <a:r>
              <a:rPr lang="en-US" sz="2200" i="1"/>
              <a:t>when </a:t>
            </a:r>
            <a:r>
              <a:rPr lang="en-US" sz="2200"/>
              <a:t>parameter specifies when the event occurred.</a:t>
            </a:r>
            <a:endParaRPr/>
          </a:p>
        </p:txBody>
      </p:sp>
      <p:sp>
        <p:nvSpPr>
          <p:cNvPr id="232" name="Google Shape;232;p11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33" name="Google Shape;233;p11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ActionEvent Class</a:t>
            </a:r>
            <a:r>
              <a:rPr lang="en-US" sz="2800"/>
              <a:t>(contd.)</a:t>
            </a:r>
            <a:endParaRPr/>
          </a:p>
        </p:txBody>
      </p:sp>
      <p:sp>
        <p:nvSpPr>
          <p:cNvPr id="239" name="Google Shape;239;p12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To obtain the </a:t>
            </a:r>
            <a:r>
              <a:rPr lang="en-US" sz="2400" b="1"/>
              <a:t>command name</a:t>
            </a:r>
            <a:r>
              <a:rPr lang="en-US" sz="2400"/>
              <a:t> for the invoking </a:t>
            </a:r>
            <a:r>
              <a:rPr lang="en-US" sz="2400" b="1"/>
              <a:t>ActionEvent </a:t>
            </a:r>
            <a:r>
              <a:rPr lang="en-US" sz="2400"/>
              <a:t>object </a:t>
            </a:r>
            <a:r>
              <a:rPr lang="en-US" sz="2400" b="1"/>
              <a:t>getActionCommand( ) </a:t>
            </a:r>
            <a:r>
              <a:rPr lang="en-US" sz="2400"/>
              <a:t>method can used</a:t>
            </a:r>
            <a:r>
              <a:rPr lang="en-US" sz="2400" b="1"/>
              <a:t>:</a:t>
            </a:r>
            <a:endParaRPr/>
          </a:p>
          <a:p>
            <a:pPr marL="342900" lvl="0" indent="-1905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For example, when a button is pressed, an action event is generated that has a </a:t>
            </a:r>
            <a:r>
              <a:rPr lang="en-US" sz="2400" u="sng"/>
              <a:t>command name equal to </a:t>
            </a:r>
            <a:r>
              <a:rPr lang="en-US" sz="2400"/>
              <a:t>the </a:t>
            </a:r>
            <a:r>
              <a:rPr lang="en-US" sz="2400" b="1"/>
              <a:t>label on that button</a:t>
            </a:r>
            <a:r>
              <a:rPr lang="en-US" sz="2400"/>
              <a:t>.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E.g. 				      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</a:t>
            </a:r>
            <a:r>
              <a:rPr lang="en-US" sz="2000"/>
              <a:t>The command name of button is </a:t>
            </a:r>
            <a:r>
              <a:rPr lang="en-US" sz="2000" b="1"/>
              <a:t>Submit.</a:t>
            </a:r>
            <a:endParaRPr sz="2400" b="1"/>
          </a:p>
        </p:txBody>
      </p:sp>
      <p:sp>
        <p:nvSpPr>
          <p:cNvPr id="240" name="Google Shape;240;p12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41" name="Google Shape;241;p12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42" name="Google Shape;242;p12"/>
          <p:cNvSpPr/>
          <p:nvPr/>
        </p:nvSpPr>
        <p:spPr>
          <a:xfrm>
            <a:off x="609600" y="2362200"/>
            <a:ext cx="5105400" cy="6858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getActionCommand( )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3" name="Google Shape;24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9800" y="4572000"/>
            <a:ext cx="2813538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ActionEvent Class</a:t>
            </a:r>
            <a:r>
              <a:rPr lang="en-US" sz="2800"/>
              <a:t>(contd.)</a:t>
            </a:r>
            <a:endParaRPr/>
          </a:p>
        </p:txBody>
      </p:sp>
      <p:sp>
        <p:nvSpPr>
          <p:cNvPr id="249" name="Google Shape;249;p13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</a:t>
            </a:r>
            <a:r>
              <a:rPr lang="en-US" sz="2400" b="1"/>
              <a:t>getModifiers( ) </a:t>
            </a:r>
            <a:r>
              <a:rPr lang="en-US" sz="2400"/>
              <a:t>method 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returns a value that indicates </a:t>
            </a:r>
            <a:r>
              <a:rPr lang="en-US" b="1"/>
              <a:t>which modifier keys </a:t>
            </a:r>
            <a:r>
              <a:rPr lang="en-US"/>
              <a:t>(ALT, CTRL, META, and/or SHIFT) </a:t>
            </a:r>
            <a:r>
              <a:rPr lang="en-US" b="1"/>
              <a:t>were pressed </a:t>
            </a:r>
            <a:r>
              <a:rPr lang="en-US"/>
              <a:t>when the event was generated. Its form is :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	int </a:t>
            </a:r>
            <a:r>
              <a:rPr lang="en-US" sz="2400" b="1"/>
              <a:t>getModifiers</a:t>
            </a:r>
            <a:r>
              <a:rPr lang="en-US" sz="2400"/>
              <a:t>( )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method </a:t>
            </a:r>
            <a:r>
              <a:rPr lang="en-US" sz="2400" b="1"/>
              <a:t>getWhen( ) 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returns the time at which the event took place. This is called the </a:t>
            </a:r>
            <a:r>
              <a:rPr lang="en-US" b="1"/>
              <a:t>event’s </a:t>
            </a:r>
            <a:r>
              <a:rPr lang="en-US" b="1" i="1"/>
              <a:t>timestamp</a:t>
            </a:r>
            <a:r>
              <a:rPr lang="en-US" i="1"/>
              <a:t>. The getWhen( ) method is :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	long</a:t>
            </a:r>
            <a:r>
              <a:rPr lang="en-US" sz="2400" b="1"/>
              <a:t> getWhen(</a:t>
            </a:r>
            <a:r>
              <a:rPr lang="en-US" sz="2400"/>
              <a:t> )</a:t>
            </a:r>
            <a:endParaRPr sz="2400"/>
          </a:p>
        </p:txBody>
      </p:sp>
      <p:sp>
        <p:nvSpPr>
          <p:cNvPr id="250" name="Google Shape;250;p13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51" name="Google Shape;251;p13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52" name="Google Shape;252;p13"/>
          <p:cNvSpPr/>
          <p:nvPr/>
        </p:nvSpPr>
        <p:spPr>
          <a:xfrm>
            <a:off x="1143000" y="3276600"/>
            <a:ext cx="2819400" cy="6858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1371600" y="5791200"/>
            <a:ext cx="2286000" cy="6096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"/>
          <p:cNvSpPr/>
          <p:nvPr/>
        </p:nvSpPr>
        <p:spPr>
          <a:xfrm>
            <a:off x="-68834" y="2213295"/>
            <a:ext cx="2959517" cy="762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BLOCK_DECREMENT </a:t>
            </a: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4"/>
          <p:cNvSpPr/>
          <p:nvPr/>
        </p:nvSpPr>
        <p:spPr>
          <a:xfrm rot="5400000">
            <a:off x="5176238" y="540327"/>
            <a:ext cx="762000" cy="4253346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FD7E7">
              <a:alpha val="89803"/>
            </a:srgbClr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4"/>
          <p:cNvSpPr txBox="1"/>
          <p:nvPr/>
        </p:nvSpPr>
        <p:spPr>
          <a:xfrm>
            <a:off x="3430559" y="2323175"/>
            <a:ext cx="4253346" cy="687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user clicked inside the scroll bar to decrease its value.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186813" y="3162300"/>
            <a:ext cx="2703870" cy="762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BLOCK_INCREMENT 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4"/>
          <p:cNvSpPr/>
          <p:nvPr/>
        </p:nvSpPr>
        <p:spPr>
          <a:xfrm rot="5400000">
            <a:off x="3466989" y="2850573"/>
            <a:ext cx="762000" cy="1385454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FD7E7">
              <a:alpha val="89803"/>
            </a:srgbClr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4"/>
          <p:cNvSpPr txBox="1"/>
          <p:nvPr/>
        </p:nvSpPr>
        <p:spPr>
          <a:xfrm>
            <a:off x="3155256" y="3199475"/>
            <a:ext cx="4464746" cy="687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user clicked inside the scroll bar to increase its value.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609600" y="4038600"/>
            <a:ext cx="1385454" cy="762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TRACK 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4"/>
          <p:cNvSpPr/>
          <p:nvPr/>
        </p:nvSpPr>
        <p:spPr>
          <a:xfrm rot="5400000">
            <a:off x="2306781" y="3726873"/>
            <a:ext cx="762000" cy="1385454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FD7E7">
              <a:alpha val="89803"/>
            </a:srgbClr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4"/>
          <p:cNvSpPr txBox="1"/>
          <p:nvPr/>
        </p:nvSpPr>
        <p:spPr>
          <a:xfrm>
            <a:off x="1995047" y="4075775"/>
            <a:ext cx="5015353" cy="687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slider was dragged.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186813" y="4914900"/>
            <a:ext cx="2566219" cy="762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UNIT_DECREMENT </a:t>
            </a: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4"/>
          <p:cNvSpPr/>
          <p:nvPr/>
        </p:nvSpPr>
        <p:spPr>
          <a:xfrm rot="5400000">
            <a:off x="3309671" y="4565952"/>
            <a:ext cx="762000" cy="1385454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FD7E7">
              <a:alpha val="89803"/>
            </a:srgbClr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4"/>
          <p:cNvSpPr txBox="1"/>
          <p:nvPr/>
        </p:nvSpPr>
        <p:spPr>
          <a:xfrm>
            <a:off x="3155255" y="4952075"/>
            <a:ext cx="5811765" cy="687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button at the end of the scroll bar was clicked to decrease its value.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186813" y="5810864"/>
            <a:ext cx="2703870" cy="762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UNIT_INCREMENT 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4"/>
          <p:cNvSpPr/>
          <p:nvPr/>
        </p:nvSpPr>
        <p:spPr>
          <a:xfrm rot="5400000">
            <a:off x="3378499" y="5479473"/>
            <a:ext cx="762000" cy="1385454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FD7E7">
              <a:alpha val="89803"/>
            </a:srgbClr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4"/>
          <p:cNvSpPr txBox="1"/>
          <p:nvPr/>
        </p:nvSpPr>
        <p:spPr>
          <a:xfrm>
            <a:off x="3066766" y="5828375"/>
            <a:ext cx="5467636" cy="687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button at the end of the scroll bar was clicked to increase its value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4"/>
          <p:cNvSpPr txBox="1">
            <a:spLocks noGrp="1"/>
          </p:cNvSpPr>
          <p:nvPr>
            <p:ph type="title"/>
          </p:nvPr>
        </p:nvSpPr>
        <p:spPr>
          <a:xfrm>
            <a:off x="457200" y="-762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CC"/>
                </a:solidFill>
              </a:rPr>
              <a:t>The AdjustmentEvent Class</a:t>
            </a:r>
            <a:endParaRPr>
              <a:solidFill>
                <a:srgbClr val="0000CC"/>
              </a:solidFill>
            </a:endParaRPr>
          </a:p>
        </p:txBody>
      </p:sp>
      <p:sp>
        <p:nvSpPr>
          <p:cNvPr id="274" name="Google Shape;274;p14"/>
          <p:cNvSpPr txBox="1">
            <a:spLocks noGrp="1"/>
          </p:cNvSpPr>
          <p:nvPr>
            <p:ph type="body" idx="1"/>
          </p:nvPr>
        </p:nvSpPr>
        <p:spPr>
          <a:xfrm>
            <a:off x="914400" y="60960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An AdjustmentEvent is generated by a </a:t>
            </a:r>
            <a:r>
              <a:rPr lang="en-US" sz="2400" b="1"/>
              <a:t>scroll bar</a:t>
            </a:r>
            <a:r>
              <a:rPr lang="en-US" sz="2400"/>
              <a:t>. 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There are five types of adjustment events.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AdjustmentEvent class defines </a:t>
            </a:r>
            <a:r>
              <a:rPr lang="en-US" sz="2400" b="1"/>
              <a:t>integer constants </a:t>
            </a:r>
            <a:r>
              <a:rPr lang="en-US" sz="2400"/>
              <a:t>that can be used to identify them.</a:t>
            </a:r>
            <a:endParaRPr/>
          </a:p>
        </p:txBody>
      </p:sp>
      <p:sp>
        <p:nvSpPr>
          <p:cNvPr id="275" name="Google Shape;275;p14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76" name="Google Shape;276;p1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The AdjustmentEvent Class(contd.)</a:t>
            </a:r>
            <a:endParaRPr sz="3200"/>
          </a:p>
        </p:txBody>
      </p:sp>
      <p:sp>
        <p:nvSpPr>
          <p:cNvPr id="282" name="Google Shape;282;p15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An integer constant,  </a:t>
            </a:r>
            <a:r>
              <a:rPr lang="en-US" sz="2400" b="1"/>
              <a:t>ADJUSTMENT_VALUE_CHANGED, </a:t>
            </a:r>
            <a:r>
              <a:rPr lang="en-US" sz="2400"/>
              <a:t>that indicates that a </a:t>
            </a:r>
            <a:r>
              <a:rPr lang="en-US" sz="2400" u="sng"/>
              <a:t>change has occurred</a:t>
            </a:r>
            <a:r>
              <a:rPr lang="en-US" sz="2400"/>
              <a:t>.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One </a:t>
            </a:r>
            <a:r>
              <a:rPr lang="en-US" sz="2400" b="1"/>
              <a:t>AdjustmentEvent constructor: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/>
              <a:t>AdjustmentEvent</a:t>
            </a:r>
            <a:r>
              <a:rPr lang="en-US" sz="2400"/>
              <a:t>(Adjustable </a:t>
            </a:r>
            <a:r>
              <a:rPr lang="en-US" sz="2400" i="1"/>
              <a:t>src, int id, int type, int data)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Here, </a:t>
            </a:r>
            <a:r>
              <a:rPr lang="en-US" sz="2200" i="1"/>
              <a:t>src</a:t>
            </a:r>
            <a:r>
              <a:rPr lang="en-US" sz="2200"/>
              <a:t> is a reference to the object that generated this event. 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The </a:t>
            </a:r>
            <a:r>
              <a:rPr lang="en-US" sz="2200" i="1"/>
              <a:t>id</a:t>
            </a:r>
            <a:r>
              <a:rPr lang="en-US" sz="2200"/>
              <a:t> specifies the event. 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The type of the adjustment is specified by </a:t>
            </a:r>
            <a:r>
              <a:rPr lang="en-US" sz="2200" i="1"/>
              <a:t>type</a:t>
            </a:r>
            <a:r>
              <a:rPr lang="en-US" sz="2200"/>
              <a:t>, and its associated data is </a:t>
            </a:r>
            <a:r>
              <a:rPr lang="en-US" sz="2200" i="1"/>
              <a:t>data</a:t>
            </a:r>
            <a:r>
              <a:rPr lang="en-US" sz="2200"/>
              <a:t>.</a:t>
            </a:r>
            <a:endParaRPr/>
          </a:p>
        </p:txBody>
      </p:sp>
      <p:sp>
        <p:nvSpPr>
          <p:cNvPr id="283" name="Google Shape;283;p15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84" name="Google Shape;284;p15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85" name="Google Shape;285;p15"/>
          <p:cNvSpPr/>
          <p:nvPr/>
        </p:nvSpPr>
        <p:spPr>
          <a:xfrm>
            <a:off x="457200" y="3618271"/>
            <a:ext cx="7620000" cy="550605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The AdjustmentEvent Class(contd.)</a:t>
            </a:r>
            <a:endParaRPr sz="3200"/>
          </a:p>
        </p:txBody>
      </p:sp>
      <p:sp>
        <p:nvSpPr>
          <p:cNvPr id="291" name="Google Shape;291;p16"/>
          <p:cNvSpPr txBox="1">
            <a:spLocks noGrp="1"/>
          </p:cNvSpPr>
          <p:nvPr>
            <p:ph type="body" idx="1"/>
          </p:nvPr>
        </p:nvSpPr>
        <p:spPr>
          <a:xfrm>
            <a:off x="457200" y="990600"/>
            <a:ext cx="8229600" cy="513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</a:t>
            </a:r>
            <a:r>
              <a:rPr lang="en-US" sz="2400" b="1"/>
              <a:t>getAdjustable( ) </a:t>
            </a:r>
            <a:r>
              <a:rPr lang="en-US" sz="2400"/>
              <a:t>method returns the object that generated the event. Its form is</a:t>
            </a:r>
            <a:r>
              <a:rPr lang="en-US" sz="2400" b="1"/>
              <a:t>;</a:t>
            </a:r>
            <a:endParaRPr/>
          </a:p>
          <a:p>
            <a:pPr marL="342900" lvl="0" indent="-342900" algn="just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Adjustable </a:t>
            </a:r>
            <a:r>
              <a:rPr lang="en-US" sz="2400" b="1"/>
              <a:t>getAdjustable( )</a:t>
            </a:r>
            <a:endParaRPr/>
          </a:p>
          <a:p>
            <a:pPr marL="342900" lvl="0" indent="-342900" algn="just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type of the adjustment event may be obtained by the </a:t>
            </a:r>
            <a:r>
              <a:rPr lang="en-US" sz="2400" b="1"/>
              <a:t>getAdjustmentType( </a:t>
            </a:r>
            <a:r>
              <a:rPr lang="en-US" sz="2400"/>
              <a:t>) method. It returns one of the constants defined by </a:t>
            </a:r>
            <a:r>
              <a:rPr lang="en-US" sz="2400" b="1"/>
              <a:t>AdjustmentEvent. </a:t>
            </a:r>
            <a:r>
              <a:rPr lang="en-US" sz="2400"/>
              <a:t>The general form is :</a:t>
            </a:r>
            <a:endParaRPr/>
          </a:p>
          <a:p>
            <a:pPr marL="342900" lvl="0" indent="-342900" algn="just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 </a:t>
            </a:r>
            <a:r>
              <a:rPr lang="en-US" sz="2400" b="1"/>
              <a:t>getAdjustmentType( )</a:t>
            </a:r>
            <a:endParaRPr/>
          </a:p>
          <a:p>
            <a:pPr marL="342900" lvl="0" indent="-342900" algn="just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amount of the adjustment can be obtained from the </a:t>
            </a:r>
            <a:r>
              <a:rPr lang="en-US" sz="2400" b="1"/>
              <a:t>getValue( ) </a:t>
            </a:r>
            <a:r>
              <a:rPr lang="en-US" sz="2400"/>
              <a:t>method is</a:t>
            </a:r>
            <a:r>
              <a:rPr lang="en-US" sz="2400" b="1"/>
              <a:t>:</a:t>
            </a:r>
            <a:endParaRPr/>
          </a:p>
          <a:p>
            <a:pPr marL="342900" lvl="0" indent="-342900" algn="just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 </a:t>
            </a:r>
            <a:r>
              <a:rPr lang="en-US" sz="2400" b="1"/>
              <a:t>getValue( )</a:t>
            </a:r>
            <a:endParaRPr/>
          </a:p>
          <a:p>
            <a:pPr marL="742950" lvl="1" indent="-285750" algn="just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For example, when a scroll bar is manipulated, this method returns the value represented by that change.</a:t>
            </a:r>
            <a:endParaRPr sz="2200"/>
          </a:p>
        </p:txBody>
      </p:sp>
      <p:sp>
        <p:nvSpPr>
          <p:cNvPr id="292" name="Google Shape;292;p16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93" name="Google Shape;293;p16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94" name="Google Shape;294;p16"/>
          <p:cNvSpPr/>
          <p:nvPr/>
        </p:nvSpPr>
        <p:spPr>
          <a:xfrm>
            <a:off x="381000" y="1981200"/>
            <a:ext cx="3810000" cy="5334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381000" y="3886200"/>
            <a:ext cx="3657600" cy="5334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381000" y="5410200"/>
            <a:ext cx="2057400" cy="5334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>
            <a:spLocks noGrp="1"/>
          </p:cNvSpPr>
          <p:nvPr>
            <p:ph type="title"/>
          </p:nvPr>
        </p:nvSpPr>
        <p:spPr>
          <a:xfrm>
            <a:off x="381000" y="-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CC"/>
                </a:solidFill>
              </a:rPr>
              <a:t>The ComponentEvent Class</a:t>
            </a:r>
            <a:endParaRPr sz="3200">
              <a:solidFill>
                <a:srgbClr val="0000CC"/>
              </a:solidFill>
            </a:endParaRPr>
          </a:p>
        </p:txBody>
      </p:sp>
      <p:sp>
        <p:nvSpPr>
          <p:cNvPr id="302" name="Google Shape;302;p17"/>
          <p:cNvSpPr txBox="1">
            <a:spLocks noGrp="1"/>
          </p:cNvSpPr>
          <p:nvPr>
            <p:ph type="body" idx="1"/>
          </p:nvPr>
        </p:nvSpPr>
        <p:spPr>
          <a:xfrm>
            <a:off x="381000" y="838200"/>
            <a:ext cx="80772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 ComponentEvent is generated </a:t>
            </a:r>
            <a:r>
              <a:rPr lang="en-US" sz="2400">
                <a:solidFill>
                  <a:srgbClr val="C00000"/>
                </a:solidFill>
              </a:rPr>
              <a:t>when the size, position, or visibility of a component is changed. 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There are four types of component events. 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The ComponentEvent class defines integer constants for this.</a:t>
            </a:r>
            <a:endParaRPr/>
          </a:p>
        </p:txBody>
      </p:sp>
      <p:sp>
        <p:nvSpPr>
          <p:cNvPr id="303" name="Google Shape;303;p17"/>
          <p:cNvSpPr txBox="1">
            <a:spLocks noGrp="1"/>
          </p:cNvSpPr>
          <p:nvPr>
            <p:ph type="ftr" idx="11"/>
          </p:nvPr>
        </p:nvSpPr>
        <p:spPr>
          <a:xfrm>
            <a:off x="69342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04" name="Google Shape;304;p17"/>
          <p:cNvSpPr txBox="1">
            <a:spLocks noGrp="1"/>
          </p:cNvSpPr>
          <p:nvPr>
            <p:ph type="sldNum" idx="12"/>
          </p:nvPr>
        </p:nvSpPr>
        <p:spPr>
          <a:xfrm>
            <a:off x="7010400" y="61722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05" name="Google Shape;305;p17"/>
          <p:cNvSpPr/>
          <p:nvPr/>
        </p:nvSpPr>
        <p:spPr>
          <a:xfrm>
            <a:off x="304799" y="2977277"/>
            <a:ext cx="2782529" cy="85494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COMPONENT_HIDDEN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7"/>
          <p:cNvSpPr/>
          <p:nvPr/>
        </p:nvSpPr>
        <p:spPr>
          <a:xfrm rot="5400000">
            <a:off x="4404879" y="2690064"/>
            <a:ext cx="854948" cy="155445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FD7E7">
              <a:alpha val="89803"/>
            </a:srgbClr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7" name="Google Shape;307;p17"/>
          <p:cNvSpPr txBox="1"/>
          <p:nvPr/>
        </p:nvSpPr>
        <p:spPr>
          <a:xfrm>
            <a:off x="3771422" y="3048000"/>
            <a:ext cx="3676312" cy="77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component was hidden.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7"/>
          <p:cNvSpPr/>
          <p:nvPr/>
        </p:nvSpPr>
        <p:spPr>
          <a:xfrm>
            <a:off x="304800" y="3960467"/>
            <a:ext cx="2900516" cy="85494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COMPONENT_MOVED</a:t>
            </a: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7"/>
          <p:cNvSpPr/>
          <p:nvPr/>
        </p:nvSpPr>
        <p:spPr>
          <a:xfrm rot="5400000">
            <a:off x="4404879" y="3566468"/>
            <a:ext cx="854948" cy="155445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FD7E7">
              <a:alpha val="89803"/>
            </a:srgbClr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7"/>
          <p:cNvSpPr txBox="1"/>
          <p:nvPr/>
        </p:nvSpPr>
        <p:spPr>
          <a:xfrm>
            <a:off x="4055127" y="4002201"/>
            <a:ext cx="3850007" cy="77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component was moved.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354912" y="4815415"/>
            <a:ext cx="3263359" cy="85494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COMPONENT_RESIZED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7"/>
          <p:cNvSpPr/>
          <p:nvPr/>
        </p:nvSpPr>
        <p:spPr>
          <a:xfrm rot="5400000">
            <a:off x="4363144" y="4593906"/>
            <a:ext cx="854948" cy="155445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FD7E7">
              <a:alpha val="89803"/>
            </a:srgbClr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7"/>
          <p:cNvSpPr txBox="1"/>
          <p:nvPr/>
        </p:nvSpPr>
        <p:spPr>
          <a:xfrm>
            <a:off x="3840247" y="4985392"/>
            <a:ext cx="5195598" cy="77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component was resized.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304800" y="5926847"/>
            <a:ext cx="2782528" cy="85494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COMPONENT_SHOWN</a:t>
            </a: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7"/>
          <p:cNvSpPr/>
          <p:nvPr/>
        </p:nvSpPr>
        <p:spPr>
          <a:xfrm rot="5400000">
            <a:off x="3805186" y="5596057"/>
            <a:ext cx="854948" cy="155445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FD7E7">
              <a:alpha val="89803"/>
            </a:srgbClr>
          </a:solidFill>
          <a:ln w="25400" cap="flat" cmpd="sng">
            <a:solidFill>
              <a:srgbClr val="CFD7E7">
                <a:alpha val="8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7"/>
          <p:cNvSpPr txBox="1"/>
          <p:nvPr/>
        </p:nvSpPr>
        <p:spPr>
          <a:xfrm>
            <a:off x="3455435" y="6029278"/>
            <a:ext cx="3478765" cy="77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component became visible.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8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The ComponentEvent Class(contd.)</a:t>
            </a:r>
            <a:endParaRPr sz="3200"/>
          </a:p>
        </p:txBody>
      </p:sp>
      <p:sp>
        <p:nvSpPr>
          <p:cNvPr id="322" name="Google Shape;322;p18"/>
          <p:cNvSpPr txBox="1">
            <a:spLocks noGrp="1"/>
          </p:cNvSpPr>
          <p:nvPr>
            <p:ph type="body" idx="1"/>
          </p:nvPr>
        </p:nvSpPr>
        <p:spPr>
          <a:xfrm>
            <a:off x="457200" y="838200"/>
            <a:ext cx="8229600" cy="528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ComponentEvent has the constructor:</a:t>
            </a:r>
            <a:endParaRPr/>
          </a:p>
          <a:p>
            <a:pPr marL="342900" lvl="0" indent="-342900" algn="just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ComponentEvent(Component </a:t>
            </a:r>
            <a:r>
              <a:rPr lang="en-US" sz="2400" i="1"/>
              <a:t>src, int type)</a:t>
            </a:r>
            <a:endParaRPr i="1"/>
          </a:p>
          <a:p>
            <a:pPr marL="742950" lvl="1" indent="-285750" algn="just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Here, </a:t>
            </a:r>
            <a:r>
              <a:rPr lang="en-US" sz="2200" i="1"/>
              <a:t>src </a:t>
            </a:r>
            <a:r>
              <a:rPr lang="en-US" sz="2200"/>
              <a:t>is a reference to the object that generated this event. The</a:t>
            </a:r>
            <a:r>
              <a:rPr lang="en-US" sz="2200" i="1"/>
              <a:t> </a:t>
            </a:r>
            <a:r>
              <a:rPr lang="en-US" sz="2200"/>
              <a:t>type</a:t>
            </a:r>
            <a:r>
              <a:rPr lang="en-US" sz="2200" i="1"/>
              <a:t> </a:t>
            </a:r>
            <a:r>
              <a:rPr lang="en-US" sz="2200"/>
              <a:t>of the event is specified by </a:t>
            </a:r>
            <a:r>
              <a:rPr lang="en-US" sz="2200" i="1"/>
              <a:t>type</a:t>
            </a:r>
            <a:r>
              <a:rPr lang="en-US" sz="2200"/>
              <a:t>.</a:t>
            </a:r>
            <a:endParaRPr/>
          </a:p>
          <a:p>
            <a:pPr marL="342900" lvl="0" indent="-342900" algn="just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ComponentEvent </a:t>
            </a:r>
            <a:r>
              <a:rPr lang="en-US" sz="2400"/>
              <a:t>is the </a:t>
            </a:r>
            <a:r>
              <a:rPr lang="en-US" sz="2400" b="1"/>
              <a:t>superclass</a:t>
            </a:r>
            <a:r>
              <a:rPr lang="en-US" sz="2400"/>
              <a:t> either directly or indirectly of </a:t>
            </a:r>
            <a:r>
              <a:rPr lang="en-US" sz="2400" i="1">
                <a:solidFill>
                  <a:srgbClr val="C00000"/>
                </a:solidFill>
              </a:rPr>
              <a:t>ContainerEvent, FocusEvent, KeyEvent, MouseEvent, </a:t>
            </a:r>
            <a:r>
              <a:rPr lang="en-US" sz="2400" i="1"/>
              <a:t>and</a:t>
            </a:r>
            <a:r>
              <a:rPr lang="en-US" sz="2400" i="1">
                <a:solidFill>
                  <a:srgbClr val="C00000"/>
                </a:solidFill>
              </a:rPr>
              <a:t> WindowEvent.</a:t>
            </a:r>
            <a:endParaRPr/>
          </a:p>
          <a:p>
            <a:pPr marL="342900" lvl="0" indent="-342900" algn="just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</a:t>
            </a:r>
            <a:r>
              <a:rPr lang="en-US" sz="2400" b="1">
                <a:solidFill>
                  <a:srgbClr val="0000CC"/>
                </a:solidFill>
              </a:rPr>
              <a:t>getComponent( ) </a:t>
            </a:r>
            <a:r>
              <a:rPr lang="en-US" sz="2400"/>
              <a:t>method </a:t>
            </a:r>
            <a:r>
              <a:rPr lang="en-US" sz="2400" u="sng"/>
              <a:t>returns the component that generated the event</a:t>
            </a:r>
            <a:endParaRPr/>
          </a:p>
          <a:p>
            <a:pPr marL="342900" lvl="0" indent="-342900" algn="just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Component getComponent( )</a:t>
            </a:r>
            <a:endParaRPr sz="2400"/>
          </a:p>
        </p:txBody>
      </p:sp>
      <p:sp>
        <p:nvSpPr>
          <p:cNvPr id="323" name="Google Shape;323;p18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24" name="Google Shape;324;p18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325" name="Google Shape;325;p18"/>
          <p:cNvSpPr/>
          <p:nvPr/>
        </p:nvSpPr>
        <p:spPr>
          <a:xfrm>
            <a:off x="457200" y="1371600"/>
            <a:ext cx="5486400" cy="6096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8"/>
          <p:cNvSpPr/>
          <p:nvPr/>
        </p:nvSpPr>
        <p:spPr>
          <a:xfrm>
            <a:off x="685800" y="5410200"/>
            <a:ext cx="3962400" cy="6096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9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CC"/>
                </a:solidFill>
              </a:rPr>
              <a:t>The ContainerEvent Class</a:t>
            </a:r>
            <a:endParaRPr>
              <a:solidFill>
                <a:srgbClr val="0000CC"/>
              </a:solidFill>
            </a:endParaRPr>
          </a:p>
        </p:txBody>
      </p:sp>
      <p:sp>
        <p:nvSpPr>
          <p:cNvPr id="332" name="Google Shape;332;p19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A ContainerEvent is generated </a:t>
            </a:r>
            <a:r>
              <a:rPr lang="en-US" u="sng"/>
              <a:t>when a component is added to or removed from a container</a:t>
            </a:r>
            <a:r>
              <a:rPr lang="en-US"/>
              <a:t>.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There are </a:t>
            </a:r>
            <a:r>
              <a:rPr lang="en-US" b="1"/>
              <a:t>two types of container events</a:t>
            </a:r>
            <a:r>
              <a:rPr lang="en-US"/>
              <a:t>. 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The ContainerEvent class defines int constants that can be used to identify them: 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COMPONENT_ADDED 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COMPONENT_REMOVED.</a:t>
            </a:r>
            <a:endParaRPr/>
          </a:p>
        </p:txBody>
      </p:sp>
      <p:sp>
        <p:nvSpPr>
          <p:cNvPr id="333" name="Google Shape;333;p19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34" name="Google Shape;334;p19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0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The ContainerEvent Class(contd.)</a:t>
            </a:r>
            <a:endParaRPr/>
          </a:p>
        </p:txBody>
      </p:sp>
      <p:sp>
        <p:nvSpPr>
          <p:cNvPr id="340" name="Google Shape;340;p20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b="1"/>
              <a:t>ContainerEvent </a:t>
            </a:r>
            <a:r>
              <a:rPr lang="en-US"/>
              <a:t>is a </a:t>
            </a:r>
            <a:r>
              <a:rPr lang="en-US" b="1"/>
              <a:t>subclass of ComponentEvent.</a:t>
            </a:r>
            <a:endParaRPr/>
          </a:p>
          <a:p>
            <a:pPr marL="342900" lvl="0" indent="-342900" algn="just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Constructor: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ContainerEvent(Component </a:t>
            </a:r>
            <a:r>
              <a:rPr lang="en-US" i="1"/>
              <a:t>src, int type, Component comp)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Here, </a:t>
            </a:r>
            <a:r>
              <a:rPr lang="en-US" i="1"/>
              <a:t>src </a:t>
            </a:r>
            <a:r>
              <a:rPr lang="en-US"/>
              <a:t>is a reference to the container that generated this event. The type of the event is specified by </a:t>
            </a:r>
            <a:r>
              <a:rPr lang="en-US" i="1"/>
              <a:t>type</a:t>
            </a:r>
            <a:r>
              <a:rPr lang="en-US"/>
              <a:t>, and the component that has been added to or removed from the container is </a:t>
            </a:r>
            <a:r>
              <a:rPr lang="en-US" i="1"/>
              <a:t>comp</a:t>
            </a:r>
            <a:r>
              <a:rPr lang="en-US"/>
              <a:t>.</a:t>
            </a:r>
            <a:endParaRPr/>
          </a:p>
        </p:txBody>
      </p:sp>
      <p:sp>
        <p:nvSpPr>
          <p:cNvPr id="341" name="Google Shape;341;p20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42" name="Google Shape;342;p20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43" name="Google Shape;343;p20"/>
          <p:cNvSpPr/>
          <p:nvPr/>
        </p:nvSpPr>
        <p:spPr>
          <a:xfrm>
            <a:off x="457200" y="2209800"/>
            <a:ext cx="8153400" cy="6858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1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The ContainerEvent Class(contd.)</a:t>
            </a:r>
            <a:endParaRPr sz="3200"/>
          </a:p>
        </p:txBody>
      </p:sp>
      <p:sp>
        <p:nvSpPr>
          <p:cNvPr id="349" name="Google Shape;349;p21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A </a:t>
            </a:r>
            <a:r>
              <a:rPr lang="en-US" u="sng"/>
              <a:t>reference to the container that generated this event </a:t>
            </a:r>
            <a:r>
              <a:rPr lang="en-US"/>
              <a:t>by using the </a:t>
            </a:r>
            <a:r>
              <a:rPr lang="en-US" b="1">
                <a:solidFill>
                  <a:srgbClr val="C00000"/>
                </a:solidFill>
              </a:rPr>
              <a:t>getContainer( ) </a:t>
            </a:r>
            <a:r>
              <a:rPr lang="en-US" b="1"/>
              <a:t>method.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		Container getContainer( )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The </a:t>
            </a:r>
            <a:r>
              <a:rPr lang="en-US" b="1"/>
              <a:t>getChild( ) </a:t>
            </a:r>
            <a:r>
              <a:rPr lang="en-US"/>
              <a:t>method </a:t>
            </a:r>
            <a:r>
              <a:rPr lang="en-US" u="sng"/>
              <a:t>returns a reference to the </a:t>
            </a:r>
            <a:r>
              <a:rPr lang="en-US" b="1" u="sng"/>
              <a:t>component</a:t>
            </a:r>
            <a:r>
              <a:rPr lang="en-US" u="sng"/>
              <a:t> that was added to or removed</a:t>
            </a:r>
            <a:r>
              <a:rPr lang="en-US"/>
              <a:t> from the container. 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		Component getChild( )</a:t>
            </a:r>
            <a:endParaRPr/>
          </a:p>
        </p:txBody>
      </p:sp>
      <p:sp>
        <p:nvSpPr>
          <p:cNvPr id="350" name="Google Shape;350;p21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51" name="Google Shape;351;p21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352" name="Google Shape;352;p21"/>
          <p:cNvSpPr/>
          <p:nvPr/>
        </p:nvSpPr>
        <p:spPr>
          <a:xfrm>
            <a:off x="1143000" y="2514600"/>
            <a:ext cx="3962400" cy="7620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1"/>
          <p:cNvSpPr/>
          <p:nvPr/>
        </p:nvSpPr>
        <p:spPr>
          <a:xfrm>
            <a:off x="1219200" y="5105400"/>
            <a:ext cx="3962400" cy="6858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"/>
          <p:cNvSpPr txBox="1">
            <a:spLocks noGrp="1"/>
          </p:cNvSpPr>
          <p:nvPr>
            <p:ph type="title"/>
          </p:nvPr>
        </p:nvSpPr>
        <p:spPr>
          <a:xfrm>
            <a:off x="457200" y="-381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CC"/>
                </a:solidFill>
              </a:rPr>
              <a:t>The FocusEvent Class</a:t>
            </a:r>
            <a:endParaRPr>
              <a:solidFill>
                <a:srgbClr val="0000CC"/>
              </a:solidFill>
            </a:endParaRPr>
          </a:p>
        </p:txBody>
      </p:sp>
      <p:sp>
        <p:nvSpPr>
          <p:cNvPr id="359" name="Google Shape;359;p22"/>
          <p:cNvSpPr txBox="1">
            <a:spLocks noGrp="1"/>
          </p:cNvSpPr>
          <p:nvPr>
            <p:ph type="body" idx="1"/>
          </p:nvPr>
        </p:nvSpPr>
        <p:spPr>
          <a:xfrm>
            <a:off x="457200" y="304800"/>
            <a:ext cx="8229600" cy="28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 FocusEvent is generated </a:t>
            </a:r>
            <a:r>
              <a:rPr lang="en-US" sz="2400" u="sng"/>
              <a:t>when a component gains or loses input focus</a:t>
            </a:r>
            <a:r>
              <a:rPr lang="en-US" sz="2400"/>
              <a:t>. 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These events are identified by the integer constants </a:t>
            </a:r>
            <a:endParaRPr/>
          </a:p>
          <a:p>
            <a:pPr marL="742950" lvl="1" indent="-28575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FOCUS_GAINED </a:t>
            </a:r>
            <a:endParaRPr/>
          </a:p>
          <a:p>
            <a:pPr marL="742950" lvl="1" indent="-28575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FOCUS_LOST.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FocusEvent </a:t>
            </a:r>
            <a:r>
              <a:rPr lang="en-US" sz="2400"/>
              <a:t>is a </a:t>
            </a:r>
            <a:r>
              <a:rPr lang="en-US" sz="2400" b="1"/>
              <a:t>subclass</a:t>
            </a:r>
            <a:r>
              <a:rPr lang="en-US" sz="2400"/>
              <a:t> of </a:t>
            </a:r>
            <a:r>
              <a:rPr lang="en-US" sz="2400" b="1"/>
              <a:t>ComponentEvent </a:t>
            </a:r>
            <a:r>
              <a:rPr lang="en-US" sz="2400"/>
              <a:t>and has these constructors: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FocusEvent(Component </a:t>
            </a:r>
            <a:r>
              <a:rPr lang="en-US" sz="2400" i="1"/>
              <a:t>src, int type)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FocusEvent(Component </a:t>
            </a:r>
            <a:r>
              <a:rPr lang="en-US" sz="2400" i="1"/>
              <a:t>src, int type, boolean temporaryFlag)</a:t>
            </a:r>
            <a:endParaRPr/>
          </a:p>
          <a:p>
            <a:pPr marL="342900" lvl="0" indent="-342900" algn="just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FocusEvent(Component </a:t>
            </a:r>
            <a:r>
              <a:rPr lang="en-US" sz="2400" i="1"/>
              <a:t>src, int type, boolean temporaryFlag,  		Component other)</a:t>
            </a:r>
            <a:endParaRPr sz="2400"/>
          </a:p>
        </p:txBody>
      </p:sp>
      <p:sp>
        <p:nvSpPr>
          <p:cNvPr id="360" name="Google Shape;360;p22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61" name="Google Shape;361;p22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362" name="Google Shape;362;p22"/>
          <p:cNvSpPr/>
          <p:nvPr/>
        </p:nvSpPr>
        <p:spPr>
          <a:xfrm>
            <a:off x="457200" y="3200400"/>
            <a:ext cx="8153400" cy="5334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2"/>
          <p:cNvSpPr/>
          <p:nvPr/>
        </p:nvSpPr>
        <p:spPr>
          <a:xfrm>
            <a:off x="457200" y="3733800"/>
            <a:ext cx="8153400" cy="6096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2"/>
          <p:cNvSpPr/>
          <p:nvPr/>
        </p:nvSpPr>
        <p:spPr>
          <a:xfrm>
            <a:off x="457200" y="4343400"/>
            <a:ext cx="8229600" cy="9144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2"/>
          <p:cNvSpPr/>
          <p:nvPr/>
        </p:nvSpPr>
        <p:spPr>
          <a:xfrm>
            <a:off x="304800" y="5410200"/>
            <a:ext cx="89154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argument 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temporaryFlag is set to </a:t>
            </a:r>
            <a:r>
              <a:rPr lang="en-US" sz="18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r>
              <a:rPr lang="en-US" sz="1800" b="1" i="1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 the focus event is temporary.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Otherwise, it is set to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false.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other component involved in the focus change, called the </a:t>
            </a:r>
            <a:r>
              <a:rPr lang="en-US" sz="1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opposite component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 is passed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3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The FocusEvent Class(contd.)</a:t>
            </a:r>
            <a:endParaRPr sz="3200"/>
          </a:p>
        </p:txBody>
      </p:sp>
      <p:sp>
        <p:nvSpPr>
          <p:cNvPr id="371" name="Google Shape;371;p23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A temporary focus event occurs as a result of another user interface operation. </a:t>
            </a:r>
            <a:endParaRPr/>
          </a:p>
          <a:p>
            <a:pPr marL="742950" lvl="1" indent="-285750" algn="just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For example, assume that the focus is in a text field. If the user moves the mouse to adjust a scroll bar, the focus is temporarily lost.</a:t>
            </a:r>
            <a:endParaRPr/>
          </a:p>
          <a:p>
            <a:pPr marL="342900" lvl="0" indent="-342900" algn="just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if a FOCUS_GAINED event occurred, </a:t>
            </a:r>
            <a:r>
              <a:rPr lang="en-US" sz="2400" i="1"/>
              <a:t>other</a:t>
            </a:r>
            <a:r>
              <a:rPr lang="en-US" sz="2400"/>
              <a:t> will refer to the component that lost focus. </a:t>
            </a:r>
            <a:endParaRPr/>
          </a:p>
          <a:p>
            <a:pPr marL="342900" lvl="0" indent="-342900" algn="just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Conversely, if a FOCUS_LOST event occurred, </a:t>
            </a:r>
            <a:r>
              <a:rPr lang="en-US" sz="2400" i="1"/>
              <a:t>other</a:t>
            </a:r>
            <a:r>
              <a:rPr lang="en-US" sz="2400"/>
              <a:t> will refer to the component that gains focus.</a:t>
            </a:r>
            <a:endParaRPr sz="2400"/>
          </a:p>
        </p:txBody>
      </p:sp>
      <p:sp>
        <p:nvSpPr>
          <p:cNvPr id="372" name="Google Shape;372;p23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73" name="Google Shape;373;p23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4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The FocusEvent Class(contd.)</a:t>
            </a:r>
            <a:endParaRPr sz="3200"/>
          </a:p>
        </p:txBody>
      </p:sp>
      <p:sp>
        <p:nvSpPr>
          <p:cNvPr id="379" name="Google Shape;379;p24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To determine the other component call </a:t>
            </a:r>
            <a:r>
              <a:rPr lang="en-US" sz="2400" b="1">
                <a:solidFill>
                  <a:srgbClr val="C00000"/>
                </a:solidFill>
              </a:rPr>
              <a:t>getOppositeComponent( )</a:t>
            </a:r>
            <a:r>
              <a:rPr lang="en-US" sz="2400">
                <a:solidFill>
                  <a:srgbClr val="C00000"/>
                </a:solidFill>
              </a:rPr>
              <a:t>: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Component getOppositeComponent( )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The opposite component is returned.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</a:t>
            </a:r>
            <a:r>
              <a:rPr lang="en-US" sz="2400" b="1">
                <a:solidFill>
                  <a:srgbClr val="C00000"/>
                </a:solidFill>
              </a:rPr>
              <a:t>isTemporary( )</a:t>
            </a:r>
            <a:r>
              <a:rPr lang="en-US" sz="2400" b="1"/>
              <a:t> </a:t>
            </a:r>
            <a:r>
              <a:rPr lang="en-US" sz="2400"/>
              <a:t>method indicates if this focus change is temporary. 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boolean isTemporary( )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The method returns </a:t>
            </a:r>
            <a:r>
              <a:rPr lang="en-US" sz="2200" b="1"/>
              <a:t>true </a:t>
            </a:r>
            <a:r>
              <a:rPr lang="en-US" sz="2200" b="1" u="sng"/>
              <a:t>if the change is temporary. 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Otherwise, it returns</a:t>
            </a:r>
            <a:r>
              <a:rPr lang="en-US" sz="2200" b="1"/>
              <a:t> false.</a:t>
            </a:r>
            <a:endParaRPr sz="1800"/>
          </a:p>
        </p:txBody>
      </p:sp>
      <p:sp>
        <p:nvSpPr>
          <p:cNvPr id="380" name="Google Shape;380;p24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81" name="Google Shape;381;p24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382" name="Google Shape;382;p24"/>
          <p:cNvSpPr/>
          <p:nvPr/>
        </p:nvSpPr>
        <p:spPr>
          <a:xfrm>
            <a:off x="381000" y="2438400"/>
            <a:ext cx="4953000" cy="6096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4"/>
          <p:cNvSpPr/>
          <p:nvPr/>
        </p:nvSpPr>
        <p:spPr>
          <a:xfrm>
            <a:off x="457200" y="4724400"/>
            <a:ext cx="3429000" cy="8382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5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CC"/>
                </a:solidFill>
              </a:rPr>
              <a:t>The InputEvent Class</a:t>
            </a:r>
            <a:endParaRPr>
              <a:solidFill>
                <a:srgbClr val="0000CC"/>
              </a:solidFill>
            </a:endParaRPr>
          </a:p>
        </p:txBody>
      </p:sp>
      <p:sp>
        <p:nvSpPr>
          <p:cNvPr id="389" name="Google Shape;389;p25"/>
          <p:cNvSpPr txBox="1">
            <a:spLocks noGrp="1"/>
          </p:cNvSpPr>
          <p:nvPr>
            <p:ph type="body" idx="1"/>
          </p:nvPr>
        </p:nvSpPr>
        <p:spPr>
          <a:xfrm>
            <a:off x="457200" y="1219201"/>
            <a:ext cx="82296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</a:t>
            </a:r>
            <a:r>
              <a:rPr lang="en-US" sz="2400" b="1">
                <a:solidFill>
                  <a:srgbClr val="C00000"/>
                </a:solidFill>
              </a:rPr>
              <a:t>abstract class </a:t>
            </a:r>
            <a:r>
              <a:rPr lang="en-US" sz="2400" b="1"/>
              <a:t>InputEvent </a:t>
            </a:r>
            <a:r>
              <a:rPr lang="en-US" sz="2400"/>
              <a:t>is a </a:t>
            </a:r>
            <a:r>
              <a:rPr lang="en-US" sz="2400" b="1"/>
              <a:t>subclass</a:t>
            </a:r>
            <a:r>
              <a:rPr lang="en-US" sz="2400"/>
              <a:t> of </a:t>
            </a:r>
            <a:r>
              <a:rPr lang="en-US" sz="2400" b="1"/>
              <a:t>ComponentEvent </a:t>
            </a:r>
            <a:r>
              <a:rPr lang="en-US" sz="2400"/>
              <a:t>and is the </a:t>
            </a:r>
            <a:r>
              <a:rPr lang="en-US" sz="2400" b="1"/>
              <a:t>superclass</a:t>
            </a:r>
            <a:r>
              <a:rPr lang="en-US" sz="2400"/>
              <a:t> for component input events.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Its </a:t>
            </a:r>
            <a:r>
              <a:rPr lang="en-US" b="1"/>
              <a:t>subclasses</a:t>
            </a:r>
            <a:r>
              <a:rPr lang="en-US"/>
              <a:t> are </a:t>
            </a:r>
            <a:r>
              <a:rPr lang="en-US" b="1"/>
              <a:t>KeyEvent </a:t>
            </a:r>
            <a:r>
              <a:rPr lang="en-US"/>
              <a:t>and</a:t>
            </a:r>
            <a:r>
              <a:rPr lang="en-US" b="1"/>
              <a:t> MouseEvent.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InputEvent </a:t>
            </a:r>
            <a:r>
              <a:rPr lang="en-US" sz="2400"/>
              <a:t>defines several integer constants that represent any modifiers, such as the control key being pressed.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InputEvent </a:t>
            </a:r>
            <a:r>
              <a:rPr lang="en-US" sz="2400"/>
              <a:t>class defined the following eight values to </a:t>
            </a:r>
            <a:r>
              <a:rPr lang="en-US" sz="2400" b="1"/>
              <a:t>represent the modifiers</a:t>
            </a:r>
            <a:r>
              <a:rPr lang="en-US" sz="2400"/>
              <a:t>:</a:t>
            </a:r>
            <a:endParaRPr/>
          </a:p>
        </p:txBody>
      </p:sp>
      <p:sp>
        <p:nvSpPr>
          <p:cNvPr id="390" name="Google Shape;390;p25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91" name="Google Shape;391;p25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392" name="Google Shape;392;p25"/>
          <p:cNvSpPr/>
          <p:nvPr/>
        </p:nvSpPr>
        <p:spPr>
          <a:xfrm>
            <a:off x="609600" y="4884668"/>
            <a:ext cx="2667000" cy="128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ALT_MASK </a:t>
            </a:r>
            <a:endParaRPr/>
          </a:p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ALT_GRAPH_MASK</a:t>
            </a:r>
            <a:endParaRPr/>
          </a:p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BUTTON1_MASK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5"/>
          <p:cNvSpPr/>
          <p:nvPr/>
        </p:nvSpPr>
        <p:spPr>
          <a:xfrm>
            <a:off x="3429000" y="4960868"/>
            <a:ext cx="2120132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BUTTON2_MASK</a:t>
            </a:r>
            <a:endParaRPr/>
          </a:p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BUTTON3_MASK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CTRL_MASK</a:t>
            </a:r>
            <a:endParaRPr/>
          </a:p>
        </p:txBody>
      </p:sp>
      <p:sp>
        <p:nvSpPr>
          <p:cNvPr id="394" name="Google Shape;394;p25"/>
          <p:cNvSpPr/>
          <p:nvPr/>
        </p:nvSpPr>
        <p:spPr>
          <a:xfrm>
            <a:off x="5867400" y="4953000"/>
            <a:ext cx="1713931" cy="78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META_MASK</a:t>
            </a:r>
            <a:endParaRPr/>
          </a:p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SHIFT_MASK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6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InputEvent Class(contd.)</a:t>
            </a:r>
            <a:endParaRPr/>
          </a:p>
        </p:txBody>
      </p:sp>
      <p:sp>
        <p:nvSpPr>
          <p:cNvPr id="400" name="Google Shape;400;p26"/>
          <p:cNvSpPr txBox="1">
            <a:spLocks noGrp="1"/>
          </p:cNvSpPr>
          <p:nvPr>
            <p:ph type="body" idx="1"/>
          </p:nvPr>
        </p:nvSpPr>
        <p:spPr>
          <a:xfrm>
            <a:off x="457200" y="990600"/>
            <a:ext cx="8229600" cy="513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The </a:t>
            </a:r>
            <a:r>
              <a:rPr lang="en-US" b="1"/>
              <a:t>extended modifier </a:t>
            </a:r>
            <a:r>
              <a:rPr lang="en-US"/>
              <a:t>values to avoid conflict between keybaord and mouse event modifiers are:</a:t>
            </a:r>
            <a:endParaRPr/>
          </a:p>
          <a:p>
            <a:pPr marL="342900" lvl="0" indent="-177800" algn="just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/>
          </a:p>
        </p:txBody>
      </p:sp>
      <p:sp>
        <p:nvSpPr>
          <p:cNvPr id="401" name="Google Shape;401;p26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02" name="Google Shape;402;p26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403" name="Google Shape;403;p26"/>
          <p:cNvSpPr/>
          <p:nvPr/>
        </p:nvSpPr>
        <p:spPr>
          <a:xfrm>
            <a:off x="685800" y="2209800"/>
            <a:ext cx="3657600" cy="133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ALT_DOWN_MASK </a:t>
            </a:r>
            <a:endParaRPr/>
          </a:p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ALT_GRAPH_DOWN_MASK</a:t>
            </a:r>
            <a:endParaRPr/>
          </a:p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BUTTON1_DOWN_MASK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6"/>
          <p:cNvSpPr/>
          <p:nvPr/>
        </p:nvSpPr>
        <p:spPr>
          <a:xfrm>
            <a:off x="762000" y="3657600"/>
            <a:ext cx="2971800" cy="128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BUTTON2_DOWN_MASK</a:t>
            </a:r>
            <a:endParaRPr/>
          </a:p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BUTTON3_DOWN_MASK</a:t>
            </a:r>
            <a:endParaRPr/>
          </a:p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CTRL_MASK</a:t>
            </a:r>
            <a:endParaRPr/>
          </a:p>
        </p:txBody>
      </p:sp>
      <p:sp>
        <p:nvSpPr>
          <p:cNvPr id="405" name="Google Shape;405;p26"/>
          <p:cNvSpPr/>
          <p:nvPr/>
        </p:nvSpPr>
        <p:spPr>
          <a:xfrm>
            <a:off x="838200" y="5181600"/>
            <a:ext cx="2743200" cy="872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META_DOWN_MASK</a:t>
            </a:r>
            <a:endParaRPr/>
          </a:p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SHIFT_DOWN_MASK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7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InputEvent Class(contd.)</a:t>
            </a:r>
            <a:endParaRPr/>
          </a:p>
        </p:txBody>
      </p:sp>
      <p:sp>
        <p:nvSpPr>
          <p:cNvPr id="411" name="Google Shape;411;p27"/>
          <p:cNvSpPr txBox="1">
            <a:spLocks noGrp="1"/>
          </p:cNvSpPr>
          <p:nvPr>
            <p:ph type="body" idx="1"/>
          </p:nvPr>
        </p:nvSpPr>
        <p:spPr>
          <a:xfrm>
            <a:off x="457200" y="990600"/>
            <a:ext cx="8229600" cy="513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To test if a modifier was pressed at the time an event is generated, use the </a:t>
            </a:r>
            <a:r>
              <a:rPr lang="en-US" b="1"/>
              <a:t>isAltDown( ), isAltGraphDown( ), isControlDown( ), isMetaDown( ), </a:t>
            </a:r>
            <a:r>
              <a:rPr lang="en-US"/>
              <a:t>and</a:t>
            </a:r>
            <a:r>
              <a:rPr lang="en-US" b="1"/>
              <a:t> isShiftDown( ) methods. 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	boolean isAltDown( )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	boolean isAltGraphDown( )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	boolean isControlDown( )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	boolean isMetaDown( )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	boolean isShiftDown( )</a:t>
            </a:r>
            <a:endParaRPr/>
          </a:p>
        </p:txBody>
      </p:sp>
      <p:sp>
        <p:nvSpPr>
          <p:cNvPr id="412" name="Google Shape;412;p27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13" name="Google Shape;413;p27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414" name="Google Shape;414;p27"/>
          <p:cNvSpPr/>
          <p:nvPr/>
        </p:nvSpPr>
        <p:spPr>
          <a:xfrm>
            <a:off x="685800" y="2667000"/>
            <a:ext cx="4114800" cy="6858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7"/>
          <p:cNvSpPr/>
          <p:nvPr/>
        </p:nvSpPr>
        <p:spPr>
          <a:xfrm>
            <a:off x="685800" y="3352800"/>
            <a:ext cx="4114800" cy="8382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7"/>
          <p:cNvSpPr/>
          <p:nvPr/>
        </p:nvSpPr>
        <p:spPr>
          <a:xfrm>
            <a:off x="685800" y="4191000"/>
            <a:ext cx="4114800" cy="6858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7"/>
          <p:cNvSpPr/>
          <p:nvPr/>
        </p:nvSpPr>
        <p:spPr>
          <a:xfrm>
            <a:off x="685800" y="4876800"/>
            <a:ext cx="4114800" cy="6858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7"/>
          <p:cNvSpPr/>
          <p:nvPr/>
        </p:nvSpPr>
        <p:spPr>
          <a:xfrm>
            <a:off x="685800" y="5562600"/>
            <a:ext cx="4114800" cy="6858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8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InputEvent Class(contd.)</a:t>
            </a:r>
            <a:endParaRPr/>
          </a:p>
        </p:txBody>
      </p:sp>
      <p:sp>
        <p:nvSpPr>
          <p:cNvPr id="424" name="Google Shape;424;p28"/>
          <p:cNvSpPr txBox="1">
            <a:spLocks noGrp="1"/>
          </p:cNvSpPr>
          <p:nvPr>
            <p:ph type="body" idx="1"/>
          </p:nvPr>
        </p:nvSpPr>
        <p:spPr>
          <a:xfrm>
            <a:off x="457200" y="990601"/>
            <a:ext cx="82296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To </a:t>
            </a:r>
            <a:r>
              <a:rPr lang="en-US" sz="2400" u="sng"/>
              <a:t>obtain a value that  contains all of the original modifier flags call </a:t>
            </a:r>
            <a:r>
              <a:rPr lang="en-US" sz="2400" b="1"/>
              <a:t>getModifiers( ) method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	int getModifiers( )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We can obtain the extended modifiers by calling </a:t>
            </a:r>
            <a:r>
              <a:rPr lang="en-US" sz="2400" b="1"/>
              <a:t>getModifiersEx( ), which is shown here: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</a:t>
            </a:r>
            <a:endParaRPr/>
          </a:p>
          <a:p>
            <a:pPr marL="342900" lvl="0" indent="-342900" algn="just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	int getModifiersEx( )</a:t>
            </a:r>
            <a:endParaRPr/>
          </a:p>
        </p:txBody>
      </p:sp>
      <p:sp>
        <p:nvSpPr>
          <p:cNvPr id="425" name="Google Shape;425;p28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26" name="Google Shape;426;p28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427" name="Google Shape;427;p28"/>
          <p:cNvSpPr/>
          <p:nvPr/>
        </p:nvSpPr>
        <p:spPr>
          <a:xfrm>
            <a:off x="533400" y="4495800"/>
            <a:ext cx="4114800" cy="6858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8"/>
          <p:cNvSpPr/>
          <p:nvPr/>
        </p:nvSpPr>
        <p:spPr>
          <a:xfrm>
            <a:off x="838200" y="2209800"/>
            <a:ext cx="4114800" cy="6858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9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CC"/>
                </a:solidFill>
              </a:rPr>
              <a:t>The ItemEvent Class</a:t>
            </a:r>
            <a:endParaRPr>
              <a:solidFill>
                <a:srgbClr val="0000CC"/>
              </a:solidFill>
            </a:endParaRPr>
          </a:p>
        </p:txBody>
      </p:sp>
      <p:sp>
        <p:nvSpPr>
          <p:cNvPr id="434" name="Google Shape;434;p29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521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An </a:t>
            </a:r>
            <a:r>
              <a:rPr lang="en-US" sz="2400" b="1"/>
              <a:t>ItemEvent </a:t>
            </a:r>
            <a:r>
              <a:rPr lang="en-US" sz="2400"/>
              <a:t>is generated when 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a </a:t>
            </a:r>
            <a:r>
              <a:rPr lang="en-US" b="1"/>
              <a:t>check box or a list item is clicked</a:t>
            </a:r>
            <a:r>
              <a:rPr lang="en-US"/>
              <a:t> or 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when a </a:t>
            </a:r>
            <a:r>
              <a:rPr lang="en-US" b="1"/>
              <a:t>checkable menu item is selected or deselected.</a:t>
            </a:r>
            <a:r>
              <a:rPr lang="en-US"/>
              <a:t> 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There are two types of </a:t>
            </a:r>
            <a:r>
              <a:rPr lang="en-US" sz="2400" b="1"/>
              <a:t>item events</a:t>
            </a:r>
            <a:r>
              <a:rPr lang="en-US" sz="2400"/>
              <a:t>, which are identified by the following integer constants: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rgbClr val="C00000"/>
              </a:buClr>
              <a:buSzPts val="2200"/>
              <a:buNone/>
            </a:pPr>
            <a:r>
              <a:rPr lang="en-US" sz="2200" b="1">
                <a:solidFill>
                  <a:srgbClr val="C00000"/>
                </a:solidFill>
              </a:rPr>
              <a:t>DESELECTED </a:t>
            </a:r>
            <a:r>
              <a:rPr lang="en-US" sz="2200"/>
              <a:t>The user deselected an item.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rgbClr val="C00000"/>
              </a:buClr>
              <a:buSzPts val="2200"/>
              <a:buNone/>
            </a:pPr>
            <a:r>
              <a:rPr lang="en-US" sz="2200" b="1">
                <a:solidFill>
                  <a:srgbClr val="C00000"/>
                </a:solidFill>
              </a:rPr>
              <a:t>SELECTED</a:t>
            </a:r>
            <a:r>
              <a:rPr lang="en-US" sz="2200"/>
              <a:t> The user selected an item.</a:t>
            </a:r>
            <a:endParaRPr sz="2200"/>
          </a:p>
        </p:txBody>
      </p:sp>
      <p:sp>
        <p:nvSpPr>
          <p:cNvPr id="435" name="Google Shape;435;p29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36" name="Google Shape;436;p29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0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ItemEvent Class(contd.)</a:t>
            </a:r>
            <a:endParaRPr/>
          </a:p>
        </p:txBody>
      </p:sp>
      <p:sp>
        <p:nvSpPr>
          <p:cNvPr id="442" name="Google Shape;442;p30"/>
          <p:cNvSpPr txBox="1">
            <a:spLocks noGrp="1"/>
          </p:cNvSpPr>
          <p:nvPr>
            <p:ph type="body" idx="1"/>
          </p:nvPr>
        </p:nvSpPr>
        <p:spPr>
          <a:xfrm>
            <a:off x="304800" y="7620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ItemEvent </a:t>
            </a:r>
            <a:r>
              <a:rPr lang="en-US" sz="2400"/>
              <a:t>defines one integer constant, ITEM_STATE_CHANGED, that signifies a change of state.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ItemEvent has this constructor: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ItemEvent(ItemSelectable </a:t>
            </a:r>
            <a:r>
              <a:rPr lang="en-US" sz="2400" i="1"/>
              <a:t>src, int type, Object entry, int state)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i="1"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Here, </a:t>
            </a:r>
            <a:r>
              <a:rPr lang="en-US" sz="2200" i="1"/>
              <a:t>src</a:t>
            </a:r>
            <a:r>
              <a:rPr lang="en-US" sz="2200"/>
              <a:t> is a reference to the component that generated this event. </a:t>
            </a:r>
            <a:endParaRPr/>
          </a:p>
          <a:p>
            <a:pPr marL="1143000" lvl="2" indent="-2286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For example, this might be a list or choice element. 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The type of the event is specified by </a:t>
            </a:r>
            <a:r>
              <a:rPr lang="en-US" sz="2200" i="1"/>
              <a:t>type</a:t>
            </a:r>
            <a:r>
              <a:rPr lang="en-US" sz="2200"/>
              <a:t>. 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The specific item that generated the item event is passed in </a:t>
            </a:r>
            <a:r>
              <a:rPr lang="en-US" sz="2200" i="1"/>
              <a:t>entry</a:t>
            </a:r>
            <a:r>
              <a:rPr lang="en-US" sz="2200"/>
              <a:t>. 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The current state of that item is in </a:t>
            </a:r>
            <a:r>
              <a:rPr lang="en-US" sz="2200" i="1"/>
              <a:t>state</a:t>
            </a:r>
            <a:endParaRPr sz="2200" i="1"/>
          </a:p>
        </p:txBody>
      </p:sp>
      <p:sp>
        <p:nvSpPr>
          <p:cNvPr id="443" name="Google Shape;443;p30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44" name="Google Shape;444;p30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445" name="Google Shape;445;p30"/>
          <p:cNvSpPr/>
          <p:nvPr/>
        </p:nvSpPr>
        <p:spPr>
          <a:xfrm>
            <a:off x="457200" y="2590800"/>
            <a:ext cx="8001000" cy="7620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1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ItemEvent Class(contd.)</a:t>
            </a:r>
            <a:endParaRPr/>
          </a:p>
        </p:txBody>
      </p:sp>
      <p:sp>
        <p:nvSpPr>
          <p:cNvPr id="451" name="Google Shape;451;p31"/>
          <p:cNvSpPr txBox="1">
            <a:spLocks noGrp="1"/>
          </p:cNvSpPr>
          <p:nvPr>
            <p:ph type="body" idx="1"/>
          </p:nvPr>
        </p:nvSpPr>
        <p:spPr>
          <a:xfrm>
            <a:off x="304800" y="7620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getItem( ) method can be used to </a:t>
            </a:r>
            <a:r>
              <a:rPr lang="en-US" sz="2400" u="sng"/>
              <a:t>obtain a reference to the item that generated an event</a:t>
            </a:r>
            <a:r>
              <a:rPr lang="en-US" sz="2400"/>
              <a:t>. </a:t>
            </a:r>
            <a:endParaRPr/>
          </a:p>
          <a:p>
            <a:pPr marL="342900" lvl="0" indent="-342900" algn="just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Object </a:t>
            </a:r>
            <a:r>
              <a:rPr lang="en-US" sz="2400" b="1">
                <a:solidFill>
                  <a:srgbClr val="C00000"/>
                </a:solidFill>
              </a:rPr>
              <a:t>getItem</a:t>
            </a:r>
            <a:r>
              <a:rPr lang="en-US" sz="2400"/>
              <a:t>( )</a:t>
            </a:r>
            <a:endParaRPr/>
          </a:p>
          <a:p>
            <a:pPr marL="342900" lvl="0" indent="-342900" algn="just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getItemSelectable( ) method can be used to </a:t>
            </a:r>
            <a:r>
              <a:rPr lang="en-US" sz="2400" u="sng"/>
              <a:t>obtain a reference to the ItemSelectable object that generated an event</a:t>
            </a:r>
            <a:r>
              <a:rPr lang="en-US" sz="2400"/>
              <a:t>. </a:t>
            </a:r>
            <a:endParaRPr/>
          </a:p>
          <a:p>
            <a:pPr marL="342900" lvl="0" indent="-342900" algn="just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ItemSelectable </a:t>
            </a:r>
            <a:r>
              <a:rPr lang="en-US" sz="2400" b="1">
                <a:solidFill>
                  <a:srgbClr val="C00000"/>
                </a:solidFill>
              </a:rPr>
              <a:t>getItemSelectable</a:t>
            </a:r>
            <a:r>
              <a:rPr lang="en-US" sz="2400"/>
              <a:t>( )</a:t>
            </a:r>
            <a:endParaRPr/>
          </a:p>
          <a:p>
            <a:pPr marL="742950" lvl="1" indent="-285750" algn="just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Lists and choices are examples of user interface elements that implement the ItemSelectable interface.</a:t>
            </a:r>
            <a:endParaRPr/>
          </a:p>
          <a:p>
            <a:pPr marL="342900" lvl="0" indent="-342900" algn="just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getStateChange( ) method </a:t>
            </a:r>
            <a:r>
              <a:rPr lang="en-US" sz="2400" u="sng"/>
              <a:t>returns the state change </a:t>
            </a:r>
            <a:r>
              <a:rPr lang="en-US" sz="2400"/>
              <a:t>(that is, SELECTED or DESELECTED) for the event. </a:t>
            </a:r>
            <a:endParaRPr/>
          </a:p>
          <a:p>
            <a:pPr marL="342900" lvl="0" indent="-342900" algn="just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int </a:t>
            </a:r>
            <a:r>
              <a:rPr lang="en-US" sz="2400" b="1">
                <a:solidFill>
                  <a:srgbClr val="C00000"/>
                </a:solidFill>
              </a:rPr>
              <a:t>getStateChange( )</a:t>
            </a:r>
            <a:endParaRPr sz="2400" b="1">
              <a:solidFill>
                <a:srgbClr val="C00000"/>
              </a:solidFill>
            </a:endParaRPr>
          </a:p>
        </p:txBody>
      </p:sp>
      <p:sp>
        <p:nvSpPr>
          <p:cNvPr id="452" name="Google Shape;452;p31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53" name="Google Shape;453;p31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454" name="Google Shape;454;p31"/>
          <p:cNvSpPr/>
          <p:nvPr/>
        </p:nvSpPr>
        <p:spPr>
          <a:xfrm>
            <a:off x="533400" y="1828800"/>
            <a:ext cx="2514600" cy="5334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31"/>
          <p:cNvSpPr/>
          <p:nvPr/>
        </p:nvSpPr>
        <p:spPr>
          <a:xfrm>
            <a:off x="685800" y="3505200"/>
            <a:ext cx="4800600" cy="4572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1"/>
          <p:cNvSpPr/>
          <p:nvPr/>
        </p:nvSpPr>
        <p:spPr>
          <a:xfrm>
            <a:off x="609600" y="6172200"/>
            <a:ext cx="2971800" cy="5334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2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CC"/>
                </a:solidFill>
              </a:rPr>
              <a:t>The KeyEvent Class</a:t>
            </a:r>
            <a:endParaRPr>
              <a:solidFill>
                <a:srgbClr val="0000CC"/>
              </a:solidFill>
            </a:endParaRPr>
          </a:p>
        </p:txBody>
      </p:sp>
      <p:sp>
        <p:nvSpPr>
          <p:cNvPr id="462" name="Google Shape;462;p32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 </a:t>
            </a:r>
            <a:r>
              <a:rPr lang="en-US" sz="2400" b="1"/>
              <a:t>KeyEvent</a:t>
            </a:r>
            <a:r>
              <a:rPr lang="en-US" sz="2400"/>
              <a:t> is generated </a:t>
            </a:r>
            <a:r>
              <a:rPr lang="en-US" sz="2400" u="sng"/>
              <a:t>when keyboard input occurs.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There are three types of key events, which are identified by these integer constants: 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KEY_PRESSED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KEY_RELEASED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KEY_TYPED. </a:t>
            </a:r>
            <a:endParaRPr/>
          </a:p>
          <a:p>
            <a:pPr marL="1143000" lvl="2" indent="-2286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first two events are generated when any key is pressed or released. </a:t>
            </a:r>
            <a:endParaRPr/>
          </a:p>
          <a:p>
            <a:pPr marL="1143000" lvl="2" indent="-2286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last event occurs only when a character is generated.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Some keypresses does not result in characters. </a:t>
            </a:r>
            <a:endParaRPr sz="2800"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For example, pressing </a:t>
            </a:r>
            <a:r>
              <a:rPr lang="en-US" sz="2200"/>
              <a:t>SHIFT </a:t>
            </a:r>
            <a:r>
              <a:rPr lang="en-US"/>
              <a:t>does not generate a character.</a:t>
            </a:r>
            <a:endParaRPr u="sng"/>
          </a:p>
        </p:txBody>
      </p:sp>
      <p:sp>
        <p:nvSpPr>
          <p:cNvPr id="463" name="Google Shape;463;p32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64" name="Google Shape;464;p32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3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KeyEvent Class(contd.)</a:t>
            </a:r>
            <a:endParaRPr/>
          </a:p>
        </p:txBody>
      </p:sp>
      <p:sp>
        <p:nvSpPr>
          <p:cNvPr id="470" name="Google Shape;470;p33"/>
          <p:cNvSpPr txBox="1">
            <a:spLocks noGrp="1"/>
          </p:cNvSpPr>
          <p:nvPr>
            <p:ph type="body" idx="1"/>
          </p:nvPr>
        </p:nvSpPr>
        <p:spPr>
          <a:xfrm>
            <a:off x="457200" y="838200"/>
            <a:ext cx="8229600" cy="528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There are many other integer constants that are defined by </a:t>
            </a:r>
            <a:r>
              <a:rPr lang="en-US" b="1"/>
              <a:t>KeyEvent.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b="1"/>
              <a:t> </a:t>
            </a:r>
            <a:r>
              <a:rPr lang="en-US"/>
              <a:t>For example, VK_0 through VK_9 define the ASCII equivalents of the numbers.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VK_A through VK_Z define the ASCII equivalents of the 	letters.</a:t>
            </a:r>
            <a:endParaRPr/>
          </a:p>
          <a:p>
            <a:pPr marL="742950" lvl="1" indent="-1333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742950" lvl="1" indent="-1333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742950" lvl="1" indent="-1333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VK constants specify </a:t>
            </a:r>
            <a:r>
              <a:rPr lang="en-US" sz="2400" b="1"/>
              <a:t>virtual key codes </a:t>
            </a:r>
            <a:r>
              <a:rPr lang="en-US" sz="2400"/>
              <a:t>and are independent of any modifiers, such as control, shift, or alt.</a:t>
            </a:r>
            <a:endParaRPr/>
          </a:p>
        </p:txBody>
      </p:sp>
      <p:sp>
        <p:nvSpPr>
          <p:cNvPr id="471" name="Google Shape;471;p33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72" name="Google Shape;472;p33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pic>
        <p:nvPicPr>
          <p:cNvPr id="473" name="Google Shape;47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1" y="3276600"/>
            <a:ext cx="883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4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KeyEvent Class(contd.)</a:t>
            </a:r>
            <a:endParaRPr/>
          </a:p>
        </p:txBody>
      </p:sp>
      <p:sp>
        <p:nvSpPr>
          <p:cNvPr id="479" name="Google Shape;479;p34"/>
          <p:cNvSpPr txBox="1">
            <a:spLocks noGrp="1"/>
          </p:cNvSpPr>
          <p:nvPr>
            <p:ph type="body" idx="1"/>
          </p:nvPr>
        </p:nvSpPr>
        <p:spPr>
          <a:xfrm>
            <a:off x="457200" y="838200"/>
            <a:ext cx="82296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KeyEvent </a:t>
            </a:r>
            <a:r>
              <a:rPr lang="en-US" sz="2400"/>
              <a:t>is a </a:t>
            </a:r>
            <a:r>
              <a:rPr lang="en-US" sz="2400" b="1"/>
              <a:t>subclass</a:t>
            </a:r>
            <a:r>
              <a:rPr lang="en-US" sz="2400"/>
              <a:t> of </a:t>
            </a:r>
            <a:r>
              <a:rPr lang="en-US" sz="2400" b="1">
                <a:solidFill>
                  <a:srgbClr val="C00000"/>
                </a:solidFill>
              </a:rPr>
              <a:t>InputEvent</a:t>
            </a:r>
            <a:r>
              <a:rPr lang="en-US" sz="2400" b="1"/>
              <a:t>. 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Constructor:</a:t>
            </a:r>
            <a:endParaRPr/>
          </a:p>
          <a:p>
            <a:pPr marL="342900" lvl="0" indent="-342900" algn="just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KeyEvent(Component </a:t>
            </a:r>
            <a:r>
              <a:rPr lang="en-US" i="1"/>
              <a:t>src, int type, long when, </a:t>
            </a:r>
            <a:endParaRPr/>
          </a:p>
          <a:p>
            <a:pPr marL="342900" lvl="0" indent="-342900" algn="just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i="1"/>
              <a:t>			int modifiers, int code, char ch)</a:t>
            </a:r>
            <a:endParaRPr/>
          </a:p>
          <a:p>
            <a:pPr marL="342900" lvl="0" indent="-3429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Here, </a:t>
            </a:r>
            <a:r>
              <a:rPr lang="en-US" sz="2200" i="1"/>
              <a:t>src</a:t>
            </a:r>
            <a:r>
              <a:rPr lang="en-US" sz="2200"/>
              <a:t> is a reference to the component that generated the event. </a:t>
            </a:r>
            <a:endParaRPr/>
          </a:p>
          <a:p>
            <a:pPr marL="342900" lvl="0" indent="-3429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type of the event is specified by </a:t>
            </a:r>
            <a:r>
              <a:rPr lang="en-US" sz="2200" i="1"/>
              <a:t>type</a:t>
            </a:r>
            <a:r>
              <a:rPr lang="en-US" sz="2200"/>
              <a:t>.  </a:t>
            </a:r>
            <a:endParaRPr/>
          </a:p>
          <a:p>
            <a:pPr marL="342900" lvl="0" indent="-3429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system time at which the key was pressed is passed in </a:t>
            </a:r>
            <a:r>
              <a:rPr lang="en-US" sz="2200" i="1"/>
              <a:t>when</a:t>
            </a:r>
            <a:r>
              <a:rPr lang="en-US" sz="2200"/>
              <a:t>. </a:t>
            </a:r>
            <a:endParaRPr/>
          </a:p>
          <a:p>
            <a:pPr marL="342900" lvl="0" indent="-3429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</a:t>
            </a:r>
            <a:r>
              <a:rPr lang="en-US" sz="2200" i="1"/>
              <a:t>modifiers</a:t>
            </a:r>
            <a:r>
              <a:rPr lang="en-US" sz="2200"/>
              <a:t> argument indicates which modifiers were pressed when this key event occurred. </a:t>
            </a:r>
            <a:endParaRPr/>
          </a:p>
          <a:p>
            <a:pPr marL="342900" lvl="0" indent="-3429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virtual key code, such as </a:t>
            </a:r>
            <a:r>
              <a:rPr lang="en-US" sz="2200" b="1"/>
              <a:t>VK_UP, VK_A</a:t>
            </a:r>
            <a:r>
              <a:rPr lang="en-US" sz="2200"/>
              <a:t>, and so forth, is passed in code</a:t>
            </a:r>
            <a:r>
              <a:rPr lang="en-US" sz="2200" b="1" i="1"/>
              <a:t>. </a:t>
            </a:r>
            <a:endParaRPr/>
          </a:p>
          <a:p>
            <a:pPr marL="342900" lvl="0" indent="-3429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character equivalent (if one exists) is passed in </a:t>
            </a:r>
            <a:r>
              <a:rPr lang="en-US" sz="2200" i="1"/>
              <a:t>ch. </a:t>
            </a:r>
            <a:endParaRPr/>
          </a:p>
          <a:p>
            <a:pPr marL="742950" lvl="1" indent="-28575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If no valid character exists, then ch contains CHAR_UNDEFINED. </a:t>
            </a:r>
            <a:endParaRPr/>
          </a:p>
          <a:p>
            <a:pPr marL="742950" lvl="1" indent="-28575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For KEY_TYPED events, code will contain VK_UNDEFINED.</a:t>
            </a:r>
            <a:endParaRPr sz="2000"/>
          </a:p>
        </p:txBody>
      </p:sp>
      <p:sp>
        <p:nvSpPr>
          <p:cNvPr id="480" name="Google Shape;480;p34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81" name="Google Shape;481;p34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482" name="Google Shape;482;p34"/>
          <p:cNvSpPr/>
          <p:nvPr/>
        </p:nvSpPr>
        <p:spPr>
          <a:xfrm>
            <a:off x="304800" y="1752600"/>
            <a:ext cx="8458200" cy="9144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5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KeyEvent Class(contd.)</a:t>
            </a:r>
            <a:endParaRPr/>
          </a:p>
        </p:txBody>
      </p:sp>
      <p:sp>
        <p:nvSpPr>
          <p:cNvPr id="488" name="Google Shape;488;p35"/>
          <p:cNvSpPr txBox="1">
            <a:spLocks noGrp="1"/>
          </p:cNvSpPr>
          <p:nvPr>
            <p:ph type="body" idx="1"/>
          </p:nvPr>
        </p:nvSpPr>
        <p:spPr>
          <a:xfrm>
            <a:off x="457200" y="838200"/>
            <a:ext cx="82296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KeyEvent class defines several methods, 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 b="1"/>
              <a:t>getKeyChar( ), </a:t>
            </a:r>
            <a:r>
              <a:rPr lang="en-US" sz="2200"/>
              <a:t>which returns the character that was entered, 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 b="1"/>
              <a:t>getKeyCode( ), </a:t>
            </a:r>
            <a:r>
              <a:rPr lang="en-US" sz="2200"/>
              <a:t>which </a:t>
            </a:r>
            <a:r>
              <a:rPr lang="en-US" sz="2400"/>
              <a:t>returns the key code. 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	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char </a:t>
            </a:r>
            <a:r>
              <a:rPr lang="en-US" sz="2400" b="1">
                <a:solidFill>
                  <a:srgbClr val="C00000"/>
                </a:solidFill>
              </a:rPr>
              <a:t>getKeyChar( )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  int </a:t>
            </a:r>
            <a:r>
              <a:rPr lang="en-US" sz="2400" b="1">
                <a:solidFill>
                  <a:srgbClr val="C00000"/>
                </a:solidFill>
              </a:rPr>
              <a:t>getKeyCode( )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If no valid character is available, then getKeyChar( ) returns CHAR_UNDEFINED. 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When a KEY_TYPED event occurs, getKeyCode( ) returns VK_UNDEFINED.</a:t>
            </a:r>
            <a:endParaRPr sz="2200"/>
          </a:p>
        </p:txBody>
      </p:sp>
      <p:sp>
        <p:nvSpPr>
          <p:cNvPr id="489" name="Google Shape;489;p35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90" name="Google Shape;490;p35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491" name="Google Shape;491;p35"/>
          <p:cNvSpPr/>
          <p:nvPr/>
        </p:nvSpPr>
        <p:spPr>
          <a:xfrm>
            <a:off x="685800" y="2438400"/>
            <a:ext cx="2819400" cy="7620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5"/>
          <p:cNvSpPr/>
          <p:nvPr/>
        </p:nvSpPr>
        <p:spPr>
          <a:xfrm>
            <a:off x="685800" y="3200400"/>
            <a:ext cx="2819400" cy="7620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6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CC"/>
                </a:solidFill>
              </a:rPr>
              <a:t>The MouseEvent Class</a:t>
            </a:r>
            <a:endParaRPr>
              <a:solidFill>
                <a:srgbClr val="0000CC"/>
              </a:solidFill>
            </a:endParaRPr>
          </a:p>
        </p:txBody>
      </p:sp>
      <p:sp>
        <p:nvSpPr>
          <p:cNvPr id="498" name="Google Shape;498;p36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521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There are eight types of mouse events.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</a:t>
            </a:r>
            <a:r>
              <a:rPr lang="en-US" sz="2400" b="1"/>
              <a:t>MouseEvent class</a:t>
            </a:r>
            <a:r>
              <a:rPr lang="en-US" sz="2400"/>
              <a:t> defines the following integer constants that can be used to identify them: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MOUSE_CLICKED The user clicked the mouse.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MOUSE_DRAGGED The user dragged the mouse.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MOUSE_ENTERED The mouse entered a component.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MOUSE_EXITED The mouse exited from a component.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MOUSE_MOVED The mouse moved.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MOUSE_PRESSED The mouse was pressed.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MOUSE_RELEASED The mouse was released.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MOUSE_WHEEL The mouse wheel was moved.</a:t>
            </a:r>
            <a:endParaRPr/>
          </a:p>
        </p:txBody>
      </p:sp>
      <p:sp>
        <p:nvSpPr>
          <p:cNvPr id="499" name="Google Shape;499;p36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500" name="Google Shape;500;p36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7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MouseEvent Class(contd.)</a:t>
            </a:r>
            <a:endParaRPr/>
          </a:p>
        </p:txBody>
      </p:sp>
      <p:sp>
        <p:nvSpPr>
          <p:cNvPr id="506" name="Google Shape;506;p37"/>
          <p:cNvSpPr txBox="1">
            <a:spLocks noGrp="1"/>
          </p:cNvSpPr>
          <p:nvPr>
            <p:ph type="body" idx="1"/>
          </p:nvPr>
        </p:nvSpPr>
        <p:spPr>
          <a:xfrm>
            <a:off x="457200" y="838200"/>
            <a:ext cx="8229600" cy="528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MouseEvent </a:t>
            </a:r>
            <a:r>
              <a:rPr lang="en-US" sz="2400"/>
              <a:t>is a s</a:t>
            </a:r>
            <a:r>
              <a:rPr lang="en-US" sz="2400" b="1"/>
              <a:t>ubclass of InputEvent. </a:t>
            </a:r>
            <a:r>
              <a:rPr lang="en-US" sz="2400" b="1" i="1"/>
              <a:t>Constructor: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/>
              <a:t>MouseEvent(</a:t>
            </a:r>
            <a:r>
              <a:rPr lang="en-US" sz="2400"/>
              <a:t>Component </a:t>
            </a:r>
            <a:r>
              <a:rPr lang="en-US" sz="2400" i="1"/>
              <a:t>src, int type, long when, int modifiers, </a:t>
            </a:r>
            <a:r>
              <a:rPr lang="en-US" sz="2400"/>
              <a:t>int </a:t>
            </a:r>
            <a:r>
              <a:rPr lang="en-US" sz="2400" i="1"/>
              <a:t>x, int y, int clicks, boolean triggersPopup)</a:t>
            </a:r>
            <a:endParaRPr/>
          </a:p>
          <a:p>
            <a:pPr marL="742950" lvl="1" indent="-1460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Here, </a:t>
            </a:r>
            <a:r>
              <a:rPr lang="en-US" sz="2200" i="1"/>
              <a:t>src</a:t>
            </a:r>
            <a:r>
              <a:rPr lang="en-US" sz="2200"/>
              <a:t> is a reference to the component that generated the event. The type of the event is specified by </a:t>
            </a:r>
            <a:r>
              <a:rPr lang="en-US" sz="2200" i="1"/>
              <a:t>type</a:t>
            </a:r>
            <a:r>
              <a:rPr lang="en-US" sz="2200"/>
              <a:t>. The system time at which the mouse event occurred is passed in </a:t>
            </a:r>
            <a:r>
              <a:rPr lang="en-US" sz="2200" i="1"/>
              <a:t>when</a:t>
            </a:r>
            <a:r>
              <a:rPr lang="en-US" sz="2200"/>
              <a:t>. 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The  </a:t>
            </a:r>
            <a:r>
              <a:rPr lang="en-US" sz="2200" i="1"/>
              <a:t>modifiers</a:t>
            </a:r>
            <a:r>
              <a:rPr lang="en-US" sz="2200"/>
              <a:t> argument indicates which modifiers were pressed when a mouse event occurred.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The coordinates of the mouse are passed in </a:t>
            </a:r>
            <a:r>
              <a:rPr lang="en-US" sz="2200" i="1"/>
              <a:t>x </a:t>
            </a:r>
            <a:r>
              <a:rPr lang="en-US" sz="2200"/>
              <a:t>and </a:t>
            </a:r>
            <a:r>
              <a:rPr lang="en-US" sz="2200" i="1"/>
              <a:t>y.</a:t>
            </a:r>
            <a:r>
              <a:rPr lang="en-US" sz="2200"/>
              <a:t> 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The click count is passed in </a:t>
            </a:r>
            <a:r>
              <a:rPr lang="en-US" sz="2200" i="1"/>
              <a:t>clicks</a:t>
            </a:r>
            <a:r>
              <a:rPr lang="en-US" sz="2200"/>
              <a:t>. 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The </a:t>
            </a:r>
            <a:r>
              <a:rPr lang="en-US" sz="2200" i="1"/>
              <a:t>triggersPopup</a:t>
            </a:r>
            <a:r>
              <a:rPr lang="en-US" sz="2200"/>
              <a:t> flag indicates if this event causes a pop-up menu to appear on this platform.</a:t>
            </a:r>
            <a:endParaRPr sz="2200"/>
          </a:p>
        </p:txBody>
      </p:sp>
      <p:sp>
        <p:nvSpPr>
          <p:cNvPr id="507" name="Google Shape;507;p37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508" name="Google Shape;508;p37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509" name="Google Shape;509;p37"/>
          <p:cNvSpPr/>
          <p:nvPr/>
        </p:nvSpPr>
        <p:spPr>
          <a:xfrm>
            <a:off x="381000" y="1676400"/>
            <a:ext cx="8382000" cy="8382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8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MouseEvent Class(contd.)</a:t>
            </a:r>
            <a:endParaRPr/>
          </a:p>
        </p:txBody>
      </p:sp>
      <p:sp>
        <p:nvSpPr>
          <p:cNvPr id="515" name="Google Shape;515;p38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Two commonly used methods in this class are 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b="1"/>
              <a:t>getX( ) -</a:t>
            </a:r>
            <a:r>
              <a:rPr lang="en-US"/>
              <a:t>return the X coordinate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b="1"/>
              <a:t>getY( ) - </a:t>
            </a:r>
            <a:r>
              <a:rPr lang="en-US"/>
              <a:t>return the Y coordinate</a:t>
            </a:r>
            <a:endParaRPr b="1"/>
          </a:p>
          <a:p>
            <a:pPr marL="1143000" lvl="2" indent="-2286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(within the component when the event occurred.)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int </a:t>
            </a:r>
            <a:r>
              <a:rPr lang="en-US" sz="2400" b="1">
                <a:solidFill>
                  <a:srgbClr val="C00000"/>
                </a:solidFill>
              </a:rPr>
              <a:t>getX</a:t>
            </a:r>
            <a:r>
              <a:rPr lang="en-US" sz="2400"/>
              <a:t>( )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int </a:t>
            </a:r>
            <a:r>
              <a:rPr lang="en-US" sz="2400" b="1">
                <a:solidFill>
                  <a:srgbClr val="C00000"/>
                </a:solidFill>
              </a:rPr>
              <a:t>getY</a:t>
            </a:r>
            <a:r>
              <a:rPr lang="en-US" sz="2400"/>
              <a:t>( )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getPoint( ) method -</a:t>
            </a:r>
            <a:r>
              <a:rPr lang="en-US" sz="2400"/>
              <a:t> to obtain the </a:t>
            </a:r>
            <a:r>
              <a:rPr lang="en-US" sz="2400" b="1"/>
              <a:t>coordinates</a:t>
            </a:r>
            <a:r>
              <a:rPr lang="en-US" sz="2400"/>
              <a:t> of the mouse.</a:t>
            </a:r>
            <a:endParaRPr/>
          </a:p>
          <a:p>
            <a:pPr marL="342900" lvl="0" indent="-342900" algn="just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Point </a:t>
            </a:r>
            <a:r>
              <a:rPr lang="en-US" sz="2400" b="1">
                <a:solidFill>
                  <a:srgbClr val="C00000"/>
                </a:solidFill>
              </a:rPr>
              <a:t>getPoint</a:t>
            </a:r>
            <a:r>
              <a:rPr lang="en-US" sz="2400"/>
              <a:t>( )</a:t>
            </a:r>
            <a:endParaRPr/>
          </a:p>
          <a:p>
            <a:pPr marL="742950" lvl="1" indent="-285750" algn="just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returns a Point object that contains the X,Y coordinates in its integer members: x and y.</a:t>
            </a:r>
            <a:endParaRPr sz="2000"/>
          </a:p>
        </p:txBody>
      </p:sp>
      <p:sp>
        <p:nvSpPr>
          <p:cNvPr id="516" name="Google Shape;516;p38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517" name="Google Shape;517;p38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518" name="Google Shape;518;p38"/>
          <p:cNvSpPr/>
          <p:nvPr/>
        </p:nvSpPr>
        <p:spPr>
          <a:xfrm>
            <a:off x="762000" y="3048000"/>
            <a:ext cx="1676400" cy="6096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8"/>
          <p:cNvSpPr/>
          <p:nvPr/>
        </p:nvSpPr>
        <p:spPr>
          <a:xfrm>
            <a:off x="762000" y="3657600"/>
            <a:ext cx="1676400" cy="5334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8"/>
          <p:cNvSpPr/>
          <p:nvPr/>
        </p:nvSpPr>
        <p:spPr>
          <a:xfrm>
            <a:off x="762000" y="4724400"/>
            <a:ext cx="2286000" cy="6858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9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MouseEvent Class(contd.)</a:t>
            </a:r>
            <a:endParaRPr/>
          </a:p>
        </p:txBody>
      </p:sp>
      <p:sp>
        <p:nvSpPr>
          <p:cNvPr id="526" name="Google Shape;526;p39"/>
          <p:cNvSpPr txBox="1">
            <a:spLocks noGrp="1"/>
          </p:cNvSpPr>
          <p:nvPr>
            <p:ph type="body" idx="1"/>
          </p:nvPr>
        </p:nvSpPr>
        <p:spPr>
          <a:xfrm>
            <a:off x="457200" y="838200"/>
            <a:ext cx="82296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</a:t>
            </a:r>
            <a:r>
              <a:rPr lang="en-US" sz="2400" b="1"/>
              <a:t>translatePoint( ) </a:t>
            </a:r>
            <a:r>
              <a:rPr lang="en-US" sz="2400"/>
              <a:t>method </a:t>
            </a:r>
            <a:r>
              <a:rPr lang="en-US" sz="2400" b="1"/>
              <a:t>changes the location of the event</a:t>
            </a:r>
            <a:r>
              <a:rPr lang="en-US" sz="2400"/>
              <a:t>. </a:t>
            </a:r>
            <a:endParaRPr/>
          </a:p>
          <a:p>
            <a:pPr marL="342900" lvl="0" indent="-342900" algn="just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void </a:t>
            </a:r>
            <a:r>
              <a:rPr lang="en-US" sz="2400" b="1">
                <a:solidFill>
                  <a:srgbClr val="C00000"/>
                </a:solidFill>
              </a:rPr>
              <a:t>translatePoint</a:t>
            </a:r>
            <a:r>
              <a:rPr lang="en-US" sz="2400">
                <a:solidFill>
                  <a:srgbClr val="C00000"/>
                </a:solidFill>
              </a:rPr>
              <a:t>(int</a:t>
            </a:r>
            <a:r>
              <a:rPr lang="en-US" sz="2400"/>
              <a:t> </a:t>
            </a:r>
            <a:r>
              <a:rPr lang="en-US" sz="2400" i="1"/>
              <a:t>x, int y)</a:t>
            </a:r>
            <a:endParaRPr/>
          </a:p>
          <a:p>
            <a:pPr marL="742950" lvl="1" indent="-285750" algn="just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Here, the arguments </a:t>
            </a:r>
            <a:r>
              <a:rPr lang="en-US" sz="2200" i="1"/>
              <a:t>x and </a:t>
            </a:r>
            <a:r>
              <a:rPr lang="en-US" sz="2200"/>
              <a:t>y are </a:t>
            </a:r>
            <a:r>
              <a:rPr lang="en-US" sz="2200" b="1" i="1"/>
              <a:t>added to the coordinates </a:t>
            </a:r>
            <a:r>
              <a:rPr lang="en-US" sz="2200"/>
              <a:t>of the event.</a:t>
            </a:r>
            <a:endParaRPr/>
          </a:p>
          <a:p>
            <a:pPr marL="342900" lvl="0" indent="-342900" algn="just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</a:t>
            </a:r>
            <a:r>
              <a:rPr lang="en-US" sz="2400" b="1"/>
              <a:t>getClickCount</a:t>
            </a:r>
            <a:r>
              <a:rPr lang="en-US" sz="2400" b="1">
                <a:solidFill>
                  <a:srgbClr val="C00000"/>
                </a:solidFill>
              </a:rPr>
              <a:t>( ) </a:t>
            </a:r>
            <a:r>
              <a:rPr lang="en-US" sz="2400"/>
              <a:t>method obtains the </a:t>
            </a:r>
            <a:r>
              <a:rPr lang="en-US" sz="2400" b="1"/>
              <a:t>number of mouse clicks </a:t>
            </a:r>
            <a:r>
              <a:rPr lang="en-US" sz="2400"/>
              <a:t>for this event.</a:t>
            </a:r>
            <a:endParaRPr/>
          </a:p>
          <a:p>
            <a:pPr marL="342900" lvl="0" indent="-342900" algn="just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int </a:t>
            </a:r>
            <a:r>
              <a:rPr lang="en-US" sz="2400" b="1">
                <a:solidFill>
                  <a:srgbClr val="C00000"/>
                </a:solidFill>
              </a:rPr>
              <a:t>getClickCoun</a:t>
            </a:r>
            <a:r>
              <a:rPr lang="en-US" sz="2400"/>
              <a:t>t( )</a:t>
            </a:r>
            <a:endParaRPr/>
          </a:p>
          <a:p>
            <a:pPr marL="342900" lvl="0" indent="-342900" algn="just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</a:t>
            </a:r>
            <a:r>
              <a:rPr lang="en-US" sz="2400" b="1"/>
              <a:t>isPopupTrigger( ) </a:t>
            </a:r>
            <a:r>
              <a:rPr lang="en-US" sz="2400"/>
              <a:t>method </a:t>
            </a:r>
            <a:r>
              <a:rPr lang="en-US" sz="2400" b="1"/>
              <a:t>tests if this event causes a pop-up menu to appear </a:t>
            </a:r>
            <a:r>
              <a:rPr lang="en-US" sz="2400"/>
              <a:t>on this platform.</a:t>
            </a:r>
            <a:endParaRPr/>
          </a:p>
          <a:p>
            <a:pPr marL="342900" lvl="0" indent="-3429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boolean </a:t>
            </a:r>
            <a:r>
              <a:rPr lang="en-US" sz="2400" b="1">
                <a:solidFill>
                  <a:srgbClr val="C00000"/>
                </a:solidFill>
              </a:rPr>
              <a:t>isPopupTrigger</a:t>
            </a:r>
            <a:r>
              <a:rPr lang="en-US" sz="2400"/>
              <a:t>( )</a:t>
            </a:r>
            <a:endParaRPr/>
          </a:p>
        </p:txBody>
      </p:sp>
      <p:sp>
        <p:nvSpPr>
          <p:cNvPr id="527" name="Google Shape;527;p39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528" name="Google Shape;528;p39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529" name="Google Shape;529;p39"/>
          <p:cNvSpPr/>
          <p:nvPr/>
        </p:nvSpPr>
        <p:spPr>
          <a:xfrm>
            <a:off x="685800" y="1828800"/>
            <a:ext cx="4343400" cy="5334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39"/>
          <p:cNvSpPr/>
          <p:nvPr/>
        </p:nvSpPr>
        <p:spPr>
          <a:xfrm>
            <a:off x="685800" y="4495800"/>
            <a:ext cx="3124200" cy="5334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9"/>
          <p:cNvSpPr/>
          <p:nvPr/>
        </p:nvSpPr>
        <p:spPr>
          <a:xfrm>
            <a:off x="762000" y="6019800"/>
            <a:ext cx="3962400" cy="5334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0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MouseEvent Class(contd.)</a:t>
            </a:r>
            <a:endParaRPr/>
          </a:p>
        </p:txBody>
      </p:sp>
      <p:sp>
        <p:nvSpPr>
          <p:cNvPr id="537" name="Google Shape;537;p40"/>
          <p:cNvSpPr txBox="1">
            <a:spLocks noGrp="1"/>
          </p:cNvSpPr>
          <p:nvPr>
            <p:ph type="body" idx="1"/>
          </p:nvPr>
        </p:nvSpPr>
        <p:spPr>
          <a:xfrm>
            <a:off x="457200" y="838200"/>
            <a:ext cx="82296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getButton( )</a:t>
            </a:r>
            <a:r>
              <a:rPr lang="en-US" sz="2400"/>
              <a:t> method- </a:t>
            </a:r>
            <a:r>
              <a:rPr lang="en-US" sz="2400" b="1"/>
              <a:t>returns a value that represents the button </a:t>
            </a:r>
            <a:r>
              <a:rPr lang="en-US" sz="2400"/>
              <a:t>that caused the event</a:t>
            </a:r>
            <a:endParaRPr sz="2400" b="1"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int </a:t>
            </a:r>
            <a:r>
              <a:rPr lang="en-US" sz="2400" b="1">
                <a:solidFill>
                  <a:srgbClr val="C00000"/>
                </a:solidFill>
              </a:rPr>
              <a:t>getButton</a:t>
            </a:r>
            <a:r>
              <a:rPr lang="en-US" sz="2400"/>
              <a:t>( )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return value will be one of these constants defined by </a:t>
            </a:r>
            <a:r>
              <a:rPr lang="en-US" sz="2400" b="1"/>
              <a:t>MouseEvent: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/>
              <a:t>NOBUTTON </a:t>
            </a:r>
            <a:r>
              <a:rPr lang="en-US" sz="2200"/>
              <a:t> - </a:t>
            </a:r>
            <a:r>
              <a:rPr lang="en-US" sz="2000"/>
              <a:t>indicates that no button was pressed or released.</a:t>
            </a:r>
            <a:endParaRPr sz="2200"/>
          </a:p>
          <a:p>
            <a:pPr marL="742950" lvl="1" indent="-28575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/>
              <a:t>BUTTON1 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/>
              <a:t>BUTTON2 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/>
              <a:t>BUTTON3</a:t>
            </a:r>
            <a:endParaRPr/>
          </a:p>
        </p:txBody>
      </p:sp>
      <p:sp>
        <p:nvSpPr>
          <p:cNvPr id="538" name="Google Shape;538;p40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539" name="Google Shape;539;p40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540" name="Google Shape;540;p40"/>
          <p:cNvSpPr/>
          <p:nvPr/>
        </p:nvSpPr>
        <p:spPr>
          <a:xfrm>
            <a:off x="685800" y="1981200"/>
            <a:ext cx="2743200" cy="6858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1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MouseEvent Class(contd.)</a:t>
            </a:r>
            <a:endParaRPr/>
          </a:p>
        </p:txBody>
      </p:sp>
      <p:sp>
        <p:nvSpPr>
          <p:cNvPr id="546" name="Google Shape;546;p41"/>
          <p:cNvSpPr txBox="1">
            <a:spLocks noGrp="1"/>
          </p:cNvSpPr>
          <p:nvPr>
            <p:ph type="body" idx="1"/>
          </p:nvPr>
        </p:nvSpPr>
        <p:spPr>
          <a:xfrm>
            <a:off x="457200" y="838200"/>
            <a:ext cx="82296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Java SE 6 added three methods to </a:t>
            </a:r>
            <a:r>
              <a:rPr lang="en-US" sz="2400" b="1"/>
              <a:t>MouseEvent that obtain the coordinates of the mouse </a:t>
            </a:r>
            <a:r>
              <a:rPr lang="en-US" sz="2400" b="1" u="sng"/>
              <a:t>relative to the screen </a:t>
            </a:r>
            <a:r>
              <a:rPr lang="en-US" sz="2400"/>
              <a:t>rather than the component. </a:t>
            </a:r>
            <a:endParaRPr/>
          </a:p>
          <a:p>
            <a:pPr marL="342900" lvl="0" indent="-342900" algn="just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Point </a:t>
            </a:r>
            <a:r>
              <a:rPr lang="en-US" sz="2400" b="1">
                <a:solidFill>
                  <a:srgbClr val="C00000"/>
                </a:solidFill>
              </a:rPr>
              <a:t>getLocationOnScreen</a:t>
            </a:r>
            <a:r>
              <a:rPr lang="en-US" sz="2400"/>
              <a:t>( )</a:t>
            </a:r>
            <a:endParaRPr/>
          </a:p>
          <a:p>
            <a:pPr marL="742950" lvl="1" indent="-285750" algn="just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The </a:t>
            </a:r>
            <a:r>
              <a:rPr lang="en-US" sz="2200" b="1"/>
              <a:t>getLocationOnScreen( ) </a:t>
            </a:r>
            <a:r>
              <a:rPr lang="en-US" sz="2200"/>
              <a:t>method returns a Point object that contains both the X and Y coordinate. </a:t>
            </a:r>
            <a:endParaRPr/>
          </a:p>
          <a:p>
            <a:pPr marL="342900" lvl="0" indent="-342900" algn="just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 </a:t>
            </a:r>
            <a:r>
              <a:rPr lang="en-US" sz="2400" b="1">
                <a:solidFill>
                  <a:srgbClr val="C00000"/>
                </a:solidFill>
              </a:rPr>
              <a:t>getXOnScreen( ) </a:t>
            </a:r>
            <a:r>
              <a:rPr lang="en-US" sz="2400"/>
              <a:t>–</a:t>
            </a:r>
            <a:endParaRPr/>
          </a:p>
          <a:p>
            <a:pPr marL="742950" lvl="1" indent="-285750" algn="just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return the X coordinate.</a:t>
            </a:r>
            <a:endParaRPr/>
          </a:p>
          <a:p>
            <a:pPr marL="342900" lvl="0" indent="-342900" algn="just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 </a:t>
            </a:r>
            <a:r>
              <a:rPr lang="en-US" sz="2400" b="1">
                <a:solidFill>
                  <a:srgbClr val="C00000"/>
                </a:solidFill>
              </a:rPr>
              <a:t>getYOnScreen( )</a:t>
            </a:r>
            <a:endParaRPr/>
          </a:p>
          <a:p>
            <a:pPr marL="742950" lvl="1" indent="-285750" algn="just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return the Y coordinate.</a:t>
            </a:r>
            <a:endParaRPr sz="2200"/>
          </a:p>
        </p:txBody>
      </p:sp>
      <p:sp>
        <p:nvSpPr>
          <p:cNvPr id="547" name="Google Shape;547;p41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548" name="Google Shape;548;p41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2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CC"/>
                </a:solidFill>
              </a:rPr>
              <a:t>The MouseWheelEvent Class</a:t>
            </a:r>
            <a:endParaRPr>
              <a:solidFill>
                <a:srgbClr val="0000CC"/>
              </a:solidFill>
            </a:endParaRPr>
          </a:p>
        </p:txBody>
      </p:sp>
      <p:sp>
        <p:nvSpPr>
          <p:cNvPr id="554" name="Google Shape;554;p42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The </a:t>
            </a:r>
            <a:r>
              <a:rPr lang="en-US" b="1"/>
              <a:t>MouseWheelEvent </a:t>
            </a:r>
            <a:r>
              <a:rPr lang="en-US"/>
              <a:t>class encapsulates a mouse wheel event. 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It is a </a:t>
            </a:r>
            <a:r>
              <a:rPr lang="en-US" b="1"/>
              <a:t>subclass of MouseEvent</a:t>
            </a:r>
            <a:r>
              <a:rPr lang="en-US"/>
              <a:t>.</a:t>
            </a:r>
            <a:endParaRPr/>
          </a:p>
          <a:p>
            <a:pPr marL="342900" lvl="0" indent="-342900" algn="just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Not all mice have wheels. </a:t>
            </a:r>
            <a:endParaRPr/>
          </a:p>
          <a:p>
            <a:pPr marL="342900" lvl="0" indent="-342900" algn="just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If a mouse has a wheel, it is located between the left and right buttons. </a:t>
            </a:r>
            <a:endParaRPr/>
          </a:p>
          <a:p>
            <a:pPr marL="342900" lvl="0" indent="-342900" algn="just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Mouse wheels are used for scrolling. </a:t>
            </a:r>
            <a:endParaRPr/>
          </a:p>
          <a:p>
            <a:pPr marL="342900" lvl="0" indent="-342900" algn="just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MouseWheelEvent defines these two integer constants:</a:t>
            </a:r>
            <a:endParaRPr/>
          </a:p>
          <a:p>
            <a:pPr marL="342900" lvl="0" indent="-177800" algn="just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/>
          </a:p>
        </p:txBody>
      </p:sp>
      <p:sp>
        <p:nvSpPr>
          <p:cNvPr id="555" name="Google Shape;555;p42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556" name="Google Shape;556;p42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graphicFrame>
        <p:nvGraphicFramePr>
          <p:cNvPr id="557" name="Google Shape;557;p42"/>
          <p:cNvGraphicFramePr/>
          <p:nvPr/>
        </p:nvGraphicFramePr>
        <p:xfrm>
          <a:off x="914400" y="472440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{8BBB23E0-89A2-4F06-9CFE-B3EC149292F0}</a:tableStyleId>
              </a:tblPr>
              <a:tblGrid>
                <a:gridCol w="453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WHEEL_BLOCK_SCROLL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r>
                        <a:rPr lang="en-US" sz="2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page-up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or </a:t>
                      </a:r>
                      <a:r>
                        <a:rPr lang="en-US" sz="2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page-down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scroll event occurred.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WHEEL_UNIT_SCROLL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Times New Roman"/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r>
                        <a:rPr lang="en-US" sz="220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line-up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or</a:t>
                      </a:r>
                      <a:r>
                        <a:rPr lang="en-US" sz="220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line-down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scroll event occurred.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3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The MouseWheelEvent Class(contd.)</a:t>
            </a:r>
            <a:endParaRPr sz="3200"/>
          </a:p>
        </p:txBody>
      </p:sp>
      <p:sp>
        <p:nvSpPr>
          <p:cNvPr id="563" name="Google Shape;563;p43"/>
          <p:cNvSpPr txBox="1">
            <a:spLocks noGrp="1"/>
          </p:cNvSpPr>
          <p:nvPr>
            <p:ph type="body" idx="1"/>
          </p:nvPr>
        </p:nvSpPr>
        <p:spPr>
          <a:xfrm>
            <a:off x="457200" y="762000"/>
            <a:ext cx="8229600" cy="536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Constructor defined by </a:t>
            </a:r>
            <a:r>
              <a:rPr lang="en-US" sz="2400" b="1"/>
              <a:t>MouseWheelEvent:</a:t>
            </a:r>
            <a:endParaRPr b="1"/>
          </a:p>
          <a:p>
            <a:pPr marL="342900" lvl="0" indent="-342900" algn="just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	</a:t>
            </a:r>
            <a:r>
              <a:rPr lang="en-US" sz="2400" b="1"/>
              <a:t>MouseWheelEvent</a:t>
            </a:r>
            <a:r>
              <a:rPr lang="en-US" sz="2400"/>
              <a:t>(Component </a:t>
            </a:r>
            <a:r>
              <a:rPr lang="en-US" sz="2400" i="1"/>
              <a:t>src, </a:t>
            </a:r>
            <a:r>
              <a:rPr lang="en-US" sz="2400"/>
              <a:t>int</a:t>
            </a:r>
            <a:r>
              <a:rPr lang="en-US" sz="2400" i="1"/>
              <a:t> type, </a:t>
            </a:r>
            <a:r>
              <a:rPr lang="en-US" sz="2400"/>
              <a:t>long</a:t>
            </a:r>
            <a:r>
              <a:rPr lang="en-US" sz="2400" i="1"/>
              <a:t> when, </a:t>
            </a:r>
            <a:r>
              <a:rPr lang="en-US" sz="2400"/>
              <a:t>int</a:t>
            </a:r>
            <a:r>
              <a:rPr lang="en-US" sz="2400" i="1"/>
              <a:t> modifiers, </a:t>
            </a:r>
            <a:r>
              <a:rPr lang="en-US" sz="2400"/>
              <a:t>int </a:t>
            </a:r>
            <a:r>
              <a:rPr lang="en-US" sz="2400" i="1"/>
              <a:t>x, </a:t>
            </a:r>
            <a:r>
              <a:rPr lang="en-US" sz="2400"/>
              <a:t>int</a:t>
            </a:r>
            <a:r>
              <a:rPr lang="en-US" sz="2400" i="1"/>
              <a:t> y, </a:t>
            </a:r>
            <a:r>
              <a:rPr lang="en-US" sz="2400"/>
              <a:t>int</a:t>
            </a:r>
            <a:r>
              <a:rPr lang="en-US" sz="2400" i="1"/>
              <a:t> clicks, </a:t>
            </a:r>
            <a:r>
              <a:rPr lang="en-US" sz="2400"/>
              <a:t>boolean</a:t>
            </a:r>
            <a:r>
              <a:rPr lang="en-US" sz="2400" i="1"/>
              <a:t> triggersPopup, </a:t>
            </a:r>
            <a:r>
              <a:rPr lang="en-US" sz="2400"/>
              <a:t>int </a:t>
            </a:r>
            <a:r>
              <a:rPr lang="en-US" sz="2400" i="1"/>
              <a:t>scrollHow, </a:t>
            </a:r>
            <a:r>
              <a:rPr lang="en-US" sz="2400"/>
              <a:t>int</a:t>
            </a:r>
            <a:r>
              <a:rPr lang="en-US" sz="2400" i="1"/>
              <a:t> amount, </a:t>
            </a:r>
            <a:r>
              <a:rPr lang="en-US" sz="2400"/>
              <a:t>int</a:t>
            </a:r>
            <a:r>
              <a:rPr lang="en-US" sz="2400" i="1"/>
              <a:t> count)</a:t>
            </a:r>
            <a:endParaRPr i="1"/>
          </a:p>
          <a:p>
            <a:pPr marL="742950" lvl="1" indent="-28575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Here, </a:t>
            </a:r>
            <a:r>
              <a:rPr lang="en-US" sz="2000" i="1"/>
              <a:t>src</a:t>
            </a:r>
            <a:r>
              <a:rPr lang="en-US" sz="2000"/>
              <a:t> is a reference to the object that generated the event. The type of the event is specified by </a:t>
            </a:r>
            <a:r>
              <a:rPr lang="en-US" sz="2000" i="1"/>
              <a:t>type</a:t>
            </a:r>
            <a:r>
              <a:rPr lang="en-US" sz="2000"/>
              <a:t>. The system time at which the mouse event occurred is passed in </a:t>
            </a:r>
            <a:r>
              <a:rPr lang="en-US" sz="2000" i="1"/>
              <a:t>when</a:t>
            </a:r>
            <a:r>
              <a:rPr lang="en-US" sz="2000"/>
              <a:t>. The </a:t>
            </a:r>
            <a:r>
              <a:rPr lang="en-US" sz="2000" i="1"/>
              <a:t>modifiers </a:t>
            </a:r>
            <a:r>
              <a:rPr lang="en-US" sz="2000"/>
              <a:t>argument indicates which modifiers were pressed when the event occurred. The coordinates of the mouse are passed in </a:t>
            </a:r>
            <a:r>
              <a:rPr lang="en-US" sz="2000" i="1"/>
              <a:t>x</a:t>
            </a:r>
            <a:r>
              <a:rPr lang="en-US" sz="2000"/>
              <a:t> and </a:t>
            </a:r>
            <a:r>
              <a:rPr lang="en-US" sz="2000" i="1"/>
              <a:t>y</a:t>
            </a:r>
            <a:r>
              <a:rPr lang="en-US" sz="2000"/>
              <a:t>. The number of clicks the wheel has rotated is passed in </a:t>
            </a:r>
            <a:r>
              <a:rPr lang="en-US" sz="2000" i="1"/>
              <a:t>clicks</a:t>
            </a:r>
            <a:r>
              <a:rPr lang="en-US" sz="2000"/>
              <a:t>. The </a:t>
            </a:r>
            <a:r>
              <a:rPr lang="en-US" sz="2000" i="1"/>
              <a:t>triggersPopup</a:t>
            </a:r>
            <a:r>
              <a:rPr lang="en-US" sz="2000"/>
              <a:t> flag indicates if this event causes a pop-up menu to appear on this platform. </a:t>
            </a:r>
            <a:endParaRPr/>
          </a:p>
          <a:p>
            <a:pPr marL="742950" lvl="1" indent="-28575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The </a:t>
            </a:r>
            <a:r>
              <a:rPr lang="en-US" sz="2000" i="1"/>
              <a:t>scrollHow</a:t>
            </a:r>
            <a:r>
              <a:rPr lang="en-US" sz="2000"/>
              <a:t> value must be either </a:t>
            </a:r>
            <a:r>
              <a:rPr lang="en-US" sz="2000" b="1"/>
              <a:t>WHEEL_UNIT_SCROLL or WHEEL_BLOCK_SCROLL. </a:t>
            </a:r>
            <a:endParaRPr/>
          </a:p>
          <a:p>
            <a:pPr marL="742950" lvl="1" indent="-28575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The number of units to scroll is passed in </a:t>
            </a:r>
            <a:r>
              <a:rPr lang="en-US" sz="2000" i="1"/>
              <a:t>amount</a:t>
            </a:r>
            <a:r>
              <a:rPr lang="en-US" sz="2000"/>
              <a:t>. </a:t>
            </a:r>
            <a:endParaRPr/>
          </a:p>
          <a:p>
            <a:pPr marL="742950" lvl="1" indent="-28575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The </a:t>
            </a:r>
            <a:r>
              <a:rPr lang="en-US" sz="2000" i="1"/>
              <a:t>count</a:t>
            </a:r>
            <a:r>
              <a:rPr lang="en-US" sz="2000"/>
              <a:t> parameter indicates the number of rotational units that the wheel moved</a:t>
            </a:r>
            <a:endParaRPr/>
          </a:p>
          <a:p>
            <a:pPr marL="742950" lvl="1" indent="-28575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</p:txBody>
      </p:sp>
      <p:sp>
        <p:nvSpPr>
          <p:cNvPr id="564" name="Google Shape;564;p43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565" name="Google Shape;565;p43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566" name="Google Shape;566;p43"/>
          <p:cNvSpPr/>
          <p:nvPr/>
        </p:nvSpPr>
        <p:spPr>
          <a:xfrm>
            <a:off x="533400" y="1219200"/>
            <a:ext cx="8153400" cy="12192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4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The MouseWheelEvent Class(contd.)</a:t>
            </a:r>
            <a:endParaRPr sz="3200"/>
          </a:p>
        </p:txBody>
      </p:sp>
      <p:sp>
        <p:nvSpPr>
          <p:cNvPr id="572" name="Google Shape;572;p44"/>
          <p:cNvSpPr txBox="1">
            <a:spLocks noGrp="1"/>
          </p:cNvSpPr>
          <p:nvPr>
            <p:ph type="body" idx="1"/>
          </p:nvPr>
        </p:nvSpPr>
        <p:spPr>
          <a:xfrm>
            <a:off x="457200" y="762000"/>
            <a:ext cx="8229600" cy="536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MouseWheelEvent defines methods that give you access to the wheel event. To obtain </a:t>
            </a:r>
            <a:r>
              <a:rPr lang="en-US" sz="2400" u="sng"/>
              <a:t>the number of rotational units</a:t>
            </a:r>
            <a:r>
              <a:rPr lang="en-US" sz="2400"/>
              <a:t>, call getWheelRotation( ), :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int </a:t>
            </a:r>
            <a:r>
              <a:rPr lang="en-US" sz="2400" b="1">
                <a:solidFill>
                  <a:srgbClr val="C00000"/>
                </a:solidFill>
              </a:rPr>
              <a:t>getWheelRotation</a:t>
            </a:r>
            <a:r>
              <a:rPr lang="en-US" sz="2400"/>
              <a:t>( )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If the value is </a:t>
            </a:r>
            <a:r>
              <a:rPr lang="en-US" sz="2200" b="1"/>
              <a:t>positive</a:t>
            </a:r>
            <a:r>
              <a:rPr lang="en-US" sz="2200"/>
              <a:t>, the wheel moved </a:t>
            </a:r>
            <a:r>
              <a:rPr lang="en-US" sz="2400" u="sng"/>
              <a:t>counterclockwise</a:t>
            </a:r>
            <a:r>
              <a:rPr lang="en-US" sz="2400"/>
              <a:t>. 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If the value is negative, the wheel moved clockwise.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To obtain </a:t>
            </a:r>
            <a:r>
              <a:rPr lang="en-US" sz="2400" u="sng"/>
              <a:t>the type of scroll</a:t>
            </a:r>
            <a:r>
              <a:rPr lang="en-US" sz="2400"/>
              <a:t>, call getScrollType( ), shown next: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int </a:t>
            </a:r>
            <a:r>
              <a:rPr lang="en-US" sz="2400" b="1">
                <a:solidFill>
                  <a:srgbClr val="C00000"/>
                </a:solidFill>
              </a:rPr>
              <a:t>getScrollType</a:t>
            </a:r>
            <a:r>
              <a:rPr lang="en-US" sz="2400"/>
              <a:t>( )</a:t>
            </a:r>
            <a:endParaRPr/>
          </a:p>
          <a:p>
            <a:pPr marL="742950" lvl="1" indent="-28575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It returns either WHEEL_UNIT_SCROLL or WHEEL_BLOCK_SCROLL.</a:t>
            </a:r>
            <a:endParaRPr sz="2200"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If the scroll type is WHEEL_UNIT_SCROLL, we can obtain the number of units to scroll by calling getScrollAmount( ). 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int </a:t>
            </a:r>
            <a:r>
              <a:rPr lang="en-US" sz="2400" b="1">
                <a:solidFill>
                  <a:srgbClr val="C00000"/>
                </a:solidFill>
              </a:rPr>
              <a:t>getScrollAmount</a:t>
            </a:r>
            <a:r>
              <a:rPr lang="en-US" sz="2400"/>
              <a:t>( )</a:t>
            </a:r>
            <a:endParaRPr sz="6000"/>
          </a:p>
        </p:txBody>
      </p:sp>
      <p:sp>
        <p:nvSpPr>
          <p:cNvPr id="573" name="Google Shape;573;p44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574" name="Google Shape;574;p44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5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CC"/>
                </a:solidFill>
              </a:rPr>
              <a:t>The TextEvent Class</a:t>
            </a:r>
            <a:endParaRPr>
              <a:solidFill>
                <a:srgbClr val="0000CC"/>
              </a:solidFill>
            </a:endParaRPr>
          </a:p>
        </p:txBody>
      </p:sp>
      <p:sp>
        <p:nvSpPr>
          <p:cNvPr id="580" name="Google Shape;580;p45"/>
          <p:cNvSpPr txBox="1">
            <a:spLocks noGrp="1"/>
          </p:cNvSpPr>
          <p:nvPr>
            <p:ph type="body" idx="1"/>
          </p:nvPr>
        </p:nvSpPr>
        <p:spPr>
          <a:xfrm>
            <a:off x="457200" y="838200"/>
            <a:ext cx="8229600" cy="528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Instances of </a:t>
            </a:r>
            <a:r>
              <a:rPr lang="en-US" sz="2400">
                <a:solidFill>
                  <a:srgbClr val="0000CC"/>
                </a:solidFill>
              </a:rPr>
              <a:t>TextEvent </a:t>
            </a:r>
            <a:r>
              <a:rPr lang="en-US" sz="2400"/>
              <a:t>class describe text events. 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These are </a:t>
            </a:r>
            <a:r>
              <a:rPr lang="en-US" sz="2400" u="sng"/>
              <a:t>generated by </a:t>
            </a:r>
            <a:r>
              <a:rPr lang="en-US" sz="2400" b="1" u="sng"/>
              <a:t>text fields</a:t>
            </a:r>
            <a:r>
              <a:rPr lang="en-US" sz="2400" u="sng"/>
              <a:t> and </a:t>
            </a:r>
            <a:r>
              <a:rPr lang="en-US" sz="2400" b="1" u="sng"/>
              <a:t>text areas </a:t>
            </a:r>
            <a:r>
              <a:rPr lang="en-US" sz="2400"/>
              <a:t>when </a:t>
            </a:r>
            <a:r>
              <a:rPr lang="en-US" sz="2400" b="1" i="1"/>
              <a:t>characters are entered by a user or program</a:t>
            </a:r>
            <a:r>
              <a:rPr lang="en-US" sz="2400"/>
              <a:t>. 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TextEvent </a:t>
            </a:r>
            <a:r>
              <a:rPr lang="en-US" sz="2400"/>
              <a:t>defines the integer constant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/>
              <a:t>	</a:t>
            </a:r>
            <a:r>
              <a:rPr lang="en-US" sz="2400" b="1">
                <a:solidFill>
                  <a:srgbClr val="C00000"/>
                </a:solidFill>
              </a:rPr>
              <a:t>TEXT_VALUE_CHANGED.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one constructor for this class is :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</a:t>
            </a:r>
            <a:r>
              <a:rPr lang="en-US" sz="2400" b="1"/>
              <a:t>TextEvent</a:t>
            </a:r>
            <a:r>
              <a:rPr lang="en-US" sz="2400"/>
              <a:t>(Object </a:t>
            </a:r>
            <a:r>
              <a:rPr lang="en-US" sz="2400" i="1"/>
              <a:t>src, int type)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Here, </a:t>
            </a:r>
            <a:r>
              <a:rPr lang="en-US" sz="2000" i="1"/>
              <a:t>src </a:t>
            </a:r>
            <a:r>
              <a:rPr lang="en-US" sz="2000"/>
              <a:t>is a reference to the object that generated this event</a:t>
            </a:r>
            <a:r>
              <a:rPr lang="en-US" sz="2000" i="1"/>
              <a:t>. </a:t>
            </a:r>
            <a:r>
              <a:rPr lang="en-US" sz="2000"/>
              <a:t>The type of the event is specified by </a:t>
            </a:r>
            <a:r>
              <a:rPr lang="en-US" sz="2000" i="1"/>
              <a:t>type</a:t>
            </a:r>
            <a:endParaRPr/>
          </a:p>
        </p:txBody>
      </p:sp>
      <p:sp>
        <p:nvSpPr>
          <p:cNvPr id="581" name="Google Shape;581;p45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582" name="Google Shape;582;p45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583" name="Google Shape;583;p45"/>
          <p:cNvSpPr/>
          <p:nvPr/>
        </p:nvSpPr>
        <p:spPr>
          <a:xfrm>
            <a:off x="762000" y="4495800"/>
            <a:ext cx="4267200" cy="6858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6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TextEvent Class(contd.)</a:t>
            </a:r>
            <a:endParaRPr/>
          </a:p>
        </p:txBody>
      </p:sp>
      <p:sp>
        <p:nvSpPr>
          <p:cNvPr id="589" name="Google Shape;589;p46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</a:t>
            </a:r>
            <a:r>
              <a:rPr lang="en-US" sz="2400" b="1"/>
              <a:t>TextEvent object </a:t>
            </a:r>
            <a:r>
              <a:rPr lang="en-US" sz="2400" b="1" u="sng">
                <a:solidFill>
                  <a:srgbClr val="C00000"/>
                </a:solidFill>
              </a:rPr>
              <a:t>does not include </a:t>
            </a:r>
            <a:r>
              <a:rPr lang="en-US" sz="2400" b="1" u="sng"/>
              <a:t>the characters currently in the text component </a:t>
            </a:r>
            <a:r>
              <a:rPr lang="en-US" sz="2400"/>
              <a:t>that generated the event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Our program must use other methods associated with the text component to retrieve that information.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Text event notification is like as a </a:t>
            </a:r>
            <a:r>
              <a:rPr lang="en-US" sz="2400" u="sng"/>
              <a:t>signal to a listener </a:t>
            </a:r>
            <a:r>
              <a:rPr lang="en-US" sz="2400"/>
              <a:t>that it should retrieve information from a specific text component</a:t>
            </a:r>
            <a:endParaRPr/>
          </a:p>
          <a:p>
            <a:pPr marL="342900" lvl="0" indent="-1778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/>
          </a:p>
        </p:txBody>
      </p:sp>
      <p:sp>
        <p:nvSpPr>
          <p:cNvPr id="590" name="Google Shape;590;p46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591" name="Google Shape;591;p46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7"/>
          <p:cNvSpPr txBox="1">
            <a:spLocks noGrp="1"/>
          </p:cNvSpPr>
          <p:nvPr>
            <p:ph type="title"/>
          </p:nvPr>
        </p:nvSpPr>
        <p:spPr>
          <a:xfrm>
            <a:off x="457200" y="-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CC"/>
                </a:solidFill>
              </a:rPr>
              <a:t>The WindowEvent Class</a:t>
            </a:r>
            <a:endParaRPr>
              <a:solidFill>
                <a:srgbClr val="0000CC"/>
              </a:solidFill>
            </a:endParaRPr>
          </a:p>
        </p:txBody>
      </p:sp>
      <p:sp>
        <p:nvSpPr>
          <p:cNvPr id="597" name="Google Shape;597;p47"/>
          <p:cNvSpPr txBox="1">
            <a:spLocks noGrp="1"/>
          </p:cNvSpPr>
          <p:nvPr>
            <p:ph type="body" idx="1"/>
          </p:nvPr>
        </p:nvSpPr>
        <p:spPr>
          <a:xfrm>
            <a:off x="457200" y="533400"/>
            <a:ext cx="8229600" cy="559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There are ten types of window events. 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</a:t>
            </a:r>
            <a:r>
              <a:rPr lang="en-US" sz="2400" b="1"/>
              <a:t>WindowEvent class defines integer constants </a:t>
            </a:r>
            <a:r>
              <a:rPr lang="en-US" sz="2400"/>
              <a:t>that can be used to 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 b="1"/>
              <a:t>WINDOW_ACTIVATED</a:t>
            </a:r>
            <a:r>
              <a:rPr lang="en-US" sz="2200"/>
              <a:t> The window was activated.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 b="1"/>
              <a:t>WINDOW_CLOSED</a:t>
            </a:r>
            <a:r>
              <a:rPr lang="en-US" sz="2200"/>
              <a:t> The window has been closed.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 b="1"/>
              <a:t>WINDOW_CLOSING</a:t>
            </a:r>
            <a:r>
              <a:rPr lang="en-US" sz="2200"/>
              <a:t> The user requested that the window be closed.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 b="1"/>
              <a:t>WINDOW_DEACTIVATED</a:t>
            </a:r>
            <a:r>
              <a:rPr lang="en-US" sz="2200"/>
              <a:t> The window was deactivated.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 b="1"/>
              <a:t>WINDOW_DEICONIFIED </a:t>
            </a:r>
            <a:r>
              <a:rPr lang="en-US" sz="2200"/>
              <a:t>The window was deiconified.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 b="1"/>
              <a:t>WINDOW_GAINED_FOCUS</a:t>
            </a:r>
            <a:r>
              <a:rPr lang="en-US" sz="2200"/>
              <a:t> The window gained input focus.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 b="1"/>
              <a:t>WINDOW_ICONIFIED</a:t>
            </a:r>
            <a:r>
              <a:rPr lang="en-US" sz="2200"/>
              <a:t> The window was iconified.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 b="1"/>
              <a:t>WINDOW_LOST_FOCUS </a:t>
            </a:r>
            <a:r>
              <a:rPr lang="en-US" sz="2200"/>
              <a:t>The window lost input focus.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 b="1"/>
              <a:t>WINDOW_OPENED</a:t>
            </a:r>
            <a:r>
              <a:rPr lang="en-US" sz="2200"/>
              <a:t> The window was opened.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 b="1"/>
              <a:t>WINDOW_STATE_CHANGED</a:t>
            </a:r>
            <a:r>
              <a:rPr lang="en-US" sz="2200"/>
              <a:t> The state of the window changed.</a:t>
            </a:r>
            <a:endParaRPr sz="2200"/>
          </a:p>
        </p:txBody>
      </p:sp>
      <p:sp>
        <p:nvSpPr>
          <p:cNvPr id="598" name="Google Shape;598;p47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599" name="Google Shape;599;p47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8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WindowEvent Class(contd.)</a:t>
            </a:r>
            <a:endParaRPr/>
          </a:p>
        </p:txBody>
      </p:sp>
      <p:sp>
        <p:nvSpPr>
          <p:cNvPr id="605" name="Google Shape;605;p48"/>
          <p:cNvSpPr txBox="1">
            <a:spLocks noGrp="1"/>
          </p:cNvSpPr>
          <p:nvPr>
            <p:ph type="body" idx="1"/>
          </p:nvPr>
        </p:nvSpPr>
        <p:spPr>
          <a:xfrm>
            <a:off x="457200" y="762000"/>
            <a:ext cx="8229600" cy="536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WindowEvent </a:t>
            </a:r>
            <a:r>
              <a:rPr lang="en-US" sz="2400"/>
              <a:t>is a </a:t>
            </a:r>
            <a:r>
              <a:rPr lang="en-US" sz="2400" b="1"/>
              <a:t>subclass of ComponentEvent. 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It defines several constructors. 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WindowEvent(Window </a:t>
            </a:r>
            <a:r>
              <a:rPr lang="en-US" sz="2400" i="1"/>
              <a:t>src, int type)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Here, </a:t>
            </a:r>
            <a:r>
              <a:rPr lang="en-US" sz="2200" i="1"/>
              <a:t>src is a reference to the object that generated this event. The type of the event is type.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next three constructors offer more detailed control: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WindowEvent(Window </a:t>
            </a:r>
            <a:r>
              <a:rPr lang="en-US" sz="2400" i="1"/>
              <a:t>src, int type, Window other)</a:t>
            </a:r>
            <a:endParaRPr/>
          </a:p>
          <a:p>
            <a:pPr marL="342900" lvl="0" indent="-342900" algn="just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WindowEvent(Window </a:t>
            </a:r>
            <a:r>
              <a:rPr lang="en-US" sz="2400" i="1"/>
              <a:t>src, int type, int fromState, int toState)</a:t>
            </a:r>
            <a:endParaRPr/>
          </a:p>
          <a:p>
            <a:pPr marL="342900" lvl="0" indent="-342900" algn="just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WindowEvent(Window </a:t>
            </a:r>
            <a:r>
              <a:rPr lang="en-US" sz="2400" i="1"/>
              <a:t>src, int type, Window other, int fromState, 		int toState)</a:t>
            </a:r>
            <a:endParaRPr/>
          </a:p>
          <a:p>
            <a:pPr marL="742950" lvl="1" indent="-285750" algn="just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Here, </a:t>
            </a:r>
            <a:r>
              <a:rPr lang="en-US" sz="2000" i="1"/>
              <a:t>other</a:t>
            </a:r>
            <a:r>
              <a:rPr lang="en-US" sz="2000"/>
              <a:t> specifies the opposite window when a focus or activation event occurs. The </a:t>
            </a:r>
            <a:r>
              <a:rPr lang="en-US" sz="2000" i="1"/>
              <a:t>fromState</a:t>
            </a:r>
            <a:r>
              <a:rPr lang="en-US" sz="2000"/>
              <a:t> specifies the prior state of the window, and </a:t>
            </a:r>
            <a:r>
              <a:rPr lang="en-US" sz="2000" i="1"/>
              <a:t>toState</a:t>
            </a:r>
            <a:r>
              <a:rPr lang="en-US" sz="2000"/>
              <a:t> specifies the new state that the window will have when a window state change occurs.</a:t>
            </a:r>
            <a:endParaRPr sz="2000"/>
          </a:p>
        </p:txBody>
      </p:sp>
      <p:sp>
        <p:nvSpPr>
          <p:cNvPr id="606" name="Google Shape;606;p48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607" name="Google Shape;607;p48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608" name="Google Shape;608;p48"/>
          <p:cNvSpPr/>
          <p:nvPr/>
        </p:nvSpPr>
        <p:spPr>
          <a:xfrm>
            <a:off x="381000" y="1600200"/>
            <a:ext cx="4876800" cy="5334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48"/>
          <p:cNvSpPr/>
          <p:nvPr/>
        </p:nvSpPr>
        <p:spPr>
          <a:xfrm>
            <a:off x="457200" y="3276600"/>
            <a:ext cx="6477000" cy="5334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48"/>
          <p:cNvSpPr/>
          <p:nvPr/>
        </p:nvSpPr>
        <p:spPr>
          <a:xfrm>
            <a:off x="457200" y="3810000"/>
            <a:ext cx="7848600" cy="5334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48"/>
          <p:cNvSpPr/>
          <p:nvPr/>
        </p:nvSpPr>
        <p:spPr>
          <a:xfrm>
            <a:off x="457200" y="4343400"/>
            <a:ext cx="8001000" cy="10668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49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WindowEvent Class(contd.)</a:t>
            </a:r>
            <a:endParaRPr/>
          </a:p>
        </p:txBody>
      </p:sp>
      <p:sp>
        <p:nvSpPr>
          <p:cNvPr id="617" name="Google Shape;617;p49"/>
          <p:cNvSpPr txBox="1">
            <a:spLocks noGrp="1"/>
          </p:cNvSpPr>
          <p:nvPr>
            <p:ph type="body" idx="1"/>
          </p:nvPr>
        </p:nvSpPr>
        <p:spPr>
          <a:xfrm>
            <a:off x="381000" y="685800"/>
            <a:ext cx="8229600" cy="536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 commonly used method in this class is getWindow( ). 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getWindow( ) </a:t>
            </a:r>
            <a:r>
              <a:rPr lang="en-US" sz="2400" u="sng"/>
              <a:t>returns the Window object that generated the event</a:t>
            </a:r>
            <a:r>
              <a:rPr lang="en-US" sz="2400"/>
              <a:t>. 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      Window </a:t>
            </a:r>
            <a:r>
              <a:rPr lang="en-US" sz="2400" b="1">
                <a:solidFill>
                  <a:srgbClr val="C00000"/>
                </a:solidFill>
              </a:rPr>
              <a:t>getWindow</a:t>
            </a:r>
            <a:r>
              <a:rPr lang="en-US" sz="2400"/>
              <a:t>( )</a:t>
            </a:r>
            <a:endParaRPr/>
          </a:p>
          <a:p>
            <a:pPr marL="342900" lvl="0" indent="-342900" algn="just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WindowEvent also defines methods that </a:t>
            </a:r>
            <a:endParaRPr/>
          </a:p>
          <a:p>
            <a:pPr marL="742950" lvl="1" indent="-28575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 u="sng"/>
              <a:t>return the opposite window </a:t>
            </a:r>
            <a:r>
              <a:rPr lang="en-US" sz="2200"/>
              <a:t>(when a focus or activation event has occurred), </a:t>
            </a:r>
            <a:endParaRPr/>
          </a:p>
          <a:p>
            <a:pPr marL="742950" lvl="1" indent="-28575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	  Window </a:t>
            </a:r>
            <a:r>
              <a:rPr lang="en-US" sz="2200" b="1">
                <a:solidFill>
                  <a:srgbClr val="C00000"/>
                </a:solidFill>
              </a:rPr>
              <a:t>getOppositeWindow( )</a:t>
            </a:r>
            <a:endParaRPr/>
          </a:p>
          <a:p>
            <a:pPr marL="742950" lvl="1" indent="-28575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 the previous window state, </a:t>
            </a:r>
            <a:endParaRPr/>
          </a:p>
          <a:p>
            <a:pPr marL="742950" lvl="1" indent="-28575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 </a:t>
            </a:r>
            <a:r>
              <a:rPr lang="en-US"/>
              <a:t>int </a:t>
            </a:r>
            <a:r>
              <a:rPr lang="en-US" b="1">
                <a:solidFill>
                  <a:srgbClr val="C00000"/>
                </a:solidFill>
              </a:rPr>
              <a:t>getOldState( )</a:t>
            </a:r>
            <a:endParaRPr sz="2000" b="1">
              <a:solidFill>
                <a:srgbClr val="C00000"/>
              </a:solidFill>
            </a:endParaRPr>
          </a:p>
          <a:p>
            <a:pPr marL="742950" lvl="1" indent="-28575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and the current window state.</a:t>
            </a:r>
            <a:endParaRPr/>
          </a:p>
          <a:p>
            <a:pPr marL="342900" lvl="0" indent="-3429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       int </a:t>
            </a:r>
            <a:r>
              <a:rPr lang="en-US" sz="2400" b="1">
                <a:solidFill>
                  <a:srgbClr val="C00000"/>
                </a:solidFill>
              </a:rPr>
              <a:t>getNewState( )</a:t>
            </a:r>
            <a:endParaRPr sz="2400" b="1">
              <a:solidFill>
                <a:srgbClr val="C00000"/>
              </a:solidFill>
            </a:endParaRPr>
          </a:p>
        </p:txBody>
      </p:sp>
      <p:sp>
        <p:nvSpPr>
          <p:cNvPr id="618" name="Google Shape;618;p49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619" name="Google Shape;619;p49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sp>
        <p:nvSpPr>
          <p:cNvPr id="620" name="Google Shape;620;p49"/>
          <p:cNvSpPr/>
          <p:nvPr/>
        </p:nvSpPr>
        <p:spPr>
          <a:xfrm>
            <a:off x="1066800" y="1828800"/>
            <a:ext cx="3505200" cy="6096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49"/>
          <p:cNvSpPr/>
          <p:nvPr/>
        </p:nvSpPr>
        <p:spPr>
          <a:xfrm>
            <a:off x="1066800" y="3733800"/>
            <a:ext cx="3962400" cy="6096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49"/>
          <p:cNvSpPr/>
          <p:nvPr/>
        </p:nvSpPr>
        <p:spPr>
          <a:xfrm>
            <a:off x="1066800" y="4724400"/>
            <a:ext cx="2667000" cy="6096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49"/>
          <p:cNvSpPr/>
          <p:nvPr/>
        </p:nvSpPr>
        <p:spPr>
          <a:xfrm>
            <a:off x="1143000" y="5715000"/>
            <a:ext cx="2743200" cy="6096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0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629" name="Google Shape;629;p50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Herbert Schildt, Java: </a:t>
            </a:r>
            <a:r>
              <a:rPr lang="en-US" b="1"/>
              <a:t>The Complete Reference, 8/e, Tata McGraw Hill, 2011</a:t>
            </a:r>
            <a:r>
              <a:rPr lang="en-US"/>
              <a:t>.</a:t>
            </a:r>
            <a:endParaRPr/>
          </a:p>
        </p:txBody>
      </p:sp>
      <p:sp>
        <p:nvSpPr>
          <p:cNvPr id="630" name="Google Shape;630;p50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sp>
        <p:nvSpPr>
          <p:cNvPr id="631" name="Google Shape;631;p50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4614</Words>
  <Application>Microsoft Office PowerPoint</Application>
  <PresentationFormat>On-screen Show (4:3)</PresentationFormat>
  <Paragraphs>538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Calibri</vt:lpstr>
      <vt:lpstr>Snap ITC</vt:lpstr>
      <vt:lpstr>Arial</vt:lpstr>
      <vt:lpstr>Times New Roman</vt:lpstr>
      <vt:lpstr>Noto Sans Symbols</vt:lpstr>
      <vt:lpstr>Office Theme</vt:lpstr>
      <vt:lpstr>PowerPoint Presentation</vt:lpstr>
      <vt:lpstr>Topics</vt:lpstr>
      <vt:lpstr>Event Classes</vt:lpstr>
      <vt:lpstr>Event Classes(contd.)</vt:lpstr>
      <vt:lpstr>Event Classes(contd.)</vt:lpstr>
      <vt:lpstr>Event Classes(contd.)</vt:lpstr>
      <vt:lpstr>Event Class (contd.) </vt:lpstr>
      <vt:lpstr>Event classes</vt:lpstr>
      <vt:lpstr>Event classes(contd.)</vt:lpstr>
      <vt:lpstr>The ActionEvent Class</vt:lpstr>
      <vt:lpstr>The ActionEvent Class(contd.)</vt:lpstr>
      <vt:lpstr>The ActionEvent Class(contd.)</vt:lpstr>
      <vt:lpstr>The ActionEvent Class(contd.)</vt:lpstr>
      <vt:lpstr>The AdjustmentEvent Class</vt:lpstr>
      <vt:lpstr>The AdjustmentEvent Class(contd.)</vt:lpstr>
      <vt:lpstr>The AdjustmentEvent Class(contd.)</vt:lpstr>
      <vt:lpstr>The ComponentEvent Class</vt:lpstr>
      <vt:lpstr>The ComponentEvent Class(contd.)</vt:lpstr>
      <vt:lpstr>The ContainerEvent Class</vt:lpstr>
      <vt:lpstr>The ContainerEvent Class(contd.)</vt:lpstr>
      <vt:lpstr>The ContainerEvent Class(contd.)</vt:lpstr>
      <vt:lpstr>The FocusEvent Class</vt:lpstr>
      <vt:lpstr>The FocusEvent Class(contd.)</vt:lpstr>
      <vt:lpstr>The FocusEvent Class(contd.)</vt:lpstr>
      <vt:lpstr>The InputEvent Class</vt:lpstr>
      <vt:lpstr>The InputEvent Class(contd.)</vt:lpstr>
      <vt:lpstr>The InputEvent Class(contd.)</vt:lpstr>
      <vt:lpstr>The InputEvent Class(contd.)</vt:lpstr>
      <vt:lpstr>The ItemEvent Class</vt:lpstr>
      <vt:lpstr>The ItemEvent Class(contd.)</vt:lpstr>
      <vt:lpstr>The ItemEvent Class(contd.)</vt:lpstr>
      <vt:lpstr>The KeyEvent Class</vt:lpstr>
      <vt:lpstr>The KeyEvent Class(contd.)</vt:lpstr>
      <vt:lpstr>The KeyEvent Class(contd.)</vt:lpstr>
      <vt:lpstr>The KeyEvent Class(contd.)</vt:lpstr>
      <vt:lpstr>The MouseEvent Class</vt:lpstr>
      <vt:lpstr>The MouseEvent Class(contd.)</vt:lpstr>
      <vt:lpstr>The MouseEvent Class(contd.)</vt:lpstr>
      <vt:lpstr>The MouseEvent Class(contd.)</vt:lpstr>
      <vt:lpstr>The MouseEvent Class(contd.)</vt:lpstr>
      <vt:lpstr>The MouseEvent Class(contd.)</vt:lpstr>
      <vt:lpstr>The MouseWheelEvent Class</vt:lpstr>
      <vt:lpstr>The MouseWheelEvent Class(contd.)</vt:lpstr>
      <vt:lpstr>The MouseWheelEvent Class(contd.)</vt:lpstr>
      <vt:lpstr>The TextEvent Class</vt:lpstr>
      <vt:lpstr>The TextEvent Class(contd.)</vt:lpstr>
      <vt:lpstr>The WindowEvent Class</vt:lpstr>
      <vt:lpstr>The WindowEvent Class(contd.)</vt:lpstr>
      <vt:lpstr>The WindowEvent Class(contd.)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RENETHA J B</cp:lastModifiedBy>
  <cp:revision>5</cp:revision>
  <dcterms:created xsi:type="dcterms:W3CDTF">2006-08-16T00:00:00Z</dcterms:created>
  <dcterms:modified xsi:type="dcterms:W3CDTF">2025-08-24T19:13:42Z</dcterms:modified>
</cp:coreProperties>
</file>