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7315200" cy="9601200"/>
  <p:embeddedFontLst>
    <p:embeddedFont>
      <p:font typeface="Sigmar One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46" roundtripDataSignature="AMtx7mgfzwGi4ziDn9b98B42/u/Vm2mY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F85DA8-E7E1-4A63-BBA0-0DA7F516D1B8}">
  <a:tblStyle styleId="{89F85DA8-E7E1-4A63-BBA0-0DA7F516D1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Sigmar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5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7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" type="body"/>
          </p:nvPr>
        </p:nvSpPr>
        <p:spPr>
          <a:xfrm rot="5400000">
            <a:off x="2042318" y="-518319"/>
            <a:ext cx="50593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333500" y="334486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42900" y="677863"/>
            <a:ext cx="8458200" cy="202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36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PBCST304 Object Oriented Programming in Java</a:t>
            </a:r>
            <a:b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</a:t>
            </a:r>
            <a:b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 8)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333500" y="334486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0" lang="en-US" sz="40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 b="1" i="0" sz="4000" u="none" cap="none" strike="noStrik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515100" y="581501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086100" y="5815013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304800" y="838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b="1" lang="en-US" sz="2800">
                <a:solidFill>
                  <a:srgbClr val="C00000"/>
                </a:solidFill>
              </a:rPr>
              <a:t>Event handling: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indent="-285750" lvl="1" marL="742950" rtl="0" algn="just">
              <a:lnSpc>
                <a:spcPct val="2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Sources of Events</a:t>
            </a:r>
            <a:endParaRPr/>
          </a:p>
          <a:p>
            <a:pPr indent="-285750" lvl="1" marL="742950" rtl="0" algn="just">
              <a:lnSpc>
                <a:spcPct val="2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Event Listener Interfaces</a:t>
            </a:r>
            <a:endParaRPr/>
          </a:p>
          <a:p>
            <a:pPr indent="-285750" lvl="1" marL="742950" rtl="0" algn="just">
              <a:lnSpc>
                <a:spcPct val="2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rgbClr val="FF0000"/>
                </a:solidFill>
              </a:rPr>
              <a:t>Using the Delegation Model</a:t>
            </a:r>
            <a:endParaRPr b="1" sz="5400">
              <a:solidFill>
                <a:srgbClr val="FF0000"/>
              </a:solidFill>
            </a:endParaRPr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CC"/>
                </a:solidFill>
              </a:rPr>
              <a:t>Sources of Events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57200" y="7620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components  in user interface that can generate the events are the</a:t>
            </a:r>
            <a:r>
              <a:rPr b="1" lang="en-US" sz="2400"/>
              <a:t> sources of the event.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Event Source are: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Button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Check box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Choice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List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Menu Item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Scroll bar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Text components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Window 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-190500" lvl="0" marL="3429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11" name="Google Shape;111;p3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Event Source &amp; Description</a:t>
            </a:r>
            <a:br>
              <a:rPr lang="en-US"/>
            </a:b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57200" y="45720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Button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 rot="5400000">
            <a:off x="2032482" y="16786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743175" y="491725"/>
            <a:ext cx="4749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1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events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button is </a:t>
            </a:r>
            <a:r>
              <a:rPr b="1" i="0" lang="en-US" sz="1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pressed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127056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Check box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 rot="5400000">
            <a:off x="2032482" y="98122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760505" y="1305150"/>
            <a:ext cx="42972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events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check box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selected or deselected.</a:t>
            </a:r>
            <a:endParaRPr b="1" i="0" sz="15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208392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Choice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 rot="5400000">
            <a:off x="2032482" y="179458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743138" y="2118439"/>
            <a:ext cx="6486462" cy="638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events</a:t>
            </a:r>
            <a:r>
              <a:rPr b="1" i="0" lang="en-US" sz="15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 choice is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289728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rot="5400000">
            <a:off x="2032482" y="260794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743138" y="2931789"/>
            <a:ext cx="6368475" cy="638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1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events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item is </a:t>
            </a:r>
            <a:r>
              <a:rPr b="1" i="0" lang="en-US" sz="16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double-clicked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generates </a:t>
            </a:r>
            <a:r>
              <a:rPr b="1" i="0" lang="en-US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events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item is</a:t>
            </a:r>
            <a:r>
              <a:rPr b="1" i="0" lang="en-US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selected or deselected.</a:t>
            </a:r>
            <a:endParaRPr b="1" i="0" sz="16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" y="371064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Menu Item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 rot="5400000">
            <a:off x="2032482" y="342130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743138" y="3745164"/>
            <a:ext cx="6368475" cy="638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1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events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</a:t>
            </a:r>
            <a:r>
              <a:rPr b="1" i="0" lang="en-US" sz="15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 item is </a:t>
            </a:r>
            <a:r>
              <a:rPr b="1" i="0" lang="en-US" sz="1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generates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events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</a:t>
            </a:r>
            <a:r>
              <a:rPr b="1" i="0" lang="en-US" sz="15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checkable menu item</a:t>
            </a:r>
            <a:r>
              <a:rPr b="1" i="0" lang="en-US" sz="1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i="0" lang="en-US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or deselected.</a:t>
            </a:r>
            <a:endParaRPr b="1" i="0" sz="15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452400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Scroll bar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 rot="5400000">
            <a:off x="2032482" y="423466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743138" y="4558514"/>
            <a:ext cx="6132501" cy="638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adjustment events 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scroll bar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manipulated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57200" y="533736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 components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 rot="5400000">
            <a:off x="2032482" y="504802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743138" y="5371864"/>
            <a:ext cx="6943662" cy="638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2000" u="none" cap="none" strike="noStrike">
                <a:solidFill>
                  <a:srgbClr val="3F3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events 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user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enters a character.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57200" y="6150720"/>
            <a:ext cx="1285945" cy="70727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 rot="5400000">
            <a:off x="2032482" y="5861383"/>
            <a:ext cx="707270" cy="128594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799866" y="6165053"/>
            <a:ext cx="7172262" cy="638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</a:t>
            </a:r>
            <a:r>
              <a:rPr b="1" i="0" lang="en-US" sz="1800" u="none" cap="none" strike="noStrike">
                <a:solidFill>
                  <a:srgbClr val="3F3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 events 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activated, closed, deactivated, deiconified, iconified, opened, or quit.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8610600" y="6629400"/>
            <a:ext cx="3048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492175" y="776748"/>
            <a:ext cx="12282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ActionEvent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735097" y="1484019"/>
            <a:ext cx="990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6748931" y="2238240"/>
            <a:ext cx="990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492175" y="5077557"/>
            <a:ext cx="15392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AdjustmentEvent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7261777" y="5925445"/>
            <a:ext cx="10807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TesxtEvent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853516" y="6409774"/>
            <a:ext cx="12811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Sources of Events</a:t>
            </a:r>
            <a:r>
              <a:rPr b="0" lang="en-US" sz="3200"/>
              <a:t>(contd.)</a:t>
            </a:r>
            <a:endParaRPr b="0" sz="3200"/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Any class derived from </a:t>
            </a:r>
            <a:r>
              <a:rPr b="1" lang="en-US"/>
              <a:t>Component, </a:t>
            </a:r>
            <a:r>
              <a:rPr lang="en-US"/>
              <a:t>can generate events.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t/>
            </a:r>
            <a:endParaRPr/>
          </a:p>
        </p:txBody>
      </p:sp>
      <p:sp>
        <p:nvSpPr>
          <p:cNvPr id="155" name="Google Shape;155;p5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56" name="Google Shape;156;p5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CC"/>
                </a:solidFill>
              </a:rPr>
              <a:t>Event Listener Interfaces</a:t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Listeners are created by </a:t>
            </a:r>
            <a:r>
              <a:rPr b="1" lang="en-US">
                <a:solidFill>
                  <a:srgbClr val="C00000"/>
                </a:solidFill>
              </a:rPr>
              <a:t>implementing</a:t>
            </a:r>
            <a:r>
              <a:rPr lang="en-US"/>
              <a:t> one or more of the </a:t>
            </a:r>
            <a:r>
              <a:rPr b="1" lang="en-US">
                <a:solidFill>
                  <a:srgbClr val="C00000"/>
                </a:solidFill>
              </a:rPr>
              <a:t>interfaces</a:t>
            </a:r>
            <a:r>
              <a:rPr lang="en-US"/>
              <a:t> defined by the </a:t>
            </a:r>
            <a:r>
              <a:rPr b="1" lang="en-US">
                <a:solidFill>
                  <a:srgbClr val="C00000"/>
                </a:solidFill>
              </a:rPr>
              <a:t>java.awt.event</a:t>
            </a:r>
            <a:r>
              <a:rPr b="1" lang="en-US">
                <a:solidFill>
                  <a:srgbClr val="0000CC"/>
                </a:solidFill>
              </a:rPr>
              <a:t> </a:t>
            </a:r>
            <a:r>
              <a:rPr lang="en-US"/>
              <a:t>package,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When an event occurs,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event source </a:t>
            </a:r>
            <a:r>
              <a:rPr lang="en-US" u="sng"/>
              <a:t>invokes the appropriate method defined by the listener</a:t>
            </a:r>
            <a:r>
              <a:rPr lang="en-US"/>
              <a:t> and </a:t>
            </a:r>
            <a:r>
              <a:rPr lang="en-US" u="sng"/>
              <a:t>provides an event object as its argument</a:t>
            </a:r>
            <a:endParaRPr u="sng"/>
          </a:p>
        </p:txBody>
      </p:sp>
      <p:sp>
        <p:nvSpPr>
          <p:cNvPr id="163" name="Google Shape;163;p6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64" name="Google Shape;164;p6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7"/>
          <p:cNvGraphicFramePr/>
          <p:nvPr/>
        </p:nvGraphicFramePr>
        <p:xfrm>
          <a:off x="381001" y="30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{89F85DA8-E7E1-4A63-BBA0-0DA7F516D1B8}</a:tableStyleId>
              </a:tblPr>
              <a:tblGrid>
                <a:gridCol w="3652700"/>
                <a:gridCol w="3586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class</a:t>
                      </a:r>
                      <a:endParaRPr b="1" sz="2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Listener interface</a:t>
                      </a:r>
                      <a:endParaRPr b="1" sz="2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AdjustmentEvent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AdjustmentListener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ContainerEvent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ContainerListener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KeyEvent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MouseEvent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MouseListener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MouseMotionListener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MouseWheelEvent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MouseWheelListener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WindowEvent 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WindowFocusListener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WindowListener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0" name="Google Shape;170;p7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71" name="Google Shape;171;p7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>
            <p:ph type="title"/>
          </p:nvPr>
        </p:nvSpPr>
        <p:spPr>
          <a:xfrm>
            <a:off x="38100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Event listeners &amp; Description</a:t>
            </a:r>
            <a:endParaRPr sz="3200"/>
          </a:p>
        </p:txBody>
      </p:sp>
      <p:sp>
        <p:nvSpPr>
          <p:cNvPr id="177" name="Google Shape;177;p8"/>
          <p:cNvSpPr/>
          <p:nvPr/>
        </p:nvSpPr>
        <p:spPr>
          <a:xfrm>
            <a:off x="457200" y="838200"/>
            <a:ext cx="1539392" cy="84666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ActionListener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 rot="5400000">
            <a:off x="2342955" y="491837"/>
            <a:ext cx="846666" cy="153939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1996587" y="879519"/>
            <a:ext cx="6233013" cy="764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one method to receive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events.</a:t>
            </a:r>
            <a:endParaRPr b="1" i="0" sz="2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1811865"/>
            <a:ext cx="1539392" cy="84666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AdjustmentListener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 rot="5400000">
            <a:off x="2342955" y="1465502"/>
            <a:ext cx="846666" cy="153939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996587" y="1853194"/>
            <a:ext cx="10156084" cy="764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one method to receive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adjustment events.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2785530"/>
            <a:ext cx="1539392" cy="84666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 rot="5400000">
            <a:off x="2342955" y="2439167"/>
            <a:ext cx="846666" cy="153939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996587" y="2826844"/>
            <a:ext cx="7383387" cy="764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four methods to recognize when a component is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hidden, moved, resized, or shown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3759195"/>
            <a:ext cx="1539392" cy="84666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ContainerListener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 rot="5400000">
            <a:off x="2342955" y="3412832"/>
            <a:ext cx="846666" cy="153939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1996588" y="3800519"/>
            <a:ext cx="7049090" cy="764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two methods to recognize when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to or removed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 container.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4732860"/>
            <a:ext cx="1539392" cy="84666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FocusListener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 rot="5400000">
            <a:off x="2342955" y="4386497"/>
            <a:ext cx="846666" cy="153939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996587" y="4774169"/>
            <a:ext cx="6115026" cy="764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two methods to recognize when a component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gains or loses keyboard focus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5706525"/>
            <a:ext cx="1539392" cy="84666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ItemListener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 rot="5400000">
            <a:off x="2342955" y="5360162"/>
            <a:ext cx="846666" cy="153939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1996587" y="5747844"/>
            <a:ext cx="5947878" cy="764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one method to recognize when the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of an item changes.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8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96" name="Google Shape;196;p8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3048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Event listeners &amp; Description</a:t>
            </a:r>
            <a:r>
              <a:rPr b="0" lang="en-US" sz="2800"/>
              <a:t>(contd.)</a:t>
            </a:r>
            <a:endParaRPr b="0" sz="3200"/>
          </a:p>
        </p:txBody>
      </p:sp>
      <p:sp>
        <p:nvSpPr>
          <p:cNvPr id="202" name="Google Shape;202;p9"/>
          <p:cNvSpPr/>
          <p:nvPr/>
        </p:nvSpPr>
        <p:spPr>
          <a:xfrm>
            <a:off x="457200" y="685800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 rot="5400000">
            <a:off x="2132897" y="378019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825094" y="722508"/>
            <a:ext cx="7090306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three methods to recognize when a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is pressed, released, or typed.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1551007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 rot="5400000">
            <a:off x="2132897" y="1243226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1825094" y="1587733"/>
            <a:ext cx="6861706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five methods to recognize when the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 is clicked, enters a component,  exits a  component, is pressed, or is released.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2416214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MouseMotionListener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 rot="5400000">
            <a:off x="2132897" y="2108433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1825094" y="2452933"/>
            <a:ext cx="6198029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two methods to recognize when the mouse is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dragged or moved.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3281421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MouseWheelListener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 rot="5400000">
            <a:off x="2132897" y="2973640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1825094" y="3318133"/>
            <a:ext cx="6443835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one method to recognize when the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 wheel is moved.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4146628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 rot="5400000">
            <a:off x="2132897" y="3838847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825094" y="4183333"/>
            <a:ext cx="6861706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one method to recognize when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text value changes.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5011835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WindowFocusListener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 rot="5400000">
            <a:off x="2132897" y="4704054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1825094" y="5048558"/>
            <a:ext cx="6443835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two methods to recognize when a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gains or loses input focus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5877042"/>
            <a:ext cx="1367916" cy="7523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WindowListener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 rot="5400000">
            <a:off x="2132897" y="5569261"/>
            <a:ext cx="752354" cy="136791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692921" y="5815706"/>
            <a:ext cx="7539569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seven methods to recognize when a window is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activated, closed, deactivated, deiconified, iconified, opened, or quit.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9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24" name="Google Shape;224;p9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ActionListener Interface</a:t>
            </a:r>
            <a:endParaRPr/>
          </a:p>
        </p:txBody>
      </p:sp>
      <p:sp>
        <p:nvSpPr>
          <p:cNvPr id="230" name="Google Shape;230;p10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ActionListener </a:t>
            </a:r>
            <a:r>
              <a:rPr lang="en-US" sz="2800"/>
              <a:t>interface defines the </a:t>
            </a:r>
            <a:r>
              <a:rPr b="1" lang="en-US" sz="2800">
                <a:solidFill>
                  <a:srgbClr val="C00000"/>
                </a:solidFill>
              </a:rPr>
              <a:t>actionPerformed( ) </a:t>
            </a:r>
            <a:r>
              <a:rPr b="1" lang="en-US" sz="2800"/>
              <a:t>method that is invoked when an </a:t>
            </a:r>
            <a:r>
              <a:rPr b="1" lang="en-US" sz="2800">
                <a:solidFill>
                  <a:srgbClr val="C00000"/>
                </a:solidFill>
              </a:rPr>
              <a:t>action event </a:t>
            </a:r>
            <a:r>
              <a:rPr lang="en-US" sz="2800"/>
              <a:t>occurs.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b="1" lang="en-US">
                <a:solidFill>
                  <a:srgbClr val="0000CC"/>
                </a:solidFill>
              </a:rPr>
              <a:t>button</a:t>
            </a:r>
            <a:r>
              <a:rPr b="1" lang="en-US"/>
              <a:t> is pressed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a </a:t>
            </a:r>
            <a:r>
              <a:rPr b="1" lang="en-US">
                <a:solidFill>
                  <a:srgbClr val="0000CC"/>
                </a:solidFill>
              </a:rPr>
              <a:t>list item </a:t>
            </a:r>
            <a:r>
              <a:rPr b="1" lang="en-US"/>
              <a:t>is double-clicked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b="1" lang="en-US">
                <a:solidFill>
                  <a:srgbClr val="0000CC"/>
                </a:solidFill>
              </a:rPr>
              <a:t>menu item </a:t>
            </a:r>
            <a:r>
              <a:rPr b="1" lang="en-US"/>
              <a:t>is selected.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	void </a:t>
            </a:r>
            <a:r>
              <a:rPr b="1" lang="en-US" sz="2800">
                <a:solidFill>
                  <a:srgbClr val="C00000"/>
                </a:solidFill>
              </a:rPr>
              <a:t>actionPerformed</a:t>
            </a:r>
            <a:r>
              <a:rPr lang="en-US" sz="2800"/>
              <a:t>(</a:t>
            </a:r>
            <a:r>
              <a:rPr b="1" lang="en-US" sz="2800">
                <a:solidFill>
                  <a:srgbClr val="0000CC"/>
                </a:solidFill>
              </a:rPr>
              <a:t>ActionEvent</a:t>
            </a:r>
            <a:r>
              <a:rPr lang="en-US" sz="2800"/>
              <a:t> </a:t>
            </a:r>
            <a:r>
              <a:rPr i="1" lang="en-US" sz="2800"/>
              <a:t>ae)</a:t>
            </a:r>
            <a:endParaRPr sz="2800"/>
          </a:p>
        </p:txBody>
      </p:sp>
      <p:sp>
        <p:nvSpPr>
          <p:cNvPr id="231" name="Google Shape;231;p10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32" name="Google Shape;232;p10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85800" y="5181600"/>
            <a:ext cx="6019800" cy="762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AdjustmentListener Interface</a:t>
            </a:r>
            <a:endParaRPr/>
          </a:p>
        </p:txBody>
      </p:sp>
      <p:sp>
        <p:nvSpPr>
          <p:cNvPr id="239" name="Google Shape;239;p1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</a:t>
            </a:r>
            <a:r>
              <a:rPr b="1" lang="en-US"/>
              <a:t>AdjustmentListener Interface d</a:t>
            </a:r>
            <a:r>
              <a:rPr lang="en-US"/>
              <a:t>efines the </a:t>
            </a:r>
            <a:r>
              <a:rPr b="1" lang="en-US">
                <a:solidFill>
                  <a:srgbClr val="C00000"/>
                </a:solidFill>
              </a:rPr>
              <a:t>adjustmentValueChanged( ) </a:t>
            </a:r>
            <a:r>
              <a:rPr lang="en-US"/>
              <a:t>method that is invoked when an </a:t>
            </a:r>
            <a:r>
              <a:rPr b="1" lang="en-US"/>
              <a:t>adjustment event </a:t>
            </a:r>
            <a:r>
              <a:rPr lang="en-US"/>
              <a:t>occurs. 	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scroll bar is manipulated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void </a:t>
            </a:r>
            <a:r>
              <a:rPr b="1" lang="en-US">
                <a:solidFill>
                  <a:srgbClr val="C00000"/>
                </a:solidFill>
              </a:rPr>
              <a:t>adjustmentValueChanged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AdjustmentEvent</a:t>
            </a:r>
            <a:r>
              <a:rPr lang="en-US"/>
              <a:t> </a:t>
            </a:r>
            <a:r>
              <a:rPr i="1" lang="en-US"/>
              <a:t>ae)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41" name="Google Shape;241;p11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381000" y="4419600"/>
            <a:ext cx="8001000" cy="914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ComponentListener Interface</a:t>
            </a:r>
            <a:endParaRPr/>
          </a:p>
        </p:txBody>
      </p:sp>
      <p:sp>
        <p:nvSpPr>
          <p:cNvPr id="248" name="Google Shape;248;p12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/>
              <a:t>The ComponentListener Interface </a:t>
            </a:r>
            <a:r>
              <a:rPr lang="en-US"/>
              <a:t>defines four methods that are invoked when a component is resized, moved, shown, or hidden. 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void </a:t>
            </a:r>
            <a:r>
              <a:rPr lang="en-US">
                <a:solidFill>
                  <a:srgbClr val="C00000"/>
                </a:solidFill>
              </a:rPr>
              <a:t>component</a:t>
            </a:r>
            <a:r>
              <a:rPr b="1" lang="en-US">
                <a:solidFill>
                  <a:srgbClr val="C00000"/>
                </a:solidFill>
              </a:rPr>
              <a:t>Resized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ComponentEvent </a:t>
            </a:r>
            <a:r>
              <a:rPr i="1" lang="en-US"/>
              <a:t>ce)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void </a:t>
            </a:r>
            <a:r>
              <a:rPr lang="en-US">
                <a:solidFill>
                  <a:srgbClr val="C00000"/>
                </a:solidFill>
              </a:rPr>
              <a:t>component</a:t>
            </a:r>
            <a:r>
              <a:rPr b="1" lang="en-US">
                <a:solidFill>
                  <a:srgbClr val="C00000"/>
                </a:solidFill>
              </a:rPr>
              <a:t>Moved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ComponentEvent</a:t>
            </a:r>
            <a:r>
              <a:rPr lang="en-US"/>
              <a:t> </a:t>
            </a:r>
            <a:r>
              <a:rPr i="1" lang="en-US"/>
              <a:t>ce)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void </a:t>
            </a:r>
            <a:r>
              <a:rPr lang="en-US">
                <a:solidFill>
                  <a:srgbClr val="C00000"/>
                </a:solidFill>
              </a:rPr>
              <a:t>component</a:t>
            </a:r>
            <a:r>
              <a:rPr b="1" lang="en-US">
                <a:solidFill>
                  <a:srgbClr val="C00000"/>
                </a:solidFill>
              </a:rPr>
              <a:t>Shown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ComponentEvent</a:t>
            </a:r>
            <a:r>
              <a:rPr lang="en-US"/>
              <a:t> </a:t>
            </a:r>
            <a:r>
              <a:rPr i="1" lang="en-US"/>
              <a:t>ce)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void </a:t>
            </a:r>
            <a:r>
              <a:rPr lang="en-US">
                <a:solidFill>
                  <a:srgbClr val="C00000"/>
                </a:solidFill>
              </a:rPr>
              <a:t>component</a:t>
            </a:r>
            <a:r>
              <a:rPr b="1" lang="en-US">
                <a:solidFill>
                  <a:srgbClr val="C00000"/>
                </a:solidFill>
              </a:rPr>
              <a:t>Hidden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ComponentEvent</a:t>
            </a:r>
            <a:r>
              <a:rPr i="1" lang="en-US"/>
              <a:t>ce)</a:t>
            </a:r>
            <a:endParaRPr b="1"/>
          </a:p>
        </p:txBody>
      </p:sp>
      <p:sp>
        <p:nvSpPr>
          <p:cNvPr id="249" name="Google Shape;249;p12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50" name="Google Shape;250;p12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381000" y="5334000"/>
            <a:ext cx="6934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81000" y="2667000"/>
            <a:ext cx="6934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381000" y="3505200"/>
            <a:ext cx="6934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81000" y="4495800"/>
            <a:ext cx="6934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ContainerListener Interface</a:t>
            </a:r>
            <a:endParaRPr/>
          </a:p>
        </p:txBody>
      </p:sp>
      <p:sp>
        <p:nvSpPr>
          <p:cNvPr id="260" name="Google Shape;260;p13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</a:t>
            </a:r>
            <a:r>
              <a:rPr b="1" lang="en-US"/>
              <a:t> ContainerListener Interface </a:t>
            </a:r>
            <a:r>
              <a:rPr lang="en-US"/>
              <a:t>contains two methods.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When a component is added to a container,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componentAdded( ) is invoked.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When a component is removed from a container,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componentRemoved( ) is invoked. 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-285750" lvl="1" marL="74295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void </a:t>
            </a:r>
            <a:r>
              <a:rPr lang="en-US" sz="2800">
                <a:solidFill>
                  <a:srgbClr val="C00000"/>
                </a:solidFill>
              </a:rPr>
              <a:t>component</a:t>
            </a:r>
            <a:r>
              <a:rPr b="1" lang="en-US" sz="2800">
                <a:solidFill>
                  <a:srgbClr val="C00000"/>
                </a:solidFill>
              </a:rPr>
              <a:t>Added</a:t>
            </a:r>
            <a:r>
              <a:rPr lang="en-US" sz="2800"/>
              <a:t>(</a:t>
            </a:r>
            <a:r>
              <a:rPr b="1" lang="en-US" sz="2800">
                <a:solidFill>
                  <a:srgbClr val="0000CC"/>
                </a:solidFill>
              </a:rPr>
              <a:t>ContainerEvent </a:t>
            </a:r>
            <a:r>
              <a:rPr i="1" lang="en-US" sz="2800"/>
              <a:t>ce)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void </a:t>
            </a:r>
            <a:r>
              <a:rPr lang="en-US" sz="2800">
                <a:solidFill>
                  <a:srgbClr val="C00000"/>
                </a:solidFill>
              </a:rPr>
              <a:t>component</a:t>
            </a:r>
            <a:r>
              <a:rPr b="1" lang="en-US" sz="2800">
                <a:solidFill>
                  <a:srgbClr val="C00000"/>
                </a:solidFill>
              </a:rPr>
              <a:t>Removed</a:t>
            </a:r>
            <a:r>
              <a:rPr lang="en-US" sz="2800"/>
              <a:t>(</a:t>
            </a:r>
            <a:r>
              <a:rPr b="1" lang="en-US" sz="2800">
                <a:solidFill>
                  <a:srgbClr val="0000CC"/>
                </a:solidFill>
              </a:rPr>
              <a:t>ContainerEvent</a:t>
            </a:r>
            <a:r>
              <a:rPr lang="en-US" sz="2800"/>
              <a:t> </a:t>
            </a:r>
            <a:r>
              <a:rPr i="1" lang="en-US" sz="2800"/>
              <a:t>ce)</a:t>
            </a:r>
            <a:endParaRPr sz="2800"/>
          </a:p>
        </p:txBody>
      </p:sp>
      <p:sp>
        <p:nvSpPr>
          <p:cNvPr id="261" name="Google Shape;261;p13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62" name="Google Shape;262;p13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38200" y="4114800"/>
            <a:ext cx="6934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838200" y="4800600"/>
            <a:ext cx="6934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FocusListener Interface</a:t>
            </a:r>
            <a:endParaRPr/>
          </a:p>
        </p:txBody>
      </p:sp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/>
              <a:t>The FocusListener Interface </a:t>
            </a:r>
            <a:r>
              <a:rPr lang="en-US"/>
              <a:t>defines two methods.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When a component obtains keyboard focus,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focusGained( ) </a:t>
            </a:r>
            <a:r>
              <a:rPr lang="en-US"/>
              <a:t>is invoked.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When a component loses keyboard focus,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focusLost( </a:t>
            </a:r>
            <a:r>
              <a:rPr lang="en-US"/>
              <a:t>) is called. </a:t>
            </a:r>
            <a:endParaRPr/>
          </a:p>
          <a:p>
            <a:pPr indent="-285750" lvl="1" marL="742950" rtl="0" algn="just">
              <a:lnSpc>
                <a:spcPct val="200000"/>
              </a:lnSpc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void </a:t>
            </a:r>
            <a:r>
              <a:rPr lang="en-US" sz="2800">
                <a:solidFill>
                  <a:srgbClr val="C00000"/>
                </a:solidFill>
              </a:rPr>
              <a:t>focus</a:t>
            </a:r>
            <a:r>
              <a:rPr b="1" lang="en-US" sz="2800">
                <a:solidFill>
                  <a:srgbClr val="C00000"/>
                </a:solidFill>
              </a:rPr>
              <a:t>Gained</a:t>
            </a:r>
            <a:r>
              <a:rPr lang="en-US" sz="2800"/>
              <a:t>(</a:t>
            </a:r>
            <a:r>
              <a:rPr b="1" lang="en-US" sz="2800">
                <a:solidFill>
                  <a:srgbClr val="0000CC"/>
                </a:solidFill>
              </a:rPr>
              <a:t>FocusEvent</a:t>
            </a:r>
            <a:r>
              <a:rPr lang="en-US" sz="2800"/>
              <a:t> </a:t>
            </a:r>
            <a:r>
              <a:rPr i="1" lang="en-US" sz="2800"/>
              <a:t>fe)</a:t>
            </a:r>
            <a:endParaRPr/>
          </a:p>
          <a:p>
            <a:pPr indent="-285750" lvl="1" marL="742950" rtl="0" algn="just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void </a:t>
            </a:r>
            <a:r>
              <a:rPr lang="en-US" sz="2800">
                <a:solidFill>
                  <a:srgbClr val="C00000"/>
                </a:solidFill>
              </a:rPr>
              <a:t>focus</a:t>
            </a:r>
            <a:r>
              <a:rPr b="1" lang="en-US" sz="2800">
                <a:solidFill>
                  <a:srgbClr val="C00000"/>
                </a:solidFill>
              </a:rPr>
              <a:t>Lost</a:t>
            </a:r>
            <a:r>
              <a:rPr lang="en-US" sz="2800"/>
              <a:t>(</a:t>
            </a:r>
            <a:r>
              <a:rPr b="1" lang="en-US" sz="2800">
                <a:solidFill>
                  <a:srgbClr val="0000CC"/>
                </a:solidFill>
              </a:rPr>
              <a:t>FocusEvent</a:t>
            </a:r>
            <a:r>
              <a:rPr lang="en-US" sz="2800"/>
              <a:t> </a:t>
            </a:r>
            <a:r>
              <a:rPr i="1" lang="en-US" sz="2800"/>
              <a:t>fe)</a:t>
            </a:r>
            <a:endParaRPr/>
          </a:p>
        </p:txBody>
      </p:sp>
      <p:sp>
        <p:nvSpPr>
          <p:cNvPr id="271" name="Google Shape;271;p14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72" name="Google Shape;272;p14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838200" y="4419600"/>
            <a:ext cx="5410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838200" y="5334000"/>
            <a:ext cx="54102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ItemListener Interface</a:t>
            </a:r>
            <a:endParaRPr b="0"/>
          </a:p>
        </p:txBody>
      </p:sp>
      <p:sp>
        <p:nvSpPr>
          <p:cNvPr id="280" name="Google Shape;280;p15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</a:t>
            </a:r>
            <a:r>
              <a:rPr b="1" lang="en-US"/>
              <a:t> ItemListener Interface </a:t>
            </a:r>
            <a:r>
              <a:rPr lang="en-US"/>
              <a:t>defines the </a:t>
            </a:r>
            <a:r>
              <a:rPr b="1" lang="en-US"/>
              <a:t>itemStateChanged( ) </a:t>
            </a:r>
            <a:r>
              <a:rPr lang="en-US"/>
              <a:t>method that is invoked when the state of an item changes. 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item</a:t>
            </a:r>
            <a:r>
              <a:rPr b="1" lang="en-US">
                <a:solidFill>
                  <a:srgbClr val="C00000"/>
                </a:solidFill>
              </a:rPr>
              <a:t>StateChanged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ItemEvent</a:t>
            </a:r>
            <a:r>
              <a:rPr lang="en-US"/>
              <a:t> </a:t>
            </a:r>
            <a:r>
              <a:rPr i="1" lang="en-US"/>
              <a:t>ie)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82" name="Google Shape;282;p15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609600" y="2819400"/>
            <a:ext cx="57150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KeyListener Interface</a:t>
            </a:r>
            <a:endParaRPr/>
          </a:p>
        </p:txBody>
      </p:sp>
      <p:sp>
        <p:nvSpPr>
          <p:cNvPr id="289" name="Google Shape;289;p16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/>
              <a:t>KeyListener Interface </a:t>
            </a:r>
            <a:r>
              <a:rPr lang="en-US" sz="2400"/>
              <a:t>defines three methods.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key is pressed , </a:t>
            </a:r>
            <a:r>
              <a:rPr b="1" lang="en-US" sz="2400"/>
              <a:t>keyPressed( ) </a:t>
            </a:r>
            <a:r>
              <a:rPr lang="en-US" sz="2400"/>
              <a:t>method is invoked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key is released, </a:t>
            </a:r>
            <a:r>
              <a:rPr b="1" lang="en-US" sz="2400"/>
              <a:t>keyReleased( ) </a:t>
            </a:r>
            <a:r>
              <a:rPr lang="en-US" sz="2400"/>
              <a:t>method is invoked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character has been entered </a:t>
            </a:r>
            <a:r>
              <a:rPr b="1" lang="en-US" sz="2400"/>
              <a:t>keyTyped( ) </a:t>
            </a:r>
            <a:r>
              <a:rPr lang="en-US" sz="2400"/>
              <a:t>method is invoked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example, if a user presses and releases the letter </a:t>
            </a:r>
            <a:r>
              <a:rPr b="1" lang="en-US" sz="2400"/>
              <a:t>A</a:t>
            </a:r>
            <a:r>
              <a:rPr lang="en-US" sz="2400"/>
              <a:t> key in keyboard, three events are generated in sequence: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key pressed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key typed,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key released.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a user presses and releases the </a:t>
            </a:r>
            <a:r>
              <a:rPr b="1" lang="en-US" sz="2400"/>
              <a:t>HOME</a:t>
            </a:r>
            <a:r>
              <a:rPr lang="en-US" sz="2400"/>
              <a:t> key in keyboard, two key events are generated in sequence: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key pressed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key released</a:t>
            </a:r>
            <a:endParaRPr sz="2200"/>
          </a:p>
        </p:txBody>
      </p:sp>
      <p:sp>
        <p:nvSpPr>
          <p:cNvPr id="290" name="Google Shape;290;p16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91" name="Google Shape;291;p16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KeyListener Interface</a:t>
            </a:r>
            <a:r>
              <a:rPr b="0" lang="en-US" sz="3200"/>
              <a:t>(contd.)</a:t>
            </a:r>
            <a:endParaRPr b="0"/>
          </a:p>
        </p:txBody>
      </p:sp>
      <p:sp>
        <p:nvSpPr>
          <p:cNvPr id="297" name="Google Shape;297;p1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general forms of methods are :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key</a:t>
            </a:r>
            <a:r>
              <a:rPr b="1" lang="en-US">
                <a:solidFill>
                  <a:srgbClr val="C00000"/>
                </a:solidFill>
              </a:rPr>
              <a:t>Pressed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KeyEvent</a:t>
            </a:r>
            <a:r>
              <a:rPr lang="en-US"/>
              <a:t> </a:t>
            </a:r>
            <a:r>
              <a:rPr i="1" lang="en-US"/>
              <a:t>ke)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key</a:t>
            </a:r>
            <a:r>
              <a:rPr b="1" lang="en-US">
                <a:solidFill>
                  <a:srgbClr val="C00000"/>
                </a:solidFill>
              </a:rPr>
              <a:t>Released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KeyEvent</a:t>
            </a:r>
            <a:r>
              <a:rPr lang="en-US"/>
              <a:t> </a:t>
            </a:r>
            <a:r>
              <a:rPr i="1" lang="en-US"/>
              <a:t>ke)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key</a:t>
            </a:r>
            <a:r>
              <a:rPr b="1" lang="en-US">
                <a:solidFill>
                  <a:srgbClr val="C00000"/>
                </a:solidFill>
              </a:rPr>
              <a:t>Typed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KeyEvent</a:t>
            </a:r>
            <a:r>
              <a:rPr lang="en-US"/>
              <a:t> </a:t>
            </a:r>
            <a:r>
              <a:rPr i="1" lang="en-US"/>
              <a:t>ke)</a:t>
            </a:r>
            <a:endParaRPr/>
          </a:p>
        </p:txBody>
      </p:sp>
      <p:sp>
        <p:nvSpPr>
          <p:cNvPr id="298" name="Google Shape;298;p17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99" name="Google Shape;299;p17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685800" y="1905000"/>
            <a:ext cx="4572000" cy="762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685800" y="2743200"/>
            <a:ext cx="4572000" cy="762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685800" y="3657600"/>
            <a:ext cx="4572000" cy="762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MouseListener Interface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457200" y="5334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The MouseListener Interface </a:t>
            </a:r>
            <a:r>
              <a:rPr lang="en-US" sz="2400"/>
              <a:t>defines five methods.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If the mouse is pressed and released at the same point, </a:t>
            </a:r>
            <a:r>
              <a:rPr b="1" lang="en-US" sz="2200"/>
              <a:t>mouseClicked( ) is invoked.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When the mouse enters a component, the</a:t>
            </a:r>
            <a:r>
              <a:rPr b="1" lang="en-US" sz="2200"/>
              <a:t> mouseEntered()  method is called.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When it leaves, </a:t>
            </a:r>
            <a:r>
              <a:rPr b="1" lang="en-US" sz="2200"/>
              <a:t>mouseExited( ) is called.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When the mouse is pressed </a:t>
            </a:r>
            <a:r>
              <a:rPr b="1" lang="en-US" sz="2200"/>
              <a:t>the mousePressed( ) method is invoked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When the mouse is released, </a:t>
            </a:r>
            <a:r>
              <a:rPr b="1" lang="en-US" sz="2200"/>
              <a:t>mouseReleased( ) methods is invoked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mouse</a:t>
            </a:r>
            <a:r>
              <a:rPr b="1" lang="en-US" sz="2400">
                <a:solidFill>
                  <a:srgbClr val="C00000"/>
                </a:solidFill>
              </a:rPr>
              <a:t>Clicked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MouseEvent</a:t>
            </a:r>
            <a:r>
              <a:rPr lang="en-US" sz="2400"/>
              <a:t> </a:t>
            </a:r>
            <a:r>
              <a:rPr i="1" lang="en-US" sz="2400"/>
              <a:t>me)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mouse</a:t>
            </a:r>
            <a:r>
              <a:rPr b="1" lang="en-US" sz="2400">
                <a:solidFill>
                  <a:srgbClr val="C00000"/>
                </a:solidFill>
              </a:rPr>
              <a:t>Entered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MouseEvent</a:t>
            </a:r>
            <a:r>
              <a:rPr lang="en-US" sz="2400"/>
              <a:t> </a:t>
            </a:r>
            <a:r>
              <a:rPr i="1" lang="en-US" sz="2400"/>
              <a:t>me)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mouse</a:t>
            </a:r>
            <a:r>
              <a:rPr b="1" lang="en-US" sz="2400">
                <a:solidFill>
                  <a:srgbClr val="C00000"/>
                </a:solidFill>
              </a:rPr>
              <a:t>Exited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MouseEvent</a:t>
            </a:r>
            <a:r>
              <a:rPr lang="en-US" sz="2400"/>
              <a:t> </a:t>
            </a:r>
            <a:r>
              <a:rPr i="1" lang="en-US" sz="2400"/>
              <a:t>me)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mouse</a:t>
            </a:r>
            <a:r>
              <a:rPr b="1" lang="en-US" sz="2400">
                <a:solidFill>
                  <a:srgbClr val="C00000"/>
                </a:solidFill>
              </a:rPr>
              <a:t>Pressed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MouseEvent</a:t>
            </a:r>
            <a:r>
              <a:rPr lang="en-US" sz="2400"/>
              <a:t> </a:t>
            </a:r>
            <a:r>
              <a:rPr i="1" lang="en-US" sz="2400"/>
              <a:t>me)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</a:t>
            </a:r>
            <a:r>
              <a:rPr lang="en-US" sz="2400">
                <a:solidFill>
                  <a:srgbClr val="C00000"/>
                </a:solidFill>
              </a:rPr>
              <a:t> mouse</a:t>
            </a:r>
            <a:r>
              <a:rPr b="1" lang="en-US" sz="2400">
                <a:solidFill>
                  <a:srgbClr val="C00000"/>
                </a:solidFill>
              </a:rPr>
              <a:t>Released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MouseEvent</a:t>
            </a:r>
            <a:r>
              <a:rPr lang="en-US" sz="2400"/>
              <a:t> </a:t>
            </a:r>
            <a:r>
              <a:rPr i="1" lang="en-US" sz="2400"/>
              <a:t>me)</a:t>
            </a:r>
            <a:endParaRPr sz="2400"/>
          </a:p>
        </p:txBody>
      </p:sp>
      <p:sp>
        <p:nvSpPr>
          <p:cNvPr id="309" name="Google Shape;309;p18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10" name="Google Shape;310;p18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MouseMotionListener Interface</a:t>
            </a:r>
            <a:endParaRPr/>
          </a:p>
        </p:txBody>
      </p:sp>
      <p:sp>
        <p:nvSpPr>
          <p:cNvPr id="316" name="Google Shape;316;p19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</a:t>
            </a:r>
            <a:r>
              <a:rPr b="1" lang="en-US"/>
              <a:t> MouseMotionListener Interface </a:t>
            </a:r>
            <a:r>
              <a:rPr lang="en-US"/>
              <a:t>defines two methods. 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	</a:t>
            </a:r>
            <a:endParaRPr i="1"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	</a:t>
            </a:r>
            <a:endParaRPr/>
          </a:p>
        </p:txBody>
      </p:sp>
      <p:sp>
        <p:nvSpPr>
          <p:cNvPr id="317" name="Google Shape;317;p19"/>
          <p:cNvSpPr txBox="1"/>
          <p:nvPr>
            <p:ph idx="11" type="ftr"/>
          </p:nvPr>
        </p:nvSpPr>
        <p:spPr>
          <a:xfrm>
            <a:off x="6248400" y="64166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18" name="Google Shape;318;p19"/>
          <p:cNvSpPr txBox="1"/>
          <p:nvPr>
            <p:ph idx="12" type="sldNum"/>
          </p:nvPr>
        </p:nvSpPr>
        <p:spPr>
          <a:xfrm>
            <a:off x="6781800" y="64008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1447800" y="2209800"/>
            <a:ext cx="5410200" cy="6858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0" i="0" lang="en-US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Dragged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6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MouseEvent</a:t>
            </a:r>
            <a:r>
              <a:rPr b="0" i="0" lang="en-US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1447800" y="3124200"/>
            <a:ext cx="5410200" cy="6858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0" i="0" lang="en-US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Moved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6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MouseEvent 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0" y="4114800"/>
            <a:ext cx="2891598" cy="92332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mouseDragged( ) </a:t>
            </a:r>
            <a:endParaRPr b="0" i="0" sz="2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9"/>
          <p:cNvSpPr/>
          <p:nvPr/>
        </p:nvSpPr>
        <p:spPr>
          <a:xfrm rot="5400000">
            <a:off x="3532832" y="3473566"/>
            <a:ext cx="923329" cy="220579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2891590" y="4159858"/>
            <a:ext cx="4925055" cy="833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called </a:t>
            </a: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times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mouse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dragged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0" y="5176628"/>
            <a:ext cx="2895123" cy="92332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mouseMoved( ) </a:t>
            </a:r>
            <a:endParaRPr b="0" i="0" sz="2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9"/>
          <p:cNvSpPr/>
          <p:nvPr/>
        </p:nvSpPr>
        <p:spPr>
          <a:xfrm rot="5400000">
            <a:off x="3538120" y="4533631"/>
            <a:ext cx="923329" cy="2209323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2895102" y="5221695"/>
            <a:ext cx="6248897" cy="833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called </a:t>
            </a: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times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mouse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MouseWheelListener Interface</a:t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</a:t>
            </a:r>
            <a:r>
              <a:rPr b="1" lang="en-US"/>
              <a:t> MouseWheelListener Interface </a:t>
            </a:r>
            <a:r>
              <a:rPr lang="en-US"/>
              <a:t>defines the </a:t>
            </a:r>
            <a:r>
              <a:rPr b="1" lang="en-US">
                <a:solidFill>
                  <a:srgbClr val="C00000"/>
                </a:solidFill>
              </a:rPr>
              <a:t>mouseWheelMoved( ) </a:t>
            </a:r>
            <a:r>
              <a:rPr b="1" lang="en-US"/>
              <a:t>method </a:t>
            </a:r>
            <a:r>
              <a:rPr lang="en-US"/>
              <a:t>that is invoked </a:t>
            </a:r>
            <a:r>
              <a:rPr b="1" lang="en-US"/>
              <a:t>when the mouse </a:t>
            </a:r>
            <a:r>
              <a:rPr lang="en-US"/>
              <a:t>wheel is </a:t>
            </a:r>
            <a:r>
              <a:rPr b="1" lang="en-US"/>
              <a:t>moved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mouse</a:t>
            </a:r>
            <a:r>
              <a:rPr b="1" lang="en-US">
                <a:solidFill>
                  <a:srgbClr val="C00000"/>
                </a:solidFill>
              </a:rPr>
              <a:t>WheelMoved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MouseWheelEvent</a:t>
            </a:r>
            <a:r>
              <a:rPr lang="en-US"/>
              <a:t> </a:t>
            </a:r>
            <a:r>
              <a:rPr i="1" lang="en-US"/>
              <a:t>mwe)</a:t>
            </a:r>
            <a:endParaRPr/>
          </a:p>
        </p:txBody>
      </p:sp>
      <p:sp>
        <p:nvSpPr>
          <p:cNvPr id="333" name="Google Shape;333;p20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34" name="Google Shape;334;p20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838200" y="3505200"/>
            <a:ext cx="7010400" cy="762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TextListener Interface</a:t>
            </a:r>
            <a:endParaRPr/>
          </a:p>
        </p:txBody>
      </p:sp>
      <p:sp>
        <p:nvSpPr>
          <p:cNvPr id="341" name="Google Shape;341;p2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</a:t>
            </a:r>
            <a:r>
              <a:rPr b="1" lang="en-US"/>
              <a:t> TextListener Interface </a:t>
            </a:r>
            <a:r>
              <a:rPr lang="en-US"/>
              <a:t>defines the </a:t>
            </a:r>
            <a:r>
              <a:rPr b="1" lang="en-US">
                <a:solidFill>
                  <a:srgbClr val="C00000"/>
                </a:solidFill>
              </a:rPr>
              <a:t>textChanged( ) </a:t>
            </a:r>
            <a:r>
              <a:rPr lang="en-US"/>
              <a:t>method that is invoked </a:t>
            </a:r>
            <a:r>
              <a:rPr b="1" lang="en-US"/>
              <a:t>when a change occurs </a:t>
            </a:r>
            <a:r>
              <a:rPr lang="en-US"/>
              <a:t>in a </a:t>
            </a:r>
            <a:r>
              <a:rPr b="1" lang="en-US">
                <a:solidFill>
                  <a:srgbClr val="0000CC"/>
                </a:solidFill>
              </a:rPr>
              <a:t>text area </a:t>
            </a:r>
            <a:r>
              <a:rPr lang="en-US"/>
              <a:t>or</a:t>
            </a:r>
            <a:r>
              <a:rPr b="1" lang="en-US">
                <a:solidFill>
                  <a:srgbClr val="0000CC"/>
                </a:solidFill>
              </a:rPr>
              <a:t> text field. </a:t>
            </a:r>
            <a:endParaRPr/>
          </a:p>
          <a:p>
            <a:pPr indent="-1778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void </a:t>
            </a:r>
            <a:r>
              <a:rPr lang="en-US" sz="2800">
                <a:solidFill>
                  <a:srgbClr val="C00000"/>
                </a:solidFill>
              </a:rPr>
              <a:t>text</a:t>
            </a:r>
            <a:r>
              <a:rPr b="1" lang="en-US" sz="2800">
                <a:solidFill>
                  <a:srgbClr val="C00000"/>
                </a:solidFill>
              </a:rPr>
              <a:t>Changed</a:t>
            </a:r>
            <a:r>
              <a:rPr lang="en-US" sz="2800"/>
              <a:t>(</a:t>
            </a:r>
            <a:r>
              <a:rPr b="1" lang="en-US" sz="2800">
                <a:solidFill>
                  <a:srgbClr val="0000CC"/>
                </a:solidFill>
              </a:rPr>
              <a:t>TextEvent </a:t>
            </a:r>
            <a:r>
              <a:rPr i="1" lang="en-US" sz="2800"/>
              <a:t>te)</a:t>
            </a:r>
            <a:endParaRPr i="1"/>
          </a:p>
          <a:p>
            <a:pPr indent="-1778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43" name="Google Shape;343;p21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838200" y="3733800"/>
            <a:ext cx="54102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WindowFocusListener Interface</a:t>
            </a:r>
            <a:endParaRPr/>
          </a:p>
        </p:txBody>
      </p:sp>
      <p:sp>
        <p:nvSpPr>
          <p:cNvPr id="350" name="Google Shape;350;p22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</a:t>
            </a:r>
            <a:r>
              <a:rPr b="1" lang="en-US"/>
              <a:t> WindowFocusListener Interface </a:t>
            </a:r>
            <a:r>
              <a:rPr lang="en-US"/>
              <a:t>defines two methods: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windowGainedFocus( ) -</a:t>
            </a:r>
            <a:r>
              <a:rPr lang="en-US"/>
              <a:t> called when a window gains input focus</a:t>
            </a:r>
            <a:endParaRPr b="1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windowLostFocus( ) - </a:t>
            </a:r>
            <a:r>
              <a:rPr lang="en-US"/>
              <a:t>called when a window loses input focus</a:t>
            </a:r>
            <a:endParaRPr b="1"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window</a:t>
            </a:r>
            <a:r>
              <a:rPr b="1" lang="en-US">
                <a:solidFill>
                  <a:srgbClr val="C00000"/>
                </a:solidFill>
              </a:rPr>
              <a:t>GainedFocus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WindowEvent</a:t>
            </a:r>
            <a:r>
              <a:rPr lang="en-US"/>
              <a:t> </a:t>
            </a:r>
            <a:r>
              <a:rPr i="1" lang="en-US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	void </a:t>
            </a:r>
            <a:r>
              <a:rPr lang="en-US">
                <a:solidFill>
                  <a:srgbClr val="C00000"/>
                </a:solidFill>
              </a:rPr>
              <a:t>window</a:t>
            </a:r>
            <a:r>
              <a:rPr b="1" lang="en-US">
                <a:solidFill>
                  <a:srgbClr val="C00000"/>
                </a:solidFill>
              </a:rPr>
              <a:t>LostFocus</a:t>
            </a:r>
            <a:r>
              <a:rPr lang="en-US"/>
              <a:t>(</a:t>
            </a:r>
            <a:r>
              <a:rPr b="1" lang="en-US">
                <a:solidFill>
                  <a:srgbClr val="0000CC"/>
                </a:solidFill>
              </a:rPr>
              <a:t>WindowEvent</a:t>
            </a:r>
            <a:r>
              <a:rPr lang="en-US"/>
              <a:t> </a:t>
            </a:r>
            <a:r>
              <a:rPr i="1" lang="en-US"/>
              <a:t>we)</a:t>
            </a:r>
            <a:endParaRPr/>
          </a:p>
        </p:txBody>
      </p:sp>
      <p:sp>
        <p:nvSpPr>
          <p:cNvPr id="351" name="Google Shape;351;p22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52" name="Google Shape;352;p22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609600" y="3962400"/>
            <a:ext cx="6781800" cy="609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609600" y="4800600"/>
            <a:ext cx="6781800" cy="762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WindowListener Interface</a:t>
            </a:r>
            <a:endParaRPr/>
          </a:p>
        </p:txBody>
      </p:sp>
      <p:sp>
        <p:nvSpPr>
          <p:cNvPr id="360" name="Google Shape;360;p23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The WindowListener Interface </a:t>
            </a:r>
            <a:r>
              <a:rPr lang="en-US" sz="2400"/>
              <a:t>defines seven methods.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Activated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</a:t>
            </a:r>
            <a:r>
              <a:rPr lang="en-US" sz="2400"/>
              <a:t> </a:t>
            </a:r>
            <a:r>
              <a:rPr i="1" lang="en-US" sz="2400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Closed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</a:t>
            </a:r>
            <a:r>
              <a:rPr lang="en-US" sz="2400"/>
              <a:t> </a:t>
            </a:r>
            <a:r>
              <a:rPr i="1" lang="en-US" sz="2400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Closing</a:t>
            </a:r>
            <a:r>
              <a:rPr b="1"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 </a:t>
            </a:r>
            <a:r>
              <a:rPr i="1" lang="en-US" sz="2400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Deactivated</a:t>
            </a:r>
            <a:r>
              <a:rPr b="1"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</a:t>
            </a:r>
            <a:r>
              <a:rPr lang="en-US" sz="2400"/>
              <a:t> </a:t>
            </a:r>
            <a:r>
              <a:rPr i="1" lang="en-US" sz="2400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Deiconified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</a:t>
            </a:r>
            <a:r>
              <a:rPr lang="en-US" sz="2400"/>
              <a:t> </a:t>
            </a:r>
            <a:r>
              <a:rPr i="1" lang="en-US" sz="2400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Iconified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 </a:t>
            </a:r>
            <a:r>
              <a:rPr i="1" lang="en-US" sz="2400"/>
              <a:t>we)</a:t>
            </a:r>
            <a:endParaRPr/>
          </a:p>
          <a:p>
            <a:pPr indent="-342900" lvl="0" marL="342900" rtl="0" algn="just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</a:t>
            </a:r>
            <a:r>
              <a:rPr lang="en-US" sz="2400">
                <a:solidFill>
                  <a:srgbClr val="C00000"/>
                </a:solidFill>
              </a:rPr>
              <a:t>window</a:t>
            </a:r>
            <a:r>
              <a:rPr b="1" lang="en-US" sz="2400">
                <a:solidFill>
                  <a:srgbClr val="C00000"/>
                </a:solidFill>
              </a:rPr>
              <a:t>Opened</a:t>
            </a:r>
            <a:r>
              <a:rPr lang="en-US" sz="2400"/>
              <a:t>(</a:t>
            </a:r>
            <a:r>
              <a:rPr b="1" lang="en-US" sz="2400">
                <a:solidFill>
                  <a:srgbClr val="0000CC"/>
                </a:solidFill>
              </a:rPr>
              <a:t>WindowEvent</a:t>
            </a:r>
            <a:r>
              <a:rPr lang="en-US" sz="2400"/>
              <a:t> </a:t>
            </a:r>
            <a:r>
              <a:rPr i="1" lang="en-US" sz="2400"/>
              <a:t>we)</a:t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</a:t>
            </a:r>
            <a:endParaRPr/>
          </a:p>
        </p:txBody>
      </p:sp>
      <p:sp>
        <p:nvSpPr>
          <p:cNvPr id="361" name="Google Shape;361;p23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62" name="Google Shape;362;p23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7200" y="13716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457200" y="20574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381000" y="52578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457200" y="45720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381000" y="60960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457200" y="38100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457200" y="3048000"/>
            <a:ext cx="55626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WindowListener Interface</a:t>
            </a:r>
            <a:r>
              <a:rPr b="0" lang="en-US" sz="3200"/>
              <a:t>(contd.)</a:t>
            </a:r>
            <a:endParaRPr b="0"/>
          </a:p>
        </p:txBody>
      </p:sp>
      <p:sp>
        <p:nvSpPr>
          <p:cNvPr id="375" name="Google Shape;375;p24"/>
          <p:cNvSpPr/>
          <p:nvPr/>
        </p:nvSpPr>
        <p:spPr>
          <a:xfrm>
            <a:off x="-68827" y="1219200"/>
            <a:ext cx="2408903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windowActivated( ) 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/>
          <p:nvPr/>
        </p:nvSpPr>
        <p:spPr>
          <a:xfrm rot="5400000">
            <a:off x="3696766" y="975641"/>
            <a:ext cx="621134" cy="1129334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3775589" y="1240514"/>
            <a:ext cx="5090652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invoked 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activated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457200" y="1933504"/>
            <a:ext cx="2408902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windowDeactivated( )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3022037" y="1963821"/>
            <a:ext cx="4745447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invoked 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deactivated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457199" y="2647808"/>
            <a:ext cx="2335161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windowIconified( )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4"/>
          <p:cNvSpPr/>
          <p:nvPr/>
        </p:nvSpPr>
        <p:spPr>
          <a:xfrm rot="5400000">
            <a:off x="3465022" y="2270196"/>
            <a:ext cx="621134" cy="1129334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D7E7">
              <a:alpha val="89411"/>
            </a:srgbClr>
          </a:solidFill>
          <a:ln cap="flat" cmpd="sng" w="25400">
            <a:solidFill>
              <a:srgbClr val="CFD7E7">
                <a:alpha val="8941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3022037" y="2678121"/>
            <a:ext cx="5620520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invoked if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iconified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457199" y="3362112"/>
            <a:ext cx="2564837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windowDeiconified( )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3022037" y="3392421"/>
            <a:ext cx="5970941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Invoked 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deiconified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457199" y="4076416"/>
            <a:ext cx="2177845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windowOpened( ) 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3022037" y="4106721"/>
            <a:ext cx="6190791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opened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457200" y="4790720"/>
            <a:ext cx="2177844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windowClosed( )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3022037" y="4821021"/>
            <a:ext cx="4538972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Invoked  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closed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457200" y="5505024"/>
            <a:ext cx="2177844" cy="62113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windowClosing( )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3022037" y="5535321"/>
            <a:ext cx="5195275" cy="560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Invoked  when a window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being closed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92" name="Google Shape;392;p24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Using the Delegation Event Model</a:t>
            </a:r>
            <a:endParaRPr/>
          </a:p>
        </p:txBody>
      </p:sp>
      <p:sp>
        <p:nvSpPr>
          <p:cNvPr id="398" name="Google Shape;398;p26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use the delegation event model follow two steps:</a:t>
            </a:r>
            <a:endParaRPr/>
          </a:p>
          <a:p>
            <a:pPr indent="-514350" lvl="0" marL="5143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/>
              <a:t>Implement the appropriate interface in the listener </a:t>
            </a:r>
            <a:r>
              <a:rPr lang="en-US"/>
              <a:t>so that it will receive the type of event desired.</a:t>
            </a:r>
            <a:endParaRPr/>
          </a:p>
          <a:p>
            <a:pPr indent="-514350" lvl="0" marL="5143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/>
              <a:t>Implement code to register and unregister </a:t>
            </a:r>
            <a:r>
              <a:rPr lang="en-US"/>
              <a:t>(if necessary) </a:t>
            </a:r>
            <a:r>
              <a:rPr b="1" lang="en-US"/>
              <a:t>the listener </a:t>
            </a:r>
            <a:r>
              <a:rPr lang="en-US"/>
              <a:t>as a recipient for the event notifications.</a:t>
            </a:r>
            <a:endParaRPr/>
          </a:p>
        </p:txBody>
      </p:sp>
      <p:sp>
        <p:nvSpPr>
          <p:cNvPr id="399" name="Google Shape;399;p26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00" name="Google Shape;400;p26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Using the Delegation Event Model</a:t>
            </a:r>
            <a:r>
              <a:rPr lang="en-US" sz="2800"/>
              <a:t>(</a:t>
            </a:r>
            <a:r>
              <a:rPr b="0" lang="en-US" sz="2800"/>
              <a:t>contd.)</a:t>
            </a:r>
            <a:endParaRPr sz="3200"/>
          </a:p>
        </p:txBody>
      </p:sp>
      <p:sp>
        <p:nvSpPr>
          <p:cNvPr id="406" name="Google Shape;406;p2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source may generate several types of events.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Each event must be registered separately.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An object may register to receive several types of events,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but it must implement all of the interfaces that are required to receive these events</a:t>
            </a:r>
            <a:endParaRPr/>
          </a:p>
        </p:txBody>
      </p:sp>
      <p:sp>
        <p:nvSpPr>
          <p:cNvPr id="407" name="Google Shape;407;p27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08" name="Google Shape;408;p27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Handling Mouse Events</a:t>
            </a:r>
            <a:endParaRPr/>
          </a:p>
        </p:txBody>
      </p:sp>
      <p:sp>
        <p:nvSpPr>
          <p:cNvPr id="414" name="Google Shape;414;p28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handle </a:t>
            </a:r>
            <a:r>
              <a:rPr b="1" lang="en-US">
                <a:solidFill>
                  <a:srgbClr val="C00000"/>
                </a:solidFill>
              </a:rPr>
              <a:t>mouse events</a:t>
            </a:r>
            <a:r>
              <a:rPr lang="en-US"/>
              <a:t>, we must </a:t>
            </a:r>
            <a:r>
              <a:rPr b="1" lang="en-US"/>
              <a:t>implement </a:t>
            </a:r>
            <a:r>
              <a:rPr lang="en-US"/>
              <a:t>the </a:t>
            </a:r>
            <a:r>
              <a:rPr b="1" lang="en-US">
                <a:solidFill>
                  <a:srgbClr val="0000CC"/>
                </a:solidFill>
              </a:rPr>
              <a:t>MouseListener</a:t>
            </a:r>
            <a:r>
              <a:rPr b="1" lang="en-US"/>
              <a:t> </a:t>
            </a:r>
            <a:r>
              <a:rPr lang="en-US"/>
              <a:t>and the </a:t>
            </a:r>
            <a:r>
              <a:rPr b="1" lang="en-US">
                <a:solidFill>
                  <a:srgbClr val="0000CC"/>
                </a:solidFill>
              </a:rPr>
              <a:t>MouseMotionListener</a:t>
            </a:r>
            <a:r>
              <a:rPr b="1" lang="en-US"/>
              <a:t> </a:t>
            </a:r>
            <a:r>
              <a:rPr lang="en-US"/>
              <a:t>interfaces.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We can implement </a:t>
            </a:r>
            <a:r>
              <a:rPr b="1" lang="en-US"/>
              <a:t>MouseWheelListener</a:t>
            </a:r>
            <a:r>
              <a:rPr lang="en-US"/>
              <a:t>, also.</a:t>
            </a:r>
            <a:endParaRPr/>
          </a:p>
          <a:p>
            <a:pPr indent="-1778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15" name="Google Shape;415;p28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16" name="Google Shape;416;p28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Handling Mouse Events</a:t>
            </a:r>
            <a:endParaRPr sz="2400"/>
          </a:p>
        </p:txBody>
      </p:sp>
      <p:sp>
        <p:nvSpPr>
          <p:cNvPr id="422" name="Google Shape;422;p29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Design a swing program to handle different mouse events</a:t>
            </a:r>
            <a:endParaRPr/>
          </a:p>
        </p:txBody>
      </p:sp>
      <p:sp>
        <p:nvSpPr>
          <p:cNvPr id="423" name="Google Shape;423;p29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24" name="Google Shape;424;p29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4"/>
          <p:cNvSpPr txBox="1"/>
          <p:nvPr>
            <p:ph idx="1" type="body"/>
          </p:nvPr>
        </p:nvSpPr>
        <p:spPr>
          <a:xfrm>
            <a:off x="457200" y="506186"/>
            <a:ext cx="8229600" cy="5619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/>
              <a:t>import javax.swing.*;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/>
              <a:t>import java.awt.event.*;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/>
              <a:t> class SimplemouseEvent  implements MouseListener, MouseMotionListener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/>
              <a:t>    JLabel eventLabel; 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/>
              <a:t>   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/>
              <a:t>    JFrame f;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30" name="Google Shape;430;p54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idx="1" type="body"/>
          </p:nvPr>
        </p:nvSpPr>
        <p:spPr>
          <a:xfrm>
            <a:off x="457200" y="15876"/>
            <a:ext cx="8229600" cy="611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public SimplemouseEvent()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f=new JFrame("Mouse Events Demo");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f.setSize(500, 500);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f.setDefaultCloseOperation(JFrame.EXIT_ON_CLOSE);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f.setLayout(null);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 = new JLabel("Event: 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eventLabel.setBounds(20, 50, 300, 30);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f.add(eventLabel);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f.addMouseListener(this);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f.addMouseMotionListener(this);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f.setVisible(true);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</p:txBody>
      </p:sp>
      <p:sp>
        <p:nvSpPr>
          <p:cNvPr id="436" name="Google Shape;436;p55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6"/>
          <p:cNvSpPr txBox="1"/>
          <p:nvPr>
            <p:ph idx="1" type="body"/>
          </p:nvPr>
        </p:nvSpPr>
        <p:spPr>
          <a:xfrm>
            <a:off x="457200" y="15876"/>
            <a:ext cx="8229600" cy="611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public void mouseClicked(MouseEvent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clicked");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public void mouseEntered(MouseEvent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entered");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public void mouseExited(MouseEvent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exited");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public void mousePressed(MouseEvent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pressed 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</p:txBody>
      </p:sp>
      <p:sp>
        <p:nvSpPr>
          <p:cNvPr id="442" name="Google Shape;442;p56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idx="1" type="body"/>
          </p:nvPr>
        </p:nvSpPr>
        <p:spPr>
          <a:xfrm>
            <a:off x="457200" y="15876"/>
            <a:ext cx="8229600" cy="611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public void mouseReleased(MouseEvent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released");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public void mouseDragged(MouseEvent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dragged");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public void mouseMoved(MouseEvent me)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eventLabel.setText("Event: Mouse moved");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public static void main(String[] args)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    new SimplemouseEvent();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400"/>
              <a:t>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</p:txBody>
      </p:sp>
      <p:sp>
        <p:nvSpPr>
          <p:cNvPr id="448" name="Google Shape;448;p57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Handling Keyboard Events</a:t>
            </a:r>
            <a:endParaRPr/>
          </a:p>
        </p:txBody>
      </p:sp>
      <p:sp>
        <p:nvSpPr>
          <p:cNvPr id="454" name="Google Shape;454;p34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handle </a:t>
            </a:r>
            <a:r>
              <a:rPr b="1" lang="en-US">
                <a:solidFill>
                  <a:srgbClr val="C00000"/>
                </a:solidFill>
              </a:rPr>
              <a:t>keyboardevents</a:t>
            </a:r>
            <a:r>
              <a:rPr lang="en-US"/>
              <a:t>, we must </a:t>
            </a:r>
            <a:r>
              <a:rPr b="1" lang="en-US"/>
              <a:t>implement </a:t>
            </a:r>
            <a:r>
              <a:rPr lang="en-US"/>
              <a:t>the </a:t>
            </a:r>
            <a:r>
              <a:rPr b="1" lang="en-US">
                <a:solidFill>
                  <a:srgbClr val="0000CC"/>
                </a:solidFill>
              </a:rPr>
              <a:t>KeyListener </a:t>
            </a:r>
            <a:r>
              <a:rPr b="1" lang="en-US"/>
              <a:t>interface</a:t>
            </a:r>
            <a:endParaRPr b="1"/>
          </a:p>
        </p:txBody>
      </p:sp>
      <p:sp>
        <p:nvSpPr>
          <p:cNvPr id="455" name="Google Shape;455;p34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56" name="Google Shape;456;p34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Handling Keyboard Events- </a:t>
            </a:r>
            <a:endParaRPr sz="2800"/>
          </a:p>
        </p:txBody>
      </p:sp>
      <p:sp>
        <p:nvSpPr>
          <p:cNvPr id="462" name="Google Shape;462;p35"/>
          <p:cNvSpPr txBox="1"/>
          <p:nvPr>
            <p:ph idx="1" type="body"/>
          </p:nvPr>
        </p:nvSpPr>
        <p:spPr>
          <a:xfrm>
            <a:off x="457200" y="8382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key is pressed, a </a:t>
            </a:r>
            <a:r>
              <a:rPr b="1" lang="en-US" sz="2400"/>
              <a:t>KEY_PRESSED event is generated.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This results in a call to the</a:t>
            </a:r>
            <a:r>
              <a:rPr b="1" lang="en-US"/>
              <a:t> keyPressed( ) </a:t>
            </a:r>
            <a:r>
              <a:rPr lang="en-US"/>
              <a:t>event handler.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the key is released, a </a:t>
            </a:r>
            <a:r>
              <a:rPr b="1" lang="en-US" sz="2400"/>
              <a:t>KEY_RELEASED event is generated and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keyReleased( ) handler is executed.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a character is generated by the keystroke, then</a:t>
            </a:r>
            <a:r>
              <a:rPr b="1" lang="en-US" sz="2400"/>
              <a:t> a KEY_TYPED event is sent and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keyTyped( ) handler is invoked.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Thus, each time the user presses a key, at least two and often three events are generated.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t/>
            </a:r>
            <a:endParaRPr sz="2400"/>
          </a:p>
        </p:txBody>
      </p:sp>
      <p:sp>
        <p:nvSpPr>
          <p:cNvPr id="463" name="Google Shape;463;p35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64" name="Google Shape;464;p35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6"/>
          <p:cNvSpPr txBox="1"/>
          <p:nvPr>
            <p:ph idx="1" type="body"/>
          </p:nvPr>
        </p:nvSpPr>
        <p:spPr>
          <a:xfrm>
            <a:off x="228600" y="228600"/>
            <a:ext cx="81534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400"/>
              <a:t>// Demonstrate the key event handlers.</a:t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import javax.swing.*;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import java.awt.*;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import java.awt.event.*;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public class Key  implements KeyListener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{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    JFrame f;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    JLabel labelkey,label2;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/>
              <a:t>    String str;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400"/>
          </a:p>
        </p:txBody>
      </p:sp>
      <p:sp>
        <p:nvSpPr>
          <p:cNvPr id="470" name="Google Shape;470;p36"/>
          <p:cNvSpPr txBox="1"/>
          <p:nvPr>
            <p:ph idx="11" type="ftr"/>
          </p:nvPr>
        </p:nvSpPr>
        <p:spPr>
          <a:xfrm>
            <a:off x="6019800" y="63246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71" name="Google Shape;47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8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7" name="Google Shape;477;p58"/>
          <p:cNvSpPr txBox="1"/>
          <p:nvPr>
            <p:ph idx="1" type="body"/>
          </p:nvPr>
        </p:nvSpPr>
        <p:spPr>
          <a:xfrm>
            <a:off x="457200" y="408215"/>
            <a:ext cx="8229600" cy="570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public Key() {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f=new JFrame("Simple Key Event Demo");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f.setSize(400, 500);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f.setDefaultCloseOperation(JFrame.EXIT_ON_CLOSE);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f.setLayout(null);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 label2 = new JLabel("");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 label2.setBounds(40,50,200,200);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  f.add(label2);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labelkey = new JLabel("Press keys...");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labelkey.setBounds(40,300,100,40);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f.add(labelkey);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000"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f.addKeyListener(this);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    f.setVisible(true);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000"/>
              <a:t>    }</a:t>
            </a:r>
            <a:endParaRPr/>
          </a:p>
          <a:p>
            <a:pPr indent="0" lvl="0" marL="635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 txBox="1"/>
          <p:nvPr>
            <p:ph idx="1" type="body"/>
          </p:nvPr>
        </p:nvSpPr>
        <p:spPr>
          <a:xfrm>
            <a:off x="152400" y="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public void </a:t>
            </a:r>
            <a:r>
              <a:rPr b="1" lang="en-US" sz="2200"/>
              <a:t>keyPressed</a:t>
            </a:r>
            <a:r>
              <a:rPr lang="en-US" sz="2200"/>
              <a:t>(KeyEvent ke)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    labelkey.setText("Key Down");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public void </a:t>
            </a:r>
            <a:r>
              <a:rPr b="1" lang="en-US" sz="2200"/>
              <a:t>keyReleased</a:t>
            </a:r>
            <a:r>
              <a:rPr lang="en-US" sz="2200"/>
              <a:t>(KeyEvent ke)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    labelkey.setText("Key Up");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public void </a:t>
            </a:r>
            <a:r>
              <a:rPr b="1" lang="en-US" sz="2200"/>
              <a:t>keyTyped</a:t>
            </a:r>
            <a:r>
              <a:rPr lang="en-US" sz="2200"/>
              <a:t>(KeyEvent ke)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    // Show typed character in label2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    label2.setText(label2.getText() + ke.getKeyChar());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    public static void main(String[] args)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    new Key();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    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483" name="Google Shape;483;p39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84" name="Google Shape;484;p39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5" name="Google Shape;48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411" y="231703"/>
            <a:ext cx="2872989" cy="374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491" name="Google Shape;491;p4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Herbert Schildt, Java: </a:t>
            </a:r>
            <a:r>
              <a:rPr b="1" lang="en-US"/>
              <a:t>The Complete Reference, 8/e, Tata McGraw Hill, 2011</a:t>
            </a:r>
            <a:r>
              <a:rPr lang="en-US"/>
              <a:t>.</a:t>
            </a:r>
            <a:endParaRPr/>
          </a:p>
        </p:txBody>
      </p:sp>
      <p:sp>
        <p:nvSpPr>
          <p:cNvPr id="492" name="Google Shape;492;p41"/>
          <p:cNvSpPr txBox="1"/>
          <p:nvPr>
            <p:ph idx="12" type="sldNum"/>
          </p:nvPr>
        </p:nvSpPr>
        <p:spPr>
          <a:xfrm>
            <a:off x="6781800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41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