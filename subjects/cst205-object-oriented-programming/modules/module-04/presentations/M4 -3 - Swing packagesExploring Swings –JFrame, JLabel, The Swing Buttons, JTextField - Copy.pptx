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94" r:id="rId2"/>
    <p:sldId id="257" r:id="rId3"/>
    <p:sldId id="258" r:id="rId4"/>
    <p:sldId id="259" r:id="rId5"/>
    <p:sldId id="296" r:id="rId6"/>
    <p:sldId id="338" r:id="rId7"/>
    <p:sldId id="297" r:id="rId8"/>
    <p:sldId id="298" r:id="rId9"/>
    <p:sldId id="299" r:id="rId10"/>
    <p:sldId id="300" r:id="rId11"/>
    <p:sldId id="301" r:id="rId12"/>
    <p:sldId id="260" r:id="rId13"/>
    <p:sldId id="290" r:id="rId14"/>
    <p:sldId id="291" r:id="rId15"/>
    <p:sldId id="302" r:id="rId16"/>
    <p:sldId id="303" r:id="rId17"/>
    <p:sldId id="261" r:id="rId18"/>
    <p:sldId id="262" r:id="rId19"/>
    <p:sldId id="263" r:id="rId20"/>
    <p:sldId id="264" r:id="rId21"/>
    <p:sldId id="265" r:id="rId22"/>
    <p:sldId id="268" r:id="rId23"/>
    <p:sldId id="269" r:id="rId24"/>
    <p:sldId id="270" r:id="rId25"/>
    <p:sldId id="304" r:id="rId26"/>
    <p:sldId id="306" r:id="rId27"/>
    <p:sldId id="307" r:id="rId28"/>
    <p:sldId id="305" r:id="rId29"/>
    <p:sldId id="310" r:id="rId30"/>
    <p:sldId id="273" r:id="rId31"/>
    <p:sldId id="308" r:id="rId32"/>
    <p:sldId id="313" r:id="rId33"/>
    <p:sldId id="314" r:id="rId34"/>
    <p:sldId id="318" r:id="rId35"/>
    <p:sldId id="319" r:id="rId36"/>
    <p:sldId id="324" r:id="rId37"/>
    <p:sldId id="325" r:id="rId38"/>
    <p:sldId id="315" r:id="rId39"/>
    <p:sldId id="326" r:id="rId40"/>
    <p:sldId id="327" r:id="rId41"/>
    <p:sldId id="316" r:id="rId42"/>
    <p:sldId id="322" r:id="rId43"/>
    <p:sldId id="329" r:id="rId44"/>
    <p:sldId id="330" r:id="rId45"/>
    <p:sldId id="312" r:id="rId46"/>
    <p:sldId id="309" r:id="rId47"/>
    <p:sldId id="331" r:id="rId48"/>
    <p:sldId id="333" r:id="rId49"/>
    <p:sldId id="337" r:id="rId50"/>
    <p:sldId id="276" r:id="rId5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579" autoAdjust="0"/>
  </p:normalViewPr>
  <p:slideViewPr>
    <p:cSldViewPr>
      <p:cViewPr varScale="1">
        <p:scale>
          <a:sx n="78" d="100"/>
          <a:sy n="78" d="100"/>
        </p:scale>
        <p:origin x="158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291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0A006468-1CDF-4088-B87A-4CD0B5F2A406}" type="datetimeFigureOut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E6144B60-9DB3-43EA-A003-48D433878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1908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4171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568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4888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0048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7170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1268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5315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43800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9FEB9-5C7C-4D8B-879A-DC07A92BC307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8933F-B144-4A24-8A5D-8E40BC4CA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72375" y="-762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>
            <a:lvl1pPr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 algn="just">
              <a:defRPr sz="2600">
                <a:latin typeface="Times New Roman" pitchFamily="18" charset="0"/>
                <a:cs typeface="Times New Roman" pitchFamily="18" charset="0"/>
              </a:defRPr>
            </a:lvl1pPr>
            <a:lvl2pPr algn="just">
              <a:defRPr sz="2400">
                <a:latin typeface="Times New Roman" pitchFamily="18" charset="0"/>
                <a:cs typeface="Times New Roman" pitchFamily="18" charset="0"/>
              </a:defRPr>
            </a:lvl2pPr>
            <a:lvl3pPr algn="just">
              <a:defRPr sz="2400">
                <a:latin typeface="Times New Roman" pitchFamily="18" charset="0"/>
                <a:cs typeface="Times New Roman" pitchFamily="18" charset="0"/>
              </a:defRPr>
            </a:lvl3pPr>
            <a:lvl4pPr algn="just">
              <a:defRPr sz="2400">
                <a:latin typeface="Times New Roman" pitchFamily="18" charset="0"/>
                <a:cs typeface="Times New Roman" pitchFamily="18" charset="0"/>
              </a:defRPr>
            </a:lvl4pPr>
            <a:lvl5pPr>
              <a:defRPr sz="2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59C9A-1610-4072-AFB9-7DF9C4A58976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05600" y="6492875"/>
            <a:ext cx="2514600" cy="365125"/>
          </a:xfrm>
        </p:spPr>
        <p:txBody>
          <a:bodyPr/>
          <a:lstStyle>
            <a:lvl1pPr>
              <a:defRPr b="1" i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77000"/>
            <a:ext cx="381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60612-1CE6-4420-A721-C80A19F352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8F254-6DDE-4857-B7DA-3C880C43C80D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9C0EF-273B-49EF-9071-9B0293C93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648575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>
                <a:latin typeface="Times New Roman" pitchFamily="18" charset="0"/>
                <a:cs typeface="Times New Roman" pitchFamily="18" charset="0"/>
              </a:defRPr>
            </a:lvl1pPr>
            <a:lvl2pPr>
              <a:defRPr sz="2600">
                <a:latin typeface="Times New Roman" pitchFamily="18" charset="0"/>
                <a:cs typeface="Times New Roman" pitchFamily="18" charset="0"/>
              </a:defRPr>
            </a:lvl2pPr>
            <a:lvl3pPr>
              <a:defRPr sz="2600">
                <a:latin typeface="Times New Roman" pitchFamily="18" charset="0"/>
                <a:cs typeface="Times New Roman" pitchFamily="18" charset="0"/>
              </a:defRPr>
            </a:lvl3pPr>
            <a:lvl4pPr>
              <a:defRPr sz="2600">
                <a:latin typeface="Times New Roman" pitchFamily="18" charset="0"/>
                <a:cs typeface="Times New Roman" pitchFamily="18" charset="0"/>
              </a:defRPr>
            </a:lvl4pPr>
            <a:lvl5pPr>
              <a:defRPr sz="2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>
                <a:latin typeface="Times New Roman" pitchFamily="18" charset="0"/>
                <a:cs typeface="Times New Roman" pitchFamily="18" charset="0"/>
              </a:defRPr>
            </a:lvl1pPr>
            <a:lvl2pPr>
              <a:defRPr sz="2600">
                <a:latin typeface="Times New Roman" pitchFamily="18" charset="0"/>
                <a:cs typeface="Times New Roman" pitchFamily="18" charset="0"/>
              </a:defRPr>
            </a:lvl2pPr>
            <a:lvl3pPr>
              <a:defRPr sz="2600">
                <a:latin typeface="Times New Roman" pitchFamily="18" charset="0"/>
                <a:cs typeface="Times New Roman" pitchFamily="18" charset="0"/>
              </a:defRPr>
            </a:lvl3pPr>
            <a:lvl4pPr>
              <a:defRPr sz="2600">
                <a:latin typeface="Times New Roman" pitchFamily="18" charset="0"/>
                <a:cs typeface="Times New Roman" pitchFamily="18" charset="0"/>
              </a:defRPr>
            </a:lvl4pPr>
            <a:lvl5pPr>
              <a:defRPr sz="2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8797E-EA91-483A-A748-FA7B45BC2CD7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7000" y="649287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356350"/>
            <a:ext cx="381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36246-FC46-4052-A6ED-AB27FAD080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43800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5CCD5-AF5D-4622-ADE3-840E4EC61F4C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92875"/>
            <a:ext cx="457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672AF-3668-4769-896B-F90092D9B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447E2-AA30-4843-BB4B-1D099F4D6102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2583B-E917-44E2-9E13-75059E2FCB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4F405-30E7-4F0C-BA9E-E7E7428EC40F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9BB36-D19A-4D1B-964D-197368707D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65AB7-CF6B-4DCE-87AE-17C3AFEC915F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7741A-D6EE-4339-9D85-25048C97D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0C263-5661-4DF2-AE05-02BDC84FD792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25B9E-B1F3-4AAD-B4A2-932FCB844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37383-A1FA-4F68-AE14-D06A08E99499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66BC8-F3C6-40C6-B592-29EEBF575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F2EF7-14C8-478A-A813-5AA3BDFF3B9B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D7C2C-BB52-436F-B184-A6A883B501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838200"/>
            <a:ext cx="8229600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8EDE54-010F-4DEE-B1D3-3CEF57B2E0B2}" type="datetime1">
              <a:rPr lang="en-US"/>
              <a:pPr>
                <a:defRPr/>
              </a:pPr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294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i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324600"/>
            <a:ext cx="228600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8B2B23-C1A1-4E7E-BBC8-3764BA569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4" r:id="rId1"/>
    <p:sldLayoutId id="2147484505" r:id="rId2"/>
    <p:sldLayoutId id="2147484497" r:id="rId3"/>
    <p:sldLayoutId id="2147484506" r:id="rId4"/>
    <p:sldLayoutId id="2147484507" r:id="rId5"/>
    <p:sldLayoutId id="2147484498" r:id="rId6"/>
    <p:sldLayoutId id="2147484499" r:id="rId7"/>
    <p:sldLayoutId id="2147484500" r:id="rId8"/>
    <p:sldLayoutId id="2147484501" r:id="rId9"/>
    <p:sldLayoutId id="2147484502" r:id="rId10"/>
    <p:sldLayoutId id="214748450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381000" y="1219200"/>
            <a:ext cx="8458200" cy="2381250"/>
          </a:xfrm>
        </p:spPr>
        <p:txBody>
          <a:bodyPr/>
          <a:lstStyle/>
          <a:p>
            <a:r>
              <a:rPr lang="en-US">
                <a:solidFill>
                  <a:srgbClr val="0000CC"/>
                </a:solidFill>
              </a:rPr>
              <a:t>PBCST304 Object Oriented Programming in Java</a:t>
            </a:r>
            <a:br>
              <a:rPr lang="en-US"/>
            </a:br>
            <a:r>
              <a:rPr lang="en-US"/>
              <a:t>Module 4</a:t>
            </a:r>
            <a:br>
              <a:rPr lang="en-US"/>
            </a:br>
            <a:r>
              <a:rPr lang="en-US"/>
              <a:t>(Part 3)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Snap ITC" pitchFamily="82" charset="0"/>
              </a:rPr>
              <a:t>Prepared by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000" b="1" dirty="0" err="1"/>
              <a:t>Renetha</a:t>
            </a:r>
            <a:r>
              <a:rPr lang="en-US" sz="4000" b="1" dirty="0"/>
              <a:t> J.B.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831C5C-37AA-4E91-8C39-54118789491F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614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Topics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3200" b="1" dirty="0">
                <a:solidFill>
                  <a:srgbClr val="C00000"/>
                </a:solidFill>
              </a:rPr>
              <a:t>Swings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000" b="1" dirty="0"/>
              <a:t>Swing packages</a:t>
            </a:r>
            <a:endParaRPr lang="en-US" b="1" dirty="0"/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2800" b="1" dirty="0"/>
              <a:t> </a:t>
            </a:r>
            <a:r>
              <a:rPr lang="en-US" sz="2800" dirty="0"/>
              <a:t>Exploring Swings </a:t>
            </a:r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 err="1"/>
              <a:t>JFrame</a:t>
            </a:r>
            <a:endParaRPr lang="en-US" sz="2800" dirty="0"/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 err="1"/>
              <a:t>Jlabel</a:t>
            </a:r>
            <a:endParaRPr lang="en-US" sz="2800" dirty="0"/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The Swing Buttons</a:t>
            </a:r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 err="1"/>
              <a:t>JTextField</a:t>
            </a:r>
            <a:endParaRPr lang="en-US" sz="2800" dirty="0"/>
          </a:p>
          <a:p>
            <a:pPr lvl="1">
              <a:lnSpc>
                <a:spcPct val="150000"/>
              </a:lnSpc>
              <a:buNone/>
            </a:pPr>
            <a:endParaRPr lang="en-US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DF6EC7-77E1-43CE-AE3A-927B2A2A30F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Swing Packages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Swing is a very large subsystem and makes use of many packages.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These are the </a:t>
            </a:r>
            <a:r>
              <a:rPr lang="en-US" b="1"/>
              <a:t>packages</a:t>
            </a:r>
            <a:r>
              <a:rPr lang="en-US"/>
              <a:t> used by Swing that are </a:t>
            </a:r>
            <a:r>
              <a:rPr lang="en-US" b="1"/>
              <a:t>defined by Java SE 6</a:t>
            </a:r>
            <a:r>
              <a:rPr lang="en-US"/>
              <a:t>.</a:t>
            </a:r>
            <a:endParaRPr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main package is </a:t>
            </a:r>
            <a:r>
              <a:rPr lang="en-US" sz="2400" b="1">
                <a:solidFill>
                  <a:srgbClr val="C00000"/>
                </a:solidFill>
              </a:rPr>
              <a:t>javax.swing</a:t>
            </a:r>
            <a:r>
              <a:rPr lang="en-US" sz="2400" b="1"/>
              <a:t>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This package</a:t>
            </a:r>
            <a:r>
              <a:rPr lang="en-US" b="1"/>
              <a:t> must be imported into any program that uses Swing. </a:t>
            </a:r>
            <a:endParaRPr/>
          </a:p>
          <a:p>
            <a:pPr marL="74295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It contains the </a:t>
            </a:r>
            <a:r>
              <a:rPr lang="en-US" b="1"/>
              <a:t>classes that implement the basic Swing components</a:t>
            </a:r>
            <a:r>
              <a:rPr lang="en-US"/>
              <a:t>, such as push buttons, labels, and check boxes.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Swing packages</a:t>
            </a:r>
            <a:r>
              <a:rPr lang="en-US" sz="3200"/>
              <a:t>(</a:t>
            </a:r>
            <a:r>
              <a:rPr lang="en-US" sz="3200" b="0"/>
              <a:t>contd.)</a:t>
            </a:r>
            <a:endParaRPr/>
          </a:p>
        </p:txBody>
      </p:sp>
      <p:graphicFrame>
        <p:nvGraphicFramePr>
          <p:cNvPr id="117" name="Google Shape;117;p4"/>
          <p:cNvGraphicFramePr/>
          <p:nvPr/>
        </p:nvGraphicFramePr>
        <p:xfrm>
          <a:off x="457200" y="914400"/>
          <a:ext cx="8686800" cy="4800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javax.swing.border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javax.swing.colorchooser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javax.swing.event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javax.swing.filechooser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javax.swing.plaf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javax.swing.plaf.basic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javax.swing.plaf.metal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javax.swing.plaf.multi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javax.swing.plaf.synth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javax.swing.table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javax.swing.text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javax.swing.text.html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javax.swing.text.html.parser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javax.swing.text.rtf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javax.swing.tree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javax.swing.undo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8" name="Google Shape;118;p4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Some of the swing components are:</a:t>
            </a:r>
          </a:p>
          <a:p>
            <a:pPr lvl="1"/>
            <a:r>
              <a:rPr lang="en-US" dirty="0" err="1"/>
              <a:t>JButton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JCheckBox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JComboBox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JLabel</a:t>
            </a:r>
            <a:endParaRPr lang="en-US" dirty="0"/>
          </a:p>
          <a:p>
            <a:pPr lvl="1"/>
            <a:r>
              <a:rPr lang="en-US" dirty="0" err="1"/>
              <a:t>JList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JRadioButton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JScrollPane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JTabbedPane</a:t>
            </a:r>
            <a:endParaRPr lang="en-US" dirty="0"/>
          </a:p>
          <a:p>
            <a:pPr lvl="1"/>
            <a:r>
              <a:rPr lang="en-US" dirty="0" err="1"/>
              <a:t>JTable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JTextField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JToggleButton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JTree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038600" y="1752600"/>
            <a:ext cx="4572000" cy="110799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These components are all lightweight. They are all derived from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JComponent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3F2B-B7B1-AF77-E7E8-01501711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5EC9-81E6-F979-55A9-DC858F9ED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Exploring Swings </a:t>
            </a:r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 err="1"/>
              <a:t>JFrame</a:t>
            </a:r>
            <a:endParaRPr lang="en-US" sz="2800" dirty="0"/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 err="1"/>
              <a:t>Jlabel</a:t>
            </a:r>
            <a:endParaRPr lang="en-US" sz="2800" dirty="0"/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The Swing Buttons</a:t>
            </a:r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 err="1"/>
              <a:t>JTextField</a:t>
            </a:r>
            <a:endParaRPr lang="en-US" sz="2800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0EFBA-C87F-94D7-151C-134A6910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C9C5AC-CAFB-B3EF-5325-E6005C0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9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Every containment hierarchy must begin with a top-level container.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 err="1"/>
              <a:t>JFrame</a:t>
            </a:r>
            <a:r>
              <a:rPr lang="en-US" sz="2400" b="1" dirty="0"/>
              <a:t> </a:t>
            </a:r>
            <a:r>
              <a:rPr lang="en-US" sz="2400" dirty="0"/>
              <a:t>is a top level container that is commonly used for Swing applications.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dirty="0" err="1"/>
              <a:t>JFrame</a:t>
            </a:r>
            <a:r>
              <a:rPr lang="en-US" sz="2400" dirty="0"/>
              <a:t>  do not inherit </a:t>
            </a:r>
            <a:r>
              <a:rPr lang="en-US" sz="2400" b="1" dirty="0" err="1"/>
              <a:t>JComponent</a:t>
            </a:r>
            <a:r>
              <a:rPr lang="en-US" sz="24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 </a:t>
            </a:r>
            <a:r>
              <a:rPr lang="en-US" sz="2400" b="1" dirty="0" err="1"/>
              <a:t>JFrame</a:t>
            </a:r>
            <a:r>
              <a:rPr lang="en-US" sz="2400" b="1" dirty="0"/>
              <a:t> </a:t>
            </a:r>
            <a:r>
              <a:rPr lang="en-US" sz="2400" dirty="0"/>
              <a:t>inherit the AWT classes </a:t>
            </a:r>
            <a:r>
              <a:rPr lang="en-US" sz="2400" b="1" dirty="0"/>
              <a:t>Component and Container.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top-level containers are heavyweight.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JFrame</a:t>
            </a:r>
            <a:r>
              <a:rPr lang="en-US" dirty="0"/>
              <a:t>(</a:t>
            </a:r>
            <a:r>
              <a:rPr lang="en-US" sz="3200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0000CC"/>
                </a:solidFill>
              </a:rPr>
              <a:t>JFrame</a:t>
            </a:r>
            <a:r>
              <a:rPr lang="en-US" sz="2400" dirty="0"/>
              <a:t> </a:t>
            </a:r>
            <a:r>
              <a:rPr lang="en-US" sz="2400" b="1" dirty="0"/>
              <a:t>frame</a:t>
            </a:r>
            <a:r>
              <a:rPr lang="en-US" sz="2400" dirty="0"/>
              <a:t> = new </a:t>
            </a:r>
            <a:r>
              <a:rPr lang="en-US" sz="2400" b="1" dirty="0" err="1">
                <a:solidFill>
                  <a:srgbClr val="0000CC"/>
                </a:solidFill>
              </a:rPr>
              <a:t>JFrame</a:t>
            </a:r>
            <a:r>
              <a:rPr lang="en-US" sz="2400" dirty="0"/>
              <a:t>(“Swing Example);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creates a container called </a:t>
            </a:r>
            <a:r>
              <a:rPr lang="en-US" sz="2400" b="1" dirty="0"/>
              <a:t>frame</a:t>
            </a:r>
            <a:r>
              <a:rPr lang="en-US" sz="2400" dirty="0"/>
              <a:t> that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defines a rectangular window complete with a </a:t>
            </a:r>
            <a:r>
              <a:rPr lang="en-US" sz="2200" u="sng" dirty="0"/>
              <a:t>title  </a:t>
            </a:r>
            <a:r>
              <a:rPr lang="en-US" sz="2400" u="sng" dirty="0"/>
              <a:t>bar; close, minimize, maximize, and restore buttons;</a:t>
            </a:r>
            <a:r>
              <a:rPr lang="en-US" sz="2400" dirty="0"/>
              <a:t> and a system menu.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Thus, it creates a standard, top-level window.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The title of the window(“Swing Example”) is passed to the constructor.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D742AB-5C97-F7F9-FAEB-4E4DBB3CC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745" y="5209998"/>
            <a:ext cx="3191320" cy="12670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 err="1"/>
              <a:t>setSize</a:t>
            </a:r>
            <a:r>
              <a:rPr lang="en-US" sz="2400" b="1" dirty="0"/>
              <a:t>( ) </a:t>
            </a:r>
            <a:r>
              <a:rPr lang="en-US" sz="2400" dirty="0"/>
              <a:t>method (which is inherited by </a:t>
            </a:r>
            <a:r>
              <a:rPr lang="en-US" sz="2400" dirty="0" err="1"/>
              <a:t>JFrame</a:t>
            </a:r>
            <a:r>
              <a:rPr lang="en-US" sz="2400" dirty="0"/>
              <a:t> from the AWT class Component) sets the dimensions of the window, which are specified in pixels.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Its general form is 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void </a:t>
            </a:r>
            <a:r>
              <a:rPr lang="en-US" sz="2400" dirty="0" err="1"/>
              <a:t>setSize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i="1" dirty="0"/>
              <a:t>width, </a:t>
            </a:r>
            <a:r>
              <a:rPr lang="en-US" sz="2400" i="1" dirty="0" err="1"/>
              <a:t>int</a:t>
            </a:r>
            <a:r>
              <a:rPr lang="en-US" sz="2400" i="1" dirty="0"/>
              <a:t> height)</a:t>
            </a:r>
          </a:p>
          <a:p>
            <a:pPr>
              <a:lnSpc>
                <a:spcPct val="150000"/>
              </a:lnSpc>
              <a:buNone/>
            </a:pPr>
            <a:endParaRPr lang="en-US" sz="2400" i="1" dirty="0"/>
          </a:p>
          <a:p>
            <a:pPr>
              <a:lnSpc>
                <a:spcPct val="150000"/>
              </a:lnSpc>
              <a:buNone/>
            </a:pPr>
            <a:r>
              <a:rPr lang="en-US" sz="2400" i="1" dirty="0"/>
              <a:t>E.g. 	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 err="1">
                <a:solidFill>
                  <a:srgbClr val="0000CC"/>
                </a:solidFill>
              </a:rPr>
              <a:t>JFrame</a:t>
            </a:r>
            <a:r>
              <a:rPr lang="en-US" sz="2400" dirty="0"/>
              <a:t> </a:t>
            </a:r>
            <a:r>
              <a:rPr lang="en-US" sz="2400" b="1" dirty="0"/>
              <a:t>frame</a:t>
            </a:r>
            <a:r>
              <a:rPr lang="en-US" sz="2400" dirty="0"/>
              <a:t> = new </a:t>
            </a:r>
            <a:r>
              <a:rPr lang="en-US" sz="2400" b="1" dirty="0" err="1">
                <a:solidFill>
                  <a:srgbClr val="0000CC"/>
                </a:solidFill>
              </a:rPr>
              <a:t>JFrame</a:t>
            </a:r>
            <a:r>
              <a:rPr lang="en-US" sz="2400" dirty="0"/>
              <a:t>(“Swing Example); 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 err="1"/>
              <a:t>frame</a:t>
            </a:r>
            <a:r>
              <a:rPr lang="en-US" sz="2400" dirty="0" err="1"/>
              <a:t>.</a:t>
            </a:r>
            <a:r>
              <a:rPr lang="en-US" sz="2400" b="1" dirty="0" err="1">
                <a:solidFill>
                  <a:srgbClr val="C00000"/>
                </a:solidFill>
              </a:rPr>
              <a:t>setSize</a:t>
            </a:r>
            <a:r>
              <a:rPr lang="en-US" sz="2400" dirty="0"/>
              <a:t>(275, 100);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dirty="0" err="1"/>
              <a:t>JFrame</a:t>
            </a:r>
            <a:r>
              <a:rPr lang="en-US" dirty="0"/>
              <a:t>(</a:t>
            </a:r>
            <a:r>
              <a:rPr lang="en-US" sz="3200" b="0" dirty="0"/>
              <a:t>contd.)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1A0C4-BF74-733C-156F-94C1151F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886200"/>
            <a:ext cx="3191320" cy="12670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If we want the </a:t>
            </a:r>
            <a:r>
              <a:rPr lang="en-US" sz="2400" u="sng" dirty="0"/>
              <a:t>entire application to terminate </a:t>
            </a:r>
            <a:r>
              <a:rPr lang="en-US" sz="2400" dirty="0"/>
              <a:t>when its top-level window is closed, the easiest way is to call </a:t>
            </a:r>
            <a:r>
              <a:rPr lang="en-US" sz="2400" b="1" dirty="0" err="1"/>
              <a:t>setDefaultCloseOperation</a:t>
            </a:r>
            <a:r>
              <a:rPr lang="en-US" sz="2400" b="1" dirty="0"/>
              <a:t>( )</a:t>
            </a:r>
          </a:p>
          <a:p>
            <a:pPr>
              <a:buNone/>
            </a:pPr>
            <a:r>
              <a:rPr lang="en-US" sz="2400" dirty="0"/>
              <a:t>E.g. </a:t>
            </a:r>
          </a:p>
          <a:p>
            <a:pPr>
              <a:buNone/>
            </a:pPr>
            <a:r>
              <a:rPr lang="en-US" sz="2400" b="1" dirty="0" err="1"/>
              <a:t>frame</a:t>
            </a:r>
            <a:r>
              <a:rPr lang="en-US" sz="2400" dirty="0" err="1"/>
              <a:t>.setDefaultCloseOperation</a:t>
            </a:r>
            <a:r>
              <a:rPr lang="en-US" sz="2400" dirty="0"/>
              <a:t>(</a:t>
            </a:r>
            <a:r>
              <a:rPr lang="en-US" sz="2400" dirty="0" err="1"/>
              <a:t>JFrame.EXIT_ON_CLOSE</a:t>
            </a:r>
            <a:r>
              <a:rPr lang="en-US" sz="2400" dirty="0"/>
              <a:t>);</a:t>
            </a:r>
          </a:p>
          <a:p>
            <a:r>
              <a:rPr lang="en-US" sz="2400" dirty="0"/>
              <a:t>After this call, closing the window causes the entire application to terminate. </a:t>
            </a:r>
          </a:p>
          <a:p>
            <a:r>
              <a:rPr lang="en-US" sz="2400" dirty="0"/>
              <a:t>The general form of </a:t>
            </a:r>
            <a:r>
              <a:rPr lang="en-US" sz="2400" b="1" dirty="0" err="1"/>
              <a:t>setDefaultCloseOperation</a:t>
            </a:r>
            <a:r>
              <a:rPr lang="en-US" sz="2400" b="1" dirty="0"/>
              <a:t>( ) is :</a:t>
            </a:r>
          </a:p>
          <a:p>
            <a:pPr>
              <a:buNone/>
            </a:pPr>
            <a:r>
              <a:rPr lang="en-US" sz="2400" dirty="0"/>
              <a:t>	void </a:t>
            </a:r>
            <a:r>
              <a:rPr lang="en-US" sz="2400" b="1" dirty="0" err="1">
                <a:solidFill>
                  <a:srgbClr val="C00000"/>
                </a:solidFill>
              </a:rPr>
              <a:t>setDefaultCloseOperation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i="1" dirty="0"/>
              <a:t>what)</a:t>
            </a:r>
          </a:p>
          <a:p>
            <a:pPr lvl="1"/>
            <a:r>
              <a:rPr lang="en-US" sz="2000" i="1" dirty="0"/>
              <a:t>what </a:t>
            </a:r>
            <a:r>
              <a:rPr lang="en-US" sz="2000" dirty="0"/>
              <a:t>can be </a:t>
            </a:r>
          </a:p>
          <a:p>
            <a:pPr lvl="2"/>
            <a:r>
              <a:rPr lang="en-US" sz="2000" dirty="0" err="1"/>
              <a:t>JFrame.EXIT_ON_CLOSE</a:t>
            </a:r>
            <a:endParaRPr lang="en-US" sz="2000" i="1" dirty="0"/>
          </a:p>
          <a:p>
            <a:pPr lvl="2"/>
            <a:r>
              <a:rPr lang="en-US" sz="2000" dirty="0" err="1"/>
              <a:t>JFrame.DISPOSE_ON_CLOSE</a:t>
            </a:r>
            <a:r>
              <a:rPr lang="en-US" sz="2000" dirty="0"/>
              <a:t> </a:t>
            </a:r>
          </a:p>
          <a:p>
            <a:pPr lvl="2"/>
            <a:r>
              <a:rPr lang="en-US" sz="2000" dirty="0" err="1"/>
              <a:t>JFrame.HIDE_ON_CLOSE</a:t>
            </a:r>
            <a:endParaRPr lang="en-US" sz="2000" dirty="0"/>
          </a:p>
          <a:p>
            <a:pPr lvl="2"/>
            <a:r>
              <a:rPr lang="en-US" sz="2000" dirty="0"/>
              <a:t> </a:t>
            </a:r>
            <a:r>
              <a:rPr lang="en-US" sz="2000" dirty="0" err="1"/>
              <a:t>JFrame.DO_NOTHING_ON_CLOSE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dirty="0" err="1"/>
              <a:t>JFrame</a:t>
            </a:r>
            <a:r>
              <a:rPr lang="en-US" dirty="0"/>
              <a:t>(</a:t>
            </a:r>
            <a:r>
              <a:rPr lang="en-US" sz="3200" b="0" dirty="0"/>
              <a:t>contd.)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458200" cy="5334000"/>
          </a:xfrm>
        </p:spPr>
        <p:txBody>
          <a:bodyPr/>
          <a:lstStyle/>
          <a:p>
            <a:r>
              <a:rPr lang="en-US" sz="2400" dirty="0"/>
              <a:t>The content pane can be obtained by calling </a:t>
            </a:r>
            <a:r>
              <a:rPr lang="en-US" sz="2400" b="1" dirty="0" err="1"/>
              <a:t>getContentPane</a:t>
            </a:r>
            <a:r>
              <a:rPr lang="en-US" sz="2400" b="1" dirty="0"/>
              <a:t>( ) </a:t>
            </a:r>
            <a:r>
              <a:rPr lang="en-US" sz="2400" dirty="0"/>
              <a:t>on a </a:t>
            </a:r>
            <a:r>
              <a:rPr lang="en-US" sz="2400" dirty="0" err="1"/>
              <a:t>JFrame</a:t>
            </a:r>
            <a:r>
              <a:rPr lang="en-US" sz="2400" dirty="0"/>
              <a:t> instance.</a:t>
            </a:r>
          </a:p>
          <a:p>
            <a:r>
              <a:rPr lang="en-US" sz="2400" dirty="0"/>
              <a:t>The </a:t>
            </a:r>
            <a:r>
              <a:rPr lang="en-US" sz="2400" b="1" dirty="0" err="1"/>
              <a:t>getContentPane</a:t>
            </a:r>
            <a:r>
              <a:rPr lang="en-US" sz="2400" b="1" dirty="0"/>
              <a:t>( ) </a:t>
            </a:r>
            <a:r>
              <a:rPr lang="en-US" sz="2400" dirty="0"/>
              <a:t>method is :</a:t>
            </a:r>
          </a:p>
          <a:p>
            <a:pPr>
              <a:buNone/>
            </a:pPr>
            <a:r>
              <a:rPr lang="en-US" sz="2400" dirty="0"/>
              <a:t>Container </a:t>
            </a:r>
            <a:r>
              <a:rPr lang="en-US" sz="2400" b="1" dirty="0" err="1">
                <a:solidFill>
                  <a:srgbClr val="C00000"/>
                </a:solidFill>
              </a:rPr>
              <a:t>getContentPane</a:t>
            </a:r>
            <a:r>
              <a:rPr lang="en-US" sz="2400" dirty="0"/>
              <a:t>( )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setVisible</a:t>
            </a:r>
            <a:r>
              <a:rPr lang="en-US" sz="2400" dirty="0"/>
              <a:t>( ) method is inherited from the AWT Component class. </a:t>
            </a:r>
          </a:p>
          <a:p>
            <a:pPr lvl="1"/>
            <a:r>
              <a:rPr lang="en-US" sz="2200" dirty="0"/>
              <a:t>Argument can be true or false</a:t>
            </a:r>
          </a:p>
          <a:p>
            <a:pPr lvl="1"/>
            <a:r>
              <a:rPr lang="en-US" sz="2200" dirty="0"/>
              <a:t>If its argument is </a:t>
            </a:r>
            <a:r>
              <a:rPr lang="en-US" sz="2200" b="1" dirty="0"/>
              <a:t>true</a:t>
            </a:r>
            <a:r>
              <a:rPr lang="en-US" sz="2200" dirty="0"/>
              <a:t>, the window will be displayed. Otherwise, it will be hidden. </a:t>
            </a:r>
          </a:p>
          <a:p>
            <a:pPr lvl="2"/>
            <a:r>
              <a:rPr lang="en-US" sz="2200" dirty="0"/>
              <a:t>By default, a </a:t>
            </a:r>
            <a:r>
              <a:rPr lang="en-US" sz="2200" dirty="0" err="1"/>
              <a:t>JFrame</a:t>
            </a:r>
            <a:r>
              <a:rPr lang="en-US" sz="2200" dirty="0"/>
              <a:t> is invisible, so </a:t>
            </a:r>
            <a:r>
              <a:rPr lang="en-US" sz="2200" dirty="0" err="1"/>
              <a:t>setVisible</a:t>
            </a:r>
            <a:r>
              <a:rPr lang="en-US" sz="2200" dirty="0"/>
              <a:t>(true) must be called to make it visible.</a:t>
            </a:r>
          </a:p>
          <a:p>
            <a:pPr lvl="1"/>
            <a:r>
              <a:rPr lang="en-US" dirty="0"/>
              <a:t>E.g.</a:t>
            </a:r>
          </a:p>
          <a:p>
            <a:pPr lvl="2">
              <a:buNone/>
            </a:pPr>
            <a:r>
              <a:rPr lang="en-US" dirty="0" err="1"/>
              <a:t>frame.</a:t>
            </a:r>
            <a:r>
              <a:rPr lang="en-US" b="1" dirty="0" err="1">
                <a:solidFill>
                  <a:srgbClr val="C00000"/>
                </a:solidFill>
              </a:rPr>
              <a:t>setVisible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/>
              <a:t>true</a:t>
            </a:r>
            <a:r>
              <a:rPr lang="en-US" dirty="0"/>
              <a:t>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dirty="0" err="1"/>
              <a:t>JFrame</a:t>
            </a:r>
            <a:r>
              <a:rPr lang="en-US" dirty="0"/>
              <a:t>(</a:t>
            </a:r>
            <a:r>
              <a:rPr lang="en-US" sz="3200" b="0" dirty="0"/>
              <a:t>contd.)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Simple Swing Application</a:t>
            </a:r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There are two types of Java programs in which Swing is typically used. </a:t>
            </a:r>
            <a:endParaRPr/>
          </a:p>
          <a:p>
            <a:pPr marL="914400" lvl="1" indent="-4572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desktop application. </a:t>
            </a:r>
            <a:endParaRPr/>
          </a:p>
          <a:p>
            <a:pPr marL="914400" lvl="1" indent="-4572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applet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DC71-E56F-2F95-3668-F04F7650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Create a Swing with a frame</a:t>
            </a:r>
            <a:br>
              <a:rPr lang="en-IN" sz="2800" dirty="0"/>
            </a:br>
            <a:r>
              <a:rPr lang="en-IN" sz="2800" dirty="0"/>
              <a:t>titled “A Simple Swing”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5DF30-67A0-899B-6986-E96E7F245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import </a:t>
            </a:r>
            <a:r>
              <a:rPr lang="en-IN" sz="2000" dirty="0" err="1"/>
              <a:t>javax.swing</a:t>
            </a:r>
            <a:r>
              <a:rPr lang="en-IN" sz="2000" dirty="0"/>
              <a:t>.*;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class </a:t>
            </a:r>
            <a:r>
              <a:rPr lang="en-IN" sz="2000" dirty="0" err="1"/>
              <a:t>SimpleSwing</a:t>
            </a:r>
            <a:r>
              <a:rPr lang="en-IN" sz="2000" dirty="0"/>
              <a:t> 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{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</a:t>
            </a:r>
            <a:r>
              <a:rPr lang="en-IN" sz="2000" dirty="0" err="1"/>
              <a:t>SimpleSwing</a:t>
            </a:r>
            <a:r>
              <a:rPr lang="en-IN" sz="2000" dirty="0"/>
              <a:t>() 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{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</a:t>
            </a:r>
            <a:r>
              <a:rPr lang="en-IN" sz="2000" dirty="0" err="1"/>
              <a:t>JFrame</a:t>
            </a:r>
            <a:r>
              <a:rPr lang="en-IN" sz="2000" dirty="0"/>
              <a:t> f = new </a:t>
            </a:r>
            <a:r>
              <a:rPr lang="en-IN" sz="2000" dirty="0" err="1"/>
              <a:t>JFrame</a:t>
            </a:r>
            <a:r>
              <a:rPr lang="en-IN" sz="2000" dirty="0"/>
              <a:t>("A Simple Swing ");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</a:t>
            </a:r>
            <a:r>
              <a:rPr lang="en-IN" sz="2000" dirty="0" err="1"/>
              <a:t>f.setSize</a:t>
            </a:r>
            <a:r>
              <a:rPr lang="en-IN" sz="2000" dirty="0"/>
              <a:t>(400, 200);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</a:t>
            </a:r>
            <a:r>
              <a:rPr lang="en-IN" sz="2000" dirty="0" err="1"/>
              <a:t>f.setDefaultCloseOperation</a:t>
            </a:r>
            <a:r>
              <a:rPr lang="en-IN" sz="2000" dirty="0"/>
              <a:t>(</a:t>
            </a:r>
            <a:r>
              <a:rPr lang="en-IN" sz="2000" dirty="0" err="1"/>
              <a:t>JFrame.EXIT_ON_CLOSE</a:t>
            </a:r>
            <a:r>
              <a:rPr lang="en-IN" sz="2000" dirty="0"/>
              <a:t>);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</a:t>
            </a:r>
            <a:r>
              <a:rPr lang="en-IN" sz="2000" dirty="0" err="1"/>
              <a:t>f.setVisible</a:t>
            </a:r>
            <a:r>
              <a:rPr lang="en-IN" sz="2000" dirty="0"/>
              <a:t>(true);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}</a:t>
            </a:r>
          </a:p>
          <a:p>
            <a:pPr marL="63500" indent="0">
              <a:spcBef>
                <a:spcPts val="0"/>
              </a:spcBef>
              <a:buNone/>
            </a:pPr>
            <a:endParaRPr lang="en-IN" sz="2000" dirty="0"/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 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{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	new </a:t>
            </a:r>
            <a:r>
              <a:rPr lang="en-IN" sz="2000" dirty="0" err="1"/>
              <a:t>SimpleSwing</a:t>
            </a:r>
            <a:r>
              <a:rPr lang="en-IN" sz="2000" dirty="0"/>
              <a:t>();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}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}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2000" dirty="0"/>
              <a:t>						</a:t>
            </a:r>
          </a:p>
          <a:p>
            <a:pPr marL="63500" indent="0">
              <a:spcBef>
                <a:spcPts val="0"/>
              </a:spcBef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60A38-67D5-2D9F-F62F-89DB7E7A6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2D4B2A-80D6-A187-C740-1DEB39B5D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4" y="4649506"/>
            <a:ext cx="3877216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18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7AA3A-EC8F-8FEA-D6CD-90D9A671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1246-7846-F42E-1C4C-EDE4029D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Create a Swing with a frame</a:t>
            </a:r>
            <a:br>
              <a:rPr lang="en-IN" sz="2800" dirty="0"/>
            </a:br>
            <a:r>
              <a:rPr lang="en-IN" sz="2800" dirty="0"/>
              <a:t>titled “A Simple Swing”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B3DEE-5203-AD95-691F-63826008C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33" y="459658"/>
            <a:ext cx="8229600" cy="5334000"/>
          </a:xfrm>
        </p:spPr>
        <p:txBody>
          <a:bodyPr/>
          <a:lstStyle/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import </a:t>
            </a:r>
            <a:r>
              <a:rPr lang="en-IN" sz="1800" dirty="0" err="1"/>
              <a:t>javax.swing</a:t>
            </a:r>
            <a:r>
              <a:rPr lang="en-IN" sz="1800" dirty="0"/>
              <a:t>.*;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class </a:t>
            </a:r>
            <a:r>
              <a:rPr lang="en-IN" sz="1800" dirty="0" err="1"/>
              <a:t>SimpleSwing</a:t>
            </a:r>
            <a:r>
              <a:rPr lang="en-IN" sz="1800" dirty="0"/>
              <a:t> 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{	</a:t>
            </a:r>
            <a:r>
              <a:rPr lang="en-US" sz="1800" b="1" dirty="0">
                <a:solidFill>
                  <a:srgbClr val="0000CC"/>
                </a:solidFill>
              </a:rPr>
              <a:t> </a:t>
            </a:r>
            <a:r>
              <a:rPr lang="en-US" sz="1800" b="1" dirty="0" err="1">
                <a:solidFill>
                  <a:srgbClr val="0000CC"/>
                </a:solidFill>
              </a:rPr>
              <a:t>JFrame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00CC"/>
                </a:solidFill>
              </a:rPr>
              <a:t>f</a:t>
            </a:r>
            <a:r>
              <a:rPr lang="en-US" sz="1800" b="1" dirty="0"/>
              <a:t> ;</a:t>
            </a:r>
            <a:endParaRPr lang="en-IN" sz="1800" dirty="0"/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	</a:t>
            </a:r>
            <a:r>
              <a:rPr lang="en-IN" sz="1800" dirty="0" err="1"/>
              <a:t>SimpleSwing</a:t>
            </a:r>
            <a:r>
              <a:rPr lang="en-IN" sz="1800" dirty="0"/>
              <a:t>() 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	{</a:t>
            </a:r>
          </a:p>
          <a:p>
            <a:pPr marL="1143000" lvl="2" indent="-228600">
              <a:spcBef>
                <a:spcPts val="360"/>
              </a:spcBef>
              <a:buClr>
                <a:srgbClr val="4F6128"/>
              </a:buClr>
              <a:buSzPts val="1800"/>
              <a:buNone/>
            </a:pPr>
            <a:r>
              <a:rPr lang="en-IN" sz="1800" dirty="0"/>
              <a:t>	</a:t>
            </a:r>
            <a:r>
              <a:rPr lang="en-US" sz="1800" i="1" dirty="0">
                <a:solidFill>
                  <a:srgbClr val="4F6128"/>
                </a:solidFill>
              </a:rPr>
              <a:t> </a:t>
            </a:r>
            <a:r>
              <a:rPr lang="en-US" sz="1800" i="1" dirty="0">
                <a:solidFill>
                  <a:srgbClr val="7030A0"/>
                </a:solidFill>
              </a:rPr>
              <a:t>// Create a new </a:t>
            </a:r>
            <a:r>
              <a:rPr lang="en-US" sz="1800" i="1" dirty="0" err="1">
                <a:solidFill>
                  <a:srgbClr val="7030A0"/>
                </a:solidFill>
              </a:rPr>
              <a:t>JFrame</a:t>
            </a:r>
            <a:r>
              <a:rPr lang="en-US" sz="1800" i="1" dirty="0">
                <a:solidFill>
                  <a:srgbClr val="7030A0"/>
                </a:solidFill>
              </a:rPr>
              <a:t> container. With title- A Simple Swing</a:t>
            </a:r>
            <a:endParaRPr lang="en-US" sz="1800" dirty="0">
              <a:solidFill>
                <a:srgbClr val="7030A0"/>
              </a:solidFill>
            </a:endParaRPr>
          </a:p>
          <a:p>
            <a:pPr marL="1143000" lvl="2" indent="-228600">
              <a:spcBef>
                <a:spcPts val="400"/>
              </a:spcBef>
              <a:buClr>
                <a:srgbClr val="0000CC"/>
              </a:buClr>
              <a:buSzPts val="2000"/>
              <a:buNone/>
            </a:pPr>
            <a:r>
              <a:rPr lang="en-US" sz="1800" b="1" dirty="0">
                <a:solidFill>
                  <a:srgbClr val="0000CC"/>
                </a:solidFill>
              </a:rPr>
              <a:t>	f</a:t>
            </a:r>
            <a:r>
              <a:rPr lang="en-US" sz="1800" dirty="0"/>
              <a:t>= new </a:t>
            </a:r>
            <a:r>
              <a:rPr lang="en-US" sz="1800" b="1" dirty="0" err="1">
                <a:solidFill>
                  <a:srgbClr val="0000CC"/>
                </a:solidFill>
              </a:rPr>
              <a:t>JFrame</a:t>
            </a:r>
            <a:r>
              <a:rPr lang="en-US" sz="1800" dirty="0"/>
              <a:t>("A Simple Swing ");</a:t>
            </a:r>
          </a:p>
          <a:p>
            <a:pPr marL="1143000" lvl="2" indent="-228600">
              <a:spcBef>
                <a:spcPts val="400"/>
              </a:spcBef>
              <a:buSzPts val="2000"/>
              <a:buNone/>
            </a:pPr>
            <a:endParaRPr lang="en-US" sz="1800" dirty="0"/>
          </a:p>
          <a:p>
            <a:pPr marL="1143000" lvl="2" indent="-228600">
              <a:spcBef>
                <a:spcPts val="360"/>
              </a:spcBef>
              <a:buClr>
                <a:srgbClr val="4F6128"/>
              </a:buClr>
              <a:buSzPts val="1800"/>
              <a:buNone/>
            </a:pPr>
            <a:r>
              <a:rPr lang="en-US" sz="1800" dirty="0">
                <a:solidFill>
                  <a:srgbClr val="4F6128"/>
                </a:solidFill>
              </a:rPr>
              <a:t>// Give the frame an initial size. Width=400 height =200</a:t>
            </a:r>
            <a:endParaRPr lang="en-US" sz="1800" dirty="0"/>
          </a:p>
          <a:p>
            <a:pPr marL="1143000" lvl="2" indent="-228600">
              <a:spcBef>
                <a:spcPts val="400"/>
              </a:spcBef>
              <a:buClr>
                <a:srgbClr val="0000CC"/>
              </a:buClr>
              <a:buSzPts val="2000"/>
              <a:buNone/>
            </a:pPr>
            <a:r>
              <a:rPr lang="en-US" sz="1800" dirty="0">
                <a:solidFill>
                  <a:srgbClr val="0000CC"/>
                </a:solidFill>
              </a:rPr>
              <a:t>	</a:t>
            </a:r>
            <a:r>
              <a:rPr lang="en-US" sz="1800" dirty="0" err="1">
                <a:solidFill>
                  <a:srgbClr val="0000CC"/>
                </a:solidFill>
              </a:rPr>
              <a:t>f</a:t>
            </a:r>
            <a:r>
              <a:rPr lang="en-US" sz="1800" dirty="0" err="1"/>
              <a:t>.</a:t>
            </a:r>
            <a:r>
              <a:rPr lang="en-US" sz="1800" b="1" dirty="0" err="1">
                <a:solidFill>
                  <a:srgbClr val="C00000"/>
                </a:solidFill>
              </a:rPr>
              <a:t>setSize</a:t>
            </a:r>
            <a:r>
              <a:rPr lang="en-US" sz="1800" dirty="0"/>
              <a:t>(400, 200);</a:t>
            </a:r>
          </a:p>
          <a:p>
            <a:pPr marL="1143000" lvl="2" indent="-228600">
              <a:spcBef>
                <a:spcPts val="400"/>
              </a:spcBef>
              <a:buSzPts val="2000"/>
              <a:buNone/>
            </a:pPr>
            <a:endParaRPr lang="en-US" sz="1800" dirty="0"/>
          </a:p>
          <a:p>
            <a:pPr marL="1143000" lvl="2" indent="-228600">
              <a:spcBef>
                <a:spcPts val="360"/>
              </a:spcBef>
              <a:buClr>
                <a:srgbClr val="4F6128"/>
              </a:buClr>
              <a:buSzPts val="1800"/>
              <a:buNone/>
            </a:pPr>
            <a:r>
              <a:rPr lang="en-US" sz="1800" dirty="0">
                <a:solidFill>
                  <a:srgbClr val="4F6128"/>
                </a:solidFill>
              </a:rPr>
              <a:t>// Terminate the program when the user closes the application.</a:t>
            </a:r>
            <a:endParaRPr lang="en-US" sz="1800" dirty="0"/>
          </a:p>
          <a:p>
            <a:pPr marL="1143000" lvl="2" indent="-228600">
              <a:spcBef>
                <a:spcPts val="400"/>
              </a:spcBef>
              <a:buClr>
                <a:srgbClr val="0000CC"/>
              </a:buClr>
              <a:buSzPts val="2000"/>
              <a:buNone/>
            </a:pPr>
            <a:r>
              <a:rPr lang="en-US" sz="1800" dirty="0">
                <a:solidFill>
                  <a:srgbClr val="0000CC"/>
                </a:solidFill>
              </a:rPr>
              <a:t>	</a:t>
            </a:r>
            <a:r>
              <a:rPr lang="en-US" sz="1800" dirty="0" err="1">
                <a:solidFill>
                  <a:srgbClr val="0000CC"/>
                </a:solidFill>
              </a:rPr>
              <a:t>f</a:t>
            </a:r>
            <a:r>
              <a:rPr lang="en-US" sz="1800" dirty="0" err="1"/>
              <a:t>.</a:t>
            </a:r>
            <a:r>
              <a:rPr lang="en-US" sz="1800" b="1" dirty="0" err="1">
                <a:solidFill>
                  <a:srgbClr val="C00000"/>
                </a:solidFill>
              </a:rPr>
              <a:t>setDefaultCloseOperation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00CC"/>
                </a:solidFill>
              </a:rPr>
              <a:t>JFrame</a:t>
            </a:r>
            <a:r>
              <a:rPr lang="en-US" sz="1800" b="1" dirty="0" err="1">
                <a:solidFill>
                  <a:srgbClr val="C00000"/>
                </a:solidFill>
              </a:rPr>
              <a:t>.EXIT_ON_CLOSE</a:t>
            </a:r>
            <a:r>
              <a:rPr lang="en-US" sz="1800" dirty="0">
                <a:solidFill>
                  <a:srgbClr val="C00000"/>
                </a:solidFill>
              </a:rPr>
              <a:t>)</a:t>
            </a:r>
            <a:r>
              <a:rPr lang="en-US" sz="1800" dirty="0"/>
              <a:t>; </a:t>
            </a:r>
          </a:p>
          <a:p>
            <a:pPr marL="742950" lvl="1" indent="-285750">
              <a:spcBef>
                <a:spcPts val="0"/>
              </a:spcBef>
              <a:buClr>
                <a:srgbClr val="4F6128"/>
              </a:buClr>
              <a:buSzPts val="2000"/>
              <a:buNone/>
            </a:pPr>
            <a:r>
              <a:rPr lang="en-US" sz="1800" i="1" dirty="0">
                <a:solidFill>
                  <a:srgbClr val="4F6128"/>
                </a:solidFill>
              </a:rPr>
              <a:t>	// Display the frame.</a:t>
            </a:r>
            <a:endParaRPr lang="en-US" sz="1800" dirty="0"/>
          </a:p>
          <a:p>
            <a:pPr marL="742950" lvl="1" indent="-285750">
              <a:spcBef>
                <a:spcPts val="0"/>
              </a:spcBef>
              <a:buClr>
                <a:srgbClr val="0000CC"/>
              </a:buClr>
              <a:buNone/>
            </a:pPr>
            <a:r>
              <a:rPr lang="en-US" sz="1800" dirty="0"/>
              <a:t>	        </a:t>
            </a:r>
            <a:r>
              <a:rPr lang="en-US" sz="1800" dirty="0" err="1"/>
              <a:t>f.</a:t>
            </a:r>
            <a:r>
              <a:rPr lang="en-US" sz="1800" b="1" dirty="0" err="1">
                <a:solidFill>
                  <a:srgbClr val="C00000"/>
                </a:solidFill>
              </a:rPr>
              <a:t>setVisible</a:t>
            </a:r>
            <a:r>
              <a:rPr lang="en-US" sz="1800" dirty="0"/>
              <a:t>(true);</a:t>
            </a:r>
          </a:p>
          <a:p>
            <a:pPr marL="1143000" lvl="2" indent="-228600">
              <a:spcBef>
                <a:spcPts val="400"/>
              </a:spcBef>
              <a:buClr>
                <a:srgbClr val="0000CC"/>
              </a:buClr>
              <a:buSzPts val="2000"/>
              <a:buNone/>
            </a:pPr>
            <a:r>
              <a:rPr lang="en-IN" sz="1800" dirty="0"/>
              <a:t>}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	public static void main(String </a:t>
            </a:r>
            <a:r>
              <a:rPr lang="en-IN" sz="1800" dirty="0" err="1"/>
              <a:t>args</a:t>
            </a:r>
            <a:r>
              <a:rPr lang="en-IN" sz="1800" dirty="0"/>
              <a:t>[]) 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	{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		new </a:t>
            </a:r>
            <a:r>
              <a:rPr lang="en-IN" sz="1800" dirty="0" err="1"/>
              <a:t>SimpleSwing</a:t>
            </a:r>
            <a:r>
              <a:rPr lang="en-IN" sz="1800" dirty="0"/>
              <a:t>();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	}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}</a:t>
            </a:r>
          </a:p>
          <a:p>
            <a:pPr marL="63500" indent="0">
              <a:spcBef>
                <a:spcPts val="0"/>
              </a:spcBef>
              <a:buNone/>
            </a:pPr>
            <a:r>
              <a:rPr lang="en-IN" sz="1800" dirty="0"/>
              <a:t>						</a:t>
            </a:r>
          </a:p>
          <a:p>
            <a:pPr marL="63500" indent="0">
              <a:spcBef>
                <a:spcPts val="0"/>
              </a:spcBef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40EC3-2EB6-A954-E575-3D1112E02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35ACE-CABF-22EF-FC93-E9E0E3F3C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84" y="4788630"/>
            <a:ext cx="3877216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08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JLabel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/>
              <a:t>JLabel</a:t>
            </a:r>
            <a:r>
              <a:rPr lang="en-US" sz="2200" dirty="0"/>
              <a:t> is Swing’s easiest-to-use component. </a:t>
            </a:r>
          </a:p>
          <a:p>
            <a:r>
              <a:rPr lang="en-US" sz="2200" dirty="0"/>
              <a:t>It creates a label.</a:t>
            </a:r>
          </a:p>
          <a:p>
            <a:r>
              <a:rPr lang="en-US" sz="2200" b="1" dirty="0" err="1"/>
              <a:t>JLabel</a:t>
            </a:r>
            <a:r>
              <a:rPr lang="en-US" sz="2200" b="1" dirty="0"/>
              <a:t> </a:t>
            </a:r>
            <a:r>
              <a:rPr lang="en-US" sz="2200" dirty="0"/>
              <a:t>can be used </a:t>
            </a:r>
            <a:r>
              <a:rPr lang="en-US" sz="2200" b="1" dirty="0"/>
              <a:t>to display text and/or an </a:t>
            </a:r>
            <a:r>
              <a:rPr lang="en-US" sz="2200" b="1" dirty="0">
                <a:solidFill>
                  <a:srgbClr val="C00000"/>
                </a:solidFill>
              </a:rPr>
              <a:t>icon</a:t>
            </a:r>
            <a:r>
              <a:rPr lang="en-US" sz="2200" dirty="0"/>
              <a:t>.</a:t>
            </a:r>
          </a:p>
          <a:p>
            <a:r>
              <a:rPr lang="en-US" sz="2200" dirty="0"/>
              <a:t>It is a </a:t>
            </a:r>
            <a:r>
              <a:rPr lang="en-US" sz="2200" b="1" dirty="0">
                <a:solidFill>
                  <a:srgbClr val="C00000"/>
                </a:solidFill>
              </a:rPr>
              <a:t>passive component </a:t>
            </a:r>
            <a:r>
              <a:rPr lang="en-US" sz="2200" dirty="0"/>
              <a:t>because it </a:t>
            </a:r>
            <a:r>
              <a:rPr lang="en-US" sz="2200" u="sng" dirty="0"/>
              <a:t>does not respond to user input</a:t>
            </a:r>
            <a:r>
              <a:rPr lang="en-US" sz="2200" dirty="0"/>
              <a:t>. </a:t>
            </a:r>
          </a:p>
          <a:p>
            <a:pPr lvl="1"/>
            <a:r>
              <a:rPr lang="en-US" sz="2000" dirty="0"/>
              <a:t>We cannot edit or type label content when we execute the application.</a:t>
            </a:r>
          </a:p>
          <a:p>
            <a:r>
              <a:rPr lang="en-US" sz="2200" dirty="0" err="1"/>
              <a:t>JLabel</a:t>
            </a:r>
            <a:r>
              <a:rPr lang="en-US" sz="2200" dirty="0"/>
              <a:t> defines several constructors: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200" dirty="0" err="1"/>
              <a:t>JLabel</a:t>
            </a:r>
            <a:r>
              <a:rPr lang="en-US" sz="2200" dirty="0"/>
              <a:t>(Icon </a:t>
            </a:r>
            <a:r>
              <a:rPr lang="en-US" sz="2200" i="1" dirty="0" err="1"/>
              <a:t>icon</a:t>
            </a:r>
            <a:r>
              <a:rPr lang="en-US" sz="2200" i="1" dirty="0"/>
              <a:t>)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200" dirty="0" err="1"/>
              <a:t>JLabel</a:t>
            </a:r>
            <a:r>
              <a:rPr lang="en-US" sz="2200" dirty="0"/>
              <a:t>(String </a:t>
            </a:r>
            <a:r>
              <a:rPr lang="en-US" sz="2200" i="1" dirty="0" err="1"/>
              <a:t>str</a:t>
            </a:r>
            <a:r>
              <a:rPr lang="en-US" sz="2200" i="1" dirty="0"/>
              <a:t>)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200" dirty="0" err="1"/>
              <a:t>JLabel</a:t>
            </a:r>
            <a:r>
              <a:rPr lang="en-US" sz="2200" dirty="0"/>
              <a:t>(String </a:t>
            </a:r>
            <a:r>
              <a:rPr lang="en-US" sz="2200" i="1" dirty="0" err="1"/>
              <a:t>str</a:t>
            </a:r>
            <a:r>
              <a:rPr lang="en-US" sz="2200" i="1" dirty="0"/>
              <a:t>, Icon </a:t>
            </a:r>
            <a:r>
              <a:rPr lang="en-US" sz="2200" i="1" dirty="0" err="1"/>
              <a:t>icon</a:t>
            </a:r>
            <a:r>
              <a:rPr lang="en-US" sz="2200" i="1" dirty="0"/>
              <a:t>, </a:t>
            </a:r>
            <a:r>
              <a:rPr lang="en-US" sz="2200" i="1" dirty="0" err="1"/>
              <a:t>int</a:t>
            </a:r>
            <a:r>
              <a:rPr lang="en-US" sz="2200" i="1" dirty="0"/>
              <a:t> align)</a:t>
            </a:r>
          </a:p>
          <a:p>
            <a:pPr lvl="1"/>
            <a:r>
              <a:rPr lang="en-US" sz="2200" dirty="0"/>
              <a:t>The </a:t>
            </a:r>
            <a:r>
              <a:rPr lang="en-US" sz="2200" i="1" dirty="0"/>
              <a:t>align argument specifies the </a:t>
            </a:r>
            <a:r>
              <a:rPr lang="en-US" sz="2200" dirty="0"/>
              <a:t>horizontal alignment of the text and/or icon within the dimensions of the label.</a:t>
            </a:r>
          </a:p>
          <a:p>
            <a:pPr lvl="2"/>
            <a:r>
              <a:rPr lang="en-US" sz="2200" dirty="0"/>
              <a:t> It must be one of the following values: </a:t>
            </a:r>
            <a:r>
              <a:rPr lang="en-US" sz="2200" b="1" dirty="0"/>
              <a:t>LEFT, RIGHT, CENTER, LEADING, or TRAILING</a:t>
            </a:r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/>
          <a:lstStyle/>
          <a:p>
            <a:r>
              <a:rPr lang="en-US" dirty="0" err="1"/>
              <a:t>JLabel</a:t>
            </a:r>
            <a:r>
              <a:rPr lang="en-US" sz="3200" b="0" dirty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The easiest way to obtain an icon is to use the </a:t>
            </a:r>
            <a:r>
              <a:rPr lang="en-US" sz="2400" dirty="0" err="1">
                <a:solidFill>
                  <a:srgbClr val="0000CC"/>
                </a:solidFill>
              </a:rPr>
              <a:t>ImageIcon</a:t>
            </a:r>
            <a:r>
              <a:rPr lang="en-US" sz="2400" dirty="0"/>
              <a:t> class. </a:t>
            </a:r>
          </a:p>
          <a:p>
            <a:r>
              <a:rPr lang="en-US" sz="2400" dirty="0" err="1">
                <a:solidFill>
                  <a:srgbClr val="0000CC"/>
                </a:solidFill>
              </a:rPr>
              <a:t>ImageIcon</a:t>
            </a:r>
            <a:r>
              <a:rPr lang="en-US" sz="2400" dirty="0"/>
              <a:t> implements </a:t>
            </a:r>
            <a:r>
              <a:rPr lang="en-US" sz="2400" dirty="0">
                <a:solidFill>
                  <a:srgbClr val="0000CC"/>
                </a:solidFill>
              </a:rPr>
              <a:t>Icon</a:t>
            </a:r>
            <a:r>
              <a:rPr lang="en-US" sz="2400" dirty="0"/>
              <a:t> and encapsulates an image. </a:t>
            </a:r>
          </a:p>
          <a:p>
            <a:r>
              <a:rPr lang="en-US" sz="2400" dirty="0"/>
              <a:t>The following </a:t>
            </a:r>
            <a:r>
              <a:rPr lang="en-US" sz="2400" b="1" dirty="0" err="1"/>
              <a:t>ImageIcon</a:t>
            </a:r>
            <a:r>
              <a:rPr lang="en-US" sz="2400" b="1" dirty="0"/>
              <a:t> </a:t>
            </a:r>
            <a:r>
              <a:rPr lang="en-US" sz="2400" dirty="0"/>
              <a:t>constructor obtains the image in the file named </a:t>
            </a:r>
            <a:r>
              <a:rPr lang="en-US" sz="2400" i="1" dirty="0"/>
              <a:t>filename.</a:t>
            </a:r>
            <a:r>
              <a:rPr lang="en-US" sz="2400" dirty="0"/>
              <a:t> the Icon parameter of </a:t>
            </a:r>
            <a:r>
              <a:rPr lang="en-US" sz="2400" dirty="0" err="1"/>
              <a:t>JLabel’s</a:t>
            </a:r>
            <a:r>
              <a:rPr lang="en-US" sz="2400" dirty="0"/>
              <a:t> constructor</a:t>
            </a:r>
            <a:endParaRPr lang="en-US" sz="2400" b="1" dirty="0"/>
          </a:p>
          <a:p>
            <a:pPr lvl="1">
              <a:buNone/>
            </a:pPr>
            <a:r>
              <a:rPr lang="en-US" b="1" dirty="0" err="1">
                <a:solidFill>
                  <a:srgbClr val="0000CC"/>
                </a:solidFill>
              </a:rPr>
              <a:t>ImageIcon</a:t>
            </a:r>
            <a:r>
              <a:rPr lang="en-US" dirty="0"/>
              <a:t>(String </a:t>
            </a:r>
            <a:r>
              <a:rPr lang="en-US" i="1" dirty="0"/>
              <a:t>filename)</a:t>
            </a:r>
          </a:p>
          <a:p>
            <a:r>
              <a:rPr lang="en-US" sz="2400" dirty="0"/>
              <a:t>The icon and text associated with the label can be obtained by the following methods:</a:t>
            </a:r>
          </a:p>
          <a:p>
            <a:pPr lvl="1">
              <a:buNone/>
            </a:pPr>
            <a:r>
              <a:rPr lang="en-US" b="1" dirty="0">
                <a:solidFill>
                  <a:srgbClr val="0000CC"/>
                </a:solidFill>
              </a:rPr>
              <a:t>Icon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getIcon</a:t>
            </a:r>
            <a:r>
              <a:rPr lang="en-US" dirty="0"/>
              <a:t>( )   helps to retrieve icon in  label</a:t>
            </a:r>
          </a:p>
          <a:p>
            <a:pPr lvl="1">
              <a:buNone/>
            </a:pPr>
            <a:r>
              <a:rPr lang="en-US" dirty="0"/>
              <a:t>String </a:t>
            </a:r>
            <a:r>
              <a:rPr lang="en-US" dirty="0" err="1">
                <a:solidFill>
                  <a:srgbClr val="C00000"/>
                </a:solidFill>
              </a:rPr>
              <a:t>getText</a:t>
            </a:r>
            <a:r>
              <a:rPr lang="en-US" dirty="0"/>
              <a:t>( ) helps to retrieve text written in  label</a:t>
            </a:r>
          </a:p>
          <a:p>
            <a:r>
              <a:rPr lang="en-US" sz="2400" dirty="0"/>
              <a:t>The icon and text associated with a label can be set by these methods:</a:t>
            </a:r>
          </a:p>
          <a:p>
            <a:pPr lvl="1">
              <a:buNone/>
            </a:pPr>
            <a:r>
              <a:rPr lang="en-US" dirty="0"/>
              <a:t>void </a:t>
            </a:r>
            <a:r>
              <a:rPr lang="en-US" dirty="0" err="1">
                <a:solidFill>
                  <a:srgbClr val="C00000"/>
                </a:solidFill>
              </a:rPr>
              <a:t>setIcon</a:t>
            </a:r>
            <a:r>
              <a:rPr lang="en-US" dirty="0"/>
              <a:t>(Icon </a:t>
            </a:r>
            <a:r>
              <a:rPr lang="en-US" i="1" dirty="0" err="1"/>
              <a:t>icon</a:t>
            </a:r>
            <a:r>
              <a:rPr lang="en-US" i="1" dirty="0"/>
              <a:t>)</a:t>
            </a:r>
          </a:p>
          <a:p>
            <a:pPr lvl="1">
              <a:buNone/>
            </a:pPr>
            <a:r>
              <a:rPr lang="en-US" dirty="0"/>
              <a:t>void </a:t>
            </a:r>
            <a:r>
              <a:rPr lang="en-US" dirty="0" err="1">
                <a:solidFill>
                  <a:srgbClr val="C00000"/>
                </a:solidFill>
              </a:rPr>
              <a:t>setText</a:t>
            </a:r>
            <a:r>
              <a:rPr lang="en-US" dirty="0"/>
              <a:t>(String </a:t>
            </a:r>
            <a:r>
              <a:rPr lang="en-US" i="1" dirty="0" err="1"/>
              <a:t>str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Simple Swing Application</a:t>
            </a:r>
            <a:endParaRPr/>
          </a:p>
        </p:txBody>
      </p:sp>
      <p:sp>
        <p:nvSpPr>
          <p:cNvPr id="133" name="Google Shape;133;p6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Clr>
                <a:srgbClr val="FF0000"/>
              </a:buClr>
              <a:buSzPts val="2400"/>
            </a:pPr>
            <a:r>
              <a:rPr lang="en-US" sz="2400" b="1" dirty="0">
                <a:solidFill>
                  <a:srgbClr val="FF0000"/>
                </a:solidFill>
              </a:rPr>
              <a:t>Q. </a:t>
            </a:r>
            <a:r>
              <a:rPr lang="en-US" sz="2400" u="sng" dirty="0"/>
              <a:t>Write a swing program that uses two Swing components: </a:t>
            </a:r>
            <a:r>
              <a:rPr lang="en-US" sz="2400" b="1" u="sng" dirty="0" err="1"/>
              <a:t>JFrame</a:t>
            </a:r>
            <a:r>
              <a:rPr lang="en-US" sz="2400" b="1" u="sng" dirty="0"/>
              <a:t>  </a:t>
            </a:r>
            <a:r>
              <a:rPr lang="en-US" sz="2400" u="sng" dirty="0"/>
              <a:t>and </a:t>
            </a:r>
            <a:r>
              <a:rPr lang="en-US" sz="2400" b="1" u="sng" dirty="0" err="1"/>
              <a:t>JLabel</a:t>
            </a:r>
            <a:r>
              <a:rPr lang="en-US" sz="2400" b="1" u="sng" dirty="0"/>
              <a:t>.  </a:t>
            </a:r>
            <a:r>
              <a:rPr lang="en-US" dirty="0"/>
              <a:t>The program uses a </a:t>
            </a:r>
            <a:r>
              <a:rPr lang="en-US" dirty="0" err="1"/>
              <a:t>JFrame</a:t>
            </a:r>
            <a:r>
              <a:rPr lang="en-US" dirty="0"/>
              <a:t> </a:t>
            </a:r>
            <a:r>
              <a:rPr lang="en-US" sz="2400" dirty="0"/>
              <a:t>container to hold an instance of a </a:t>
            </a:r>
            <a:r>
              <a:rPr lang="en-US" sz="2400" dirty="0" err="1"/>
              <a:t>JLabel</a:t>
            </a:r>
            <a:r>
              <a:rPr lang="en-US" sz="2400" dirty="0"/>
              <a:t>. The label displays a short text message “Swing is powerful GUI”</a:t>
            </a:r>
            <a:endParaRPr sz="2400" b="1" u="sng" dirty="0"/>
          </a:p>
          <a:p>
            <a:pPr marL="342900" lvl="0" indent="-342900" algn="just" rtl="0"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0288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305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import </a:t>
            </a:r>
            <a:r>
              <a:rPr lang="en-US" sz="2200" b="1" dirty="0" err="1">
                <a:solidFill>
                  <a:srgbClr val="C00000"/>
                </a:solidFill>
              </a:rPr>
              <a:t>javax.swing</a:t>
            </a:r>
            <a:r>
              <a:rPr lang="en-US" sz="2200" b="1" dirty="0">
                <a:solidFill>
                  <a:srgbClr val="C00000"/>
                </a:solidFill>
              </a:rPr>
              <a:t>.*;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class </a:t>
            </a:r>
            <a:r>
              <a:rPr lang="en-US" sz="2200" b="1" dirty="0" err="1">
                <a:solidFill>
                  <a:srgbClr val="7030A0"/>
                </a:solidFill>
              </a:rPr>
              <a:t>SwingDemo</a:t>
            </a:r>
            <a:r>
              <a:rPr lang="en-US" sz="2200" b="1" dirty="0">
                <a:solidFill>
                  <a:srgbClr val="7030A0"/>
                </a:solidFill>
              </a:rPr>
              <a:t> 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{</a:t>
            </a:r>
          </a:p>
          <a:p>
            <a:pPr lv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	</a:t>
            </a:r>
            <a:r>
              <a:rPr lang="en-US" sz="2800" b="1" dirty="0">
                <a:solidFill>
                  <a:srgbClr val="0000CC"/>
                </a:solidFill>
              </a:rPr>
              <a:t> </a:t>
            </a:r>
            <a:r>
              <a:rPr lang="en-US" sz="2800" b="1" dirty="0" err="1">
                <a:solidFill>
                  <a:srgbClr val="0000CC"/>
                </a:solidFill>
              </a:rPr>
              <a:t>JFrame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CC"/>
                </a:solidFill>
              </a:rPr>
              <a:t>f;</a:t>
            </a:r>
          </a:p>
          <a:p>
            <a:pPr lv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b="1" dirty="0">
                <a:solidFill>
                  <a:srgbClr val="0000CC"/>
                </a:solidFill>
              </a:rPr>
              <a:t>	</a:t>
            </a:r>
            <a:r>
              <a:rPr lang="en-US" b="1" dirty="0" err="1">
                <a:solidFill>
                  <a:srgbClr val="0000CC"/>
                </a:solidFill>
              </a:rPr>
              <a:t>JLabel</a:t>
            </a:r>
            <a:r>
              <a:rPr lang="en-US" dirty="0">
                <a:solidFill>
                  <a:srgbClr val="0000CC"/>
                </a:solidFill>
              </a:rPr>
              <a:t> lab1;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 err="1"/>
              <a:t>SwingDemo</a:t>
            </a:r>
            <a:r>
              <a:rPr lang="en-US" sz="2000" b="1" dirty="0"/>
              <a:t>() 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{</a:t>
            </a:r>
            <a:endParaRPr dirty="0"/>
          </a:p>
          <a:p>
            <a:pPr marL="1143000" lvl="2" indent="-228600" algn="just" rtl="0">
              <a:spcBef>
                <a:spcPts val="360"/>
              </a:spcBef>
              <a:spcAft>
                <a:spcPts val="0"/>
              </a:spcAft>
              <a:buClr>
                <a:srgbClr val="4F6128"/>
              </a:buClr>
              <a:buSzPts val="1800"/>
              <a:buNone/>
            </a:pPr>
            <a:r>
              <a:rPr lang="en-US" sz="1800" i="1" dirty="0">
                <a:solidFill>
                  <a:srgbClr val="4F6128"/>
                </a:solidFill>
              </a:rPr>
              <a:t>// Create a new </a:t>
            </a:r>
            <a:r>
              <a:rPr lang="en-US" sz="1800" i="1" dirty="0" err="1">
                <a:solidFill>
                  <a:srgbClr val="4F6128"/>
                </a:solidFill>
              </a:rPr>
              <a:t>JFrame</a:t>
            </a:r>
            <a:r>
              <a:rPr lang="en-US" sz="1800" i="1" dirty="0">
                <a:solidFill>
                  <a:srgbClr val="4F6128"/>
                </a:solidFill>
              </a:rPr>
              <a:t> container. With title- A Simple Swing</a:t>
            </a:r>
            <a:endParaRPr dirty="0"/>
          </a:p>
          <a:p>
            <a:pPr marL="1143000" lvl="2" indent="-228600" algn="just" rtl="0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 dirty="0"/>
              <a:t>f= new </a:t>
            </a:r>
            <a:r>
              <a:rPr lang="en-US" sz="2000" b="1" dirty="0" err="1">
                <a:solidFill>
                  <a:srgbClr val="0000CC"/>
                </a:solidFill>
              </a:rPr>
              <a:t>JFrame</a:t>
            </a:r>
            <a:r>
              <a:rPr lang="en-US" sz="2000" dirty="0"/>
              <a:t>("A Simple Swing ");</a:t>
            </a:r>
            <a:endParaRPr dirty="0"/>
          </a:p>
          <a:p>
            <a:pPr marL="1143000" lvl="2" indent="-2286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1143000" lvl="2" indent="-228600" algn="just" rtl="0">
              <a:spcBef>
                <a:spcPts val="360"/>
              </a:spcBef>
              <a:spcAft>
                <a:spcPts val="0"/>
              </a:spcAft>
              <a:buClr>
                <a:srgbClr val="4F6128"/>
              </a:buClr>
              <a:buSzPts val="1800"/>
              <a:buNone/>
            </a:pPr>
            <a:r>
              <a:rPr lang="en-US" sz="1800" dirty="0">
                <a:solidFill>
                  <a:srgbClr val="4F6128"/>
                </a:solidFill>
              </a:rPr>
              <a:t>// Give the frame an initial size. Width=400 height =300</a:t>
            </a:r>
            <a:endParaRPr dirty="0"/>
          </a:p>
          <a:p>
            <a:pPr marL="1143000" lvl="2" indent="-228600" algn="just" rtl="0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 dirty="0" err="1">
                <a:solidFill>
                  <a:srgbClr val="0000CC"/>
                </a:solidFill>
              </a:rPr>
              <a:t>f</a:t>
            </a:r>
            <a:r>
              <a:rPr lang="en-US" sz="2000" dirty="0" err="1"/>
              <a:t>.</a:t>
            </a:r>
            <a:r>
              <a:rPr lang="en-US" sz="2000" b="1" dirty="0" err="1">
                <a:solidFill>
                  <a:srgbClr val="C00000"/>
                </a:solidFill>
              </a:rPr>
              <a:t>setSize</a:t>
            </a:r>
            <a:r>
              <a:rPr lang="en-US" sz="2000" dirty="0"/>
              <a:t>(400, 300);</a:t>
            </a:r>
            <a:endParaRPr dirty="0"/>
          </a:p>
          <a:p>
            <a:pPr marL="1143000" lvl="2" indent="-2286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1143000" lvl="2" indent="-228600" algn="just" rtl="0">
              <a:spcBef>
                <a:spcPts val="360"/>
              </a:spcBef>
              <a:spcAft>
                <a:spcPts val="0"/>
              </a:spcAft>
              <a:buClr>
                <a:srgbClr val="4F6128"/>
              </a:buClr>
              <a:buSzPts val="1800"/>
              <a:buNone/>
            </a:pPr>
            <a:r>
              <a:rPr lang="en-US" sz="1800" dirty="0">
                <a:solidFill>
                  <a:srgbClr val="4F6128"/>
                </a:solidFill>
              </a:rPr>
              <a:t>// Terminate the program when the user closes the application.</a:t>
            </a:r>
            <a:endParaRPr dirty="0"/>
          </a:p>
          <a:p>
            <a:pPr marL="1143000" lvl="2" indent="-228600" algn="just" rtl="0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 dirty="0">
                <a:solidFill>
                  <a:srgbClr val="0000CC"/>
                </a:solidFill>
              </a:rPr>
              <a:t>f</a:t>
            </a:r>
            <a:r>
              <a:rPr lang="en-US" sz="2000" dirty="0"/>
              <a:t>.</a:t>
            </a:r>
            <a:r>
              <a:rPr lang="en-US" sz="2000" b="1" dirty="0">
                <a:solidFill>
                  <a:srgbClr val="C00000"/>
                </a:solidFill>
              </a:rPr>
              <a:t>setDefaultCloseOperation</a:t>
            </a:r>
            <a:r>
              <a:rPr lang="en-US" sz="2000" dirty="0"/>
              <a:t>(</a:t>
            </a:r>
            <a:r>
              <a:rPr lang="en-US" sz="2000" b="1" dirty="0" err="1">
                <a:solidFill>
                  <a:srgbClr val="0000CC"/>
                </a:solidFill>
              </a:rPr>
              <a:t>JFrame</a:t>
            </a:r>
            <a:r>
              <a:rPr lang="en-US" sz="2000" b="1" dirty="0" err="1">
                <a:solidFill>
                  <a:srgbClr val="C00000"/>
                </a:solidFill>
              </a:rPr>
              <a:t>.EXIT_ON_CLOSE</a:t>
            </a:r>
            <a:r>
              <a:rPr lang="en-US" sz="2000" dirty="0">
                <a:solidFill>
                  <a:srgbClr val="C00000"/>
                </a:solidFill>
              </a:rPr>
              <a:t>)</a:t>
            </a:r>
            <a:r>
              <a:rPr lang="en-US" sz="2000" dirty="0"/>
              <a:t>;</a:t>
            </a:r>
            <a:endParaRPr dirty="0"/>
          </a:p>
        </p:txBody>
      </p:sp>
      <p:sp>
        <p:nvSpPr>
          <p:cNvPr id="142" name="Google Shape;142;p7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8851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body" idx="1"/>
          </p:nvPr>
        </p:nvSpPr>
        <p:spPr>
          <a:xfrm>
            <a:off x="457200" y="0"/>
            <a:ext cx="8229600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2000"/>
              <a:buNone/>
            </a:pPr>
            <a:r>
              <a:rPr lang="en-US" sz="2000" i="1" dirty="0">
                <a:solidFill>
                  <a:srgbClr val="4F6128"/>
                </a:solidFill>
              </a:rPr>
              <a:t>// Create a text-based label</a:t>
            </a:r>
            <a:endParaRPr dirty="0"/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lang="en-US" dirty="0">
                <a:solidFill>
                  <a:srgbClr val="0000CC"/>
                </a:solidFill>
              </a:rPr>
              <a:t>lab1</a:t>
            </a:r>
            <a:r>
              <a:rPr lang="en-US" dirty="0"/>
              <a:t> = new </a:t>
            </a:r>
            <a:r>
              <a:rPr lang="en-US" b="1" dirty="0" err="1">
                <a:solidFill>
                  <a:srgbClr val="0000CC"/>
                </a:solidFill>
              </a:rPr>
              <a:t>JLabe</a:t>
            </a:r>
            <a:r>
              <a:rPr lang="en-US" dirty="0" err="1">
                <a:solidFill>
                  <a:srgbClr val="0000CC"/>
                </a:solidFill>
              </a:rPr>
              <a:t>l</a:t>
            </a:r>
            <a:r>
              <a:rPr lang="en-US" dirty="0"/>
              <a:t>(" </a:t>
            </a:r>
            <a:r>
              <a:rPr lang="en-US" sz="2000" dirty="0"/>
              <a:t>Swing is powerful GUI</a:t>
            </a:r>
            <a:r>
              <a:rPr lang="en-US" dirty="0"/>
              <a:t>");</a:t>
            </a:r>
            <a:endParaRPr dirty="0"/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2000"/>
              <a:buNone/>
            </a:pPr>
            <a:r>
              <a:rPr lang="en-US" sz="2000" i="1" dirty="0">
                <a:solidFill>
                  <a:srgbClr val="4F6128"/>
                </a:solidFill>
              </a:rPr>
              <a:t>// Add the label to the content pane.</a:t>
            </a:r>
            <a:endParaRPr dirty="0"/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lang="en-US" dirty="0" err="1">
                <a:solidFill>
                  <a:srgbClr val="0000CC"/>
                </a:solidFill>
              </a:rPr>
              <a:t>f</a:t>
            </a:r>
            <a:r>
              <a:rPr lang="en-US" dirty="0" err="1"/>
              <a:t>.</a:t>
            </a:r>
            <a:r>
              <a:rPr lang="en-US" b="1" dirty="0" err="1">
                <a:solidFill>
                  <a:srgbClr val="C00000"/>
                </a:solidFill>
              </a:rPr>
              <a:t>add</a:t>
            </a:r>
            <a:r>
              <a:rPr lang="en-US" dirty="0"/>
              <a:t>(</a:t>
            </a:r>
            <a:r>
              <a:rPr lang="en-US" dirty="0">
                <a:solidFill>
                  <a:srgbClr val="0000CC"/>
                </a:solidFill>
              </a:rPr>
              <a:t>lab1</a:t>
            </a:r>
            <a:r>
              <a:rPr lang="en-US" dirty="0"/>
              <a:t>);</a:t>
            </a:r>
            <a:endParaRPr dirty="0"/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rgbClr val="4F6128"/>
              </a:buClr>
              <a:buSzPts val="2000"/>
              <a:buNone/>
            </a:pPr>
            <a:r>
              <a:rPr lang="en-US" sz="2000" i="1" dirty="0">
                <a:solidFill>
                  <a:srgbClr val="4F6128"/>
                </a:solidFill>
              </a:rPr>
              <a:t>// Display the frame</a:t>
            </a:r>
            <a:r>
              <a:rPr lang="en-US" i="1" dirty="0">
                <a:solidFill>
                  <a:srgbClr val="4F6128"/>
                </a:solidFill>
              </a:rPr>
              <a:t>.</a:t>
            </a:r>
            <a:endParaRPr dirty="0"/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lang="en-US" dirty="0" err="1">
                <a:solidFill>
                  <a:srgbClr val="0000CC"/>
                </a:solidFill>
              </a:rPr>
              <a:t>f</a:t>
            </a:r>
            <a:r>
              <a:rPr lang="en-US" dirty="0" err="1"/>
              <a:t>.</a:t>
            </a:r>
            <a:r>
              <a:rPr lang="en-US" b="1" dirty="0" err="1">
                <a:solidFill>
                  <a:srgbClr val="C00000"/>
                </a:solidFill>
              </a:rPr>
              <a:t>setVisible</a:t>
            </a:r>
            <a:r>
              <a:rPr lang="en-US" dirty="0"/>
              <a:t>(true);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}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public static void main(String </a:t>
            </a:r>
            <a:r>
              <a:rPr lang="en-US" sz="2400" dirty="0" err="1"/>
              <a:t>args</a:t>
            </a:r>
            <a:r>
              <a:rPr lang="en-US" sz="2400" dirty="0"/>
              <a:t>[]) 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{</a:t>
            </a:r>
            <a:endParaRPr dirty="0"/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new </a:t>
            </a:r>
            <a:r>
              <a:rPr lang="en-US" sz="2200" b="1" dirty="0" err="1">
                <a:solidFill>
                  <a:srgbClr val="7030A0"/>
                </a:solidFill>
              </a:rPr>
              <a:t>SwingDemo</a:t>
            </a:r>
            <a:r>
              <a:rPr lang="en-US" sz="2200" dirty="0"/>
              <a:t>();</a:t>
            </a:r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}</a:t>
            </a:r>
          </a:p>
          <a:p>
            <a:pPr marL="74295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 dirty="0"/>
              <a:t>}</a:t>
            </a:r>
            <a:endParaRPr dirty="0"/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					</a:t>
            </a:r>
            <a:endParaRPr dirty="0"/>
          </a:p>
        </p:txBody>
      </p:sp>
      <p:sp>
        <p:nvSpPr>
          <p:cNvPr id="149" name="Google Shape;149;p8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50" name="Google Shape;150;p8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257800" y="1524000"/>
            <a:ext cx="3886200" cy="120032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 compile this program,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javac SwingDemo.java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run the program,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SwingDemo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2CAA4-4341-2265-4389-555EAB50F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89" y="4265991"/>
            <a:ext cx="383911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92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body" idx="1"/>
          </p:nvPr>
        </p:nvSpPr>
        <p:spPr>
          <a:xfrm>
            <a:off x="727587" y="-152400"/>
            <a:ext cx="7688826" cy="536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 i="1" dirty="0">
                <a:solidFill>
                  <a:srgbClr val="0000CC"/>
                </a:solidFill>
              </a:rPr>
              <a:t>// A simple Swing application.</a:t>
            </a:r>
            <a:endParaRPr sz="2000" dirty="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/>
              <a:t>import </a:t>
            </a:r>
            <a:r>
              <a:rPr lang="en-US" sz="2000" b="1" dirty="0" err="1"/>
              <a:t>javax.swing</a:t>
            </a:r>
            <a:r>
              <a:rPr lang="en-US" sz="2000" b="1" dirty="0"/>
              <a:t>.*;</a:t>
            </a:r>
            <a:endParaRPr sz="2000" dirty="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/>
              <a:t>class </a:t>
            </a:r>
            <a:r>
              <a:rPr lang="en-US" sz="2000" dirty="0" err="1"/>
              <a:t>SwingDemo</a:t>
            </a:r>
            <a:r>
              <a:rPr lang="en-US" sz="2000" dirty="0"/>
              <a:t> </a:t>
            </a:r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/>
              <a:t>{</a:t>
            </a:r>
          </a:p>
          <a:p>
            <a:pPr lv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/>
              <a:t>	 </a:t>
            </a:r>
            <a:r>
              <a:rPr lang="en-US" sz="2000" dirty="0" err="1"/>
              <a:t>JFrame</a:t>
            </a:r>
            <a:r>
              <a:rPr lang="en-US" sz="2000" dirty="0"/>
              <a:t> f ;</a:t>
            </a:r>
          </a:p>
          <a:p>
            <a:pPr lv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000" dirty="0"/>
              <a:t>	</a:t>
            </a:r>
            <a:r>
              <a:rPr lang="en-US" sz="2000" dirty="0"/>
              <a:t> </a:t>
            </a:r>
            <a:r>
              <a:rPr lang="en-US" sz="2000" dirty="0" err="1"/>
              <a:t>JLabel</a:t>
            </a:r>
            <a:r>
              <a:rPr lang="en-US" sz="2000" dirty="0"/>
              <a:t> lab1 ;</a:t>
            </a:r>
            <a:endParaRPr sz="2000" dirty="0"/>
          </a:p>
          <a:p>
            <a:pPr lvl="1" indent="-34290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 err="1"/>
              <a:t>SwingDemo</a:t>
            </a:r>
            <a:r>
              <a:rPr lang="en-US" sz="2000" dirty="0"/>
              <a:t>() </a:t>
            </a:r>
          </a:p>
          <a:p>
            <a:pPr lvl="1" indent="-34290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/>
              <a:t>{</a:t>
            </a:r>
            <a:endParaRPr sz="2000" dirty="0"/>
          </a:p>
          <a:p>
            <a:pPr lvl="2" indent="-342900"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None/>
            </a:pPr>
            <a:r>
              <a:rPr lang="en-US" sz="2000" dirty="0"/>
              <a:t>f = new </a:t>
            </a:r>
            <a:r>
              <a:rPr lang="en-US" sz="2000" dirty="0" err="1"/>
              <a:t>JFrame</a:t>
            </a:r>
            <a:r>
              <a:rPr lang="en-US" sz="2000" dirty="0"/>
              <a:t>("</a:t>
            </a:r>
            <a:r>
              <a:rPr lang="en-US" sz="2000" i="1" dirty="0"/>
              <a:t>A Simple Swing </a:t>
            </a:r>
            <a:r>
              <a:rPr lang="en-US" sz="2000" dirty="0"/>
              <a:t>");</a:t>
            </a:r>
            <a:endParaRPr sz="2000" dirty="0"/>
          </a:p>
          <a:p>
            <a:pPr lvl="2" indent="-34290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 err="1"/>
              <a:t>f.</a:t>
            </a:r>
            <a:r>
              <a:rPr lang="en-US" sz="2000" b="1" dirty="0" err="1"/>
              <a:t>setSize</a:t>
            </a:r>
            <a:r>
              <a:rPr lang="en-US" sz="2000" dirty="0"/>
              <a:t>(275, 100);</a:t>
            </a:r>
            <a:endParaRPr sz="2000" dirty="0"/>
          </a:p>
          <a:p>
            <a:pPr lvl="2" indent="-34290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000" dirty="0" err="1"/>
              <a:t>f.</a:t>
            </a:r>
            <a:r>
              <a:rPr lang="en-US" sz="2000" b="1" dirty="0" err="1"/>
              <a:t>setDefaultCloseOperation</a:t>
            </a:r>
            <a:r>
              <a:rPr lang="en-US" sz="2000" dirty="0"/>
              <a:t>(</a:t>
            </a:r>
            <a:r>
              <a:rPr lang="en-US" sz="2000" dirty="0" err="1"/>
              <a:t>JFrame.EXIT_ON_CLOSE</a:t>
            </a:r>
            <a:r>
              <a:rPr lang="en-US" sz="2000" dirty="0"/>
              <a:t>);</a:t>
            </a:r>
            <a:endParaRPr sz="2000" dirty="0"/>
          </a:p>
          <a:p>
            <a:pPr lvl="2" indent="-342900">
              <a:spcBef>
                <a:spcPts val="400"/>
              </a:spcBef>
              <a:buClr>
                <a:srgbClr val="0000CC"/>
              </a:buClr>
              <a:buSzPts val="2000"/>
              <a:buNone/>
            </a:pPr>
            <a:r>
              <a:rPr lang="en-US" sz="2000" dirty="0"/>
              <a:t>lab1 = new </a:t>
            </a:r>
            <a:r>
              <a:rPr lang="en-US" sz="2000" dirty="0" err="1"/>
              <a:t>JLabel</a:t>
            </a:r>
            <a:r>
              <a:rPr lang="en-US" sz="2000" dirty="0"/>
              <a:t>(" </a:t>
            </a:r>
            <a:r>
              <a:rPr lang="en-US" sz="2000" i="1" dirty="0"/>
              <a:t>Swing is powerful GUI</a:t>
            </a:r>
            <a:r>
              <a:rPr lang="en-US" sz="2000" dirty="0"/>
              <a:t>");</a:t>
            </a:r>
          </a:p>
          <a:p>
            <a:pPr lvl="2" indent="-342900">
              <a:spcBef>
                <a:spcPts val="0"/>
              </a:spcBef>
              <a:buSzPts val="2000"/>
              <a:buNone/>
            </a:pPr>
            <a:r>
              <a:rPr lang="en-US" sz="2000" dirty="0" err="1"/>
              <a:t>f.</a:t>
            </a:r>
            <a:r>
              <a:rPr lang="en-US" sz="2000" b="1" dirty="0" err="1"/>
              <a:t>add</a:t>
            </a:r>
            <a:r>
              <a:rPr lang="en-US" sz="2000" dirty="0"/>
              <a:t>(lab1);</a:t>
            </a:r>
          </a:p>
          <a:p>
            <a:pPr lvl="2" indent="-342900">
              <a:spcBef>
                <a:spcPts val="0"/>
              </a:spcBef>
              <a:buSzPts val="2000"/>
              <a:buNone/>
            </a:pPr>
            <a:r>
              <a:rPr lang="en-US" sz="2000" dirty="0" err="1"/>
              <a:t>f.</a:t>
            </a:r>
            <a:r>
              <a:rPr lang="en-US" sz="2000" b="1" dirty="0" err="1"/>
              <a:t>setVisible</a:t>
            </a:r>
            <a:r>
              <a:rPr lang="en-US" sz="2000" dirty="0"/>
              <a:t>(true);</a:t>
            </a:r>
          </a:p>
          <a:p>
            <a:pPr lvl="1" indent="-342900">
              <a:spcBef>
                <a:spcPts val="0"/>
              </a:spcBef>
              <a:buSzPts val="2000"/>
              <a:buNone/>
            </a:pPr>
            <a:r>
              <a:rPr lang="en-US" sz="2000" dirty="0"/>
              <a:t>}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{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	new </a:t>
            </a:r>
            <a:r>
              <a:rPr lang="en-US" sz="2000" dirty="0" err="1"/>
              <a:t>SwingDemo</a:t>
            </a:r>
            <a:r>
              <a:rPr lang="en-US" sz="2000" dirty="0"/>
              <a:t>();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}</a:t>
            </a:r>
          </a:p>
          <a:p>
            <a:pPr marL="342900" lvl="0" indent="-342900">
              <a:spcBef>
                <a:spcPts val="400"/>
              </a:spcBef>
              <a:buClr>
                <a:srgbClr val="0000CC"/>
              </a:buClr>
              <a:buSzPts val="2000"/>
              <a:buNone/>
            </a:pPr>
            <a:r>
              <a:rPr lang="en-IN" sz="2000" dirty="0"/>
              <a:t>}</a:t>
            </a:r>
            <a:endParaRPr sz="2000" dirty="0"/>
          </a:p>
        </p:txBody>
      </p:sp>
      <p:sp>
        <p:nvSpPr>
          <p:cNvPr id="160" name="Google Shape;160;p9"/>
          <p:cNvSpPr txBox="1">
            <a:spLocks noGrp="1"/>
          </p:cNvSpPr>
          <p:nvPr>
            <p:ph type="ftr" idx="11"/>
          </p:nvPr>
        </p:nvSpPr>
        <p:spPr>
          <a:xfrm>
            <a:off x="526026" y="649287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  <a:endParaRPr dirty="0"/>
          </a:p>
        </p:txBody>
      </p:sp>
      <p:sp>
        <p:nvSpPr>
          <p:cNvPr id="161" name="Google Shape;16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0711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body" idx="1"/>
          </p:nvPr>
        </p:nvSpPr>
        <p:spPr>
          <a:xfrm>
            <a:off x="457200" y="20574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 err="1"/>
              <a:t>javax.swing</a:t>
            </a:r>
            <a:r>
              <a:rPr lang="en-US" sz="2400" dirty="0"/>
              <a:t> defines classes that implement labels, buttons, text controls, and menus.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constructor is where most of the action of the program occurs. It begins by creating a </a:t>
            </a:r>
            <a:r>
              <a:rPr lang="en-US" sz="2400" b="1" dirty="0" err="1"/>
              <a:t>JFrame</a:t>
            </a:r>
            <a:r>
              <a:rPr lang="en-US" sz="2400" b="1" dirty="0"/>
              <a:t>, </a:t>
            </a:r>
            <a:r>
              <a:rPr lang="en-US" sz="2400" dirty="0"/>
              <a:t>using this line of code: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i="1" dirty="0" err="1"/>
              <a:t>JFrame</a:t>
            </a:r>
            <a:r>
              <a:rPr lang="en-US" sz="2400" i="1" dirty="0"/>
              <a:t> f = new </a:t>
            </a:r>
            <a:r>
              <a:rPr lang="en-US" sz="2400" i="1" dirty="0" err="1"/>
              <a:t>JFrame</a:t>
            </a:r>
            <a:r>
              <a:rPr lang="en-US" sz="2400" i="1" dirty="0"/>
              <a:t>("A Simple Swing ");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This creates a container called </a:t>
            </a:r>
            <a:r>
              <a:rPr lang="en-US" sz="2400" b="1" dirty="0"/>
              <a:t>f </a:t>
            </a:r>
            <a:r>
              <a:rPr lang="en-US" sz="2400" dirty="0"/>
              <a:t>that defines a rectangular window complete with a t</a:t>
            </a:r>
            <a:r>
              <a:rPr lang="en-US" sz="2400" b="1" dirty="0"/>
              <a:t>itle bar; close, minimize, maximize, and restore buttons; and a system menu. 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Thus, it creates a standard, top-level window. 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title of the window</a:t>
            </a:r>
            <a:r>
              <a:rPr lang="en-US" sz="2400" dirty="0"/>
              <a:t> is </a:t>
            </a:r>
            <a:r>
              <a:rPr lang="en-US" sz="2400" u="sng" dirty="0"/>
              <a:t>passed to the constructor of </a:t>
            </a:r>
            <a:r>
              <a:rPr lang="en-US" sz="2400" u="sng" dirty="0" err="1"/>
              <a:t>JFrame</a:t>
            </a:r>
            <a:endParaRPr dirty="0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 dirty="0"/>
              <a:t>Here title is</a:t>
            </a:r>
            <a:r>
              <a:rPr lang="en-US" sz="2200" i="1" u="sng" dirty="0"/>
              <a:t> </a:t>
            </a:r>
            <a:r>
              <a:rPr lang="en-US" sz="2000" i="1" dirty="0"/>
              <a:t>A Simple Swing </a:t>
            </a:r>
            <a:endParaRPr sz="2200" i="1" u="sng"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 dirty="0"/>
          </a:p>
        </p:txBody>
      </p:sp>
      <p:sp>
        <p:nvSpPr>
          <p:cNvPr id="168" name="Google Shape;168;p10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0" name="Google Shape;17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0"/>
            <a:ext cx="5291138" cy="1924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4607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body" idx="1"/>
          </p:nvPr>
        </p:nvSpPr>
        <p:spPr>
          <a:xfrm>
            <a:off x="457200" y="6858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next line of code creates a Swing </a:t>
            </a:r>
            <a:r>
              <a:rPr lang="en-US" sz="2400" b="1" dirty="0" err="1"/>
              <a:t>JLabel</a:t>
            </a:r>
            <a:r>
              <a:rPr lang="en-US" sz="2400" b="1" dirty="0"/>
              <a:t> component: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/>
              <a:t>JLabel</a:t>
            </a:r>
            <a:r>
              <a:rPr lang="en-US" sz="2400" dirty="0"/>
              <a:t> lab1 = new </a:t>
            </a:r>
            <a:r>
              <a:rPr lang="en-US" sz="2400" b="1" dirty="0" err="1"/>
              <a:t>JLabel</a:t>
            </a:r>
            <a:r>
              <a:rPr lang="en-US" sz="2400" dirty="0"/>
              <a:t>(" Swing is powerful GUI");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next line of code </a:t>
            </a:r>
            <a:r>
              <a:rPr lang="en-US" sz="2400" b="1" u="sng" dirty="0"/>
              <a:t>adds the label to </a:t>
            </a:r>
            <a:r>
              <a:rPr lang="en-US" sz="2400" u="sng" dirty="0"/>
              <a:t>the content pane of the frame</a:t>
            </a:r>
            <a:r>
              <a:rPr lang="en-US" sz="2400" dirty="0"/>
              <a:t>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</a:t>
            </a:r>
            <a:r>
              <a:rPr lang="en-US" sz="2400" dirty="0" err="1"/>
              <a:t>frame.</a:t>
            </a:r>
            <a:r>
              <a:rPr lang="en-US" sz="2400" b="1" dirty="0" err="1">
                <a:solidFill>
                  <a:srgbClr val="C00000"/>
                </a:solidFill>
              </a:rPr>
              <a:t>add</a:t>
            </a:r>
            <a:r>
              <a:rPr lang="en-US" sz="2400" dirty="0"/>
              <a:t>(</a:t>
            </a:r>
            <a:r>
              <a:rPr lang="en-US" sz="2400" dirty="0" err="1"/>
              <a:t>jlab</a:t>
            </a:r>
            <a:r>
              <a:rPr lang="en-US" sz="2400" dirty="0"/>
              <a:t>);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Thus, to add a component to a frame, we must add it to the frame’s content pane. This is accomplished by calling </a:t>
            </a:r>
            <a:r>
              <a:rPr lang="en-US" sz="2400" b="1" dirty="0"/>
              <a:t>add( ) on the </a:t>
            </a:r>
            <a:r>
              <a:rPr lang="en-US" sz="2400" b="1" dirty="0" err="1"/>
              <a:t>JFrame</a:t>
            </a:r>
            <a:r>
              <a:rPr lang="en-US" sz="2400" b="1" dirty="0"/>
              <a:t> reference (</a:t>
            </a:r>
            <a:r>
              <a:rPr lang="en-US" sz="2400" b="1" dirty="0" err="1"/>
              <a:t>jfrm</a:t>
            </a:r>
            <a:r>
              <a:rPr lang="en-US" sz="2400" b="1" dirty="0"/>
              <a:t> in this case). The </a:t>
            </a:r>
            <a:r>
              <a:rPr lang="en-US" sz="2400" dirty="0"/>
              <a:t>general form of </a:t>
            </a:r>
            <a:r>
              <a:rPr lang="en-US" sz="2400" b="1" dirty="0"/>
              <a:t>add( ) is: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Component </a:t>
            </a:r>
            <a:r>
              <a:rPr lang="en-US" sz="2400" b="1" dirty="0">
                <a:solidFill>
                  <a:srgbClr val="C00000"/>
                </a:solidFill>
              </a:rPr>
              <a:t>add</a:t>
            </a:r>
            <a:r>
              <a:rPr lang="en-US" sz="2400" dirty="0"/>
              <a:t>(Component </a:t>
            </a:r>
            <a:r>
              <a:rPr lang="en-US" sz="2400" i="1" dirty="0"/>
              <a:t>comp)</a:t>
            </a:r>
            <a:endParaRPr sz="2400" dirty="0"/>
          </a:p>
        </p:txBody>
      </p:sp>
      <p:sp>
        <p:nvSpPr>
          <p:cNvPr id="195" name="Google Shape;195;p13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304800" y="5943600"/>
            <a:ext cx="4953000" cy="6858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0711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content pane can be obtained by calling </a:t>
            </a:r>
            <a:r>
              <a:rPr lang="en-US" sz="2400" dirty="0" err="1"/>
              <a:t>getContentPane</a:t>
            </a:r>
            <a:r>
              <a:rPr lang="en-US" sz="2400" dirty="0"/>
              <a:t>( ) on a </a:t>
            </a:r>
            <a:r>
              <a:rPr lang="en-US" sz="2400" dirty="0" err="1"/>
              <a:t>JFrame</a:t>
            </a:r>
            <a:r>
              <a:rPr lang="en-US" sz="2400" dirty="0"/>
              <a:t> instance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Container </a:t>
            </a:r>
            <a:r>
              <a:rPr lang="en-US" sz="2400" b="1" dirty="0" err="1">
                <a:solidFill>
                  <a:srgbClr val="C00000"/>
                </a:solidFill>
              </a:rPr>
              <a:t>getContentPane</a:t>
            </a:r>
            <a:r>
              <a:rPr lang="en-US" sz="2400" dirty="0"/>
              <a:t>( )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last statement in the </a:t>
            </a:r>
            <a:r>
              <a:rPr lang="en-US" sz="2400" b="1" dirty="0" err="1"/>
              <a:t>SwingDemo</a:t>
            </a:r>
            <a:r>
              <a:rPr lang="en-US" sz="2400" b="1" dirty="0"/>
              <a:t> constructor causes the window to become visible: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 err="1"/>
              <a:t>f.</a:t>
            </a:r>
            <a:r>
              <a:rPr lang="en-US" sz="2400" b="1" dirty="0" err="1">
                <a:solidFill>
                  <a:srgbClr val="C00000"/>
                </a:solidFill>
              </a:rPr>
              <a:t>setVisible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0000CC"/>
                </a:solidFill>
              </a:rPr>
              <a:t>true</a:t>
            </a:r>
            <a:r>
              <a:rPr lang="en-US" sz="2400" dirty="0"/>
              <a:t>);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342900" lvl="0" indent="-34290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</p:txBody>
      </p:sp>
      <p:sp>
        <p:nvSpPr>
          <p:cNvPr id="204" name="Google Shape;204;p14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457200" y="2209800"/>
            <a:ext cx="4114800" cy="60960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495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"/>
          <p:cNvSpPr txBox="1">
            <a:spLocks noGrp="1"/>
          </p:cNvSpPr>
          <p:nvPr>
            <p:ph type="body" idx="1"/>
          </p:nvPr>
        </p:nvSpPr>
        <p:spPr>
          <a:xfrm>
            <a:off x="533400" y="906463"/>
            <a:ext cx="6889955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 dirty="0" err="1"/>
              <a:t>SwingDemo</a:t>
            </a:r>
            <a:r>
              <a:rPr lang="en-US" sz="2400" u="sng" dirty="0"/>
              <a:t> constructor is invoked </a:t>
            </a:r>
            <a:r>
              <a:rPr lang="en-US" sz="2400" dirty="0"/>
              <a:t>using the following lines of code:</a:t>
            </a:r>
            <a:endParaRPr lang="en-IN"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r>
              <a:rPr lang="en-US" sz="2400" dirty="0"/>
              <a:t>			    </a:t>
            </a:r>
            <a:r>
              <a:rPr lang="en-IN" sz="2400" dirty="0"/>
              <a:t> new </a:t>
            </a:r>
            <a:r>
              <a:rPr lang="en-IN" sz="2400" b="1" dirty="0" err="1"/>
              <a:t>SwingDemo</a:t>
            </a:r>
            <a:r>
              <a:rPr lang="en-IN" sz="2400" dirty="0"/>
              <a:t>();</a:t>
            </a:r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None/>
            </a:pP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	Swing programs are event-driven.</a:t>
            </a:r>
            <a:endParaRPr sz="2400" b="1" dirty="0"/>
          </a:p>
        </p:txBody>
      </p:sp>
      <p:sp>
        <p:nvSpPr>
          <p:cNvPr id="213" name="Google Shape;213;p15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14" name="Google Shape;214;p15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8137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Swing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Swing defines four types of buttons: </a:t>
            </a:r>
          </a:p>
          <a:p>
            <a:pPr lvl="1">
              <a:lnSpc>
                <a:spcPct val="150000"/>
              </a:lnSpc>
              <a:buNone/>
            </a:pPr>
            <a:r>
              <a:rPr lang="en-US" b="1" dirty="0" err="1"/>
              <a:t>JButton</a:t>
            </a:r>
            <a:r>
              <a:rPr lang="en-US" b="1" dirty="0"/>
              <a:t>  </a:t>
            </a:r>
            <a:r>
              <a:rPr lang="en-US" dirty="0"/>
              <a:t>  - is the push button</a:t>
            </a:r>
          </a:p>
          <a:p>
            <a:pPr lvl="1">
              <a:lnSpc>
                <a:spcPct val="150000"/>
              </a:lnSpc>
              <a:buNone/>
            </a:pPr>
            <a:r>
              <a:rPr lang="en-US" b="1" dirty="0" err="1"/>
              <a:t>JToggleButton</a:t>
            </a:r>
            <a:endParaRPr lang="en-US" b="1" dirty="0"/>
          </a:p>
          <a:p>
            <a:pPr lvl="1">
              <a:lnSpc>
                <a:spcPct val="150000"/>
              </a:lnSpc>
              <a:buNone/>
            </a:pPr>
            <a:r>
              <a:rPr lang="en-US" b="1" dirty="0" err="1"/>
              <a:t>JCheckBox</a:t>
            </a:r>
            <a:endParaRPr lang="en-US" b="1" dirty="0"/>
          </a:p>
          <a:p>
            <a:pPr lvl="1">
              <a:lnSpc>
                <a:spcPct val="150000"/>
              </a:lnSpc>
              <a:buNone/>
            </a:pPr>
            <a:r>
              <a:rPr lang="en-US" b="1" dirty="0" err="1"/>
              <a:t>JRadioButton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sz="2400" dirty="0"/>
              <a:t>All are </a:t>
            </a:r>
            <a:r>
              <a:rPr lang="en-US" sz="2400" u="sng" dirty="0"/>
              <a:t>subclasses of the </a:t>
            </a:r>
            <a:r>
              <a:rPr lang="en-US" sz="2400" b="1" u="sng" dirty="0" err="1"/>
              <a:t>AbstractButton</a:t>
            </a:r>
            <a:r>
              <a:rPr lang="en-US" sz="2400" b="1" u="sng" dirty="0"/>
              <a:t> </a:t>
            </a:r>
            <a:r>
              <a:rPr lang="en-US" sz="2400" b="1" dirty="0"/>
              <a:t>class </a:t>
            </a:r>
            <a:r>
              <a:rPr lang="en-US" sz="2400" dirty="0"/>
              <a:t>(which extends </a:t>
            </a:r>
            <a:r>
              <a:rPr lang="en-US" sz="2400" dirty="0" err="1"/>
              <a:t>JComponent</a:t>
            </a:r>
            <a:r>
              <a:rPr lang="en-US" sz="2400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Swing Buttons(contd.)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b="1" dirty="0" err="1"/>
              <a:t>AbstractButton</a:t>
            </a:r>
            <a:r>
              <a:rPr lang="en-US" sz="2400" b="1" dirty="0"/>
              <a:t> </a:t>
            </a:r>
            <a:r>
              <a:rPr lang="en-US" sz="2400" dirty="0"/>
              <a:t>contains many methods that allow to control the behavior of buttons.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E.g. We can define different icons that are displayed when button is disabled, pressed, or selected. Another icon can be used as a </a:t>
            </a:r>
            <a:r>
              <a:rPr lang="en-US" sz="2400" i="1" dirty="0"/>
              <a:t>rollover icon, which is displayed </a:t>
            </a:r>
            <a:r>
              <a:rPr lang="en-US" sz="2400" dirty="0"/>
              <a:t>when the mouse is positioned over a button.</a:t>
            </a:r>
          </a:p>
          <a:p>
            <a:pPr lvl="1">
              <a:spcAft>
                <a:spcPts val="1200"/>
              </a:spcAft>
              <a:buNone/>
            </a:pPr>
            <a:r>
              <a:rPr lang="en-US" dirty="0"/>
              <a:t>void </a:t>
            </a:r>
            <a:r>
              <a:rPr lang="en-US" dirty="0" err="1"/>
              <a:t>setDisabledIcon</a:t>
            </a:r>
            <a:r>
              <a:rPr lang="en-US" dirty="0"/>
              <a:t>(Icon </a:t>
            </a:r>
            <a:r>
              <a:rPr lang="en-US" i="1" dirty="0" err="1"/>
              <a:t>di</a:t>
            </a:r>
            <a:r>
              <a:rPr lang="en-US" i="1" dirty="0"/>
              <a:t>)</a:t>
            </a:r>
          </a:p>
          <a:p>
            <a:pPr lvl="1">
              <a:spcAft>
                <a:spcPts val="1200"/>
              </a:spcAft>
              <a:buNone/>
            </a:pPr>
            <a:r>
              <a:rPr lang="en-US" dirty="0"/>
              <a:t>void </a:t>
            </a:r>
            <a:r>
              <a:rPr lang="en-US" dirty="0" err="1"/>
              <a:t>setPressedIcon</a:t>
            </a:r>
            <a:r>
              <a:rPr lang="en-US" dirty="0"/>
              <a:t>(Icon </a:t>
            </a:r>
            <a:r>
              <a:rPr lang="en-US" i="1" dirty="0"/>
              <a:t>pi)</a:t>
            </a:r>
          </a:p>
          <a:p>
            <a:pPr lvl="1">
              <a:spcAft>
                <a:spcPts val="1200"/>
              </a:spcAft>
              <a:buNone/>
            </a:pPr>
            <a:r>
              <a:rPr lang="en-US" dirty="0"/>
              <a:t>void </a:t>
            </a:r>
            <a:r>
              <a:rPr lang="en-US" dirty="0" err="1"/>
              <a:t>setSelectedIcon</a:t>
            </a:r>
            <a:r>
              <a:rPr lang="en-US" dirty="0"/>
              <a:t>(Icon </a:t>
            </a:r>
            <a:r>
              <a:rPr lang="en-US" i="1" dirty="0" err="1"/>
              <a:t>si</a:t>
            </a:r>
            <a:r>
              <a:rPr lang="en-US" i="1" dirty="0"/>
              <a:t>)</a:t>
            </a:r>
          </a:p>
          <a:p>
            <a:pPr lvl="1">
              <a:spcAft>
                <a:spcPts val="1200"/>
              </a:spcAft>
              <a:buNone/>
            </a:pPr>
            <a:r>
              <a:rPr lang="en-US" dirty="0"/>
              <a:t>void </a:t>
            </a:r>
            <a:r>
              <a:rPr lang="en-US" dirty="0" err="1"/>
              <a:t>setRolloverIcon</a:t>
            </a:r>
            <a:r>
              <a:rPr lang="en-US" dirty="0"/>
              <a:t>(Icon </a:t>
            </a:r>
            <a:r>
              <a:rPr lang="en-US" dirty="0" err="1"/>
              <a:t>ri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Here, </a:t>
            </a:r>
            <a:r>
              <a:rPr lang="en-US" i="1" dirty="0" err="1"/>
              <a:t>di</a:t>
            </a:r>
            <a:r>
              <a:rPr lang="en-US" i="1" dirty="0"/>
              <a:t>, pi, </a:t>
            </a:r>
            <a:r>
              <a:rPr lang="en-US" i="1" dirty="0" err="1"/>
              <a:t>si</a:t>
            </a:r>
            <a:r>
              <a:rPr lang="en-US" i="1" dirty="0"/>
              <a:t>, and </a:t>
            </a:r>
            <a:r>
              <a:rPr lang="en-US" i="1" dirty="0" err="1"/>
              <a:t>ri</a:t>
            </a:r>
            <a:r>
              <a:rPr lang="en-US" i="1" dirty="0"/>
              <a:t> are the icons </a:t>
            </a:r>
            <a:r>
              <a:rPr lang="en-US" dirty="0"/>
              <a:t>for specific purpose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Swing Buttons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get the text associated with a button using:</a:t>
            </a:r>
          </a:p>
          <a:p>
            <a:pPr lvl="1">
              <a:lnSpc>
                <a:spcPct val="150000"/>
              </a:lnSpc>
              <a:buNone/>
            </a:pPr>
            <a:r>
              <a:rPr lang="en-US" dirty="0"/>
              <a:t>String </a:t>
            </a:r>
            <a:r>
              <a:rPr lang="en-US" b="1" dirty="0" err="1">
                <a:solidFill>
                  <a:srgbClr val="C00000"/>
                </a:solidFill>
              </a:rPr>
              <a:t>getText</a:t>
            </a:r>
            <a:r>
              <a:rPr lang="en-US" dirty="0"/>
              <a:t>( )</a:t>
            </a:r>
          </a:p>
          <a:p>
            <a:r>
              <a:rPr lang="en-US" dirty="0"/>
              <a:t>We can modify the text associated with a button using:</a:t>
            </a:r>
          </a:p>
          <a:p>
            <a:pPr lvl="1">
              <a:lnSpc>
                <a:spcPct val="150000"/>
              </a:lnSpc>
              <a:buNone/>
            </a:pPr>
            <a:r>
              <a:rPr lang="en-US" dirty="0"/>
              <a:t>void </a:t>
            </a:r>
            <a:r>
              <a:rPr lang="en-US" b="1" dirty="0" err="1">
                <a:solidFill>
                  <a:srgbClr val="C00000"/>
                </a:solidFill>
              </a:rPr>
              <a:t>setText</a:t>
            </a:r>
            <a:r>
              <a:rPr lang="en-US" dirty="0"/>
              <a:t>(String </a:t>
            </a:r>
            <a:r>
              <a:rPr lang="en-US" i="1" dirty="0" err="1"/>
              <a:t>str</a:t>
            </a:r>
            <a:r>
              <a:rPr lang="en-US" i="1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The model used by all buttons is defined by the </a:t>
            </a:r>
            <a:r>
              <a:rPr lang="en-US" b="1" dirty="0" err="1"/>
              <a:t>ButtonModel</a:t>
            </a:r>
            <a:r>
              <a:rPr lang="en-US" b="1" dirty="0"/>
              <a:t> interface.</a:t>
            </a:r>
          </a:p>
          <a:p>
            <a:pPr>
              <a:lnSpc>
                <a:spcPct val="150000"/>
              </a:lnSpc>
            </a:pPr>
            <a:endParaRPr lang="en-US" i="1" dirty="0"/>
          </a:p>
          <a:p>
            <a:pPr lvl="1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JButton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 err="1"/>
              <a:t>JButton</a:t>
            </a:r>
            <a:r>
              <a:rPr lang="en-US" sz="2400" b="1" dirty="0"/>
              <a:t> </a:t>
            </a:r>
            <a:r>
              <a:rPr lang="en-US" sz="2400" dirty="0"/>
              <a:t>class provides the functionality of a </a:t>
            </a:r>
            <a:r>
              <a:rPr lang="en-US" sz="2400" b="1" dirty="0"/>
              <a:t>push button.</a:t>
            </a:r>
          </a:p>
          <a:p>
            <a:pPr>
              <a:lnSpc>
                <a:spcPct val="150000"/>
              </a:lnSpc>
            </a:pPr>
            <a:r>
              <a:rPr lang="en-US" sz="2400" b="1" dirty="0" err="1"/>
              <a:t>JButton</a:t>
            </a:r>
            <a:r>
              <a:rPr lang="en-US" sz="2400" b="1" dirty="0"/>
              <a:t> </a:t>
            </a:r>
            <a:r>
              <a:rPr lang="en-US" sz="2400" dirty="0"/>
              <a:t>allows an </a:t>
            </a:r>
            <a:r>
              <a:rPr lang="en-US" sz="2400" b="1" dirty="0"/>
              <a:t>icon, a string, or both </a:t>
            </a:r>
            <a:r>
              <a:rPr lang="en-US" sz="2400" dirty="0"/>
              <a:t>to be associated with the push button.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Three of its constructors are shown here:</a:t>
            </a:r>
          </a:p>
          <a:p>
            <a:pPr lvl="1">
              <a:lnSpc>
                <a:spcPct val="150000"/>
              </a:lnSpc>
              <a:buNone/>
            </a:pPr>
            <a:r>
              <a:rPr lang="en-US" dirty="0" err="1"/>
              <a:t>JButton</a:t>
            </a:r>
            <a:r>
              <a:rPr lang="en-US" dirty="0"/>
              <a:t>(Icon </a:t>
            </a:r>
            <a:r>
              <a:rPr lang="en-US" i="1" dirty="0" err="1"/>
              <a:t>icon</a:t>
            </a:r>
            <a:r>
              <a:rPr lang="en-US" i="1" dirty="0"/>
              <a:t>)</a:t>
            </a:r>
          </a:p>
          <a:p>
            <a:pPr lvl="1">
              <a:lnSpc>
                <a:spcPct val="150000"/>
              </a:lnSpc>
              <a:buNone/>
            </a:pPr>
            <a:r>
              <a:rPr lang="en-US" dirty="0" err="1"/>
              <a:t>JButton</a:t>
            </a:r>
            <a:r>
              <a:rPr lang="en-US" dirty="0"/>
              <a:t>(String </a:t>
            </a:r>
            <a:r>
              <a:rPr lang="en-US" i="1" dirty="0" err="1"/>
              <a:t>str</a:t>
            </a:r>
            <a:r>
              <a:rPr lang="en-US" i="1" dirty="0"/>
              <a:t>)</a:t>
            </a:r>
          </a:p>
          <a:p>
            <a:pPr lvl="1">
              <a:lnSpc>
                <a:spcPct val="150000"/>
              </a:lnSpc>
              <a:buNone/>
            </a:pPr>
            <a:r>
              <a:rPr lang="en-US" dirty="0" err="1"/>
              <a:t>JButton</a:t>
            </a:r>
            <a:r>
              <a:rPr lang="en-US" dirty="0"/>
              <a:t>(String </a:t>
            </a:r>
            <a:r>
              <a:rPr lang="en-US" i="1" dirty="0" err="1"/>
              <a:t>str</a:t>
            </a:r>
            <a:r>
              <a:rPr lang="en-US" i="1" dirty="0"/>
              <a:t>, Icon </a:t>
            </a:r>
            <a:r>
              <a:rPr lang="en-US" i="1" dirty="0" err="1"/>
              <a:t>icon</a:t>
            </a:r>
            <a:r>
              <a:rPr lang="en-US" i="1" dirty="0"/>
              <a:t>)</a:t>
            </a:r>
            <a:endParaRPr lang="en-US" sz="2200" i="1" dirty="0"/>
          </a:p>
          <a:p>
            <a:pPr>
              <a:lnSpc>
                <a:spcPct val="150000"/>
              </a:lnSpc>
            </a:pPr>
            <a:r>
              <a:rPr lang="en-US" sz="2400" dirty="0"/>
              <a:t>When the button is pressed, an </a:t>
            </a:r>
            <a:r>
              <a:rPr lang="en-US" sz="2400" b="1" dirty="0" err="1"/>
              <a:t>ActionEvent</a:t>
            </a:r>
            <a:r>
              <a:rPr lang="en-US" sz="2400" b="1" dirty="0"/>
              <a:t> </a:t>
            </a:r>
            <a:r>
              <a:rPr lang="en-US" sz="2400" dirty="0"/>
              <a:t>is generated</a:t>
            </a:r>
            <a:r>
              <a:rPr lang="en-US" sz="2400" b="1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dirty="0" err="1"/>
              <a:t>JButton</a:t>
            </a:r>
            <a:r>
              <a:rPr lang="en-US" dirty="0"/>
              <a:t>(contd.)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200" dirty="0"/>
              <a:t>When a button is clicked, the </a:t>
            </a:r>
            <a:r>
              <a:rPr lang="en-US" altLang="en-US" sz="2200" b="1" dirty="0" err="1"/>
              <a:t>ActionEvent</a:t>
            </a:r>
            <a:r>
              <a:rPr lang="en-US" altLang="en-US" sz="2200" dirty="0"/>
              <a:t> object in the </a:t>
            </a:r>
            <a:r>
              <a:rPr lang="en-US" altLang="en-US" sz="2200" dirty="0" err="1"/>
              <a:t>actionPerformed</a:t>
            </a:r>
            <a:r>
              <a:rPr lang="en-US" altLang="en-US" sz="2200" dirty="0"/>
              <a:t>() method can give us the </a:t>
            </a:r>
            <a:r>
              <a:rPr lang="en-US" altLang="en-US" sz="2200" b="1" dirty="0"/>
              <a:t>action command string that is written on the button </a:t>
            </a:r>
            <a:r>
              <a:rPr lang="en-US" sz="2200" dirty="0"/>
              <a:t>by calling </a:t>
            </a:r>
            <a:r>
              <a:rPr lang="en-US" sz="2200" b="1" dirty="0" err="1"/>
              <a:t>getActionCommand</a:t>
            </a:r>
            <a:r>
              <a:rPr lang="en-US" sz="2200" b="1" dirty="0"/>
              <a:t>( 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String </a:t>
            </a:r>
            <a:r>
              <a:rPr lang="en-US" sz="2200" b="1" dirty="0" err="1">
                <a:solidFill>
                  <a:srgbClr val="C00000"/>
                </a:solidFill>
              </a:rPr>
              <a:t>getActionCommand</a:t>
            </a:r>
            <a:r>
              <a:rPr lang="en-US" sz="2200" dirty="0"/>
              <a:t>( )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We can set(modify) the action command(that is written on button </a:t>
            </a:r>
            <a:r>
              <a:rPr lang="en-US" sz="2200" dirty="0" err="1"/>
              <a:t>eg.</a:t>
            </a:r>
            <a:r>
              <a:rPr lang="en-US" sz="2200" dirty="0"/>
              <a:t> OK , SUBMIT) by calling </a:t>
            </a:r>
            <a:r>
              <a:rPr lang="en-US" sz="2200" b="1" dirty="0" err="1"/>
              <a:t>setActionCommand</a:t>
            </a:r>
            <a:r>
              <a:rPr lang="en-US" sz="2200" b="1" dirty="0"/>
              <a:t>( ) </a:t>
            </a:r>
            <a:r>
              <a:rPr lang="en-US" sz="2200" dirty="0"/>
              <a:t>on the button.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The action command helps to identify the button. 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Thus, when we use two or more buttons(</a:t>
            </a:r>
            <a:r>
              <a:rPr lang="en-US" sz="2200" dirty="0" err="1"/>
              <a:t>eg.</a:t>
            </a:r>
            <a:r>
              <a:rPr lang="en-US" sz="2200" dirty="0"/>
              <a:t> OK,CANCEL </a:t>
            </a:r>
            <a:r>
              <a:rPr lang="en-US" sz="2200" dirty="0" err="1"/>
              <a:t>etc</a:t>
            </a:r>
            <a:r>
              <a:rPr lang="en-US" sz="2200" dirty="0"/>
              <a:t>) within the same application, the action command gives you an easy way to determine which button was pressed.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2B9426-6AFC-D349-0B9C-F04EAFA7F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Swing-Event handling E.g.</a:t>
            </a:r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•"/>
            </a:pPr>
            <a:r>
              <a:rPr lang="en-US" sz="2400" dirty="0">
                <a:solidFill>
                  <a:srgbClr val="0000CC"/>
                </a:solidFill>
              </a:rPr>
              <a:t>Q. Write a program in swing to create  a frame with title “An Event Example ”. </a:t>
            </a:r>
            <a:endParaRPr dirty="0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 dirty="0">
                <a:solidFill>
                  <a:srgbClr val="0000CC"/>
                </a:solidFill>
              </a:rPr>
              <a:t>Give </a:t>
            </a:r>
            <a:r>
              <a:rPr lang="en-US" sz="2200" dirty="0" err="1">
                <a:solidFill>
                  <a:srgbClr val="0000CC"/>
                </a:solidFill>
              </a:rPr>
              <a:t>FlowLayout</a:t>
            </a:r>
            <a:r>
              <a:rPr lang="en-US" sz="2200" dirty="0">
                <a:solidFill>
                  <a:srgbClr val="0000CC"/>
                </a:solidFill>
              </a:rPr>
              <a:t> to frame and set a width =220 and height=90</a:t>
            </a:r>
            <a:endParaRPr dirty="0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 dirty="0">
                <a:solidFill>
                  <a:srgbClr val="0000CC"/>
                </a:solidFill>
              </a:rPr>
              <a:t>Frame has two buttons Ok and Cancel.</a:t>
            </a:r>
            <a:endParaRPr dirty="0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 dirty="0">
                <a:solidFill>
                  <a:srgbClr val="0000CC"/>
                </a:solidFill>
              </a:rPr>
              <a:t>Frame has a label that display the message “Push a button”.</a:t>
            </a:r>
            <a:endParaRPr dirty="0"/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Char char="–"/>
            </a:pPr>
            <a:r>
              <a:rPr lang="en-US" sz="2200" dirty="0">
                <a:solidFill>
                  <a:srgbClr val="0000CC"/>
                </a:solidFill>
              </a:rPr>
              <a:t>When we click the OK button it prints the message “You  pressed OK” in the label.</a:t>
            </a:r>
            <a:endParaRPr dirty="0"/>
          </a:p>
          <a:p>
            <a:pPr lvl="1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</a:pPr>
            <a:r>
              <a:rPr lang="en-US" sz="2200" dirty="0">
                <a:solidFill>
                  <a:srgbClr val="0000CC"/>
                </a:solidFill>
              </a:rPr>
              <a:t>When we click the Cancel button it prints the message “You  </a:t>
            </a:r>
            <a:r>
              <a:rPr lang="en-US" sz="2200">
                <a:solidFill>
                  <a:srgbClr val="0000CC"/>
                </a:solidFill>
              </a:rPr>
              <a:t>pressed Cancel” </a:t>
            </a:r>
            <a:r>
              <a:rPr lang="en-US" sz="2200" dirty="0">
                <a:solidFill>
                  <a:srgbClr val="0000CC"/>
                </a:solidFill>
              </a:rPr>
              <a:t>in the label</a:t>
            </a:r>
            <a:endParaRPr dirty="0"/>
          </a:p>
          <a:p>
            <a:pPr marL="742950" lvl="1" indent="-1460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>
              <a:solidFill>
                <a:srgbClr val="0000CC"/>
              </a:solidFill>
            </a:endParaRPr>
          </a:p>
          <a:p>
            <a:pPr marL="742950" lvl="1" indent="-28575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dirty="0">
              <a:solidFill>
                <a:srgbClr val="0000CC"/>
              </a:solidFill>
            </a:endParaRPr>
          </a:p>
        </p:txBody>
      </p:sp>
      <p:sp>
        <p:nvSpPr>
          <p:cNvPr id="238" name="Google Shape;238;p18"/>
          <p:cNvSpPr txBox="1">
            <a:spLocks noGrp="1"/>
          </p:cNvSpPr>
          <p:nvPr>
            <p:ph type="ftr" idx="11"/>
          </p:nvPr>
        </p:nvSpPr>
        <p:spPr>
          <a:xfrm>
            <a:off x="6705600" y="6492875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Renetha J.B.</a:t>
            </a:r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sldNum" idx="12"/>
          </p:nvPr>
        </p:nvSpPr>
        <p:spPr>
          <a:xfrm>
            <a:off x="8686800" y="64770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609600" y="152400"/>
            <a:ext cx="6858000" cy="6858000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javax.swing</a:t>
            </a:r>
            <a:r>
              <a:rPr lang="en-US" sz="2000" dirty="0"/>
              <a:t>.*;</a:t>
            </a:r>
          </a:p>
          <a:p>
            <a:pPr>
              <a:buNone/>
            </a:pPr>
            <a:r>
              <a:rPr lang="en-US" sz="2000" dirty="0"/>
              <a:t>import java.awt.*;</a:t>
            </a:r>
          </a:p>
          <a:p>
            <a:pPr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java.awt.event</a:t>
            </a:r>
            <a:r>
              <a:rPr lang="en-US" sz="2000" dirty="0"/>
              <a:t>.*;</a:t>
            </a:r>
          </a:p>
          <a:p>
            <a:pPr>
              <a:buNone/>
            </a:pPr>
            <a:r>
              <a:rPr lang="en-US" sz="2000" dirty="0"/>
              <a:t>class </a:t>
            </a:r>
            <a:r>
              <a:rPr lang="en-US" sz="2000" dirty="0" err="1"/>
              <a:t>SwingButton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CC"/>
                </a:solidFill>
              </a:rPr>
              <a:t>extends </a:t>
            </a:r>
            <a:r>
              <a:rPr lang="en-US" sz="2000" dirty="0" err="1">
                <a:solidFill>
                  <a:srgbClr val="0000CC"/>
                </a:solidFill>
              </a:rPr>
              <a:t>JFrame</a:t>
            </a:r>
            <a:r>
              <a:rPr lang="en-US" sz="2000" dirty="0">
                <a:solidFill>
                  <a:srgbClr val="0000CC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implements </a:t>
            </a:r>
            <a:r>
              <a:rPr lang="en-US" sz="2000" dirty="0" err="1">
                <a:solidFill>
                  <a:srgbClr val="C00000"/>
                </a:solidFill>
              </a:rPr>
              <a:t>ActionListener</a:t>
            </a:r>
            <a:endParaRPr lang="en-US" sz="20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000" dirty="0"/>
              <a:t>{ 	</a:t>
            </a:r>
            <a:r>
              <a:rPr lang="en-US" sz="2000" dirty="0" err="1"/>
              <a:t>JFrame</a:t>
            </a:r>
            <a:r>
              <a:rPr lang="en-US" sz="2000" dirty="0"/>
              <a:t> </a:t>
            </a:r>
            <a:r>
              <a:rPr lang="en-US" sz="2000" dirty="0" err="1"/>
              <a:t>jfrm</a:t>
            </a:r>
            <a:r>
              <a:rPr lang="en-US" sz="2000" dirty="0"/>
              <a:t>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JButton</a:t>
            </a:r>
            <a:r>
              <a:rPr lang="en-US" sz="2000" dirty="0"/>
              <a:t> </a:t>
            </a:r>
            <a:r>
              <a:rPr lang="en-US" sz="2000" dirty="0" err="1"/>
              <a:t>jbok</a:t>
            </a:r>
            <a:r>
              <a:rPr lang="en-US" sz="2000" dirty="0"/>
              <a:t> , jbcancel;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JLabel</a:t>
            </a:r>
            <a:r>
              <a:rPr lang="en-US" sz="2000" dirty="0"/>
              <a:t> </a:t>
            </a:r>
            <a:r>
              <a:rPr lang="en-US" sz="2000" dirty="0" err="1"/>
              <a:t>jlab</a:t>
            </a:r>
            <a:r>
              <a:rPr lang="en-US" sz="2000" dirty="0"/>
              <a:t>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SwingButton</a:t>
            </a:r>
            <a:r>
              <a:rPr lang="en-US" sz="2000" dirty="0"/>
              <a:t>() </a:t>
            </a:r>
          </a:p>
          <a:p>
            <a:pPr>
              <a:buNone/>
            </a:pPr>
            <a:r>
              <a:rPr lang="en-US" sz="2000" dirty="0"/>
              <a:t>	{</a:t>
            </a:r>
          </a:p>
          <a:p>
            <a:pPr>
              <a:buNone/>
            </a:pPr>
            <a:r>
              <a:rPr lang="en-US" sz="2000" dirty="0" err="1"/>
              <a:t>jfrm</a:t>
            </a:r>
            <a:r>
              <a:rPr lang="en-US" sz="2000" dirty="0"/>
              <a:t> = new </a:t>
            </a:r>
            <a:r>
              <a:rPr lang="en-US" sz="2000" dirty="0" err="1"/>
              <a:t>JFrame</a:t>
            </a:r>
            <a:r>
              <a:rPr lang="en-US" sz="2000" dirty="0"/>
              <a:t>(“A Simple Swing ");</a:t>
            </a:r>
          </a:p>
          <a:p>
            <a:pPr>
              <a:buNone/>
            </a:pPr>
            <a:r>
              <a:rPr lang="en-US" sz="2000" dirty="0" err="1"/>
              <a:t>jfrm.setSize</a:t>
            </a:r>
            <a:r>
              <a:rPr lang="en-US" sz="2000" dirty="0"/>
              <a:t>(500, 400);</a:t>
            </a:r>
          </a:p>
          <a:p>
            <a:pPr>
              <a:buNone/>
            </a:pPr>
            <a:r>
              <a:rPr lang="en-US" sz="2000" dirty="0" err="1"/>
              <a:t>jfrm.setLayout</a:t>
            </a:r>
            <a:r>
              <a:rPr lang="en-US" sz="2000" dirty="0"/>
              <a:t>(new </a:t>
            </a:r>
            <a:r>
              <a:rPr lang="en-US" sz="2000" dirty="0" err="1"/>
              <a:t>FlowLayout</a:t>
            </a:r>
            <a:r>
              <a:rPr lang="en-US" sz="2000" dirty="0"/>
              <a:t>());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599039" y="1600200"/>
            <a:ext cx="5334000" cy="6126163"/>
          </a:xfrm>
        </p:spPr>
        <p:txBody>
          <a:bodyPr/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jbok</a:t>
            </a:r>
            <a:r>
              <a:rPr lang="en-US" sz="2000" dirty="0"/>
              <a:t> = new </a:t>
            </a:r>
            <a:r>
              <a:rPr lang="en-US" sz="2000" dirty="0" err="1"/>
              <a:t>JButton</a:t>
            </a:r>
            <a:r>
              <a:rPr lang="en-US" sz="2000" dirty="0"/>
              <a:t>(“OK”);</a:t>
            </a:r>
          </a:p>
          <a:p>
            <a:pPr>
              <a:buNone/>
            </a:pPr>
            <a:r>
              <a:rPr lang="en-US" sz="2000" dirty="0"/>
              <a:t>	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jbok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	jbcancel = new </a:t>
            </a:r>
            <a:r>
              <a:rPr lang="en-US" sz="2000" dirty="0" err="1"/>
              <a:t>JButton</a:t>
            </a:r>
            <a:r>
              <a:rPr lang="en-US" sz="2000" dirty="0"/>
              <a:t>(“Cancel”);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jbok.addActionListener</a:t>
            </a:r>
            <a:r>
              <a:rPr lang="en-US" sz="2000" dirty="0"/>
              <a:t>(this);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jbcancel.addActionListener</a:t>
            </a:r>
            <a:r>
              <a:rPr lang="en-US" sz="2000" dirty="0"/>
              <a:t>(this);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(jbcancel);</a:t>
            </a:r>
          </a:p>
          <a:p>
            <a:pPr>
              <a:buNone/>
            </a:pPr>
            <a:r>
              <a:rPr lang="en-US" sz="2000" dirty="0"/>
              <a:t>    </a:t>
            </a:r>
            <a:r>
              <a:rPr lang="en-US" sz="2000" dirty="0" err="1"/>
              <a:t>jlab</a:t>
            </a:r>
            <a:r>
              <a:rPr lang="en-US" sz="2000" dirty="0"/>
              <a:t> = new </a:t>
            </a:r>
            <a:r>
              <a:rPr lang="en-US" sz="2000" dirty="0" err="1"/>
              <a:t>JLabel</a:t>
            </a:r>
            <a:r>
              <a:rPr lang="en-US" sz="2000" dirty="0"/>
              <a:t>(“</a:t>
            </a:r>
            <a:r>
              <a:rPr lang="en-US" sz="1800" dirty="0"/>
              <a:t>Waiting button press </a:t>
            </a:r>
            <a:r>
              <a:rPr lang="en-US" sz="2000" dirty="0"/>
              <a:t>");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jlab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jfrm.setVisible</a:t>
            </a:r>
            <a:r>
              <a:rPr lang="en-US" sz="2000" dirty="0"/>
              <a:t>(true);</a:t>
            </a: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7772400" cy="6126163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public void </a:t>
            </a:r>
            <a:r>
              <a:rPr lang="en-US" sz="2000" b="1" dirty="0" err="1">
                <a:solidFill>
                  <a:srgbClr val="C00000"/>
                </a:solidFill>
              </a:rPr>
              <a:t>actionPerformed</a:t>
            </a:r>
            <a:r>
              <a:rPr lang="en-US" sz="2000" b="1" dirty="0">
                <a:solidFill>
                  <a:srgbClr val="C00000"/>
                </a:solidFill>
              </a:rPr>
              <a:t>(</a:t>
            </a:r>
            <a:r>
              <a:rPr lang="en-US" sz="2000" dirty="0" err="1"/>
              <a:t>ActionEvent</a:t>
            </a:r>
            <a:r>
              <a:rPr lang="en-US" sz="2000" dirty="0"/>
              <a:t> </a:t>
            </a:r>
            <a:r>
              <a:rPr lang="en-US" sz="2000" dirty="0" err="1"/>
              <a:t>ae</a:t>
            </a:r>
            <a:r>
              <a:rPr lang="en-US" sz="2000" dirty="0"/>
              <a:t>)</a:t>
            </a:r>
          </a:p>
          <a:p>
            <a:pPr>
              <a:buNone/>
            </a:pPr>
            <a:r>
              <a:rPr lang="en-US" sz="2000" dirty="0"/>
              <a:t>	{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jlab.setText</a:t>
            </a:r>
            <a:r>
              <a:rPr lang="en-US" sz="2000" dirty="0"/>
              <a:t>("You pressed " + </a:t>
            </a:r>
            <a:r>
              <a:rPr lang="en-US" sz="2000" dirty="0" err="1"/>
              <a:t>ae</a:t>
            </a:r>
            <a:r>
              <a:rPr lang="en-US" sz="2000" b="1" dirty="0" err="1"/>
              <a:t>.getActionCommand</a:t>
            </a:r>
            <a:r>
              <a:rPr lang="en-US" sz="2000" dirty="0"/>
              <a:t>());</a:t>
            </a: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	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>
              <a:buNone/>
            </a:pPr>
            <a:r>
              <a:rPr lang="en-US" sz="2000" dirty="0"/>
              <a:t>	{	</a:t>
            </a:r>
            <a:r>
              <a:rPr lang="en-US" sz="2000" dirty="0" err="1"/>
              <a:t>SwingButton</a:t>
            </a:r>
            <a:r>
              <a:rPr lang="en-US" sz="2000" dirty="0"/>
              <a:t> sb=new </a:t>
            </a:r>
            <a:r>
              <a:rPr lang="en-US" sz="2000" dirty="0" err="1"/>
              <a:t>SwingButton</a:t>
            </a:r>
            <a:r>
              <a:rPr lang="en-US" sz="2000" dirty="0"/>
              <a:t>();</a:t>
            </a: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}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DFBB0-03F6-EE17-50CA-D90AC9094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14600"/>
            <a:ext cx="4020111" cy="2019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5E91E4-286A-5D62-3C42-F8836DEDB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729302"/>
            <a:ext cx="3848637" cy="1933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7E4D8A-1C7E-A52D-ECBB-56A10B02D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055" y="4638752"/>
            <a:ext cx="3915321" cy="19719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JToggleButton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toggle button </a:t>
            </a:r>
            <a:r>
              <a:rPr lang="en-US" sz="2400" u="sng" dirty="0"/>
              <a:t>looks just like a push button</a:t>
            </a:r>
            <a:r>
              <a:rPr lang="en-US" sz="2400" dirty="0"/>
              <a:t>, </a:t>
            </a:r>
          </a:p>
          <a:p>
            <a:r>
              <a:rPr lang="en-US" sz="2400" dirty="0"/>
              <a:t>It acts differently from push button because it has two states: </a:t>
            </a:r>
          </a:p>
          <a:p>
            <a:pPr lvl="1"/>
            <a:r>
              <a:rPr lang="en-US" sz="2000" b="1" dirty="0"/>
              <a:t>Pushed </a:t>
            </a:r>
          </a:p>
          <a:p>
            <a:pPr lvl="1"/>
            <a:r>
              <a:rPr lang="en-US" sz="2000" b="1" dirty="0"/>
              <a:t>Released</a:t>
            </a:r>
          </a:p>
          <a:p>
            <a:r>
              <a:rPr lang="en-US" sz="2400" dirty="0"/>
              <a:t>When </a:t>
            </a:r>
            <a:r>
              <a:rPr lang="en-US" sz="2400" u="sng" dirty="0"/>
              <a:t>we press a toggle button</a:t>
            </a:r>
            <a:r>
              <a:rPr lang="en-US" sz="2400" dirty="0"/>
              <a:t>, it </a:t>
            </a:r>
            <a:r>
              <a:rPr lang="en-US" sz="2400" b="1" dirty="0"/>
              <a:t>stays pressed.</a:t>
            </a:r>
          </a:p>
          <a:p>
            <a:pPr lvl="1"/>
            <a:r>
              <a:rPr lang="en-US" sz="2000" dirty="0"/>
              <a:t>It does not pop back up as a regular push button.</a:t>
            </a:r>
          </a:p>
          <a:p>
            <a:r>
              <a:rPr lang="en-US" sz="2400" dirty="0"/>
              <a:t>When we press the toggle button a second time, it releases (pops up).</a:t>
            </a:r>
          </a:p>
          <a:p>
            <a:r>
              <a:rPr lang="en-US" sz="2400" dirty="0"/>
              <a:t>Each time a toggle button is pushed, it toggles between its two states.</a:t>
            </a:r>
          </a:p>
          <a:p>
            <a:r>
              <a:rPr lang="en-US" sz="2400" dirty="0"/>
              <a:t>Toggle buttons are objects of the </a:t>
            </a:r>
            <a:r>
              <a:rPr lang="en-US" sz="2400" b="1" dirty="0" err="1"/>
              <a:t>JToggleButton</a:t>
            </a:r>
            <a:r>
              <a:rPr lang="en-US" sz="2400" b="1" dirty="0"/>
              <a:t> </a:t>
            </a:r>
            <a:r>
              <a:rPr lang="en-US" sz="2400" dirty="0"/>
              <a:t>class.</a:t>
            </a:r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JToggleButton</a:t>
            </a:r>
            <a:r>
              <a:rPr lang="en-US" dirty="0"/>
              <a:t>(</a:t>
            </a:r>
            <a:r>
              <a:rPr lang="en-US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39762"/>
            <a:ext cx="8229600" cy="5578475"/>
          </a:xfrm>
        </p:spPr>
        <p:txBody>
          <a:bodyPr/>
          <a:lstStyle/>
          <a:p>
            <a:r>
              <a:rPr lang="en-US" sz="2400" dirty="0" err="1"/>
              <a:t>JToggleButton</a:t>
            </a:r>
            <a:r>
              <a:rPr lang="en-US" sz="2400" b="1" dirty="0"/>
              <a:t> </a:t>
            </a:r>
            <a:r>
              <a:rPr lang="en-US" sz="2400" dirty="0">
                <a:solidFill>
                  <a:srgbClr val="0000CC"/>
                </a:solidFill>
              </a:rPr>
              <a:t>implements </a:t>
            </a:r>
            <a:r>
              <a:rPr lang="en-US" sz="2400" b="1" dirty="0" err="1">
                <a:solidFill>
                  <a:srgbClr val="0000CC"/>
                </a:solidFill>
              </a:rPr>
              <a:t>AbstractButton</a:t>
            </a:r>
            <a:r>
              <a:rPr lang="en-US" sz="2400" dirty="0">
                <a:solidFill>
                  <a:srgbClr val="0000CC"/>
                </a:solidFill>
              </a:rPr>
              <a:t>.</a:t>
            </a:r>
          </a:p>
          <a:p>
            <a:r>
              <a:rPr lang="en-US" sz="2400" dirty="0" err="1"/>
              <a:t>JToggleButton</a:t>
            </a:r>
            <a:r>
              <a:rPr lang="en-US" sz="2400" b="1" dirty="0"/>
              <a:t> </a:t>
            </a:r>
            <a:r>
              <a:rPr lang="en-US" sz="2400" u="sng" dirty="0"/>
              <a:t>is a </a:t>
            </a:r>
            <a:r>
              <a:rPr lang="en-US" sz="2400" u="sng" dirty="0" err="1"/>
              <a:t>superclass</a:t>
            </a:r>
            <a:r>
              <a:rPr lang="en-US" sz="2400" u="sng" dirty="0"/>
              <a:t> </a:t>
            </a:r>
            <a:r>
              <a:rPr lang="en-US" sz="2400" dirty="0"/>
              <a:t>for </a:t>
            </a:r>
            <a:r>
              <a:rPr lang="en-US" sz="2400" b="1" dirty="0" err="1"/>
              <a:t>JCheckBox</a:t>
            </a:r>
            <a:r>
              <a:rPr lang="en-US" sz="2400" b="1" dirty="0"/>
              <a:t> </a:t>
            </a:r>
            <a:r>
              <a:rPr lang="en-US" sz="2400" dirty="0"/>
              <a:t>and</a:t>
            </a:r>
            <a:r>
              <a:rPr lang="en-US" sz="2400" b="1" dirty="0"/>
              <a:t> </a:t>
            </a:r>
            <a:r>
              <a:rPr lang="en-US" sz="2400" b="1" dirty="0" err="1"/>
              <a:t>JRadioButton</a:t>
            </a:r>
            <a:endParaRPr lang="en-US" sz="2400" b="1" dirty="0"/>
          </a:p>
          <a:p>
            <a:r>
              <a:rPr lang="en-US" sz="2400" b="1" dirty="0" err="1"/>
              <a:t>JToggleButton</a:t>
            </a:r>
            <a:r>
              <a:rPr lang="en-US" sz="2400" dirty="0"/>
              <a:t> defines several constructors. 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 err="1"/>
              <a:t>JToggleButton</a:t>
            </a:r>
            <a:r>
              <a:rPr lang="en-US" sz="2400" dirty="0"/>
              <a:t>(String </a:t>
            </a:r>
            <a:r>
              <a:rPr lang="en-US" sz="2400" i="1" dirty="0" err="1"/>
              <a:t>str</a:t>
            </a:r>
            <a:r>
              <a:rPr lang="en-US" sz="2400" i="1" dirty="0"/>
              <a:t>)</a:t>
            </a:r>
          </a:p>
          <a:p>
            <a:pPr>
              <a:buNone/>
            </a:pPr>
            <a:r>
              <a:rPr lang="en-US" sz="2400" dirty="0"/>
              <a:t>This creates a toggle button that contains the text passed in </a:t>
            </a:r>
            <a:r>
              <a:rPr lang="en-US" sz="2400" i="1" dirty="0"/>
              <a:t>str.</a:t>
            </a:r>
          </a:p>
          <a:p>
            <a:r>
              <a:rPr lang="en-US" sz="2400" dirty="0"/>
              <a:t>By </a:t>
            </a:r>
            <a:r>
              <a:rPr lang="en-US" sz="2400" b="1" dirty="0"/>
              <a:t>default</a:t>
            </a:r>
            <a:r>
              <a:rPr lang="en-US" sz="2400" dirty="0"/>
              <a:t>, the </a:t>
            </a:r>
            <a:r>
              <a:rPr lang="en-US" sz="2400" u="sng" dirty="0"/>
              <a:t>button is in the </a:t>
            </a:r>
            <a:r>
              <a:rPr lang="en-US" sz="2400" b="1" u="sng" dirty="0"/>
              <a:t>off</a:t>
            </a:r>
            <a:r>
              <a:rPr lang="en-US" sz="2400" u="sng" dirty="0"/>
              <a:t> position.</a:t>
            </a:r>
          </a:p>
          <a:p>
            <a:r>
              <a:rPr lang="en-US" sz="2400" dirty="0"/>
              <a:t>When a </a:t>
            </a:r>
            <a:r>
              <a:rPr lang="en-US" sz="2400" b="1" dirty="0" err="1"/>
              <a:t>JToggleButton</a:t>
            </a:r>
            <a:r>
              <a:rPr lang="en-US" sz="2400" b="1" dirty="0"/>
              <a:t> is pressed </a:t>
            </a:r>
            <a:r>
              <a:rPr lang="en-US" sz="2400" dirty="0"/>
              <a:t>in, it is </a:t>
            </a:r>
            <a:r>
              <a:rPr lang="en-US" sz="2400" b="1" dirty="0"/>
              <a:t>selected</a:t>
            </a:r>
            <a:r>
              <a:rPr lang="en-US" sz="2400" dirty="0"/>
              <a:t>. </a:t>
            </a:r>
          </a:p>
          <a:p>
            <a:r>
              <a:rPr lang="en-US" sz="2400" dirty="0"/>
              <a:t>When it is popped out, it is </a:t>
            </a:r>
            <a:r>
              <a:rPr lang="en-US" sz="2400" b="1" dirty="0"/>
              <a:t>deselected</a:t>
            </a:r>
            <a:r>
              <a:rPr lang="en-US" sz="2400" dirty="0"/>
              <a:t>.</a:t>
            </a:r>
          </a:p>
          <a:p>
            <a:endParaRPr lang="en-US" sz="2400" u="sng" dirty="0"/>
          </a:p>
          <a:p>
            <a:r>
              <a:rPr lang="en-US" sz="2400" b="1" dirty="0" err="1"/>
              <a:t>JToggleButton</a:t>
            </a:r>
            <a:r>
              <a:rPr lang="en-US" sz="2400" dirty="0"/>
              <a:t> generates an </a:t>
            </a:r>
            <a:r>
              <a:rPr lang="en-US" sz="2400" u="sng" dirty="0"/>
              <a:t>action event </a:t>
            </a:r>
            <a:r>
              <a:rPr lang="en-US" sz="2400" dirty="0"/>
              <a:t>each time it is pressed. </a:t>
            </a:r>
          </a:p>
          <a:p>
            <a:r>
              <a:rPr lang="en-US" sz="2400" b="1" dirty="0" err="1"/>
              <a:t>JToggleButton</a:t>
            </a:r>
            <a:r>
              <a:rPr lang="en-US" sz="2400" dirty="0"/>
              <a:t> also generates </a:t>
            </a:r>
            <a:r>
              <a:rPr lang="en-US" sz="2400" u="sng" dirty="0"/>
              <a:t>item event</a:t>
            </a:r>
            <a:r>
              <a:rPr lang="en-US" sz="2400" dirty="0"/>
              <a:t> that signify whether it is selected/deselected.</a:t>
            </a:r>
          </a:p>
          <a:p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JToggleButton</a:t>
            </a:r>
            <a:r>
              <a:rPr lang="en-US" dirty="0"/>
              <a:t>(</a:t>
            </a:r>
            <a:r>
              <a:rPr lang="en-US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229600" cy="5334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200" dirty="0"/>
              <a:t>To handle item events, we must implement the </a:t>
            </a:r>
            <a:r>
              <a:rPr lang="en-US" sz="2200" b="1" dirty="0" err="1"/>
              <a:t>ItemListener</a:t>
            </a:r>
            <a:r>
              <a:rPr lang="en-US" sz="2200" dirty="0"/>
              <a:t> interface.</a:t>
            </a:r>
          </a:p>
          <a:p>
            <a:pPr>
              <a:spcAft>
                <a:spcPts val="600"/>
              </a:spcAft>
            </a:pPr>
            <a:r>
              <a:rPr lang="en-US" sz="2200" dirty="0"/>
              <a:t>Each time an </a:t>
            </a:r>
            <a:r>
              <a:rPr lang="en-US" sz="2200" b="1" dirty="0"/>
              <a:t>item event (</a:t>
            </a:r>
            <a:r>
              <a:rPr lang="en-US" sz="2200" b="1" dirty="0" err="1"/>
              <a:t>ItemEvent</a:t>
            </a:r>
            <a:r>
              <a:rPr lang="en-US" sz="2200" b="1" dirty="0"/>
              <a:t>) </a:t>
            </a:r>
            <a:r>
              <a:rPr lang="en-US" sz="2200" dirty="0"/>
              <a:t>is generated, it is passed to the </a:t>
            </a:r>
            <a:r>
              <a:rPr lang="en-US" sz="2200" b="1" dirty="0" err="1"/>
              <a:t>itemStateChanged</a:t>
            </a:r>
            <a:r>
              <a:rPr lang="en-US" sz="2200" b="1" dirty="0"/>
              <a:t>( ) </a:t>
            </a:r>
            <a:r>
              <a:rPr lang="en-US" sz="2200" dirty="0"/>
              <a:t>method defined by </a:t>
            </a:r>
            <a:r>
              <a:rPr lang="en-US" sz="2200" b="1" dirty="0" err="1"/>
              <a:t>ItemListener</a:t>
            </a:r>
            <a:r>
              <a:rPr lang="en-US" sz="2200" b="1" dirty="0"/>
              <a:t>.</a:t>
            </a:r>
          </a:p>
          <a:p>
            <a:pPr>
              <a:spcAft>
                <a:spcPts val="600"/>
              </a:spcAft>
            </a:pPr>
            <a:r>
              <a:rPr lang="en-US" sz="2200" dirty="0"/>
              <a:t>Inside </a:t>
            </a:r>
            <a:r>
              <a:rPr lang="en-US" sz="2200" b="1" dirty="0" err="1"/>
              <a:t>itemStateChanged</a:t>
            </a:r>
            <a:r>
              <a:rPr lang="en-US" sz="2200" b="1" dirty="0"/>
              <a:t>( ), the </a:t>
            </a:r>
            <a:r>
              <a:rPr lang="en-US" sz="2200" b="1" dirty="0" err="1"/>
              <a:t>getItem</a:t>
            </a:r>
            <a:r>
              <a:rPr lang="en-US" sz="2200" b="1" dirty="0"/>
              <a:t>( ) </a:t>
            </a:r>
            <a:r>
              <a:rPr lang="en-US" sz="2200" dirty="0"/>
              <a:t>method can be called on the </a:t>
            </a:r>
            <a:r>
              <a:rPr lang="en-US" sz="2200" b="1" dirty="0" err="1"/>
              <a:t>ItemEvent</a:t>
            </a:r>
            <a:r>
              <a:rPr lang="en-US" sz="2200" b="1" dirty="0"/>
              <a:t> </a:t>
            </a:r>
            <a:r>
              <a:rPr lang="en-US" sz="2200" dirty="0"/>
              <a:t>object to obtain a reference to the </a:t>
            </a:r>
            <a:r>
              <a:rPr lang="en-US" sz="2200" b="1" dirty="0" err="1"/>
              <a:t>JToggleButton</a:t>
            </a:r>
            <a:r>
              <a:rPr lang="en-US" sz="2200" b="1" dirty="0"/>
              <a:t> </a:t>
            </a:r>
            <a:r>
              <a:rPr lang="en-US" sz="2200" dirty="0"/>
              <a:t>instance that generated the event.</a:t>
            </a:r>
          </a:p>
          <a:p>
            <a:pPr>
              <a:spcAft>
                <a:spcPts val="600"/>
              </a:spcAft>
              <a:buNone/>
            </a:pPr>
            <a:r>
              <a:rPr lang="en-US" sz="2200" dirty="0"/>
              <a:t>	Object </a:t>
            </a:r>
            <a:r>
              <a:rPr lang="en-US" sz="2200" b="1" dirty="0" err="1">
                <a:solidFill>
                  <a:srgbClr val="C00000"/>
                </a:solidFill>
              </a:rPr>
              <a:t>getItem</a:t>
            </a:r>
            <a:r>
              <a:rPr lang="en-US" sz="2200" b="1" dirty="0">
                <a:solidFill>
                  <a:srgbClr val="C00000"/>
                </a:solidFill>
              </a:rPr>
              <a:t>( )</a:t>
            </a:r>
          </a:p>
          <a:p>
            <a:pPr>
              <a:spcAft>
                <a:spcPts val="600"/>
              </a:spcAft>
            </a:pPr>
            <a:r>
              <a:rPr lang="en-US" sz="2200" dirty="0"/>
              <a:t>To determine a toggle button’s state, call  </a:t>
            </a:r>
            <a:r>
              <a:rPr lang="en-US" sz="2200" b="1" dirty="0" err="1"/>
              <a:t>isSelected</a:t>
            </a:r>
            <a:r>
              <a:rPr lang="en-US" sz="2200" b="1" dirty="0"/>
              <a:t>( ) </a:t>
            </a:r>
            <a:r>
              <a:rPr lang="en-US" sz="2200" dirty="0"/>
              <a:t>method.</a:t>
            </a:r>
          </a:p>
          <a:p>
            <a:pPr>
              <a:spcAft>
                <a:spcPts val="600"/>
              </a:spcAft>
              <a:buNone/>
            </a:pPr>
            <a:r>
              <a:rPr lang="en-US" sz="2200" dirty="0"/>
              <a:t>	</a:t>
            </a:r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b="1" dirty="0" err="1">
                <a:solidFill>
                  <a:srgbClr val="C00000"/>
                </a:solidFill>
              </a:rPr>
              <a:t>isSelected</a:t>
            </a:r>
            <a:r>
              <a:rPr lang="en-US" sz="2200" b="1" dirty="0">
                <a:solidFill>
                  <a:srgbClr val="C00000"/>
                </a:solidFill>
              </a:rPr>
              <a:t>( )</a:t>
            </a:r>
          </a:p>
          <a:p>
            <a:pPr lvl="1">
              <a:spcAft>
                <a:spcPts val="600"/>
              </a:spcAft>
            </a:pPr>
            <a:r>
              <a:rPr lang="en-US" sz="2200" dirty="0"/>
              <a:t>It returns </a:t>
            </a:r>
            <a:r>
              <a:rPr lang="en-US" sz="2200" b="1" dirty="0"/>
              <a:t>true </a:t>
            </a:r>
            <a:r>
              <a:rPr lang="en-US" sz="2200" b="1" u="sng" dirty="0"/>
              <a:t>if the button is selected </a:t>
            </a:r>
            <a:r>
              <a:rPr lang="en-US" sz="2200" dirty="0"/>
              <a:t>and false otherwise.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04800" y="76200"/>
            <a:ext cx="4724400" cy="6858000"/>
          </a:xfrm>
        </p:spPr>
        <p:txBody>
          <a:bodyPr/>
          <a:lstStyle/>
          <a:p>
            <a:pPr>
              <a:buNone/>
            </a:pPr>
            <a:r>
              <a:rPr lang="en-US" sz="2200" dirty="0"/>
              <a:t>import </a:t>
            </a:r>
            <a:r>
              <a:rPr lang="en-US" sz="2200" dirty="0" err="1"/>
              <a:t>javax.swing</a:t>
            </a:r>
            <a:r>
              <a:rPr lang="en-US" sz="2200" dirty="0"/>
              <a:t>.*;</a:t>
            </a:r>
          </a:p>
          <a:p>
            <a:pPr>
              <a:buNone/>
            </a:pPr>
            <a:r>
              <a:rPr lang="en-US" sz="2200" dirty="0"/>
              <a:t>import java.awt.*;</a:t>
            </a:r>
          </a:p>
          <a:p>
            <a:pPr>
              <a:buNone/>
            </a:pPr>
            <a:r>
              <a:rPr lang="en-US" sz="2200" dirty="0"/>
              <a:t>import </a:t>
            </a:r>
            <a:r>
              <a:rPr lang="en-US" sz="2200" dirty="0" err="1"/>
              <a:t>java.awt.event</a:t>
            </a:r>
            <a:r>
              <a:rPr lang="en-US" sz="2200" dirty="0"/>
              <a:t>.*;</a:t>
            </a:r>
          </a:p>
          <a:p>
            <a:pPr>
              <a:buNone/>
            </a:pPr>
            <a:r>
              <a:rPr lang="en-US" sz="2200" dirty="0"/>
              <a:t>class </a:t>
            </a:r>
            <a:r>
              <a:rPr lang="en-US" sz="2200" dirty="0" err="1"/>
              <a:t>SwingToggleButton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CC"/>
                </a:solidFill>
              </a:rPr>
              <a:t>extends </a:t>
            </a:r>
            <a:r>
              <a:rPr lang="en-US" sz="2200" dirty="0" err="1">
                <a:solidFill>
                  <a:srgbClr val="0000CC"/>
                </a:solidFill>
              </a:rPr>
              <a:t>JFrame</a:t>
            </a:r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dirty="0">
                <a:solidFill>
                  <a:srgbClr val="C00000"/>
                </a:solidFill>
              </a:rPr>
              <a:t>implements </a:t>
            </a:r>
            <a:r>
              <a:rPr lang="en-US" sz="2200" dirty="0" err="1">
                <a:solidFill>
                  <a:srgbClr val="C00000"/>
                </a:solidFill>
              </a:rPr>
              <a:t>ItemListener</a:t>
            </a:r>
            <a:endParaRPr lang="en-US" sz="22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dirty="0"/>
              <a:t>{ 	</a:t>
            </a:r>
            <a:r>
              <a:rPr lang="en-US" sz="2200" dirty="0" err="1"/>
              <a:t>JFrame</a:t>
            </a:r>
            <a:r>
              <a:rPr lang="en-US" sz="2200" dirty="0"/>
              <a:t> </a:t>
            </a:r>
            <a:r>
              <a:rPr lang="en-US" sz="2200" dirty="0" err="1"/>
              <a:t>jfrm</a:t>
            </a:r>
            <a:r>
              <a:rPr lang="en-US" sz="2200" dirty="0"/>
              <a:t>;</a:t>
            </a:r>
          </a:p>
          <a:p>
            <a:pPr>
              <a:buNone/>
            </a:pPr>
            <a:r>
              <a:rPr lang="en-US" sz="2200" dirty="0"/>
              <a:t>	</a:t>
            </a:r>
            <a:r>
              <a:rPr lang="en-US" sz="2200" b="1" dirty="0" err="1">
                <a:solidFill>
                  <a:srgbClr val="0000CC"/>
                </a:solidFill>
              </a:rPr>
              <a:t>JToggleButton</a:t>
            </a:r>
            <a:r>
              <a:rPr lang="en-US" sz="2200" dirty="0"/>
              <a:t> </a:t>
            </a:r>
            <a:r>
              <a:rPr lang="en-US" sz="2200" dirty="0" err="1"/>
              <a:t>jtbn</a:t>
            </a:r>
            <a:r>
              <a:rPr lang="en-US" sz="2200" dirty="0"/>
              <a:t>;</a:t>
            </a:r>
          </a:p>
          <a:p>
            <a:pPr>
              <a:buNone/>
            </a:pPr>
            <a:r>
              <a:rPr lang="en-US" sz="2200" dirty="0"/>
              <a:t>	</a:t>
            </a:r>
            <a:r>
              <a:rPr lang="en-US" sz="2200" dirty="0" err="1"/>
              <a:t>JLabel</a:t>
            </a:r>
            <a:r>
              <a:rPr lang="en-US" sz="2200" dirty="0"/>
              <a:t> </a:t>
            </a:r>
            <a:r>
              <a:rPr lang="en-US" sz="2200" dirty="0" err="1"/>
              <a:t>jlab</a:t>
            </a:r>
            <a:r>
              <a:rPr lang="en-US" sz="2200" dirty="0"/>
              <a:t>;	</a:t>
            </a:r>
          </a:p>
          <a:p>
            <a:pPr>
              <a:buNone/>
            </a:pPr>
            <a:r>
              <a:rPr lang="en-US" sz="2200" dirty="0" err="1"/>
              <a:t>SwingToggleButton</a:t>
            </a:r>
            <a:r>
              <a:rPr lang="en-US" sz="2200" dirty="0"/>
              <a:t>() </a:t>
            </a:r>
          </a:p>
          <a:p>
            <a:pPr>
              <a:buNone/>
            </a:pPr>
            <a:r>
              <a:rPr lang="en-US" sz="2200" dirty="0"/>
              <a:t>	{</a:t>
            </a:r>
          </a:p>
          <a:p>
            <a:pPr>
              <a:buNone/>
            </a:pPr>
            <a:r>
              <a:rPr lang="en-US" sz="2200" dirty="0" err="1"/>
              <a:t>jfrm</a:t>
            </a:r>
            <a:r>
              <a:rPr lang="en-US" sz="2200" dirty="0"/>
              <a:t> = new </a:t>
            </a:r>
            <a:r>
              <a:rPr lang="en-US" sz="2200" dirty="0" err="1"/>
              <a:t>JFrame</a:t>
            </a:r>
            <a:r>
              <a:rPr lang="en-US" sz="2200" dirty="0"/>
              <a:t>("Simple Swing ");</a:t>
            </a:r>
          </a:p>
          <a:p>
            <a:pPr>
              <a:buNone/>
            </a:pPr>
            <a:r>
              <a:rPr lang="en-US" sz="2200" dirty="0" err="1"/>
              <a:t>jfrm.setSize</a:t>
            </a:r>
            <a:r>
              <a:rPr lang="en-US" sz="2200" dirty="0"/>
              <a:t>(500, 400);</a:t>
            </a:r>
          </a:p>
          <a:p>
            <a:pPr>
              <a:buNone/>
            </a:pPr>
            <a:r>
              <a:rPr lang="en-US" sz="2200" dirty="0" err="1"/>
              <a:t>jfrm.setLayout</a:t>
            </a:r>
            <a:r>
              <a:rPr lang="en-US" sz="2200" dirty="0"/>
              <a:t>(new </a:t>
            </a:r>
            <a:r>
              <a:rPr lang="en-US" sz="2200" dirty="0" err="1"/>
              <a:t>FlowLayout</a:t>
            </a:r>
            <a:r>
              <a:rPr lang="en-US" sz="2200" dirty="0"/>
              <a:t>());</a:t>
            </a:r>
          </a:p>
          <a:p>
            <a:pPr>
              <a:buNone/>
            </a:pPr>
            <a:r>
              <a:rPr lang="en-US" sz="2200" dirty="0" err="1"/>
              <a:t>jfrm.setDefaultCloseOperation</a:t>
            </a:r>
            <a:r>
              <a:rPr lang="en-US" sz="2200" dirty="0"/>
              <a:t>(</a:t>
            </a:r>
            <a:r>
              <a:rPr lang="en-US" sz="2200" b="1" dirty="0" err="1">
                <a:solidFill>
                  <a:srgbClr val="0000CC"/>
                </a:solidFill>
              </a:rPr>
              <a:t>JFrame.EXIT_ON_CLOSE</a:t>
            </a:r>
            <a:r>
              <a:rPr lang="en-US" sz="2200" dirty="0"/>
              <a:t>);</a:t>
            </a:r>
          </a:p>
          <a:p>
            <a:pPr>
              <a:buNone/>
            </a:pPr>
            <a:r>
              <a:rPr lang="en-US" sz="2200" dirty="0"/>
              <a:t>		</a:t>
            </a:r>
          </a:p>
          <a:p>
            <a:pPr>
              <a:buNone/>
            </a:pPr>
            <a:endParaRPr lang="en-US" sz="22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419600" y="0"/>
            <a:ext cx="4724400" cy="6126163"/>
          </a:xfrm>
        </p:spPr>
        <p:txBody>
          <a:bodyPr/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jtbn</a:t>
            </a:r>
            <a:r>
              <a:rPr lang="en-US" sz="2000" dirty="0"/>
              <a:t>=new </a:t>
            </a:r>
            <a:r>
              <a:rPr lang="en-US" sz="2000" dirty="0" err="1"/>
              <a:t>JToggleButton</a:t>
            </a:r>
            <a:r>
              <a:rPr lang="en-US" sz="2000" dirty="0"/>
              <a:t>("On/Off");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jtbn.</a:t>
            </a:r>
            <a:r>
              <a:rPr lang="en-US" sz="2000" b="1" dirty="0" err="1">
                <a:solidFill>
                  <a:srgbClr val="C00000"/>
                </a:solidFill>
              </a:rPr>
              <a:t>addItemListener</a:t>
            </a:r>
            <a:r>
              <a:rPr lang="en-US" sz="2000" dirty="0"/>
              <a:t>(this);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jtbn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jlab</a:t>
            </a:r>
            <a:r>
              <a:rPr lang="en-US" sz="2000" dirty="0"/>
              <a:t> = new </a:t>
            </a:r>
            <a:r>
              <a:rPr lang="en-US" sz="2000" dirty="0" err="1"/>
              <a:t>JLabel</a:t>
            </a:r>
            <a:r>
              <a:rPr lang="en-US" sz="2000" dirty="0"/>
              <a:t>("Button is OFF");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jlab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jfrm.setVisible</a:t>
            </a:r>
            <a:r>
              <a:rPr lang="en-US" sz="2000" dirty="0"/>
              <a:t>(true);</a:t>
            </a: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public void </a:t>
            </a:r>
            <a:r>
              <a:rPr lang="en-US" sz="2000" dirty="0" err="1"/>
              <a:t>i</a:t>
            </a:r>
            <a:r>
              <a:rPr lang="en-US" sz="2000" dirty="0" err="1">
                <a:solidFill>
                  <a:srgbClr val="C00000"/>
                </a:solidFill>
              </a:rPr>
              <a:t>temStateChanged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dirty="0" err="1"/>
              <a:t>ItemEvent</a:t>
            </a:r>
            <a:r>
              <a:rPr lang="en-US" sz="2000" dirty="0"/>
              <a:t> </a:t>
            </a:r>
            <a:r>
              <a:rPr lang="en-US" sz="2000" dirty="0" err="1"/>
              <a:t>ie</a:t>
            </a:r>
            <a:r>
              <a:rPr lang="en-US" sz="2000" dirty="0"/>
              <a:t>) </a:t>
            </a:r>
          </a:p>
          <a:p>
            <a:pPr>
              <a:buNone/>
            </a:pPr>
            <a:r>
              <a:rPr lang="en-US" sz="2000" dirty="0"/>
              <a:t>	 {</a:t>
            </a:r>
          </a:p>
          <a:p>
            <a:pPr>
              <a:buNone/>
            </a:pPr>
            <a:r>
              <a:rPr lang="en-US" sz="2000" dirty="0"/>
              <a:t>		if(</a:t>
            </a:r>
            <a:r>
              <a:rPr lang="en-US" sz="2000" dirty="0" err="1"/>
              <a:t>jtbn.</a:t>
            </a:r>
            <a:r>
              <a:rPr lang="en-US" sz="2000" b="1" dirty="0" err="1">
                <a:solidFill>
                  <a:srgbClr val="C00000"/>
                </a:solidFill>
              </a:rPr>
              <a:t>isSelected</a:t>
            </a:r>
            <a:r>
              <a:rPr lang="en-US" sz="2000" b="1" dirty="0">
                <a:solidFill>
                  <a:srgbClr val="C00000"/>
                </a:solidFill>
              </a:rPr>
              <a:t>(</a:t>
            </a:r>
            <a:r>
              <a:rPr lang="en-US" sz="2000" dirty="0"/>
              <a:t>))</a:t>
            </a:r>
          </a:p>
          <a:p>
            <a:pPr>
              <a:buNone/>
            </a:pPr>
            <a:r>
              <a:rPr lang="en-US" sz="2000" dirty="0"/>
              <a:t>		      </a:t>
            </a:r>
            <a:r>
              <a:rPr lang="en-US" sz="2000" dirty="0" err="1"/>
              <a:t>jlab.</a:t>
            </a:r>
            <a:r>
              <a:rPr lang="en-US" sz="2000" b="1" dirty="0" err="1">
                <a:solidFill>
                  <a:srgbClr val="C00000"/>
                </a:solidFill>
              </a:rPr>
              <a:t>setText</a:t>
            </a:r>
            <a:r>
              <a:rPr lang="en-US" sz="2000" b="1" dirty="0"/>
              <a:t>(</a:t>
            </a:r>
            <a:r>
              <a:rPr lang="en-US" sz="2000" dirty="0"/>
              <a:t>"Button is on.");</a:t>
            </a:r>
          </a:p>
          <a:p>
            <a:pPr>
              <a:buNone/>
            </a:pPr>
            <a:r>
              <a:rPr lang="en-US" sz="2000" dirty="0"/>
              <a:t>		else</a:t>
            </a:r>
          </a:p>
          <a:p>
            <a:pPr>
              <a:buNone/>
            </a:pPr>
            <a:r>
              <a:rPr lang="en-US" sz="2000" dirty="0"/>
              <a:t>		        </a:t>
            </a:r>
            <a:r>
              <a:rPr lang="en-US" sz="2000" dirty="0" err="1"/>
              <a:t>jlab.</a:t>
            </a:r>
            <a:r>
              <a:rPr lang="en-US" sz="2000" b="1" dirty="0" err="1">
                <a:solidFill>
                  <a:srgbClr val="C00000"/>
                </a:solidFill>
              </a:rPr>
              <a:t>setText</a:t>
            </a:r>
            <a:r>
              <a:rPr lang="en-US" sz="2000" dirty="0"/>
              <a:t>("Button is off.");</a:t>
            </a:r>
          </a:p>
          <a:p>
            <a:pPr>
              <a:buNone/>
            </a:pPr>
            <a:r>
              <a:rPr lang="en-US" sz="2000" dirty="0"/>
              <a:t>	    } 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7772400" cy="6126163"/>
          </a:xfrm>
        </p:spPr>
        <p:txBody>
          <a:bodyPr/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	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>
              <a:buNone/>
            </a:pPr>
            <a:r>
              <a:rPr lang="en-US" sz="2000" dirty="0"/>
              <a:t>	{		</a:t>
            </a:r>
          </a:p>
          <a:p>
            <a:pPr>
              <a:buNone/>
            </a:pPr>
            <a:r>
              <a:rPr lang="en-US" sz="2000" dirty="0"/>
              <a:t>		new </a:t>
            </a:r>
            <a:r>
              <a:rPr lang="en-US" sz="2000" dirty="0" err="1"/>
              <a:t>SwingToggleButton</a:t>
            </a:r>
            <a:r>
              <a:rPr lang="en-US" sz="2000" dirty="0"/>
              <a:t>() ;</a:t>
            </a: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}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B1121-D50C-8F3B-DAAB-D57A52EAB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332" y="3097494"/>
            <a:ext cx="3991532" cy="3238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041565-1F37-3446-21F6-10B8748F2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2891602"/>
            <a:ext cx="3982006" cy="33342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JCheckBox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10200"/>
          </a:xfrm>
        </p:spPr>
        <p:txBody>
          <a:bodyPr/>
          <a:lstStyle/>
          <a:p>
            <a:r>
              <a:rPr lang="en-US" sz="2400" b="1" dirty="0" err="1"/>
              <a:t>JCheckBox</a:t>
            </a:r>
            <a:r>
              <a:rPr lang="en-US" sz="2400" b="1" dirty="0"/>
              <a:t> </a:t>
            </a:r>
            <a:r>
              <a:rPr lang="en-US" sz="2400" dirty="0"/>
              <a:t>class provides the functionality of a check box. </a:t>
            </a:r>
          </a:p>
          <a:p>
            <a:r>
              <a:rPr lang="en-US" sz="2400" dirty="0"/>
              <a:t>Its immediate </a:t>
            </a:r>
            <a:r>
              <a:rPr lang="en-US" sz="2400" b="1" u="sng" dirty="0" err="1"/>
              <a:t>superclass</a:t>
            </a:r>
            <a:r>
              <a:rPr lang="en-US" sz="2400" u="sng" dirty="0"/>
              <a:t> is </a:t>
            </a:r>
            <a:r>
              <a:rPr lang="en-US" sz="2400" b="1" u="sng" dirty="0" err="1">
                <a:solidFill>
                  <a:srgbClr val="0000CC"/>
                </a:solidFill>
              </a:rPr>
              <a:t>JToggleButton</a:t>
            </a:r>
            <a:r>
              <a:rPr lang="en-US" sz="2400" u="sng" dirty="0"/>
              <a:t>,</a:t>
            </a:r>
          </a:p>
          <a:p>
            <a:r>
              <a:rPr lang="en-US" sz="2400" b="1" dirty="0" err="1"/>
              <a:t>JCheckBox</a:t>
            </a:r>
            <a:r>
              <a:rPr lang="en-US" sz="2400" b="1" dirty="0"/>
              <a:t> </a:t>
            </a:r>
            <a:r>
              <a:rPr lang="en-US" sz="2400" dirty="0"/>
              <a:t>defines several constructors. 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 err="1"/>
              <a:t>JCheckBox</a:t>
            </a:r>
            <a:r>
              <a:rPr lang="en-US" sz="2400" dirty="0"/>
              <a:t>(String </a:t>
            </a:r>
            <a:r>
              <a:rPr lang="en-US" sz="2400" i="1" dirty="0"/>
              <a:t>str)</a:t>
            </a:r>
          </a:p>
          <a:p>
            <a:pPr>
              <a:buNone/>
            </a:pPr>
            <a:endParaRPr lang="en-US" sz="2400" i="1" dirty="0"/>
          </a:p>
          <a:p>
            <a:r>
              <a:rPr lang="en-US" sz="2400" dirty="0"/>
              <a:t>When the </a:t>
            </a:r>
            <a:r>
              <a:rPr lang="en-US" sz="2400" u="sng" dirty="0"/>
              <a:t>user selects or deselects a check box</a:t>
            </a:r>
            <a:r>
              <a:rPr lang="en-US" sz="2400" dirty="0"/>
              <a:t>, an </a:t>
            </a:r>
            <a:r>
              <a:rPr lang="en-US" sz="2400" dirty="0" err="1">
                <a:solidFill>
                  <a:srgbClr val="0000CC"/>
                </a:solidFill>
              </a:rPr>
              <a:t>ItemEvent</a:t>
            </a:r>
            <a:r>
              <a:rPr lang="en-US" sz="2400" dirty="0"/>
              <a:t> is generated. </a:t>
            </a:r>
          </a:p>
          <a:p>
            <a:endParaRPr lang="en-US" sz="2400" dirty="0"/>
          </a:p>
          <a:p>
            <a:r>
              <a:rPr lang="en-US" sz="2400" dirty="0"/>
              <a:t>Inside the </a:t>
            </a:r>
            <a:r>
              <a:rPr lang="en-US" sz="2400" b="1" dirty="0" err="1"/>
              <a:t>itemStateChanged</a:t>
            </a:r>
            <a:r>
              <a:rPr lang="en-US" sz="2400" b="1" dirty="0"/>
              <a:t>( ) </a:t>
            </a:r>
            <a:r>
              <a:rPr lang="en-US" sz="2400" dirty="0"/>
              <a:t>method, </a:t>
            </a:r>
            <a:r>
              <a:rPr lang="en-US" sz="2400" b="1" dirty="0" err="1"/>
              <a:t>getItem</a:t>
            </a:r>
            <a:r>
              <a:rPr lang="en-US" sz="2400" b="1" dirty="0"/>
              <a:t>( ) </a:t>
            </a:r>
            <a:r>
              <a:rPr lang="en-US" sz="2400" dirty="0"/>
              <a:t>is called on </a:t>
            </a:r>
            <a:r>
              <a:rPr lang="en-US" sz="2400" dirty="0" err="1"/>
              <a:t>ItemEvent</a:t>
            </a:r>
            <a:r>
              <a:rPr lang="en-US" sz="2400" dirty="0"/>
              <a:t> object to obtain a reference to the </a:t>
            </a:r>
            <a:r>
              <a:rPr lang="en-US" sz="2400" u="sng" dirty="0" err="1"/>
              <a:t>JCheckBox</a:t>
            </a:r>
            <a:r>
              <a:rPr lang="en-US" sz="2400" u="sng" dirty="0"/>
              <a:t> object that generated the event</a:t>
            </a:r>
          </a:p>
          <a:p>
            <a:endParaRPr lang="en-US" sz="2400" dirty="0"/>
          </a:p>
          <a:p>
            <a:r>
              <a:rPr lang="en-US" sz="2400" dirty="0"/>
              <a:t>To </a:t>
            </a:r>
            <a:r>
              <a:rPr lang="en-US" sz="2400" u="sng" dirty="0"/>
              <a:t>determine the selected state </a:t>
            </a:r>
            <a:r>
              <a:rPr lang="en-US" sz="2400" dirty="0"/>
              <a:t>of a check box is to call </a:t>
            </a:r>
            <a:r>
              <a:rPr lang="en-US" sz="2400" b="1" dirty="0" err="1"/>
              <a:t>isSelected</a:t>
            </a:r>
            <a:r>
              <a:rPr lang="en-US" sz="2400" b="1" dirty="0"/>
              <a:t>( ) </a:t>
            </a:r>
            <a:r>
              <a:rPr lang="en-US" sz="2400" dirty="0"/>
              <a:t>on the </a:t>
            </a:r>
            <a:r>
              <a:rPr lang="en-US" sz="2400" b="1" dirty="0" err="1"/>
              <a:t>JCheckBox</a:t>
            </a:r>
            <a:r>
              <a:rPr lang="en-US" sz="2400" b="1" dirty="0"/>
              <a:t> </a:t>
            </a:r>
            <a:r>
              <a:rPr lang="en-US" sz="2400" dirty="0"/>
              <a:t>instance.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AF6FFC-A535-E6A7-CB60-BC7340BD4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2057400"/>
            <a:ext cx="885949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52400" y="29497"/>
            <a:ext cx="4724400" cy="6858000"/>
          </a:xfrm>
        </p:spPr>
        <p:txBody>
          <a:bodyPr/>
          <a:lstStyle/>
          <a:p>
            <a:pPr>
              <a:buNone/>
            </a:pPr>
            <a:r>
              <a:rPr lang="en-US" sz="2200" dirty="0"/>
              <a:t>import </a:t>
            </a:r>
            <a:r>
              <a:rPr lang="en-US" sz="2200" dirty="0" err="1"/>
              <a:t>javax.swing</a:t>
            </a:r>
            <a:r>
              <a:rPr lang="en-US" sz="2200" dirty="0"/>
              <a:t>.*;</a:t>
            </a:r>
          </a:p>
          <a:p>
            <a:pPr>
              <a:buNone/>
            </a:pPr>
            <a:r>
              <a:rPr lang="en-US" sz="2200" dirty="0"/>
              <a:t>import java.awt.*;</a:t>
            </a:r>
          </a:p>
          <a:p>
            <a:pPr>
              <a:buNone/>
            </a:pPr>
            <a:r>
              <a:rPr lang="en-US" sz="2200" dirty="0"/>
              <a:t>import </a:t>
            </a:r>
            <a:r>
              <a:rPr lang="en-US" sz="2200" dirty="0" err="1"/>
              <a:t>java.awt.event</a:t>
            </a:r>
            <a:r>
              <a:rPr lang="en-US" sz="2200" dirty="0"/>
              <a:t>.*;</a:t>
            </a:r>
          </a:p>
          <a:p>
            <a:pPr>
              <a:buNone/>
            </a:pPr>
            <a:r>
              <a:rPr lang="en-US" sz="2200" dirty="0"/>
              <a:t>class </a:t>
            </a:r>
            <a:r>
              <a:rPr lang="en-US" sz="2200" dirty="0" err="1"/>
              <a:t>SwingJCheckBox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CC"/>
                </a:solidFill>
              </a:rPr>
              <a:t>extends </a:t>
            </a:r>
            <a:r>
              <a:rPr lang="en-US" sz="2200" dirty="0" err="1">
                <a:solidFill>
                  <a:srgbClr val="0000CC"/>
                </a:solidFill>
              </a:rPr>
              <a:t>JFrame</a:t>
            </a:r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dirty="0">
                <a:solidFill>
                  <a:srgbClr val="C00000"/>
                </a:solidFill>
              </a:rPr>
              <a:t>implements </a:t>
            </a:r>
            <a:r>
              <a:rPr lang="en-US" sz="2200" dirty="0" err="1">
                <a:solidFill>
                  <a:srgbClr val="C00000"/>
                </a:solidFill>
              </a:rPr>
              <a:t>ItemListener</a:t>
            </a:r>
            <a:endParaRPr lang="en-US" sz="22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dirty="0"/>
              <a:t>{ 	</a:t>
            </a:r>
            <a:r>
              <a:rPr lang="en-US" sz="2200" dirty="0" err="1"/>
              <a:t>JFrame</a:t>
            </a:r>
            <a:r>
              <a:rPr lang="en-US" sz="2200" dirty="0"/>
              <a:t> </a:t>
            </a:r>
            <a:r>
              <a:rPr lang="en-US" sz="2200" dirty="0" err="1"/>
              <a:t>jfrm</a:t>
            </a:r>
            <a:r>
              <a:rPr lang="en-US" sz="2200" dirty="0"/>
              <a:t>;</a:t>
            </a:r>
          </a:p>
          <a:p>
            <a:pPr>
              <a:buNone/>
            </a:pPr>
            <a:r>
              <a:rPr lang="en-US" sz="2200" dirty="0"/>
              <a:t>	</a:t>
            </a:r>
            <a:r>
              <a:rPr lang="en-US" sz="2200" b="1" dirty="0">
                <a:solidFill>
                  <a:srgbClr val="0000CC"/>
                </a:solidFill>
              </a:rPr>
              <a:t> </a:t>
            </a:r>
            <a:r>
              <a:rPr lang="en-US" sz="2200" b="1" dirty="0" err="1">
                <a:solidFill>
                  <a:srgbClr val="0000CC"/>
                </a:solidFill>
              </a:rPr>
              <a:t>JCheckBox</a:t>
            </a:r>
            <a:r>
              <a:rPr lang="en-US" sz="2200" b="1" dirty="0">
                <a:solidFill>
                  <a:srgbClr val="0000CC"/>
                </a:solidFill>
              </a:rPr>
              <a:t> </a:t>
            </a:r>
            <a:r>
              <a:rPr lang="en-US" sz="2200" b="1" dirty="0" err="1">
                <a:solidFill>
                  <a:srgbClr val="0000CC"/>
                </a:solidFill>
              </a:rPr>
              <a:t>cb</a:t>
            </a:r>
            <a:r>
              <a:rPr lang="en-US" sz="2200" b="1" dirty="0">
                <a:solidFill>
                  <a:srgbClr val="0000CC"/>
                </a:solidFill>
              </a:rPr>
              <a:t>;</a:t>
            </a:r>
            <a:endParaRPr lang="en-US" sz="2200" dirty="0"/>
          </a:p>
          <a:p>
            <a:pPr>
              <a:buNone/>
            </a:pPr>
            <a:r>
              <a:rPr lang="en-US" sz="2200" dirty="0"/>
              <a:t>	</a:t>
            </a:r>
            <a:r>
              <a:rPr lang="en-US" sz="2200" dirty="0" err="1"/>
              <a:t>JLabel</a:t>
            </a:r>
            <a:r>
              <a:rPr lang="en-US" sz="2200" dirty="0"/>
              <a:t> </a:t>
            </a:r>
            <a:r>
              <a:rPr lang="en-US" sz="2200" dirty="0" err="1"/>
              <a:t>jlab</a:t>
            </a:r>
            <a:r>
              <a:rPr lang="en-US" sz="2200" dirty="0"/>
              <a:t>;	</a:t>
            </a:r>
          </a:p>
          <a:p>
            <a:pPr>
              <a:buNone/>
            </a:pPr>
            <a:r>
              <a:rPr lang="en-US" sz="2200" dirty="0" err="1"/>
              <a:t>SwingJCheckBox</a:t>
            </a:r>
            <a:r>
              <a:rPr lang="en-US" sz="2200" dirty="0"/>
              <a:t>() </a:t>
            </a:r>
          </a:p>
          <a:p>
            <a:pPr>
              <a:buNone/>
            </a:pPr>
            <a:r>
              <a:rPr lang="en-US" sz="2200" dirty="0"/>
              <a:t>	{</a:t>
            </a:r>
          </a:p>
          <a:p>
            <a:pPr>
              <a:buNone/>
            </a:pPr>
            <a:r>
              <a:rPr lang="en-US" sz="2200" dirty="0" err="1"/>
              <a:t>jfrm</a:t>
            </a:r>
            <a:r>
              <a:rPr lang="en-US" sz="2200" dirty="0"/>
              <a:t> = new </a:t>
            </a:r>
            <a:r>
              <a:rPr lang="en-US" sz="2200" dirty="0" err="1"/>
              <a:t>JFrame</a:t>
            </a:r>
            <a:r>
              <a:rPr lang="en-US" sz="2200" dirty="0"/>
              <a:t>("Simple Swing ");</a:t>
            </a:r>
          </a:p>
          <a:p>
            <a:pPr>
              <a:buNone/>
            </a:pPr>
            <a:r>
              <a:rPr lang="en-US" sz="2200" dirty="0" err="1"/>
              <a:t>jfrm.setSize</a:t>
            </a:r>
            <a:r>
              <a:rPr lang="en-US" sz="2200" dirty="0"/>
              <a:t>(500, 400);</a:t>
            </a:r>
          </a:p>
          <a:p>
            <a:pPr>
              <a:buNone/>
            </a:pPr>
            <a:r>
              <a:rPr lang="en-US" sz="2200" dirty="0" err="1"/>
              <a:t>jfrm.setLayout</a:t>
            </a:r>
            <a:r>
              <a:rPr lang="en-US" sz="2200" dirty="0"/>
              <a:t>(new </a:t>
            </a:r>
            <a:r>
              <a:rPr lang="en-US" sz="2200" dirty="0" err="1"/>
              <a:t>FlowLayout</a:t>
            </a:r>
            <a:r>
              <a:rPr lang="en-US" sz="2200" dirty="0"/>
              <a:t>());</a:t>
            </a:r>
          </a:p>
          <a:p>
            <a:pPr>
              <a:buNone/>
            </a:pPr>
            <a:r>
              <a:rPr lang="en-US" sz="2200" dirty="0" err="1"/>
              <a:t>jfrm.setDefaultCloseOperation</a:t>
            </a:r>
            <a:r>
              <a:rPr lang="en-US" sz="2200" dirty="0"/>
              <a:t>(</a:t>
            </a:r>
            <a:r>
              <a:rPr lang="en-US" sz="2200" b="1" dirty="0" err="1">
                <a:solidFill>
                  <a:srgbClr val="0000CC"/>
                </a:solidFill>
              </a:rPr>
              <a:t>JFrame.EXIT_ON_CLOSE</a:t>
            </a:r>
            <a:r>
              <a:rPr lang="en-US" sz="2200" dirty="0"/>
              <a:t>);</a:t>
            </a:r>
          </a:p>
          <a:p>
            <a:pPr>
              <a:buNone/>
            </a:pPr>
            <a:r>
              <a:rPr lang="en-US" sz="2200" dirty="0"/>
              <a:t>		</a:t>
            </a:r>
          </a:p>
          <a:p>
            <a:pPr>
              <a:buNone/>
            </a:pPr>
            <a:endParaRPr lang="en-US" sz="22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572000" y="230187"/>
            <a:ext cx="4724400" cy="6126163"/>
          </a:xfrm>
        </p:spPr>
        <p:txBody>
          <a:bodyPr/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	 </a:t>
            </a:r>
            <a:r>
              <a:rPr lang="en-US" sz="2000" dirty="0" err="1"/>
              <a:t>JCheckBox</a:t>
            </a:r>
            <a:r>
              <a:rPr lang="en-US" sz="2000" dirty="0"/>
              <a:t> </a:t>
            </a:r>
            <a:r>
              <a:rPr lang="en-US" sz="2000" dirty="0" err="1"/>
              <a:t>cb</a:t>
            </a:r>
            <a:r>
              <a:rPr lang="en-US" sz="2000" dirty="0"/>
              <a:t> = new </a:t>
            </a:r>
            <a:r>
              <a:rPr lang="en-US" sz="2000" dirty="0" err="1"/>
              <a:t>JCheckBox</a:t>
            </a:r>
            <a:r>
              <a:rPr lang="en-US" sz="2000" dirty="0"/>
              <a:t>("C");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cb.addItemListener</a:t>
            </a:r>
            <a:r>
              <a:rPr lang="en-US" sz="2000" dirty="0"/>
              <a:t>(this);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cb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cb</a:t>
            </a:r>
            <a:r>
              <a:rPr lang="en-US" sz="2000" dirty="0"/>
              <a:t> = new </a:t>
            </a:r>
            <a:r>
              <a:rPr lang="en-US" sz="2000" dirty="0" err="1"/>
              <a:t>JCheckBox</a:t>
            </a:r>
            <a:r>
              <a:rPr lang="en-US" sz="2000" dirty="0"/>
              <a:t>("Java");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cb.addItemListener</a:t>
            </a:r>
            <a:r>
              <a:rPr lang="en-US" sz="2000" dirty="0"/>
              <a:t>(this);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cb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cb</a:t>
            </a:r>
            <a:r>
              <a:rPr lang="en-US" sz="2000" dirty="0"/>
              <a:t> = new </a:t>
            </a:r>
            <a:r>
              <a:rPr lang="en-US" sz="2000" dirty="0" err="1"/>
              <a:t>JCheckBox</a:t>
            </a:r>
            <a:r>
              <a:rPr lang="en-US" sz="2000" dirty="0"/>
              <a:t>("Python");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cb.addItemListener</a:t>
            </a:r>
            <a:r>
              <a:rPr lang="en-US" sz="2000" dirty="0"/>
              <a:t>(this);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cb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jlab</a:t>
            </a:r>
            <a:r>
              <a:rPr lang="en-US" sz="2000" dirty="0"/>
              <a:t> = new </a:t>
            </a:r>
            <a:r>
              <a:rPr lang="en-US" sz="2000" dirty="0" err="1"/>
              <a:t>JLabel</a:t>
            </a:r>
            <a:r>
              <a:rPr lang="en-US" sz="2000" dirty="0"/>
              <a:t>("Select language");</a:t>
            </a:r>
          </a:p>
          <a:p>
            <a:pPr>
              <a:buNone/>
            </a:pP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jlab</a:t>
            </a:r>
            <a:r>
              <a:rPr lang="en-US" sz="2000" dirty="0"/>
              <a:t>);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dirty="0" err="1"/>
              <a:t>jfrm.setVisible</a:t>
            </a:r>
            <a:r>
              <a:rPr lang="en-US" sz="2000" dirty="0"/>
              <a:t>(true);</a:t>
            </a:r>
          </a:p>
          <a:p>
            <a:pPr>
              <a:buNone/>
            </a:pPr>
            <a:r>
              <a:rPr lang="en-US" sz="2000" dirty="0"/>
              <a:t>	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749" y="380793"/>
            <a:ext cx="7772400" cy="6126163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public void </a:t>
            </a:r>
            <a:r>
              <a:rPr lang="en-US" sz="2000" b="1" dirty="0" err="1"/>
              <a:t>itemStateChanged</a:t>
            </a:r>
            <a:r>
              <a:rPr lang="en-US" sz="2000" b="1" dirty="0"/>
              <a:t>(</a:t>
            </a:r>
            <a:r>
              <a:rPr lang="en-US" sz="2000" b="1" dirty="0" err="1">
                <a:solidFill>
                  <a:srgbClr val="0000CC"/>
                </a:solidFill>
              </a:rPr>
              <a:t>ItemEvent</a:t>
            </a:r>
            <a:r>
              <a:rPr lang="en-US" sz="2000" b="1" dirty="0">
                <a:solidFill>
                  <a:srgbClr val="0000CC"/>
                </a:solidFill>
              </a:rPr>
              <a:t> </a:t>
            </a:r>
            <a:r>
              <a:rPr lang="en-US" sz="2000" dirty="0" err="1"/>
              <a:t>ie</a:t>
            </a:r>
            <a:r>
              <a:rPr lang="en-US" sz="2000" dirty="0"/>
              <a:t>) </a:t>
            </a:r>
          </a:p>
          <a:p>
            <a:pPr>
              <a:buNone/>
            </a:pPr>
            <a:r>
              <a:rPr lang="en-US" sz="2000" dirty="0"/>
              <a:t>	{ 	</a:t>
            </a:r>
            <a:r>
              <a:rPr lang="en-US" sz="2000" b="1" dirty="0" err="1">
                <a:solidFill>
                  <a:srgbClr val="0000CC"/>
                </a:solidFill>
              </a:rPr>
              <a:t>JCheckBox</a:t>
            </a:r>
            <a:r>
              <a:rPr lang="en-US" sz="2000" dirty="0"/>
              <a:t> </a:t>
            </a:r>
            <a:r>
              <a:rPr lang="en-US" sz="2000" dirty="0" err="1"/>
              <a:t>cb</a:t>
            </a:r>
            <a:r>
              <a:rPr lang="en-US" sz="2000" dirty="0"/>
              <a:t> = (</a:t>
            </a:r>
            <a:r>
              <a:rPr lang="en-US" sz="2000" dirty="0" err="1"/>
              <a:t>JCheckBox</a:t>
            </a:r>
            <a:r>
              <a:rPr lang="en-US" sz="2000" dirty="0"/>
              <a:t>)</a:t>
            </a:r>
            <a:r>
              <a:rPr lang="en-US" sz="2000" dirty="0" err="1"/>
              <a:t>ie.getItem</a:t>
            </a:r>
            <a:r>
              <a:rPr lang="en-US" sz="2000" dirty="0"/>
              <a:t>();</a:t>
            </a:r>
          </a:p>
          <a:p>
            <a:pPr>
              <a:buNone/>
            </a:pPr>
            <a:r>
              <a:rPr lang="en-US" sz="2000" dirty="0"/>
              <a:t>		if(</a:t>
            </a:r>
            <a:r>
              <a:rPr lang="en-US" sz="2000" dirty="0" err="1"/>
              <a:t>cb.isSelected</a:t>
            </a:r>
            <a:r>
              <a:rPr lang="en-US" sz="2000" dirty="0"/>
              <a:t>())</a:t>
            </a:r>
          </a:p>
          <a:p>
            <a:pPr>
              <a:buNone/>
            </a:pPr>
            <a:r>
              <a:rPr lang="en-US" sz="2000" dirty="0"/>
              <a:t>			</a:t>
            </a:r>
            <a:r>
              <a:rPr lang="en-US" sz="2000" dirty="0" err="1"/>
              <a:t>jlab.setText</a:t>
            </a:r>
            <a:r>
              <a:rPr lang="en-US" sz="2000" dirty="0"/>
              <a:t>(</a:t>
            </a:r>
            <a:r>
              <a:rPr lang="en-US" sz="2000" dirty="0" err="1"/>
              <a:t>cb.getText</a:t>
            </a:r>
            <a:r>
              <a:rPr lang="en-US" sz="2000" dirty="0"/>
              <a:t>() + " is selected now");</a:t>
            </a:r>
          </a:p>
          <a:p>
            <a:pPr>
              <a:buNone/>
            </a:pPr>
            <a:r>
              <a:rPr lang="en-US" sz="2000" dirty="0"/>
              <a:t>		else</a:t>
            </a:r>
          </a:p>
          <a:p>
            <a:pPr>
              <a:buNone/>
            </a:pPr>
            <a:r>
              <a:rPr lang="en-US" sz="2000" dirty="0"/>
              <a:t>			</a:t>
            </a:r>
            <a:r>
              <a:rPr lang="en-US" sz="2000" dirty="0" err="1"/>
              <a:t>jlab.setText</a:t>
            </a:r>
            <a:r>
              <a:rPr lang="en-US" sz="2000" dirty="0"/>
              <a:t>(</a:t>
            </a:r>
            <a:r>
              <a:rPr lang="en-US" sz="2000" dirty="0" err="1"/>
              <a:t>cb.getText</a:t>
            </a:r>
            <a:r>
              <a:rPr lang="en-US" sz="2000" dirty="0"/>
              <a:t>() + " is cleared now");</a:t>
            </a: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>
              <a:buNone/>
            </a:pPr>
            <a:r>
              <a:rPr lang="en-US" sz="2000" dirty="0"/>
              <a:t>	{						</a:t>
            </a:r>
          </a:p>
          <a:p>
            <a:pPr>
              <a:buNone/>
            </a:pPr>
            <a:r>
              <a:rPr lang="en-US" sz="2000" dirty="0"/>
              <a:t>				new </a:t>
            </a:r>
            <a:r>
              <a:rPr lang="en-US" sz="2000" dirty="0" err="1"/>
              <a:t>SwingJCheckbox</a:t>
            </a:r>
            <a:r>
              <a:rPr lang="en-US" sz="2000" dirty="0"/>
              <a:t>();</a:t>
            </a:r>
          </a:p>
          <a:p>
            <a:pPr>
              <a:buNone/>
            </a:pPr>
            <a:r>
              <a:rPr lang="en-US" sz="2000" dirty="0"/>
              <a:t>				</a:t>
            </a:r>
            <a:endParaRPr lang="en-US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 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91841" y="65659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4612CB-0F75-BAD9-B906-DAB9164E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32" y="3962314"/>
            <a:ext cx="3172161" cy="2576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09229A-C7F1-5D00-FDA9-0D7ECD2AE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15" y="3962315"/>
            <a:ext cx="3190969" cy="257659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JRadioButton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r>
              <a:rPr lang="en-US" sz="2400" dirty="0"/>
              <a:t>Radio buttons are a group of </a:t>
            </a:r>
            <a:r>
              <a:rPr lang="en-US" sz="2400" b="1" dirty="0"/>
              <a:t>mutually exclusive buttons</a:t>
            </a:r>
            <a:r>
              <a:rPr lang="en-US" sz="2400" dirty="0"/>
              <a:t>, in which </a:t>
            </a:r>
            <a:r>
              <a:rPr lang="en-US" sz="2400" b="1" u="sng" dirty="0"/>
              <a:t>only one button can be selected at any one time.</a:t>
            </a:r>
          </a:p>
          <a:p>
            <a:r>
              <a:rPr lang="en-US" sz="2400" dirty="0"/>
              <a:t>They are supported by the </a:t>
            </a:r>
            <a:r>
              <a:rPr lang="en-US" sz="2400" b="1" dirty="0" err="1"/>
              <a:t>JRadioButton</a:t>
            </a:r>
            <a:r>
              <a:rPr lang="en-US" sz="2400" b="1" dirty="0"/>
              <a:t> class</a:t>
            </a:r>
            <a:r>
              <a:rPr lang="en-US" sz="2400" u="sng" dirty="0"/>
              <a:t>, which extends </a:t>
            </a:r>
            <a:r>
              <a:rPr lang="en-US" sz="2400" u="sng" dirty="0" err="1"/>
              <a:t>JToggleButton</a:t>
            </a:r>
            <a:r>
              <a:rPr lang="en-US" sz="2400" u="sng" dirty="0"/>
              <a:t>.</a:t>
            </a:r>
          </a:p>
          <a:p>
            <a:r>
              <a:rPr lang="en-US" sz="2400" b="1" dirty="0" err="1"/>
              <a:t>JRadioButton</a:t>
            </a:r>
            <a:r>
              <a:rPr lang="en-US" sz="2400" dirty="0"/>
              <a:t> provides several constructors</a:t>
            </a:r>
          </a:p>
          <a:p>
            <a:pPr>
              <a:buNone/>
            </a:pPr>
            <a:r>
              <a:rPr lang="en-US" sz="2400" dirty="0" err="1"/>
              <a:t>JRadioButton</a:t>
            </a:r>
            <a:r>
              <a:rPr lang="en-US" sz="2400" dirty="0"/>
              <a:t>(String </a:t>
            </a:r>
            <a:r>
              <a:rPr lang="en-US" sz="2400" i="1" dirty="0" err="1"/>
              <a:t>str</a:t>
            </a:r>
            <a:r>
              <a:rPr lang="en-US" sz="2400" i="1" dirty="0"/>
              <a:t>)</a:t>
            </a:r>
          </a:p>
          <a:p>
            <a:r>
              <a:rPr lang="en-US" sz="2400" dirty="0"/>
              <a:t>A button group is created by the </a:t>
            </a:r>
            <a:r>
              <a:rPr lang="en-US" sz="2400" b="1" dirty="0" err="1"/>
              <a:t>ButtonGroup</a:t>
            </a:r>
            <a:r>
              <a:rPr lang="en-US" sz="2400" b="1" dirty="0"/>
              <a:t> </a:t>
            </a:r>
            <a:r>
              <a:rPr lang="en-US" sz="2400" dirty="0"/>
              <a:t>class. </a:t>
            </a:r>
          </a:p>
          <a:p>
            <a:r>
              <a:rPr lang="en-US" sz="2400" dirty="0"/>
              <a:t>Elements are then added to the button group via the following method:</a:t>
            </a:r>
          </a:p>
          <a:p>
            <a:pPr>
              <a:buNone/>
            </a:pPr>
            <a:r>
              <a:rPr lang="en-US" sz="2400" dirty="0"/>
              <a:t>void </a:t>
            </a:r>
            <a:r>
              <a:rPr lang="en-US" sz="2400" b="1" dirty="0">
                <a:solidFill>
                  <a:srgbClr val="C00000"/>
                </a:solidFill>
              </a:rPr>
              <a:t>add</a:t>
            </a:r>
            <a:r>
              <a:rPr lang="en-US" sz="2400" dirty="0"/>
              <a:t>(</a:t>
            </a:r>
            <a:r>
              <a:rPr lang="en-US" sz="2400" dirty="0" err="1"/>
              <a:t>AbstractButton</a:t>
            </a:r>
            <a:r>
              <a:rPr lang="en-US" sz="2400" dirty="0"/>
              <a:t> </a:t>
            </a:r>
            <a:r>
              <a:rPr lang="en-US" sz="2400" i="1" dirty="0" err="1"/>
              <a:t>ab</a:t>
            </a:r>
            <a:r>
              <a:rPr lang="en-US" sz="2400" i="1" dirty="0"/>
              <a:t>)</a:t>
            </a:r>
          </a:p>
          <a:p>
            <a:pPr lvl="1"/>
            <a:r>
              <a:rPr lang="en-US" sz="2200" dirty="0"/>
              <a:t>Here, </a:t>
            </a:r>
            <a:r>
              <a:rPr lang="en-US" sz="2200" i="1" dirty="0" err="1"/>
              <a:t>ab</a:t>
            </a:r>
            <a:r>
              <a:rPr lang="en-US" sz="2200" i="1" dirty="0"/>
              <a:t> is a reference to the button to be added to the group.</a:t>
            </a:r>
          </a:p>
          <a:p>
            <a:r>
              <a:rPr lang="en-US" sz="2400" dirty="0"/>
              <a:t>A </a:t>
            </a:r>
            <a:r>
              <a:rPr lang="en-US" sz="2400" b="1" dirty="0" err="1"/>
              <a:t>JRadioButton</a:t>
            </a:r>
            <a:r>
              <a:rPr lang="en-US" sz="2400" b="1" dirty="0"/>
              <a:t> </a:t>
            </a:r>
            <a:r>
              <a:rPr lang="en-US" sz="2400" dirty="0"/>
              <a:t>generates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action events, item events, </a:t>
            </a:r>
            <a:r>
              <a:rPr lang="en-US" sz="2400" dirty="0"/>
              <a:t>and</a:t>
            </a:r>
            <a:r>
              <a:rPr lang="en-US" sz="2400" b="1" dirty="0">
                <a:solidFill>
                  <a:srgbClr val="C00000"/>
                </a:solidFill>
              </a:rPr>
              <a:t> change</a:t>
            </a:r>
            <a:endParaRPr lang="en-US" sz="2400" b="1" u="sng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7B724-842D-AA07-C6B1-37470586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346" y="2276314"/>
            <a:ext cx="1667108" cy="115268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JRadioButton</a:t>
            </a:r>
            <a:r>
              <a:rPr lang="en-US" dirty="0"/>
              <a:t>(</a:t>
            </a:r>
            <a:r>
              <a:rPr lang="en-US" b="0" dirty="0"/>
              <a:t>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will normally implement the </a:t>
            </a:r>
            <a:r>
              <a:rPr lang="en-US" sz="2400" b="1" dirty="0" err="1"/>
              <a:t>ActionListener</a:t>
            </a:r>
            <a:r>
              <a:rPr lang="en-US" sz="2400" b="1" dirty="0"/>
              <a:t> interface </a:t>
            </a:r>
            <a:r>
              <a:rPr lang="en-US" sz="2400" dirty="0"/>
              <a:t> with method </a:t>
            </a:r>
            <a:r>
              <a:rPr lang="en-US" sz="2400" b="1" dirty="0" err="1"/>
              <a:t>actionPerformed</a:t>
            </a:r>
            <a:r>
              <a:rPr lang="en-US" sz="2400" b="1" dirty="0"/>
              <a:t>( ).</a:t>
            </a:r>
          </a:p>
          <a:p>
            <a:pPr lvl="1"/>
            <a:r>
              <a:rPr lang="en-US" dirty="0"/>
              <a:t>Inside this method we can check its action command by calling </a:t>
            </a:r>
            <a:r>
              <a:rPr lang="en-US" b="1" dirty="0" err="1"/>
              <a:t>getActionCommand</a:t>
            </a:r>
            <a:r>
              <a:rPr lang="en-US" b="1" dirty="0"/>
              <a:t>( ).</a:t>
            </a:r>
          </a:p>
          <a:p>
            <a:pPr lvl="2"/>
            <a:r>
              <a:rPr lang="en-US" dirty="0"/>
              <a:t>By </a:t>
            </a:r>
            <a:r>
              <a:rPr lang="en-US" b="1" dirty="0"/>
              <a:t>default</a:t>
            </a:r>
            <a:r>
              <a:rPr lang="en-US" dirty="0"/>
              <a:t>, the action command is the same as the </a:t>
            </a:r>
            <a:r>
              <a:rPr lang="en-US" b="1" dirty="0"/>
              <a:t>button label</a:t>
            </a:r>
            <a:r>
              <a:rPr lang="en-US" dirty="0"/>
              <a:t>, but we can set the action command to something else by calling </a:t>
            </a:r>
            <a:r>
              <a:rPr lang="en-US" b="1" dirty="0" err="1"/>
              <a:t>setActionCommand</a:t>
            </a:r>
            <a:r>
              <a:rPr lang="en-US" b="1" dirty="0"/>
              <a:t>( ) on the radio button.</a:t>
            </a:r>
          </a:p>
          <a:p>
            <a:r>
              <a:rPr lang="en-US" sz="2400" dirty="0"/>
              <a:t>We can call </a:t>
            </a:r>
            <a:r>
              <a:rPr lang="en-US" sz="2400" b="1" dirty="0" err="1"/>
              <a:t>getSource</a:t>
            </a:r>
            <a:r>
              <a:rPr lang="en-US" sz="2400" b="1" dirty="0"/>
              <a:t>( ) on the </a:t>
            </a:r>
            <a:r>
              <a:rPr lang="en-US" sz="2400" b="1" dirty="0" err="1"/>
              <a:t>ActionEvent</a:t>
            </a:r>
            <a:r>
              <a:rPr lang="en-US" sz="2400" b="1" dirty="0"/>
              <a:t> object we can get which radio button is clicked.</a:t>
            </a:r>
          </a:p>
          <a:p>
            <a:r>
              <a:rPr lang="en-US" sz="2400" dirty="0"/>
              <a:t>We can simply check each radio button to find out which one is currently selected by calling </a:t>
            </a:r>
            <a:r>
              <a:rPr lang="en-US" sz="2400" b="1" dirty="0" err="1"/>
              <a:t>isSelected</a:t>
            </a:r>
            <a:r>
              <a:rPr lang="en-US" sz="2400" b="1" dirty="0"/>
              <a:t>( ) </a:t>
            </a:r>
            <a:r>
              <a:rPr lang="en-US" sz="2400" dirty="0"/>
              <a:t>on each button.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0" y="0"/>
            <a:ext cx="4724400" cy="6858000"/>
          </a:xfrm>
        </p:spPr>
        <p:txBody>
          <a:bodyPr/>
          <a:lstStyle/>
          <a:p>
            <a:pPr>
              <a:buNone/>
            </a:pPr>
            <a:r>
              <a:rPr lang="en-US" sz="2200" dirty="0"/>
              <a:t>import </a:t>
            </a:r>
            <a:r>
              <a:rPr lang="en-US" sz="2200" dirty="0" err="1"/>
              <a:t>javax.swing</a:t>
            </a:r>
            <a:r>
              <a:rPr lang="en-US" sz="2200" dirty="0"/>
              <a:t>.*;</a:t>
            </a:r>
          </a:p>
          <a:p>
            <a:pPr>
              <a:buNone/>
            </a:pPr>
            <a:r>
              <a:rPr lang="en-US" sz="2200" dirty="0"/>
              <a:t>import java.awt.*;</a:t>
            </a:r>
          </a:p>
          <a:p>
            <a:pPr>
              <a:buNone/>
            </a:pPr>
            <a:r>
              <a:rPr lang="en-US" sz="2200" dirty="0"/>
              <a:t>import </a:t>
            </a:r>
            <a:r>
              <a:rPr lang="en-US" sz="2200" dirty="0" err="1"/>
              <a:t>java.awt.event</a:t>
            </a:r>
            <a:r>
              <a:rPr lang="en-US" sz="2200" dirty="0"/>
              <a:t>.*;</a:t>
            </a:r>
          </a:p>
          <a:p>
            <a:pPr>
              <a:buNone/>
            </a:pPr>
            <a:r>
              <a:rPr lang="en-US" sz="2200" dirty="0"/>
              <a:t>class </a:t>
            </a:r>
            <a:r>
              <a:rPr lang="en-US" sz="2200" dirty="0" err="1"/>
              <a:t>SwingJRadioButton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CC"/>
                </a:solidFill>
              </a:rPr>
              <a:t>extends </a:t>
            </a:r>
            <a:r>
              <a:rPr lang="en-US" sz="2200" dirty="0" err="1">
                <a:solidFill>
                  <a:srgbClr val="0000CC"/>
                </a:solidFill>
              </a:rPr>
              <a:t>JFrame</a:t>
            </a:r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dirty="0">
                <a:solidFill>
                  <a:srgbClr val="C00000"/>
                </a:solidFill>
              </a:rPr>
              <a:t>implements </a:t>
            </a:r>
            <a:r>
              <a:rPr lang="en-US" sz="2200" dirty="0" err="1">
                <a:solidFill>
                  <a:srgbClr val="C00000"/>
                </a:solidFill>
              </a:rPr>
              <a:t>ActionListener</a:t>
            </a:r>
            <a:endParaRPr lang="en-US" sz="22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dirty="0"/>
              <a:t>{ 	</a:t>
            </a:r>
            <a:r>
              <a:rPr lang="en-US" sz="2200" dirty="0" err="1"/>
              <a:t>JFrame</a:t>
            </a:r>
            <a:r>
              <a:rPr lang="en-US" sz="2200" dirty="0"/>
              <a:t> </a:t>
            </a:r>
            <a:r>
              <a:rPr lang="en-US" sz="2200" dirty="0" err="1"/>
              <a:t>jfrm</a:t>
            </a:r>
            <a:r>
              <a:rPr lang="en-US" sz="2200" dirty="0"/>
              <a:t>;</a:t>
            </a:r>
          </a:p>
          <a:p>
            <a:pPr>
              <a:buNone/>
            </a:pPr>
            <a:r>
              <a:rPr lang="en-US" sz="2200" dirty="0"/>
              <a:t>	</a:t>
            </a:r>
            <a:r>
              <a:rPr lang="en-US" sz="2200" dirty="0" err="1"/>
              <a:t>JLabel</a:t>
            </a:r>
            <a:r>
              <a:rPr lang="en-US" sz="2200" dirty="0"/>
              <a:t> </a:t>
            </a:r>
            <a:r>
              <a:rPr lang="en-US" sz="2200" dirty="0" err="1"/>
              <a:t>jlab</a:t>
            </a:r>
            <a:r>
              <a:rPr lang="en-US" sz="2200" dirty="0"/>
              <a:t>;	</a:t>
            </a:r>
          </a:p>
          <a:p>
            <a:pPr>
              <a:buNone/>
            </a:pPr>
            <a:r>
              <a:rPr lang="en-US" sz="2200" dirty="0" err="1"/>
              <a:t>SwingJRadioButton</a:t>
            </a:r>
            <a:r>
              <a:rPr lang="en-US" sz="2200" dirty="0"/>
              <a:t>() </a:t>
            </a:r>
          </a:p>
          <a:p>
            <a:pPr>
              <a:buNone/>
            </a:pPr>
            <a:r>
              <a:rPr lang="en-US" sz="2200" dirty="0"/>
              <a:t>	{</a:t>
            </a:r>
          </a:p>
          <a:p>
            <a:pPr>
              <a:buNone/>
            </a:pPr>
            <a:r>
              <a:rPr lang="en-US" sz="2200" dirty="0" err="1"/>
              <a:t>jfrm</a:t>
            </a:r>
            <a:r>
              <a:rPr lang="en-US" sz="2200" dirty="0"/>
              <a:t> = new </a:t>
            </a:r>
            <a:r>
              <a:rPr lang="en-US" sz="2200" dirty="0" err="1"/>
              <a:t>JFrame</a:t>
            </a:r>
            <a:r>
              <a:rPr lang="en-US" sz="2200" dirty="0"/>
              <a:t>("Simple Swing ");</a:t>
            </a:r>
          </a:p>
          <a:p>
            <a:pPr>
              <a:buNone/>
            </a:pPr>
            <a:r>
              <a:rPr lang="en-US" sz="2200" dirty="0" err="1"/>
              <a:t>jfrm.setSize</a:t>
            </a:r>
            <a:r>
              <a:rPr lang="en-US" sz="2200" dirty="0"/>
              <a:t>(220, 100);</a:t>
            </a:r>
          </a:p>
          <a:p>
            <a:pPr>
              <a:buNone/>
            </a:pPr>
            <a:r>
              <a:rPr lang="en-US" sz="2200" dirty="0" err="1"/>
              <a:t>jfrm.setLayout</a:t>
            </a:r>
            <a:r>
              <a:rPr lang="en-US" sz="2200" dirty="0"/>
              <a:t>(new </a:t>
            </a:r>
            <a:r>
              <a:rPr lang="en-US" sz="2200" dirty="0" err="1"/>
              <a:t>FlowLayout</a:t>
            </a:r>
            <a:r>
              <a:rPr lang="en-US" sz="2200" dirty="0"/>
              <a:t>());</a:t>
            </a:r>
          </a:p>
          <a:p>
            <a:pPr>
              <a:buNone/>
            </a:pPr>
            <a:r>
              <a:rPr lang="en-US" sz="2200" dirty="0" err="1"/>
              <a:t>jfrm.setDefaultCloseOperation</a:t>
            </a:r>
            <a:r>
              <a:rPr lang="en-US" sz="2200" dirty="0"/>
              <a:t>(</a:t>
            </a:r>
            <a:r>
              <a:rPr lang="en-US" sz="2200" b="1" dirty="0" err="1">
                <a:solidFill>
                  <a:srgbClr val="0000CC"/>
                </a:solidFill>
              </a:rPr>
              <a:t>JFrame.EXIT_ON_CLOSE</a:t>
            </a:r>
            <a:r>
              <a:rPr lang="en-US" sz="2200" dirty="0"/>
              <a:t>);</a:t>
            </a:r>
          </a:p>
          <a:p>
            <a:pPr>
              <a:buNone/>
            </a:pPr>
            <a:r>
              <a:rPr lang="en-US" sz="2200" dirty="0"/>
              <a:t>		</a:t>
            </a:r>
          </a:p>
          <a:p>
            <a:pPr>
              <a:buNone/>
            </a:pPr>
            <a:endParaRPr lang="en-US" sz="22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038600" y="0"/>
            <a:ext cx="5105400" cy="6126163"/>
          </a:xfrm>
        </p:spPr>
        <p:txBody>
          <a:bodyPr/>
          <a:lstStyle/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dirty="0" err="1">
                <a:solidFill>
                  <a:srgbClr val="C00000"/>
                </a:solidFill>
              </a:rPr>
              <a:t>JRadioButton</a:t>
            </a:r>
            <a:r>
              <a:rPr lang="en-US" sz="2000" dirty="0"/>
              <a:t> b1 = new </a:t>
            </a:r>
            <a:r>
              <a:rPr lang="en-US" sz="2000" dirty="0" err="1"/>
              <a:t>JRadioButton</a:t>
            </a:r>
            <a:r>
              <a:rPr lang="en-US" sz="2000" dirty="0"/>
              <a:t>("A");</a:t>
            </a:r>
          </a:p>
          <a:p>
            <a:pPr>
              <a:buNone/>
            </a:pPr>
            <a:r>
              <a:rPr lang="en-US" sz="2000" dirty="0"/>
              <a:t>		b1.addActionListener(this);</a:t>
            </a:r>
          </a:p>
          <a:p>
            <a:pPr>
              <a:buNone/>
            </a:pPr>
            <a:r>
              <a:rPr lang="en-US" sz="2000" dirty="0"/>
              <a:t>		</a:t>
            </a:r>
            <a:r>
              <a:rPr lang="en-US" sz="2000" dirty="0" err="1"/>
              <a:t>jfrm.add</a:t>
            </a:r>
            <a:r>
              <a:rPr lang="en-US" sz="2000" dirty="0"/>
              <a:t>(b1);</a:t>
            </a:r>
          </a:p>
          <a:p>
            <a:pPr>
              <a:buNone/>
            </a:pPr>
            <a:r>
              <a:rPr lang="en-US" sz="2000" dirty="0" err="1">
                <a:solidFill>
                  <a:srgbClr val="C00000"/>
                </a:solidFill>
              </a:rPr>
              <a:t>JRadioButton</a:t>
            </a:r>
            <a:r>
              <a:rPr lang="en-US" sz="2000" dirty="0"/>
              <a:t> b2 = new </a:t>
            </a:r>
            <a:r>
              <a:rPr lang="en-US" sz="2000" dirty="0" err="1"/>
              <a:t>JRadioButton</a:t>
            </a:r>
            <a:r>
              <a:rPr lang="en-US" sz="2000" dirty="0"/>
              <a:t>("B");</a:t>
            </a:r>
          </a:p>
          <a:p>
            <a:pPr>
              <a:buNone/>
            </a:pPr>
            <a:r>
              <a:rPr lang="en-US" sz="2000" dirty="0"/>
              <a:t>		b2.addActionListener(this);</a:t>
            </a:r>
          </a:p>
          <a:p>
            <a:pPr>
              <a:buNone/>
            </a:pPr>
            <a:r>
              <a:rPr lang="en-US" sz="2000" dirty="0"/>
              <a:t>		</a:t>
            </a:r>
            <a:r>
              <a:rPr lang="en-US" sz="2000" dirty="0" err="1"/>
              <a:t>jfrm.add</a:t>
            </a:r>
            <a:r>
              <a:rPr lang="en-US" sz="2000" dirty="0"/>
              <a:t>(b2);</a:t>
            </a:r>
          </a:p>
          <a:p>
            <a:pPr>
              <a:buNone/>
            </a:pPr>
            <a:r>
              <a:rPr lang="en-US" sz="2000" dirty="0" err="1"/>
              <a:t>JRadioButton</a:t>
            </a:r>
            <a:r>
              <a:rPr lang="en-US" sz="2000" dirty="0"/>
              <a:t> b3 = new </a:t>
            </a:r>
            <a:r>
              <a:rPr lang="en-US" sz="2000" dirty="0" err="1"/>
              <a:t>JRadioButton</a:t>
            </a:r>
            <a:r>
              <a:rPr lang="en-US" sz="2000" dirty="0"/>
              <a:t>("C");</a:t>
            </a:r>
          </a:p>
          <a:p>
            <a:pPr>
              <a:buNone/>
            </a:pPr>
            <a:r>
              <a:rPr lang="en-US" sz="2000" dirty="0"/>
              <a:t>		b3.addActionListener(this);</a:t>
            </a:r>
          </a:p>
          <a:p>
            <a:pPr>
              <a:buNone/>
            </a:pPr>
            <a:r>
              <a:rPr lang="en-US" sz="2000" dirty="0"/>
              <a:t>		</a:t>
            </a:r>
            <a:r>
              <a:rPr lang="en-US" sz="2000" dirty="0" err="1"/>
              <a:t>jfrm.add</a:t>
            </a:r>
            <a:r>
              <a:rPr lang="en-US" sz="2000" dirty="0"/>
              <a:t>(b3);</a:t>
            </a:r>
          </a:p>
          <a:p>
            <a:pPr>
              <a:buNone/>
            </a:pPr>
            <a:r>
              <a:rPr lang="en-US" sz="2000" dirty="0"/>
              <a:t>	    </a:t>
            </a:r>
            <a:r>
              <a:rPr lang="en-US" sz="2000" b="1" dirty="0" err="1">
                <a:solidFill>
                  <a:srgbClr val="C00000"/>
                </a:solidFill>
              </a:rPr>
              <a:t>ButtonGroup</a:t>
            </a:r>
            <a:r>
              <a:rPr lang="en-US" sz="2000" dirty="0"/>
              <a:t> </a:t>
            </a:r>
            <a:r>
              <a:rPr lang="en-US" sz="2000" b="1" dirty="0" err="1"/>
              <a:t>bg</a:t>
            </a:r>
            <a:r>
              <a:rPr lang="en-US" sz="2000" b="1" dirty="0"/>
              <a:t> </a:t>
            </a:r>
            <a:r>
              <a:rPr lang="en-US" sz="2000" dirty="0"/>
              <a:t>= new </a:t>
            </a:r>
            <a:r>
              <a:rPr lang="en-US" sz="2000" b="1" dirty="0" err="1"/>
              <a:t>ButtonGroup</a:t>
            </a:r>
            <a:r>
              <a:rPr lang="en-US" sz="2000" dirty="0"/>
              <a:t>();</a:t>
            </a:r>
          </a:p>
          <a:p>
            <a:pPr>
              <a:buNone/>
            </a:pPr>
            <a:r>
              <a:rPr lang="en-US" sz="2000" dirty="0"/>
              <a:t>		</a:t>
            </a:r>
            <a:r>
              <a:rPr lang="en-US" sz="2000" b="1" dirty="0" err="1"/>
              <a:t>bg.add</a:t>
            </a:r>
            <a:r>
              <a:rPr lang="en-US" sz="2000" b="1" dirty="0"/>
              <a:t>(b1);</a:t>
            </a:r>
          </a:p>
          <a:p>
            <a:pPr>
              <a:buNone/>
            </a:pPr>
            <a:r>
              <a:rPr lang="en-US" sz="2000" b="1" dirty="0"/>
              <a:t>		</a:t>
            </a:r>
            <a:r>
              <a:rPr lang="en-US" sz="2000" b="1" dirty="0" err="1"/>
              <a:t>bg.add</a:t>
            </a:r>
            <a:r>
              <a:rPr lang="en-US" sz="2000" b="1" dirty="0"/>
              <a:t>(b2);</a:t>
            </a:r>
          </a:p>
          <a:p>
            <a:pPr>
              <a:buNone/>
            </a:pPr>
            <a:r>
              <a:rPr lang="en-US" sz="2000" b="1" dirty="0"/>
              <a:t>		</a:t>
            </a:r>
            <a:r>
              <a:rPr lang="en-US" sz="2000" b="1" dirty="0" err="1"/>
              <a:t>bg.add</a:t>
            </a:r>
            <a:r>
              <a:rPr lang="en-US" sz="2000" b="1" dirty="0"/>
              <a:t>(b3);</a:t>
            </a:r>
            <a:r>
              <a:rPr lang="en-US" sz="2000" dirty="0"/>
              <a:t>		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 err="1"/>
              <a:t>jlab</a:t>
            </a:r>
            <a:r>
              <a:rPr lang="en-US" sz="2000" dirty="0"/>
              <a:t> = new </a:t>
            </a:r>
            <a:r>
              <a:rPr lang="en-US" sz="2000" dirty="0" err="1"/>
              <a:t>JLabel</a:t>
            </a:r>
            <a:r>
              <a:rPr lang="en-US" sz="2000" dirty="0"/>
              <a:t>("Select language"); </a:t>
            </a:r>
            <a:r>
              <a:rPr lang="en-US" sz="2000" dirty="0" err="1"/>
              <a:t>jfrm.setVisible</a:t>
            </a:r>
            <a:r>
              <a:rPr lang="en-US" sz="2000" dirty="0"/>
              <a:t>(true);</a:t>
            </a:r>
          </a:p>
          <a:p>
            <a:pPr>
              <a:buNone/>
            </a:pPr>
            <a:r>
              <a:rPr lang="en-US" sz="2000" dirty="0"/>
              <a:t>	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304800"/>
            <a:ext cx="7772400" cy="6126163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public void </a:t>
            </a:r>
            <a:r>
              <a:rPr lang="en-US" sz="2000" dirty="0" err="1"/>
              <a:t>actionPerformed</a:t>
            </a:r>
            <a:r>
              <a:rPr lang="en-US" sz="2000" dirty="0"/>
              <a:t>(</a:t>
            </a:r>
            <a:r>
              <a:rPr lang="en-US" sz="2000" dirty="0" err="1"/>
              <a:t>ActionEvent</a:t>
            </a:r>
            <a:r>
              <a:rPr lang="en-US" sz="2000" dirty="0"/>
              <a:t> </a:t>
            </a:r>
            <a:r>
              <a:rPr lang="en-US" sz="2000" dirty="0" err="1"/>
              <a:t>ae</a:t>
            </a:r>
            <a:r>
              <a:rPr lang="en-US" sz="2000" dirty="0"/>
              <a:t>) </a:t>
            </a:r>
          </a:p>
          <a:p>
            <a:pPr>
              <a:buNone/>
            </a:pPr>
            <a:r>
              <a:rPr lang="en-US" sz="2000" dirty="0"/>
              <a:t>	{</a:t>
            </a:r>
          </a:p>
          <a:p>
            <a:pPr>
              <a:buNone/>
            </a:pPr>
            <a:r>
              <a:rPr lang="en-US" sz="2000" dirty="0"/>
              <a:t>		</a:t>
            </a:r>
            <a:r>
              <a:rPr lang="en-US" sz="2000" dirty="0" err="1"/>
              <a:t>jlab.setText</a:t>
            </a:r>
            <a:r>
              <a:rPr lang="en-US" sz="2000" dirty="0"/>
              <a:t>("You selected " + </a:t>
            </a:r>
            <a:r>
              <a:rPr lang="en-US" sz="2000" dirty="0" err="1"/>
              <a:t>ae.getActionCommand</a:t>
            </a:r>
            <a:r>
              <a:rPr lang="en-US" sz="2000" dirty="0"/>
              <a:t>());</a:t>
            </a:r>
          </a:p>
          <a:p>
            <a:pPr>
              <a:buNone/>
            </a:pPr>
            <a:r>
              <a:rPr lang="en-US" sz="2000" dirty="0"/>
              <a:t>	}</a:t>
            </a:r>
          </a:p>
          <a:p>
            <a:pPr>
              <a:buNone/>
            </a:pPr>
            <a:r>
              <a:rPr lang="en-US" sz="2000" dirty="0"/>
              <a:t>	 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</a:t>
            </a:r>
          </a:p>
          <a:p>
            <a:pPr>
              <a:buNone/>
            </a:pPr>
            <a:r>
              <a:rPr lang="en-US" sz="2000" dirty="0"/>
              <a:t>	{		new </a:t>
            </a:r>
            <a:r>
              <a:rPr lang="en-US" sz="2400" dirty="0" err="1"/>
              <a:t>SwingJRadioButton</a:t>
            </a:r>
            <a:r>
              <a:rPr lang="en-US" sz="2400" dirty="0"/>
              <a:t>();</a:t>
            </a:r>
            <a:endParaRPr lang="en-US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000" dirty="0"/>
              <a:t>	} }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336246-FC46-4052-A6ED-AB27FAD0803F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5105400"/>
            <a:ext cx="461010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JTextField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/>
              <a:t>JTextField</a:t>
            </a:r>
            <a:r>
              <a:rPr lang="en-US" sz="2400" b="1" dirty="0"/>
              <a:t> </a:t>
            </a:r>
            <a:r>
              <a:rPr lang="en-US" sz="2400" dirty="0"/>
              <a:t>is the simplest Swing text component.</a:t>
            </a:r>
          </a:p>
          <a:p>
            <a:r>
              <a:rPr lang="en-US" sz="2400" dirty="0" err="1"/>
              <a:t>JTextField</a:t>
            </a:r>
            <a:r>
              <a:rPr lang="en-US" sz="2400" dirty="0"/>
              <a:t> allows you to </a:t>
            </a:r>
            <a:r>
              <a:rPr lang="en-US" sz="2400" b="1" dirty="0"/>
              <a:t>edit </a:t>
            </a:r>
            <a:r>
              <a:rPr lang="en-US" sz="2400" b="1" u="sng" dirty="0"/>
              <a:t>one line </a:t>
            </a:r>
            <a:r>
              <a:rPr lang="en-US" sz="2400" b="1" dirty="0"/>
              <a:t>of text.</a:t>
            </a:r>
          </a:p>
          <a:p>
            <a:pPr lvl="1"/>
            <a:r>
              <a:rPr lang="en-US" dirty="0"/>
              <a:t>It is derived from </a:t>
            </a:r>
            <a:r>
              <a:rPr lang="en-US" b="1" dirty="0" err="1"/>
              <a:t>JTextComponent</a:t>
            </a:r>
            <a:r>
              <a:rPr lang="en-US" b="1" dirty="0"/>
              <a:t>, </a:t>
            </a:r>
            <a:r>
              <a:rPr lang="en-US" dirty="0"/>
              <a:t>which provides the basic functionality common to Swing text components.</a:t>
            </a:r>
          </a:p>
          <a:p>
            <a:r>
              <a:rPr lang="en-US" sz="2400" dirty="0"/>
              <a:t>Three of </a:t>
            </a:r>
            <a:r>
              <a:rPr lang="en-US" sz="2400" b="1" dirty="0" err="1"/>
              <a:t>JTextField’s</a:t>
            </a:r>
            <a:r>
              <a:rPr lang="en-US" sz="2400" b="1" dirty="0"/>
              <a:t> constructors </a:t>
            </a:r>
            <a:r>
              <a:rPr lang="en-US" sz="2400" dirty="0"/>
              <a:t>are</a:t>
            </a:r>
            <a:r>
              <a:rPr lang="en-US" sz="2400" b="1" dirty="0"/>
              <a:t> :</a:t>
            </a:r>
            <a:endParaRPr lang="en-US" b="1" dirty="0"/>
          </a:p>
          <a:p>
            <a:pPr lvl="1">
              <a:buNone/>
            </a:pPr>
            <a:r>
              <a:rPr lang="en-US" dirty="0" err="1"/>
              <a:t>JTextField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i="1" dirty="0"/>
              <a:t>cols)</a:t>
            </a:r>
          </a:p>
          <a:p>
            <a:pPr lvl="1">
              <a:buNone/>
            </a:pPr>
            <a:r>
              <a:rPr lang="en-US" dirty="0" err="1"/>
              <a:t>JTextField</a:t>
            </a:r>
            <a:r>
              <a:rPr lang="en-US" dirty="0"/>
              <a:t>(String </a:t>
            </a:r>
            <a:r>
              <a:rPr lang="en-US" i="1" dirty="0" err="1"/>
              <a:t>str</a:t>
            </a:r>
            <a:r>
              <a:rPr lang="en-US" i="1" dirty="0"/>
              <a:t>, </a:t>
            </a:r>
            <a:r>
              <a:rPr lang="en-US" i="1" dirty="0" err="1"/>
              <a:t>int</a:t>
            </a:r>
            <a:r>
              <a:rPr lang="en-US" i="1" dirty="0"/>
              <a:t> cols)</a:t>
            </a:r>
          </a:p>
          <a:p>
            <a:pPr lvl="1">
              <a:buNone/>
            </a:pPr>
            <a:r>
              <a:rPr lang="en-US" dirty="0" err="1"/>
              <a:t>JTextField</a:t>
            </a:r>
            <a:r>
              <a:rPr lang="en-US" dirty="0"/>
              <a:t>(String </a:t>
            </a:r>
            <a:r>
              <a:rPr lang="en-US" i="1" dirty="0" err="1"/>
              <a:t>str</a:t>
            </a:r>
            <a:r>
              <a:rPr lang="en-US" i="1" dirty="0"/>
              <a:t>)</a:t>
            </a:r>
          </a:p>
          <a:p>
            <a:pPr lvl="1"/>
            <a:r>
              <a:rPr lang="en-US" sz="2200" dirty="0"/>
              <a:t>Here, </a:t>
            </a:r>
            <a:r>
              <a:rPr lang="en-US" sz="2200" i="1" dirty="0" err="1"/>
              <a:t>str</a:t>
            </a:r>
            <a:r>
              <a:rPr lang="en-US" sz="2200" dirty="0"/>
              <a:t> is the string to be initially presented, and </a:t>
            </a:r>
            <a:r>
              <a:rPr lang="en-US" sz="2200" i="1" dirty="0"/>
              <a:t>cols</a:t>
            </a:r>
            <a:r>
              <a:rPr lang="en-US" sz="2200" dirty="0"/>
              <a:t> is the number of columns in the text field. If no string is specified, the text field is initially empty. </a:t>
            </a:r>
          </a:p>
          <a:p>
            <a:pPr lvl="1"/>
            <a:r>
              <a:rPr lang="en-US" sz="2200" dirty="0"/>
              <a:t>If the number of columns is not specified, the text field is sized to fit the specified 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JTextField</a:t>
            </a:r>
            <a:r>
              <a:rPr lang="en-US" sz="3200" b="0" dirty="0"/>
              <a:t>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JTextField</a:t>
            </a:r>
            <a:r>
              <a:rPr lang="en-US" sz="2400" b="1" dirty="0"/>
              <a:t> </a:t>
            </a:r>
            <a:r>
              <a:rPr lang="en-US" sz="2400" dirty="0"/>
              <a:t>generates events in response to user interaction.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 For example, an </a:t>
            </a:r>
            <a:r>
              <a:rPr lang="en-US" sz="2200" b="1" dirty="0" err="1">
                <a:solidFill>
                  <a:srgbClr val="C00000"/>
                </a:solidFill>
              </a:rPr>
              <a:t>ActionEvent</a:t>
            </a:r>
            <a:r>
              <a:rPr lang="en-US" sz="2200" dirty="0"/>
              <a:t> </a:t>
            </a:r>
            <a:r>
              <a:rPr lang="en-US" sz="2400" dirty="0"/>
              <a:t>is fired when the </a:t>
            </a:r>
            <a:r>
              <a:rPr lang="en-US" sz="2400" u="sng" dirty="0"/>
              <a:t>user presses ENTER.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A </a:t>
            </a:r>
            <a:r>
              <a:rPr lang="en-US" sz="2400" b="1" dirty="0" err="1">
                <a:solidFill>
                  <a:srgbClr val="C00000"/>
                </a:solidFill>
              </a:rPr>
              <a:t>CaretEvent</a:t>
            </a:r>
            <a:r>
              <a:rPr lang="en-US" sz="2400" dirty="0"/>
              <a:t> is fired each time the caret (i.e., the </a:t>
            </a:r>
            <a:r>
              <a:rPr lang="en-US" sz="2400" u="sng" dirty="0"/>
              <a:t>cursor) changes position.</a:t>
            </a:r>
          </a:p>
          <a:p>
            <a:pPr lvl="2">
              <a:lnSpc>
                <a:spcPct val="150000"/>
              </a:lnSpc>
            </a:pPr>
            <a:r>
              <a:rPr lang="en-US" b="1" dirty="0" err="1"/>
              <a:t>CaretEvent</a:t>
            </a:r>
            <a:r>
              <a:rPr lang="en-US" b="1" dirty="0"/>
              <a:t> </a:t>
            </a:r>
            <a:r>
              <a:rPr lang="en-US" dirty="0"/>
              <a:t>is packaged in </a:t>
            </a:r>
            <a:r>
              <a:rPr lang="en-US" b="1" dirty="0" err="1">
                <a:solidFill>
                  <a:srgbClr val="C00000"/>
                </a:solidFill>
              </a:rPr>
              <a:t>javax.swing.event</a:t>
            </a:r>
            <a:endParaRPr lang="en-US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To obtain the text currently in the text field, call </a:t>
            </a:r>
            <a:r>
              <a:rPr lang="en-US" sz="2400" b="1" dirty="0" err="1"/>
              <a:t>getText</a:t>
            </a:r>
            <a:r>
              <a:rPr lang="en-US" sz="2400" b="1" dirty="0"/>
              <a:t>( )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JTextField</a:t>
            </a:r>
            <a:r>
              <a:rPr lang="en-US" sz="3200" b="0" dirty="0"/>
              <a:t>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0"/>
            <a:ext cx="8229600" cy="5715000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javax.swing</a:t>
            </a:r>
            <a:r>
              <a:rPr lang="en-US" sz="2000" dirty="0"/>
              <a:t>.*;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import java.awt.*;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import </a:t>
            </a:r>
            <a:r>
              <a:rPr lang="en-US" sz="2000" dirty="0" err="1"/>
              <a:t>java.awt.event</a:t>
            </a:r>
            <a:r>
              <a:rPr lang="en-US" sz="2000" dirty="0"/>
              <a:t>.*;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SwingText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00CC"/>
                </a:solidFill>
              </a:rPr>
              <a:t>extends </a:t>
            </a:r>
            <a:r>
              <a:rPr lang="en-US" sz="2000" b="1" dirty="0" err="1">
                <a:solidFill>
                  <a:srgbClr val="0000CC"/>
                </a:solidFill>
              </a:rPr>
              <a:t>JFrame</a:t>
            </a:r>
            <a:r>
              <a:rPr lang="en-US" sz="2000" dirty="0"/>
              <a:t> implements ActionListener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{	</a:t>
            </a:r>
            <a:r>
              <a:rPr lang="en-US" sz="2000" dirty="0" err="1"/>
              <a:t>JFrame</a:t>
            </a:r>
            <a:r>
              <a:rPr lang="en-US" sz="2000" dirty="0"/>
              <a:t> </a:t>
            </a:r>
            <a:r>
              <a:rPr lang="en-US" sz="2000" dirty="0" err="1"/>
              <a:t>jfrm</a:t>
            </a:r>
            <a:r>
              <a:rPr lang="en-US" sz="2000" dirty="0"/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     </a:t>
            </a:r>
            <a:r>
              <a:rPr lang="en-US" sz="2000" dirty="0" err="1"/>
              <a:t>JLabel</a:t>
            </a:r>
            <a:r>
              <a:rPr lang="en-US" sz="2000" dirty="0"/>
              <a:t> </a:t>
            </a:r>
            <a:r>
              <a:rPr lang="en-US" sz="2000" dirty="0" err="1"/>
              <a:t>jlab</a:t>
            </a:r>
            <a:r>
              <a:rPr lang="en-US" sz="2000" dirty="0"/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</a:t>
            </a:r>
            <a:r>
              <a:rPr lang="en-US" sz="2000" dirty="0" err="1"/>
              <a:t>JTextField</a:t>
            </a:r>
            <a:r>
              <a:rPr lang="en-US" sz="2000" dirty="0"/>
              <a:t> </a:t>
            </a:r>
            <a:r>
              <a:rPr lang="en-US" sz="2000" dirty="0" err="1"/>
              <a:t>jtf</a:t>
            </a:r>
            <a:r>
              <a:rPr lang="en-US" sz="2000" dirty="0"/>
              <a:t>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 err="1"/>
              <a:t>SwingText</a:t>
            </a:r>
            <a:r>
              <a:rPr lang="en-US" sz="2000" dirty="0"/>
              <a:t> ()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{  	</a:t>
            </a:r>
            <a:r>
              <a:rPr lang="en-US" sz="2000" dirty="0" err="1"/>
              <a:t>jfrm</a:t>
            </a:r>
            <a:r>
              <a:rPr lang="en-US" sz="2000" dirty="0"/>
              <a:t>=new </a:t>
            </a:r>
            <a:r>
              <a:rPr lang="en-US" sz="2000" dirty="0" err="1"/>
              <a:t>Jframe</a:t>
            </a:r>
            <a:r>
              <a:rPr lang="en-US" sz="2000" dirty="0"/>
              <a:t>(“Simple Swing”);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         </a:t>
            </a:r>
            <a:r>
              <a:rPr lang="en-US" sz="2000" dirty="0" err="1"/>
              <a:t>jfrm.setLayout</a:t>
            </a:r>
            <a:r>
              <a:rPr lang="en-US" sz="2000" dirty="0"/>
              <a:t>(new </a:t>
            </a:r>
            <a:r>
              <a:rPr lang="en-US" sz="2000" dirty="0" err="1"/>
              <a:t>FlowLayout</a:t>
            </a:r>
            <a:r>
              <a:rPr lang="en-US" sz="2000" dirty="0"/>
              <a:t>());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jfrm.setSize</a:t>
            </a:r>
            <a:r>
              <a:rPr lang="en-US" sz="2000" dirty="0"/>
              <a:t>(500,400);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jlab</a:t>
            </a:r>
            <a:r>
              <a:rPr lang="en-US" sz="2000" dirty="0"/>
              <a:t> = new </a:t>
            </a:r>
            <a:r>
              <a:rPr lang="en-US" sz="2000" dirty="0" err="1"/>
              <a:t>JLabel</a:t>
            </a:r>
            <a:r>
              <a:rPr lang="en-US" sz="2000" dirty="0"/>
              <a:t>(" Swing is powerful GUI");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jlab</a:t>
            </a:r>
            <a:r>
              <a:rPr lang="en-US" sz="2000" dirty="0"/>
              <a:t>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jtf</a:t>
            </a:r>
            <a:r>
              <a:rPr lang="en-US" sz="2000" dirty="0"/>
              <a:t> = new </a:t>
            </a:r>
            <a:r>
              <a:rPr lang="en-US" sz="2000" dirty="0" err="1"/>
              <a:t>JTextField</a:t>
            </a:r>
            <a:r>
              <a:rPr lang="en-US" sz="2000" dirty="0"/>
              <a:t>(15);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jtf.addActionListener</a:t>
            </a:r>
            <a:r>
              <a:rPr lang="en-US" sz="2000" dirty="0"/>
              <a:t>(this);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	</a:t>
            </a:r>
            <a:r>
              <a:rPr lang="en-US" sz="2000" dirty="0" err="1"/>
              <a:t>jfrm.add</a:t>
            </a:r>
            <a:r>
              <a:rPr lang="en-US" sz="2000" dirty="0"/>
              <a:t>(</a:t>
            </a:r>
            <a:r>
              <a:rPr lang="en-US" sz="2000" dirty="0" err="1"/>
              <a:t>jtf</a:t>
            </a:r>
            <a:r>
              <a:rPr lang="en-US" sz="2000" dirty="0"/>
              <a:t>);</a:t>
            </a:r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              </a:t>
            </a:r>
            <a:r>
              <a:rPr lang="en-US" sz="2000" dirty="0" err="1"/>
              <a:t>jfrm.setVisible</a:t>
            </a:r>
            <a:r>
              <a:rPr lang="en-US" sz="2000" dirty="0"/>
              <a:t>(true);    	</a:t>
            </a:r>
            <a:r>
              <a:rPr lang="en-US" sz="2000" b="1" dirty="0"/>
              <a:t>}</a:t>
            </a:r>
          </a:p>
          <a:p>
            <a:pPr>
              <a:spcBef>
                <a:spcPts val="600"/>
              </a:spcBef>
              <a:buNone/>
            </a:pPr>
            <a:endParaRPr lang="en-US" sz="2000" dirty="0"/>
          </a:p>
          <a:p>
            <a:pPr>
              <a:spcBef>
                <a:spcPts val="600"/>
              </a:spcBef>
              <a:buNone/>
            </a:pPr>
            <a:r>
              <a:rPr lang="en-US" sz="2000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/>
              <a:t>public void </a:t>
            </a:r>
            <a:r>
              <a:rPr lang="en-US" sz="2400" b="1" dirty="0" err="1">
                <a:solidFill>
                  <a:srgbClr val="C00000"/>
                </a:solidFill>
              </a:rPr>
              <a:t>actionPerformed</a:t>
            </a:r>
            <a:r>
              <a:rPr lang="en-US" sz="2400" dirty="0"/>
              <a:t>(</a:t>
            </a:r>
            <a:r>
              <a:rPr lang="en-US" sz="2400" dirty="0" err="1"/>
              <a:t>ActionEvent</a:t>
            </a:r>
            <a:r>
              <a:rPr lang="en-US" sz="2400" dirty="0"/>
              <a:t> ae) </a:t>
            </a:r>
          </a:p>
          <a:p>
            <a:pPr>
              <a:buNone/>
            </a:pPr>
            <a:r>
              <a:rPr lang="en-US" sz="2400" dirty="0"/>
              <a:t>	{</a:t>
            </a:r>
          </a:p>
          <a:p>
            <a:pPr>
              <a:buNone/>
            </a:pPr>
            <a:r>
              <a:rPr lang="en-US" sz="2400" dirty="0"/>
              <a:t>		</a:t>
            </a:r>
            <a:r>
              <a:rPr lang="en-US" sz="2400" dirty="0" err="1"/>
              <a:t>jlab.setText</a:t>
            </a:r>
            <a:r>
              <a:rPr lang="en-US" sz="2400" dirty="0"/>
              <a:t>(“You typed “+ </a:t>
            </a:r>
            <a:r>
              <a:rPr lang="en-US" sz="2400" dirty="0" err="1"/>
              <a:t>jtf.getText</a:t>
            </a:r>
            <a:r>
              <a:rPr lang="en-US" sz="2400" dirty="0"/>
              <a:t>());</a:t>
            </a:r>
          </a:p>
          <a:p>
            <a:pPr>
              <a:buNone/>
            </a:pPr>
            <a:r>
              <a:rPr lang="en-US" sz="2400" dirty="0"/>
              <a:t>	}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public static void main(String </a:t>
            </a:r>
            <a:r>
              <a:rPr lang="en-US" sz="2400" dirty="0" err="1"/>
              <a:t>args</a:t>
            </a:r>
            <a:r>
              <a:rPr lang="en-US" sz="2400" dirty="0"/>
              <a:t>[])</a:t>
            </a:r>
          </a:p>
          <a:p>
            <a:pPr>
              <a:buNone/>
            </a:pPr>
            <a:r>
              <a:rPr lang="en-US" sz="2400" dirty="0"/>
              <a:t>	{ 	new </a:t>
            </a:r>
            <a:r>
              <a:rPr lang="en-US" sz="2400" dirty="0" err="1"/>
              <a:t>SwingText</a:t>
            </a:r>
            <a:r>
              <a:rPr lang="en-US" sz="2400" dirty="0"/>
              <a:t>();</a:t>
            </a:r>
          </a:p>
          <a:p>
            <a:pPr>
              <a:buNone/>
            </a:pPr>
            <a:r>
              <a:rPr lang="en-US" sz="2400" dirty="0"/>
              <a:t>}</a:t>
            </a:r>
          </a:p>
          <a:p>
            <a:pPr>
              <a:buNone/>
            </a:pPr>
            <a:r>
              <a:rPr lang="en-US" sz="2400" dirty="0"/>
              <a:t>}</a:t>
            </a:r>
          </a:p>
          <a:p>
            <a:pPr>
              <a:buNone/>
            </a:pPr>
            <a:endParaRPr lang="en-US" sz="2400" dirty="0"/>
          </a:p>
          <a:p>
            <a:pPr>
              <a:spcBef>
                <a:spcPts val="600"/>
              </a:spcBef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4953000"/>
            <a:ext cx="22479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981200" y="5257800"/>
            <a:ext cx="308296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COMPILE USING</a:t>
            </a:r>
          </a:p>
          <a:p>
            <a:r>
              <a:rPr lang="en-US" dirty="0" err="1"/>
              <a:t>javac</a:t>
            </a:r>
            <a:r>
              <a:rPr lang="en-US" dirty="0"/>
              <a:t> SwingText.java</a:t>
            </a:r>
          </a:p>
          <a:p>
            <a:r>
              <a:rPr lang="en-US" dirty="0"/>
              <a:t>RUN </a:t>
            </a:r>
          </a:p>
          <a:p>
            <a:r>
              <a:rPr lang="en-US" dirty="0" err="1"/>
              <a:t>appletviewer</a:t>
            </a:r>
            <a:r>
              <a:rPr lang="en-US" dirty="0"/>
              <a:t> SwingText.java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Class hierarchy of swing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842963"/>
            <a:ext cx="6196013" cy="586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Reference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Herbert Schildt, Java: </a:t>
            </a:r>
            <a:r>
              <a:rPr lang="en-US" b="1"/>
              <a:t>The Complete Reference, 8/e, Tata McGraw Hill, 2011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177B24-24EE-4360-837F-21ED05759566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12639</TotalTime>
  <Words>4437</Words>
  <Application>Microsoft Office PowerPoint</Application>
  <PresentationFormat>On-screen Show (4:3)</PresentationFormat>
  <Paragraphs>643</Paragraphs>
  <Slides>50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Snap ITC</vt:lpstr>
      <vt:lpstr>Times New Roman</vt:lpstr>
      <vt:lpstr>Office Theme</vt:lpstr>
      <vt:lpstr>PBCST304 Object Oriented Programming in Java Module 4 (Part 3)</vt:lpstr>
      <vt:lpstr>Topics</vt:lpstr>
      <vt:lpstr>Swing Packages</vt:lpstr>
      <vt:lpstr>Swing packages(contd.)</vt:lpstr>
      <vt:lpstr>PowerPoint Presentation</vt:lpstr>
      <vt:lpstr>PowerPoint Presentation</vt:lpstr>
      <vt:lpstr>JFrame</vt:lpstr>
      <vt:lpstr>JFrame(contd.)</vt:lpstr>
      <vt:lpstr>JFrame(contd.)</vt:lpstr>
      <vt:lpstr>JFrame(contd.)</vt:lpstr>
      <vt:lpstr>JFrame(contd.)</vt:lpstr>
      <vt:lpstr>A Simple Swing Application</vt:lpstr>
      <vt:lpstr>Create a Swing with a frame titled “A Simple Swing”</vt:lpstr>
      <vt:lpstr>Create a Swing with a frame titled “A Simple Swing”</vt:lpstr>
      <vt:lpstr>JLabel</vt:lpstr>
      <vt:lpstr>JLabel(contd.)</vt:lpstr>
      <vt:lpstr>A Simple Swing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Swing Buttons</vt:lpstr>
      <vt:lpstr>The Swing Buttons(contd.)</vt:lpstr>
      <vt:lpstr>The Swing Buttons (contd.)</vt:lpstr>
      <vt:lpstr>JButton</vt:lpstr>
      <vt:lpstr>JButton(contd.) </vt:lpstr>
      <vt:lpstr>Swing-Event handling E.g.</vt:lpstr>
      <vt:lpstr>PowerPoint Presentation</vt:lpstr>
      <vt:lpstr>PowerPoint Presentation</vt:lpstr>
      <vt:lpstr>JToggleButton</vt:lpstr>
      <vt:lpstr>JToggleButton(contd.)</vt:lpstr>
      <vt:lpstr>JToggleButton(contd.)</vt:lpstr>
      <vt:lpstr>PowerPoint Presentation</vt:lpstr>
      <vt:lpstr>PowerPoint Presentation</vt:lpstr>
      <vt:lpstr>JCheckBox</vt:lpstr>
      <vt:lpstr>PowerPoint Presentation</vt:lpstr>
      <vt:lpstr>PowerPoint Presentation</vt:lpstr>
      <vt:lpstr>JRadioButton</vt:lpstr>
      <vt:lpstr>JRadioButton(contd.)</vt:lpstr>
      <vt:lpstr>PowerPoint Presentation</vt:lpstr>
      <vt:lpstr>PowerPoint Presentation</vt:lpstr>
      <vt:lpstr>JTextField.</vt:lpstr>
      <vt:lpstr>JTextField(contd.)</vt:lpstr>
      <vt:lpstr>JTextField(contd.)</vt:lpstr>
      <vt:lpstr>PowerPoint Presentation</vt:lpstr>
      <vt:lpstr>Class hierarchy of swing components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 Object Oriented Programming in Java Module 2 - Core Java Fundamentals</dc:title>
  <dc:creator>USER</dc:creator>
  <cp:lastModifiedBy>RENETHA J B</cp:lastModifiedBy>
  <cp:revision>4855</cp:revision>
  <dcterms:created xsi:type="dcterms:W3CDTF">2006-08-16T00:00:00Z</dcterms:created>
  <dcterms:modified xsi:type="dcterms:W3CDTF">2025-08-24T18:51:38Z</dcterms:modified>
</cp:coreProperties>
</file>