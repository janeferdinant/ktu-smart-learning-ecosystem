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2" r:id="rId4"/>
    <p:sldId id="29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</p:sldIdLst>
  <p:sldSz cx="9144000" cy="6858000" type="screen4x3"/>
  <p:notesSz cx="7315200" cy="9601200"/>
  <p:embeddedFontLst>
    <p:embeddedFont>
      <p:font typeface="Snap ITC" panose="04040A07060A02020202" pitchFamily="82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jpB5CR8ler2kMkhuEavUiIiDAU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95DCF0B-564A-42D1-9D90-E8930FB8B425}">
  <a:tblStyle styleId="{295DCF0B-564A-42D1-9D90-E8930FB8B42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42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0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3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4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72375" y="-762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7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7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just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7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7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0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4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0"/>
          <p:cNvSpPr txBox="1">
            <a:spLocks noGrp="1"/>
          </p:cNvSpPr>
          <p:nvPr>
            <p:ph type="ftr" idx="11"/>
          </p:nvPr>
        </p:nvSpPr>
        <p:spPr>
          <a:xfrm>
            <a:off x="62484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0"/>
          <p:cNvSpPr txBox="1">
            <a:spLocks noGrp="1"/>
          </p:cNvSpPr>
          <p:nvPr>
            <p:ph type="sldNum" idx="12"/>
          </p:nvPr>
        </p:nvSpPr>
        <p:spPr>
          <a:xfrm>
            <a:off x="8686800" y="6492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1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4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4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5"/>
          <p:cNvSpPr txBox="1">
            <a:spLocks noGrp="1"/>
          </p:cNvSpPr>
          <p:nvPr>
            <p:ph type="body" idx="1"/>
          </p:nvPr>
        </p:nvSpPr>
        <p:spPr>
          <a:xfrm rot="5400000">
            <a:off x="1928018" y="-632619"/>
            <a:ext cx="5287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6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35"/>
          <p:cNvSpPr txBox="1">
            <a:spLocks noGrp="1"/>
          </p:cNvSpPr>
          <p:nvPr>
            <p:ph type="body" idx="1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2C74F44B-FA8C-54A4-38E6-FE9D49443E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88EA15-B0F0-20C0-F51B-62DD1738BF63}"/>
              </a:ext>
            </a:extLst>
          </p:cNvPr>
          <p:cNvSpPr txBox="1">
            <a:spLocks/>
          </p:cNvSpPr>
          <p:nvPr/>
        </p:nvSpPr>
        <p:spPr>
          <a:xfrm>
            <a:off x="381000" y="1219200"/>
            <a:ext cx="8458200" cy="202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>
                <a:solidFill>
                  <a:srgbClr val="0000CC"/>
                </a:solidFill>
              </a:rPr>
              <a:t>PBCST304 Object Oriented Programming in Java</a:t>
            </a:r>
            <a:br>
              <a:rPr lang="en-US" dirty="0"/>
            </a:br>
            <a:r>
              <a:rPr lang="en-US" dirty="0"/>
              <a:t>Module 4</a:t>
            </a:r>
            <a:br>
              <a:rPr lang="en-US" dirty="0"/>
            </a:br>
            <a:r>
              <a:rPr lang="en-US" dirty="0"/>
              <a:t>(</a:t>
            </a:r>
            <a:r>
              <a:rPr lang="en-US"/>
              <a:t>Part 4)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71F0992-676B-0EE3-4C8F-3C905110C697}"/>
              </a:ext>
            </a:extLst>
          </p:cNvPr>
          <p:cNvSpPr txBox="1">
            <a:spLocks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Font typeface="Arial" pitchFamily="34" charset="0"/>
              <a:buNone/>
              <a:defRPr/>
            </a:pPr>
            <a:r>
              <a:rPr lang="en-US">
                <a:latin typeface="Snap ITC" pitchFamily="82" charset="0"/>
              </a:rPr>
              <a:t>Prepared by 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4000" b="1"/>
              <a:t>Renetha J.B.</a:t>
            </a:r>
            <a:endParaRPr lang="en-US" sz="4000" b="1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96E7751-515B-4424-614D-A07734027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0B831C5C-37AA-4E91-8C39-54118789491F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FA44854-CEA7-D35A-E558-8AA3A2FA0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356350"/>
            <a:ext cx="2895600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Prepared by Renetha J.B.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Topics</a:t>
            </a:r>
            <a:endParaRPr/>
          </a:p>
        </p:txBody>
      </p:sp>
      <p:sp>
        <p:nvSpPr>
          <p:cNvPr id="101" name="Google Shape;101;p2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Char char="•"/>
            </a:pPr>
            <a:r>
              <a:rPr lang="en-US" sz="3200" b="1" dirty="0">
                <a:solidFill>
                  <a:srgbClr val="C00000"/>
                </a:solidFill>
              </a:rPr>
              <a:t>Swings</a:t>
            </a:r>
            <a:endParaRPr b="1" dirty="0">
              <a:solidFill>
                <a:srgbClr val="C00000"/>
              </a:solidFill>
            </a:endParaRPr>
          </a:p>
          <a:p>
            <a:pPr marL="742950" lvl="1" indent="-285750" algn="just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Event Handling in Swings.</a:t>
            </a:r>
            <a:endParaRPr sz="2600" b="1" dirty="0"/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3" name="Google Shape;103;p2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Handling in Swings</a:t>
            </a:r>
            <a:endParaRPr/>
          </a:p>
        </p:txBody>
      </p:sp>
      <p:sp>
        <p:nvSpPr>
          <p:cNvPr id="229" name="Google Shape;229;p17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lang="en-US" sz="2400" b="1">
                <a:solidFill>
                  <a:srgbClr val="0000CC"/>
                </a:solidFill>
              </a:rPr>
              <a:t>Delegation event model </a:t>
            </a:r>
            <a:r>
              <a:rPr lang="en-US" sz="2400"/>
              <a:t>is the event handling mechanism used by Swing.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Swing </a:t>
            </a:r>
            <a:r>
              <a:rPr lang="en-US" sz="2400" u="sng"/>
              <a:t>uses the same events as does the AWT, and these events are packaged in </a:t>
            </a:r>
            <a:r>
              <a:rPr lang="en-US" sz="2400" b="1" u="sng"/>
              <a:t>java.awt.event. 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Events specific to Swing </a:t>
            </a:r>
            <a:r>
              <a:rPr lang="en-US" sz="2400"/>
              <a:t>are stored in </a:t>
            </a:r>
            <a:r>
              <a:rPr lang="en-US" sz="2400" b="1"/>
              <a:t>javax.swing.event</a:t>
            </a:r>
            <a:endParaRPr sz="2400" b="1"/>
          </a:p>
          <a:p>
            <a:pPr marL="342900" lvl="0" indent="-1905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342900" lvl="0" indent="-1905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230" name="Google Shape;230;p17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31" name="Google Shape;231;p17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DE073-216D-885A-ADDF-7A3A2BE54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C2470-A2A8-BFE0-BC0E-C94E064DD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00CC"/>
              </a:buClr>
              <a:buSzPts val="2400"/>
            </a:pPr>
            <a:r>
              <a:rPr lang="en-US" sz="2400" dirty="0">
                <a:solidFill>
                  <a:srgbClr val="0000CC"/>
                </a:solidFill>
              </a:rPr>
              <a:t>Q. Write a program in swing to create  a frame with title “An Event Example ”. </a:t>
            </a:r>
            <a:endParaRPr lang="en-US" dirty="0"/>
          </a:p>
          <a:p>
            <a:pPr marL="742950" lvl="1" indent="-285750">
              <a:spcBef>
                <a:spcPts val="440"/>
              </a:spcBef>
              <a:buClr>
                <a:srgbClr val="0000CC"/>
              </a:buClr>
              <a:buSzPts val="2200"/>
            </a:pPr>
            <a:r>
              <a:rPr lang="en-US" sz="2200" dirty="0">
                <a:solidFill>
                  <a:srgbClr val="0000CC"/>
                </a:solidFill>
              </a:rPr>
              <a:t>Give </a:t>
            </a:r>
            <a:r>
              <a:rPr lang="en-US" sz="2200" dirty="0" err="1">
                <a:solidFill>
                  <a:srgbClr val="0000CC"/>
                </a:solidFill>
              </a:rPr>
              <a:t>FlowLayout</a:t>
            </a:r>
            <a:r>
              <a:rPr lang="en-US" sz="2200" dirty="0">
                <a:solidFill>
                  <a:srgbClr val="0000CC"/>
                </a:solidFill>
              </a:rPr>
              <a:t> to frame and set a width =220 and height=90</a:t>
            </a:r>
            <a:endParaRPr lang="en-US" dirty="0"/>
          </a:p>
          <a:p>
            <a:pPr marL="742950" lvl="1" indent="-285750">
              <a:spcBef>
                <a:spcPts val="440"/>
              </a:spcBef>
              <a:buClr>
                <a:srgbClr val="0000CC"/>
              </a:buClr>
              <a:buSzPts val="2200"/>
            </a:pPr>
            <a:r>
              <a:rPr lang="en-US" sz="2200" dirty="0">
                <a:solidFill>
                  <a:srgbClr val="0000CC"/>
                </a:solidFill>
              </a:rPr>
              <a:t>Frame has two buttons Ok and Cancel.</a:t>
            </a:r>
            <a:endParaRPr lang="en-US" dirty="0"/>
          </a:p>
          <a:p>
            <a:pPr marL="742950" lvl="1" indent="-285750">
              <a:spcBef>
                <a:spcPts val="440"/>
              </a:spcBef>
              <a:buClr>
                <a:srgbClr val="0000CC"/>
              </a:buClr>
              <a:buSzPts val="2200"/>
            </a:pPr>
            <a:r>
              <a:rPr lang="en-US" sz="2200" dirty="0">
                <a:solidFill>
                  <a:srgbClr val="0000CC"/>
                </a:solidFill>
              </a:rPr>
              <a:t>Frame has a label that display the message “Push a button”.</a:t>
            </a:r>
            <a:endParaRPr lang="en-US" dirty="0"/>
          </a:p>
          <a:p>
            <a:pPr marL="742950" lvl="1" indent="-285750">
              <a:spcBef>
                <a:spcPts val="440"/>
              </a:spcBef>
              <a:buClr>
                <a:srgbClr val="0000CC"/>
              </a:buClr>
              <a:buSzPts val="2200"/>
            </a:pPr>
            <a:r>
              <a:rPr lang="en-US" sz="2200" dirty="0">
                <a:solidFill>
                  <a:srgbClr val="0000CC"/>
                </a:solidFill>
              </a:rPr>
              <a:t>When we click the OK button it prints the message “OK  pressed” in the label.</a:t>
            </a:r>
            <a:endParaRPr lang="en-US" dirty="0"/>
          </a:p>
          <a:p>
            <a:pPr lvl="1">
              <a:spcBef>
                <a:spcPts val="440"/>
              </a:spcBef>
              <a:buClr>
                <a:srgbClr val="0000CC"/>
              </a:buClr>
              <a:buSzPts val="2200"/>
            </a:pPr>
            <a:r>
              <a:rPr lang="en-US" sz="2200" dirty="0">
                <a:solidFill>
                  <a:srgbClr val="0000CC"/>
                </a:solidFill>
              </a:rPr>
              <a:t>When we click the Cancel button it prints the message “Cancel  pressed</a:t>
            </a:r>
            <a:r>
              <a:rPr lang="en-US" sz="2200">
                <a:solidFill>
                  <a:srgbClr val="0000CC"/>
                </a:solidFill>
              </a:rPr>
              <a:t>” in the </a:t>
            </a:r>
            <a:r>
              <a:rPr lang="en-US" sz="2200" dirty="0">
                <a:solidFill>
                  <a:srgbClr val="0000CC"/>
                </a:solidFill>
              </a:rPr>
              <a:t>label</a:t>
            </a:r>
            <a:endParaRPr lang="en-US" dirty="0"/>
          </a:p>
          <a:p>
            <a:pPr marL="742950" lvl="1" indent="-146050">
              <a:spcBef>
                <a:spcPts val="440"/>
              </a:spcBef>
              <a:buSzPts val="2200"/>
              <a:buNone/>
            </a:pPr>
            <a:endParaRPr lang="en-US" sz="2200" dirty="0">
              <a:solidFill>
                <a:srgbClr val="0000CC"/>
              </a:solidFill>
            </a:endParaRPr>
          </a:p>
          <a:p>
            <a:pPr marL="742950" lvl="1" indent="-285750">
              <a:spcBef>
                <a:spcPts val="440"/>
              </a:spcBef>
              <a:buSzPts val="2200"/>
              <a:buNone/>
            </a:pPr>
            <a:endParaRPr lang="en-US" sz="2200" dirty="0">
              <a:solidFill>
                <a:srgbClr val="0000CC"/>
              </a:solidFill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F852B-0912-A4F3-5F70-CC3BC8789C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683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Simple Program</a:t>
            </a:r>
            <a:endParaRPr sz="2000"/>
          </a:p>
        </p:txBody>
      </p:sp>
      <p:sp>
        <p:nvSpPr>
          <p:cNvPr id="301" name="Google Shape;301;p26"/>
          <p:cNvSpPr txBox="1">
            <a:spLocks noGrp="1"/>
          </p:cNvSpPr>
          <p:nvPr>
            <p:ph type="body" idx="1"/>
          </p:nvPr>
        </p:nvSpPr>
        <p:spPr>
          <a:xfrm>
            <a:off x="457200" y="304800"/>
            <a:ext cx="82296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import java.awt.*;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import java.awt.event.*;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import javax.swing.*;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class </a:t>
            </a:r>
            <a:r>
              <a:rPr lang="en-US" sz="2000" b="1">
                <a:solidFill>
                  <a:srgbClr val="7030A0"/>
                </a:solidFill>
              </a:rPr>
              <a:t>EventDemoSwing</a:t>
            </a:r>
            <a:r>
              <a:rPr lang="en-US" sz="2000"/>
              <a:t>  extends </a:t>
            </a:r>
            <a:r>
              <a:rPr lang="en-US" sz="2000" b="1"/>
              <a:t>JFrame</a:t>
            </a:r>
            <a:r>
              <a:rPr lang="en-US" sz="2000"/>
              <a:t> implements </a:t>
            </a:r>
            <a:r>
              <a:rPr lang="en-US" sz="2000" b="1"/>
              <a:t>ActionListener</a:t>
            </a:r>
            <a:endParaRPr sz="2000" b="1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{ 	</a:t>
            </a:r>
            <a:r>
              <a:rPr lang="en-US" sz="2000" b="1">
                <a:solidFill>
                  <a:srgbClr val="0000CC"/>
                </a:solidFill>
              </a:rPr>
              <a:t>JLabel</a:t>
            </a:r>
            <a:r>
              <a:rPr lang="en-US" sz="2000"/>
              <a:t> jlab; 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r>
              <a:rPr lang="en-US" sz="2000" b="1">
                <a:solidFill>
                  <a:srgbClr val="7030A0"/>
                </a:solidFill>
              </a:rPr>
              <a:t>EventDemoSwing</a:t>
            </a:r>
            <a:r>
              <a:rPr lang="en-US" sz="2000"/>
              <a:t>() 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{ 	</a:t>
            </a:r>
            <a:r>
              <a:rPr lang="en-US" sz="2000" b="1">
                <a:solidFill>
                  <a:srgbClr val="0000CC"/>
                </a:solidFill>
              </a:rPr>
              <a:t>JFrame</a:t>
            </a:r>
            <a:r>
              <a:rPr lang="en-US" sz="2000"/>
              <a:t> </a:t>
            </a:r>
            <a:r>
              <a:rPr lang="en-US" sz="2000">
                <a:solidFill>
                  <a:srgbClr val="7030A0"/>
                </a:solidFill>
              </a:rPr>
              <a:t>jfrm</a:t>
            </a:r>
            <a:r>
              <a:rPr lang="en-US" sz="2000"/>
              <a:t> = new </a:t>
            </a:r>
            <a:r>
              <a:rPr lang="en-US" sz="2000" b="1">
                <a:solidFill>
                  <a:srgbClr val="0000CC"/>
                </a:solidFill>
              </a:rPr>
              <a:t>JFrame</a:t>
            </a:r>
            <a:r>
              <a:rPr lang="en-US" sz="2000"/>
              <a:t>("An Event Example");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>
                <a:solidFill>
                  <a:srgbClr val="0000CC"/>
                </a:solidFill>
              </a:rPr>
              <a:t>jfrm</a:t>
            </a:r>
            <a:r>
              <a:rPr lang="en-US" sz="2000"/>
              <a:t>.</a:t>
            </a:r>
            <a:r>
              <a:rPr lang="en-US" sz="2000" b="1">
                <a:solidFill>
                  <a:srgbClr val="C00000"/>
                </a:solidFill>
              </a:rPr>
              <a:t>setLayout(new FlowLayout());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lang="en-US" sz="2000">
                <a:solidFill>
                  <a:srgbClr val="0000CC"/>
                </a:solidFill>
              </a:rPr>
              <a:t>		jfrm</a:t>
            </a:r>
            <a:r>
              <a:rPr lang="en-US" sz="2000"/>
              <a:t>.</a:t>
            </a:r>
            <a:r>
              <a:rPr lang="en-US" sz="2000">
                <a:solidFill>
                  <a:srgbClr val="C00000"/>
                </a:solidFill>
              </a:rPr>
              <a:t>setSize(220, 90);</a:t>
            </a:r>
            <a:endParaRPr sz="2000" b="1">
              <a:solidFill>
                <a:srgbClr val="C00000"/>
              </a:solidFill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jfrm.</a:t>
            </a:r>
            <a:r>
              <a:rPr lang="en-US" sz="2000" b="1">
                <a:solidFill>
                  <a:srgbClr val="C00000"/>
                </a:solidFill>
              </a:rPr>
              <a:t>setDefaultCloseOperation(JFrame.EXIT_ON_CLOSE)</a:t>
            </a:r>
            <a:r>
              <a:rPr lang="en-US" sz="2000"/>
              <a:t>;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 b="1">
                <a:solidFill>
                  <a:srgbClr val="0000CC"/>
                </a:solidFill>
              </a:rPr>
              <a:t>JButton</a:t>
            </a:r>
            <a:r>
              <a:rPr lang="en-US" sz="2000"/>
              <a:t> jbtnOk = new </a:t>
            </a:r>
            <a:r>
              <a:rPr lang="en-US" sz="2000" b="1">
                <a:solidFill>
                  <a:srgbClr val="0000CC"/>
                </a:solidFill>
              </a:rPr>
              <a:t>JButton</a:t>
            </a:r>
            <a:r>
              <a:rPr lang="en-US" sz="2000"/>
              <a:t>("OK");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 b="1">
                <a:solidFill>
                  <a:srgbClr val="0000CC"/>
                </a:solidFill>
              </a:rPr>
              <a:t>JButton</a:t>
            </a:r>
            <a:r>
              <a:rPr lang="en-US" sz="2000"/>
              <a:t> jbtnCancel = new </a:t>
            </a:r>
            <a:r>
              <a:rPr lang="en-US" sz="2000" b="1">
                <a:solidFill>
                  <a:srgbClr val="0000CC"/>
                </a:solidFill>
              </a:rPr>
              <a:t>JButton</a:t>
            </a:r>
            <a:r>
              <a:rPr lang="en-US" sz="2000"/>
              <a:t>("Cancel");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jbtnOk.</a:t>
            </a:r>
            <a:r>
              <a:rPr lang="en-US" sz="2000" b="1">
                <a:solidFill>
                  <a:srgbClr val="C00000"/>
                </a:solidFill>
              </a:rPr>
              <a:t>setToolTipText(</a:t>
            </a:r>
            <a:r>
              <a:rPr lang="en-US" sz="2000"/>
              <a:t>"click");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jbtnOk.</a:t>
            </a:r>
            <a:r>
              <a:rPr lang="en-US" sz="2000" b="1">
                <a:solidFill>
                  <a:srgbClr val="C00000"/>
                </a:solidFill>
              </a:rPr>
              <a:t>addActionListener(</a:t>
            </a:r>
            <a:r>
              <a:rPr lang="en-US" sz="2000"/>
              <a:t>this);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jbtnCancel.</a:t>
            </a:r>
            <a:r>
              <a:rPr lang="en-US" sz="2000" b="1">
                <a:solidFill>
                  <a:srgbClr val="C00000"/>
                </a:solidFill>
              </a:rPr>
              <a:t>addActionListener(</a:t>
            </a:r>
            <a:r>
              <a:rPr lang="en-US" sz="2000"/>
              <a:t>this);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>
                <a:solidFill>
                  <a:srgbClr val="0000CC"/>
                </a:solidFill>
              </a:rPr>
              <a:t>jfrm</a:t>
            </a:r>
            <a:r>
              <a:rPr lang="en-US" sz="2000"/>
              <a:t>.</a:t>
            </a:r>
            <a:r>
              <a:rPr lang="en-US" sz="2000" b="1">
                <a:solidFill>
                  <a:srgbClr val="C00000"/>
                </a:solidFill>
              </a:rPr>
              <a:t>add</a:t>
            </a:r>
            <a:r>
              <a:rPr lang="en-US" sz="2000"/>
              <a:t>(jbtnOk);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>
                <a:solidFill>
                  <a:srgbClr val="0000CC"/>
                </a:solidFill>
              </a:rPr>
              <a:t>jfrm</a:t>
            </a:r>
            <a:r>
              <a:rPr lang="en-US" sz="2000"/>
              <a:t>.</a:t>
            </a:r>
            <a:r>
              <a:rPr lang="en-US" sz="2000" b="1">
                <a:solidFill>
                  <a:srgbClr val="C00000"/>
                </a:solidFill>
              </a:rPr>
              <a:t>add</a:t>
            </a:r>
            <a:r>
              <a:rPr lang="en-US" sz="2000"/>
              <a:t>(jbtnCancel);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 b="1">
                <a:solidFill>
                  <a:srgbClr val="4F6128"/>
                </a:solidFill>
              </a:rPr>
              <a:t>jlab</a:t>
            </a:r>
            <a:r>
              <a:rPr lang="en-US" sz="2000">
                <a:solidFill>
                  <a:srgbClr val="4F6128"/>
                </a:solidFill>
              </a:rPr>
              <a:t> </a:t>
            </a:r>
            <a:r>
              <a:rPr lang="en-US" sz="2000"/>
              <a:t>= new </a:t>
            </a:r>
            <a:r>
              <a:rPr lang="en-US" sz="2000" b="1">
                <a:solidFill>
                  <a:srgbClr val="0000CC"/>
                </a:solidFill>
              </a:rPr>
              <a:t>JLabel</a:t>
            </a:r>
            <a:r>
              <a:rPr lang="en-US" sz="2000"/>
              <a:t>("Press a button.");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>
                <a:solidFill>
                  <a:srgbClr val="0000CC"/>
                </a:solidFill>
              </a:rPr>
              <a:t>jfrm</a:t>
            </a:r>
            <a:r>
              <a:rPr lang="en-US" sz="2000"/>
              <a:t>.</a:t>
            </a:r>
            <a:r>
              <a:rPr lang="en-US" sz="2000" b="1">
                <a:solidFill>
                  <a:srgbClr val="C00000"/>
                </a:solidFill>
              </a:rPr>
              <a:t>add</a:t>
            </a:r>
            <a:r>
              <a:rPr lang="en-US" sz="2000"/>
              <a:t>(jlab);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>
                <a:solidFill>
                  <a:srgbClr val="0000CC"/>
                </a:solidFill>
              </a:rPr>
              <a:t>jfrm</a:t>
            </a:r>
            <a:r>
              <a:rPr lang="en-US" sz="2000"/>
              <a:t>.</a:t>
            </a:r>
            <a:r>
              <a:rPr lang="en-US" sz="2000" b="1">
                <a:solidFill>
                  <a:srgbClr val="C00000"/>
                </a:solidFill>
              </a:rPr>
              <a:t>setVisible(</a:t>
            </a:r>
            <a:r>
              <a:rPr lang="en-US" sz="2000"/>
              <a:t>true);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}</a:t>
            </a:r>
            <a:endParaRPr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endParaRPr sz="2000"/>
          </a:p>
        </p:txBody>
      </p:sp>
      <p:sp>
        <p:nvSpPr>
          <p:cNvPr id="302" name="Google Shape;302;p26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03" name="Google Shape;303;p26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7"/>
          <p:cNvSpPr txBox="1">
            <a:spLocks noGrp="1"/>
          </p:cNvSpPr>
          <p:nvPr>
            <p:ph type="body" idx="1"/>
          </p:nvPr>
        </p:nvSpPr>
        <p:spPr>
          <a:xfrm>
            <a:off x="315156" y="495300"/>
            <a:ext cx="8229600" cy="58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public void </a:t>
            </a:r>
            <a:r>
              <a:rPr lang="en-US" sz="2400" b="1" dirty="0" err="1">
                <a:solidFill>
                  <a:srgbClr val="C00000"/>
                </a:solidFill>
              </a:rPr>
              <a:t>actionPerformed</a:t>
            </a:r>
            <a:r>
              <a:rPr lang="en-US" sz="2400" b="1" dirty="0">
                <a:solidFill>
                  <a:srgbClr val="C00000"/>
                </a:solidFill>
              </a:rPr>
              <a:t>(</a:t>
            </a:r>
            <a:r>
              <a:rPr lang="en-US" sz="2400" b="1" dirty="0" err="1">
                <a:solidFill>
                  <a:srgbClr val="0000CC"/>
                </a:solidFill>
              </a:rPr>
              <a:t>ActionEvent</a:t>
            </a:r>
            <a:r>
              <a:rPr lang="en-US" sz="2400" dirty="0"/>
              <a:t> ae)</a:t>
            </a:r>
            <a:endParaRPr dirty="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	{	</a:t>
            </a:r>
            <a:r>
              <a:rPr lang="en-US" sz="2000" i="1" dirty="0">
                <a:solidFill>
                  <a:srgbClr val="0000CC"/>
                </a:solidFill>
              </a:rPr>
              <a:t> //store the name written in button that is clicked ,in variable s</a:t>
            </a:r>
            <a:endParaRPr sz="2400" i="1" dirty="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		</a:t>
            </a:r>
            <a:r>
              <a:rPr lang="en-US" sz="2400" b="1" dirty="0">
                <a:solidFill>
                  <a:srgbClr val="0000CC"/>
                </a:solidFill>
              </a:rPr>
              <a:t>String</a:t>
            </a:r>
            <a:r>
              <a:rPr lang="en-US" sz="2400" dirty="0"/>
              <a:t> s = </a:t>
            </a:r>
            <a:r>
              <a:rPr lang="en-US" sz="2400" dirty="0" err="1"/>
              <a:t>ae.</a:t>
            </a:r>
            <a:r>
              <a:rPr lang="en-US" sz="2400" b="1" dirty="0" err="1">
                <a:solidFill>
                  <a:srgbClr val="C00000"/>
                </a:solidFill>
              </a:rPr>
              <a:t>getActionCommand</a:t>
            </a:r>
            <a:r>
              <a:rPr lang="en-US" sz="2400" dirty="0"/>
              <a:t>(); </a:t>
            </a:r>
            <a:endParaRPr sz="1800" dirty="0">
              <a:solidFill>
                <a:srgbClr val="0000CC"/>
              </a:solidFill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		if(</a:t>
            </a:r>
            <a:r>
              <a:rPr lang="en-US" sz="2400" dirty="0" err="1"/>
              <a:t>s.</a:t>
            </a:r>
            <a:r>
              <a:rPr lang="en-US" sz="2400" b="1" dirty="0" err="1">
                <a:solidFill>
                  <a:srgbClr val="C00000"/>
                </a:solidFill>
              </a:rPr>
              <a:t>equalsIgnoreCase</a:t>
            </a:r>
            <a:r>
              <a:rPr lang="en-US" sz="2400" dirty="0"/>
              <a:t>("ok"))</a:t>
            </a:r>
            <a:endParaRPr dirty="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			</a:t>
            </a:r>
            <a:r>
              <a:rPr lang="en-US" sz="2400" dirty="0" err="1">
                <a:solidFill>
                  <a:srgbClr val="0000CC"/>
                </a:solidFill>
              </a:rPr>
              <a:t>jlab</a:t>
            </a:r>
            <a:r>
              <a:rPr lang="en-US" sz="2400" dirty="0" err="1"/>
              <a:t>.</a:t>
            </a:r>
            <a:r>
              <a:rPr lang="en-US" sz="2400" dirty="0" err="1">
                <a:solidFill>
                  <a:srgbClr val="C00000"/>
                </a:solidFill>
              </a:rPr>
              <a:t>setText</a:t>
            </a:r>
            <a:r>
              <a:rPr lang="en-US" sz="2400" dirty="0"/>
              <a:t>("OK  pressed.");</a:t>
            </a:r>
            <a:endParaRPr dirty="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		else if(</a:t>
            </a:r>
            <a:r>
              <a:rPr lang="en-US" sz="2400" dirty="0" err="1"/>
              <a:t>s.</a:t>
            </a:r>
            <a:r>
              <a:rPr lang="en-US" sz="2400" b="1" dirty="0" err="1">
                <a:solidFill>
                  <a:srgbClr val="C00000"/>
                </a:solidFill>
              </a:rPr>
              <a:t>equalsIgnoreCase</a:t>
            </a:r>
            <a:r>
              <a:rPr lang="en-US" sz="2400" dirty="0"/>
              <a:t>("cancel"))</a:t>
            </a:r>
            <a:endParaRPr dirty="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			</a:t>
            </a:r>
            <a:r>
              <a:rPr lang="en-US" sz="2400" dirty="0" err="1">
                <a:solidFill>
                  <a:srgbClr val="0000CC"/>
                </a:solidFill>
              </a:rPr>
              <a:t>jlab</a:t>
            </a:r>
            <a:r>
              <a:rPr lang="en-US" sz="2400" dirty="0" err="1"/>
              <a:t>.</a:t>
            </a:r>
            <a:r>
              <a:rPr lang="en-US" sz="2400" dirty="0" err="1">
                <a:solidFill>
                  <a:srgbClr val="C00000"/>
                </a:solidFill>
              </a:rPr>
              <a:t>setText</a:t>
            </a:r>
            <a:r>
              <a:rPr lang="en-US" sz="2400" dirty="0"/>
              <a:t>("Cancel  pressed."); </a:t>
            </a:r>
            <a:endParaRPr dirty="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	}</a:t>
            </a:r>
            <a:endParaRPr dirty="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400" dirty="0"/>
              <a:t>public static void </a:t>
            </a:r>
            <a:r>
              <a:rPr lang="en-US" sz="2400" b="1" dirty="0"/>
              <a:t>main</a:t>
            </a:r>
            <a:r>
              <a:rPr lang="en-US" sz="2400" dirty="0"/>
              <a:t>(String </a:t>
            </a:r>
            <a:r>
              <a:rPr lang="en-US" sz="2400" dirty="0" err="1"/>
              <a:t>args</a:t>
            </a:r>
            <a:r>
              <a:rPr lang="en-US" sz="2400" dirty="0"/>
              <a:t>[]) </a:t>
            </a:r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400" dirty="0"/>
              <a:t>	{</a:t>
            </a:r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400" dirty="0"/>
              <a:t>			new </a:t>
            </a:r>
            <a:r>
              <a:rPr lang="en-US" sz="2400" b="1" dirty="0" err="1">
                <a:solidFill>
                  <a:srgbClr val="7030A0"/>
                </a:solidFill>
              </a:rPr>
              <a:t>EventDemo</a:t>
            </a:r>
            <a:r>
              <a:rPr lang="en-US" sz="2400" b="1" dirty="0">
                <a:solidFill>
                  <a:srgbClr val="7030A0"/>
                </a:solidFill>
              </a:rPr>
              <a:t>();</a:t>
            </a:r>
            <a:endParaRPr lang="en-US" sz="2400" dirty="0"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400" dirty="0"/>
              <a:t>						</a:t>
            </a:r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400" dirty="0"/>
              <a:t>	}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	}</a:t>
            </a:r>
            <a:endParaRPr dirty="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}</a:t>
            </a:r>
            <a:endParaRPr sz="1800" dirty="0"/>
          </a:p>
          <a:p>
            <a:pPr marL="342900" lvl="0" indent="-342900" algn="just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/>
          </a:p>
        </p:txBody>
      </p:sp>
      <p:sp>
        <p:nvSpPr>
          <p:cNvPr id="310" name="Google Shape;310;p27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11" name="Google Shape;311;p27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312" name="Google Shape;31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29425" y="2590800"/>
            <a:ext cx="2314575" cy="10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Create a Swing Applet</a:t>
            </a:r>
            <a:endParaRPr/>
          </a:p>
        </p:txBody>
      </p:sp>
      <p:sp>
        <p:nvSpPr>
          <p:cNvPr id="318" name="Google Shape;318;p28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A Swing applet extends </a:t>
            </a:r>
            <a:r>
              <a:rPr lang="en-US" b="1"/>
              <a:t>Japplet.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b="1"/>
              <a:t>JApplet </a:t>
            </a:r>
            <a:r>
              <a:rPr lang="en-US"/>
              <a:t>is derived from </a:t>
            </a:r>
            <a:r>
              <a:rPr lang="en-US" b="1"/>
              <a:t>Applet.</a:t>
            </a:r>
            <a:endParaRPr/>
          </a:p>
          <a:p>
            <a:pPr marL="342900" lvl="0" indent="-342900" algn="just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Swing applets use the same four lifecycle methods as Applet	</a:t>
            </a:r>
            <a:endParaRPr/>
          </a:p>
          <a:p>
            <a:pPr marL="342900" lvl="0" indent="-34290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b="1"/>
              <a:t>init( ),</a:t>
            </a:r>
            <a:endParaRPr/>
          </a:p>
          <a:p>
            <a:pPr marL="342900" lvl="0" indent="-34290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b="1"/>
              <a:t>start( ), stop( ), and destroy( ).</a:t>
            </a:r>
            <a:endParaRPr/>
          </a:p>
          <a:p>
            <a:pPr marL="342900" lvl="0" indent="-342900" algn="just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Swing applet will not normally override the </a:t>
            </a:r>
            <a:r>
              <a:rPr lang="en-US" b="1"/>
              <a:t>paint( ) method</a:t>
            </a:r>
            <a:endParaRPr/>
          </a:p>
        </p:txBody>
      </p:sp>
      <p:sp>
        <p:nvSpPr>
          <p:cNvPr id="319" name="Google Shape;319;p28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20" name="Google Shape;320;p28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9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lang="en-US" sz="2400">
                <a:solidFill>
                  <a:srgbClr val="0000CC"/>
                </a:solidFill>
              </a:rPr>
              <a:t>Write a program using</a:t>
            </a:r>
            <a:r>
              <a:rPr lang="en-US" sz="2400">
                <a:solidFill>
                  <a:srgbClr val="C00000"/>
                </a:solidFill>
              </a:rPr>
              <a:t> </a:t>
            </a:r>
            <a:r>
              <a:rPr lang="en-US" sz="2400" b="1">
                <a:solidFill>
                  <a:srgbClr val="C00000"/>
                </a:solidFill>
              </a:rPr>
              <a:t>SWING APPLET</a:t>
            </a:r>
            <a:endParaRPr sz="2400" b="1">
              <a:solidFill>
                <a:srgbClr val="C00000"/>
              </a:solidFill>
            </a:endParaRPr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rgbClr val="0000CC"/>
              </a:buClr>
              <a:buSzPts val="2200"/>
              <a:buChar char="–"/>
            </a:pPr>
            <a:r>
              <a:rPr lang="en-US" sz="2200">
                <a:solidFill>
                  <a:srgbClr val="0000CC"/>
                </a:solidFill>
              </a:rPr>
              <a:t>It should have two buttons Ok and Cancel.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rgbClr val="0000CC"/>
              </a:buClr>
              <a:buSzPts val="2200"/>
              <a:buChar char="–"/>
            </a:pPr>
            <a:r>
              <a:rPr lang="en-US" sz="2200">
                <a:solidFill>
                  <a:srgbClr val="0000CC"/>
                </a:solidFill>
              </a:rPr>
              <a:t>Label to display message “Push a button”.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rgbClr val="0000CC"/>
              </a:buClr>
              <a:buSzPts val="2200"/>
              <a:buChar char="–"/>
            </a:pPr>
            <a:r>
              <a:rPr lang="en-US" sz="2200">
                <a:solidFill>
                  <a:srgbClr val="0000CC"/>
                </a:solidFill>
              </a:rPr>
              <a:t>When we click the OK button it prints the message “OK pressed” in the label.</a:t>
            </a:r>
            <a:endParaRPr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rgbClr val="0000CC"/>
              </a:buClr>
              <a:buSzPts val="2200"/>
              <a:buChar char="–"/>
            </a:pPr>
            <a:r>
              <a:rPr lang="en-US" sz="2200">
                <a:solidFill>
                  <a:srgbClr val="0000CC"/>
                </a:solidFill>
              </a:rPr>
              <a:t>When we click the Cancel button it prints the message “Cancel pressed” in the label</a:t>
            </a:r>
            <a:endParaRPr/>
          </a:p>
          <a:p>
            <a:pPr marL="342900" lvl="0" indent="-177800" algn="just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/>
          </a:p>
        </p:txBody>
      </p:sp>
      <p:sp>
        <p:nvSpPr>
          <p:cNvPr id="327" name="Google Shape;327;p29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28" name="Google Shape;328;p29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0"/>
          <p:cNvSpPr txBox="1">
            <a:spLocks noGrp="1"/>
          </p:cNvSpPr>
          <p:nvPr>
            <p:ph type="body" idx="1"/>
          </p:nvPr>
        </p:nvSpPr>
        <p:spPr>
          <a:xfrm>
            <a:off x="0" y="457200"/>
            <a:ext cx="82296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// A simple Swing-based applet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import javax.swing.*;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import java.awt.*;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import java.awt.event.*;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/*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This HTML can be used to launch the applet: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&lt;</a:t>
            </a:r>
            <a:r>
              <a:rPr lang="en-US" b="1">
                <a:solidFill>
                  <a:srgbClr val="C00000"/>
                </a:solidFill>
              </a:rPr>
              <a:t>object</a:t>
            </a:r>
            <a:r>
              <a:rPr lang="en-US"/>
              <a:t> code="MySwingApplet" width=220 height=90&gt;</a:t>
            </a:r>
            <a:endParaRPr/>
          </a:p>
          <a:p>
            <a:pPr marL="742950" lvl="1" indent="-2857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&lt;/</a:t>
            </a:r>
            <a:r>
              <a:rPr lang="en-US" b="1">
                <a:solidFill>
                  <a:srgbClr val="C00000"/>
                </a:solidFill>
              </a:rPr>
              <a:t>object</a:t>
            </a:r>
            <a:r>
              <a:rPr lang="en-US"/>
              <a:t>&gt;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*/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public class MySwingApplet extends JApplet implements ActionListener</a:t>
            </a:r>
            <a:endParaRPr sz="2000"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{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JButton jbtnOk;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JButton jbtnCancel;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JLabel jlab;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endParaRPr sz="2000"/>
          </a:p>
        </p:txBody>
      </p:sp>
      <p:sp>
        <p:nvSpPr>
          <p:cNvPr id="334" name="Google Shape;334;p30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35" name="Google Shape;335;p30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1"/>
          <p:cNvSpPr txBox="1">
            <a:spLocks noGrp="1"/>
          </p:cNvSpPr>
          <p:nvPr>
            <p:ph type="body" idx="1"/>
          </p:nvPr>
        </p:nvSpPr>
        <p:spPr>
          <a:xfrm>
            <a:off x="304800" y="228600"/>
            <a:ext cx="83820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// Initialize the applet.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public void </a:t>
            </a:r>
            <a:r>
              <a:rPr lang="en-US" sz="2000" b="1">
                <a:solidFill>
                  <a:srgbClr val="C00000"/>
                </a:solidFill>
              </a:rPr>
              <a:t>init() </a:t>
            </a:r>
            <a:r>
              <a:rPr lang="en-US" sz="2000"/>
              <a:t>{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try { 	SwingUtilities.invokeAndWait(new Runnable () 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			{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			public void run() {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			makeGUI(); // initialize the GUI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			}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			});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	} catch(Exception exc) 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	{ 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	System.out.println("Can't create because of "+ exc); }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	}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</p:txBody>
      </p:sp>
      <p:sp>
        <p:nvSpPr>
          <p:cNvPr id="341" name="Google Shape;341;p31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42" name="Google Shape;342;p31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2"/>
          <p:cNvSpPr txBox="1">
            <a:spLocks noGrp="1"/>
          </p:cNvSpPr>
          <p:nvPr>
            <p:ph type="body" idx="1"/>
          </p:nvPr>
        </p:nvSpPr>
        <p:spPr>
          <a:xfrm>
            <a:off x="457200" y="152400"/>
            <a:ext cx="8229600" cy="72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private void </a:t>
            </a:r>
            <a:r>
              <a:rPr lang="en-US" sz="2000" b="1">
                <a:solidFill>
                  <a:srgbClr val="C00000"/>
                </a:solidFill>
              </a:rPr>
              <a:t>makeGUI() </a:t>
            </a:r>
            <a:endParaRPr sz="2000" b="1">
              <a:solidFill>
                <a:srgbClr val="C00000"/>
              </a:solidFill>
            </a:endParaRPr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{  </a:t>
            </a:r>
            <a:r>
              <a:rPr lang="en-US" sz="2000" i="1"/>
              <a:t>	// Set the applet to use flow layout.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 b="1">
                <a:solidFill>
                  <a:srgbClr val="C00000"/>
                </a:solidFill>
              </a:rPr>
              <a:t>setLayout</a:t>
            </a:r>
            <a:r>
              <a:rPr lang="en-US" sz="2000"/>
              <a:t>(new </a:t>
            </a:r>
            <a:r>
              <a:rPr lang="en-US" sz="2000" b="1">
                <a:solidFill>
                  <a:srgbClr val="0000CC"/>
                </a:solidFill>
              </a:rPr>
              <a:t>FlowLayout()</a:t>
            </a:r>
            <a:r>
              <a:rPr lang="en-US" sz="2000"/>
              <a:t>);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 i="1"/>
              <a:t>// Make two buttons.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>
                <a:solidFill>
                  <a:srgbClr val="0000CC"/>
                </a:solidFill>
              </a:rPr>
              <a:t>jbtnOk</a:t>
            </a:r>
            <a:r>
              <a:rPr lang="en-US" sz="2000"/>
              <a:t> = new </a:t>
            </a:r>
            <a:r>
              <a:rPr lang="en-US" sz="2000" b="1"/>
              <a:t>JButton</a:t>
            </a:r>
            <a:r>
              <a:rPr lang="en-US" sz="2000"/>
              <a:t>("Ok");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r>
              <a:rPr lang="en-US" sz="2000">
                <a:solidFill>
                  <a:srgbClr val="0000CC"/>
                </a:solidFill>
              </a:rPr>
              <a:t>	jbtnCancel </a:t>
            </a:r>
            <a:r>
              <a:rPr lang="en-US" sz="2000"/>
              <a:t>= new </a:t>
            </a:r>
            <a:r>
              <a:rPr lang="en-US" sz="2000" b="1"/>
              <a:t>JButton</a:t>
            </a:r>
            <a:r>
              <a:rPr lang="en-US" sz="2000"/>
              <a:t>("Cancel");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 i="1"/>
              <a:t>// Add action listener for ok.</a:t>
            </a:r>
            <a:endParaRPr sz="2000" i="1"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>
                <a:solidFill>
                  <a:srgbClr val="0000CC"/>
                </a:solidFill>
              </a:rPr>
              <a:t>jbtnOk</a:t>
            </a:r>
            <a:r>
              <a:rPr lang="en-US" sz="2000"/>
              <a:t>.addActionListener(this);</a:t>
            </a:r>
            <a:endParaRPr sz="2000"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 i="1"/>
              <a:t>// Add action listener for Cancel.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>
                <a:solidFill>
                  <a:srgbClr val="0000CC"/>
                </a:solidFill>
              </a:rPr>
              <a:t>jbtnCancel</a:t>
            </a:r>
            <a:r>
              <a:rPr lang="en-US" sz="2000"/>
              <a:t>.addActionListener(this);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 i="1"/>
              <a:t>// Add the buttons to the content pane.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add(</a:t>
            </a:r>
            <a:r>
              <a:rPr lang="en-US" sz="2000">
                <a:solidFill>
                  <a:srgbClr val="0000CC"/>
                </a:solidFill>
              </a:rPr>
              <a:t>jbtnOk</a:t>
            </a:r>
            <a:r>
              <a:rPr lang="en-US" sz="2000"/>
              <a:t>);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add(</a:t>
            </a:r>
            <a:r>
              <a:rPr lang="en-US" sz="2000">
                <a:solidFill>
                  <a:srgbClr val="0000CC"/>
                </a:solidFill>
              </a:rPr>
              <a:t>jbtnCancel</a:t>
            </a:r>
            <a:r>
              <a:rPr lang="en-US" sz="2000"/>
              <a:t>);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 i="1"/>
              <a:t>// Create a text-based label.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>
                <a:solidFill>
                  <a:srgbClr val="0000CC"/>
                </a:solidFill>
              </a:rPr>
              <a:t>jlab</a:t>
            </a:r>
            <a:r>
              <a:rPr lang="en-US" sz="2000"/>
              <a:t> = new </a:t>
            </a:r>
            <a:r>
              <a:rPr lang="en-US" sz="2000" b="1">
                <a:solidFill>
                  <a:srgbClr val="0000CC"/>
                </a:solidFill>
              </a:rPr>
              <a:t>JLabel</a:t>
            </a:r>
            <a:r>
              <a:rPr lang="en-US" sz="2000"/>
              <a:t>("Press a button.");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 i="1"/>
              <a:t>// Add the label to the content pane.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r>
              <a:rPr lang="en-US" sz="2000">
                <a:solidFill>
                  <a:srgbClr val="C00000"/>
                </a:solidFill>
              </a:rPr>
              <a:t>add</a:t>
            </a:r>
            <a:r>
              <a:rPr lang="en-US" sz="2000"/>
              <a:t>(</a:t>
            </a:r>
            <a:r>
              <a:rPr lang="en-US" sz="2000">
                <a:solidFill>
                  <a:srgbClr val="0000CC"/>
                </a:solidFill>
              </a:rPr>
              <a:t>jlab</a:t>
            </a:r>
            <a:r>
              <a:rPr lang="en-US" sz="2000"/>
              <a:t>);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}</a:t>
            </a:r>
            <a:endParaRPr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	</a:t>
            </a:r>
            <a:endParaRPr sz="2000"/>
          </a:p>
        </p:txBody>
      </p:sp>
      <p:sp>
        <p:nvSpPr>
          <p:cNvPr id="348" name="Google Shape;348;p32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49" name="Google Shape;349;p32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3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33"/>
          <p:cNvSpPr txBox="1">
            <a:spLocks noGrp="1"/>
          </p:cNvSpPr>
          <p:nvPr>
            <p:ph type="body" idx="1"/>
          </p:nvPr>
        </p:nvSpPr>
        <p:spPr>
          <a:xfrm>
            <a:off x="457200" y="304800"/>
            <a:ext cx="82296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public void </a:t>
            </a:r>
            <a:r>
              <a:rPr lang="en-US" sz="2400" b="1">
                <a:solidFill>
                  <a:srgbClr val="C00000"/>
                </a:solidFill>
              </a:rPr>
              <a:t>actionPerformed</a:t>
            </a:r>
            <a:r>
              <a:rPr lang="en-US" sz="2400"/>
              <a:t>(</a:t>
            </a:r>
            <a:r>
              <a:rPr lang="en-US" sz="2400" b="1">
                <a:solidFill>
                  <a:srgbClr val="0000CC"/>
                </a:solidFill>
              </a:rPr>
              <a:t>ActionEvent</a:t>
            </a:r>
            <a:r>
              <a:rPr lang="en-US" sz="2400"/>
              <a:t> ae) </a:t>
            </a:r>
            <a:endParaRPr sz="2400"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  { </a:t>
            </a:r>
            <a:endParaRPr sz="2400"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	String s = ae.</a:t>
            </a:r>
            <a:r>
              <a:rPr lang="en-US" sz="2400">
                <a:solidFill>
                  <a:srgbClr val="C00000"/>
                </a:solidFill>
              </a:rPr>
              <a:t>getActionCommand</a:t>
            </a:r>
            <a:r>
              <a:rPr lang="en-US" sz="2400"/>
              <a:t>(); 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		if(s.</a:t>
            </a:r>
            <a:r>
              <a:rPr lang="en-US" sz="2400">
                <a:solidFill>
                  <a:srgbClr val="C00000"/>
                </a:solidFill>
              </a:rPr>
              <a:t>equalsIgnoreCase</a:t>
            </a:r>
            <a:r>
              <a:rPr lang="en-US" sz="2400"/>
              <a:t>("Ok"))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			</a:t>
            </a:r>
            <a:r>
              <a:rPr lang="en-US" sz="2400">
                <a:solidFill>
                  <a:srgbClr val="0000CC"/>
                </a:solidFill>
              </a:rPr>
              <a:t>jlab</a:t>
            </a:r>
            <a:r>
              <a:rPr lang="en-US" sz="2400"/>
              <a:t>.</a:t>
            </a:r>
            <a:r>
              <a:rPr lang="en-US" sz="2400">
                <a:solidFill>
                  <a:srgbClr val="C00000"/>
                </a:solidFill>
              </a:rPr>
              <a:t>setText</a:t>
            </a:r>
            <a:r>
              <a:rPr lang="en-US" sz="2400"/>
              <a:t>("Ok was pressed.");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		else if(s.</a:t>
            </a:r>
            <a:r>
              <a:rPr lang="en-US" sz="2400">
                <a:solidFill>
                  <a:srgbClr val="C00000"/>
                </a:solidFill>
              </a:rPr>
              <a:t>equalsIgnoreCase</a:t>
            </a:r>
            <a:r>
              <a:rPr lang="en-US" sz="2400"/>
              <a:t>("Cancel"))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			</a:t>
            </a:r>
            <a:r>
              <a:rPr lang="en-US" sz="2400">
                <a:solidFill>
                  <a:srgbClr val="0000CC"/>
                </a:solidFill>
              </a:rPr>
              <a:t>jlab</a:t>
            </a:r>
            <a:r>
              <a:rPr lang="en-US" sz="2400"/>
              <a:t>.</a:t>
            </a:r>
            <a:r>
              <a:rPr lang="en-US" sz="2400">
                <a:solidFill>
                  <a:srgbClr val="C00000"/>
                </a:solidFill>
              </a:rPr>
              <a:t>setText</a:t>
            </a:r>
            <a:r>
              <a:rPr lang="en-US" sz="2400"/>
              <a:t>("Cancel was pressed.");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}</a:t>
            </a:r>
            <a:endParaRPr sz="2400"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}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356" name="Google Shape;356;p33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357" name="Google Shape;357;p33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358" name="Google Shape;358;p33"/>
          <p:cNvSpPr/>
          <p:nvPr/>
        </p:nvSpPr>
        <p:spPr>
          <a:xfrm>
            <a:off x="4191000" y="4724400"/>
            <a:ext cx="4572000" cy="147732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javac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MySwingApplet.java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appletviewer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MySwingApplet.java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4953000"/>
            <a:ext cx="2247900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4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365" name="Google Shape;365;p34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Herbert Schildt, Java: </a:t>
            </a:r>
            <a:r>
              <a:rPr lang="en-US" b="1"/>
              <a:t>The Complete Reference, 8/e, Tata McGraw Hill, 2011</a:t>
            </a:r>
            <a:r>
              <a:rPr lang="en-US"/>
              <a:t>.</a:t>
            </a:r>
            <a:endParaRPr/>
          </a:p>
        </p:txBody>
      </p:sp>
      <p:sp>
        <p:nvSpPr>
          <p:cNvPr id="366" name="Google Shape;366;p34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367" name="Google Shape;367;p34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1063</Words>
  <Application>Microsoft Office PowerPoint</Application>
  <PresentationFormat>On-screen Show (4:3)</PresentationFormat>
  <Paragraphs>157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Snap ITC</vt:lpstr>
      <vt:lpstr>Arial</vt:lpstr>
      <vt:lpstr>Times New Roman</vt:lpstr>
      <vt:lpstr>Office Theme</vt:lpstr>
      <vt:lpstr>PowerPoint Presentation</vt:lpstr>
      <vt:lpstr>Topics</vt:lpstr>
      <vt:lpstr>Event Handling in Swings</vt:lpstr>
      <vt:lpstr>PowerPoint Presentation</vt:lpstr>
      <vt:lpstr>Simple Program</vt:lpstr>
      <vt:lpstr>PowerPoint Presentation</vt:lpstr>
      <vt:lpstr>Create a Swing Applet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RENETHA J B</cp:lastModifiedBy>
  <cp:revision>11</cp:revision>
  <dcterms:created xsi:type="dcterms:W3CDTF">2006-08-16T00:00:00Z</dcterms:created>
  <dcterms:modified xsi:type="dcterms:W3CDTF">2025-08-24T18:55:02Z</dcterms:modified>
</cp:coreProperties>
</file>