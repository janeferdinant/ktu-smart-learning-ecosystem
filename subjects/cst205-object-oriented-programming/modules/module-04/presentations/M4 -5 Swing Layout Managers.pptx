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94" r:id="rId2"/>
    <p:sldId id="257" r:id="rId3"/>
    <p:sldId id="295" r:id="rId4"/>
    <p:sldId id="296" r:id="rId5"/>
    <p:sldId id="297" r:id="rId6"/>
    <p:sldId id="298" r:id="rId7"/>
    <p:sldId id="300" r:id="rId8"/>
    <p:sldId id="301" r:id="rId9"/>
    <p:sldId id="302" r:id="rId10"/>
    <p:sldId id="303" r:id="rId11"/>
    <p:sldId id="305" r:id="rId12"/>
    <p:sldId id="306" r:id="rId13"/>
    <p:sldId id="308" r:id="rId14"/>
    <p:sldId id="307" r:id="rId15"/>
    <p:sldId id="304" r:id="rId16"/>
    <p:sldId id="309" r:id="rId17"/>
    <p:sldId id="299" r:id="rId18"/>
    <p:sldId id="312" r:id="rId19"/>
    <p:sldId id="310" r:id="rId20"/>
    <p:sldId id="311" r:id="rId21"/>
    <p:sldId id="313" r:id="rId22"/>
    <p:sldId id="326" r:id="rId23"/>
    <p:sldId id="314" r:id="rId24"/>
    <p:sldId id="316" r:id="rId25"/>
    <p:sldId id="325" r:id="rId26"/>
    <p:sldId id="315" r:id="rId27"/>
    <p:sldId id="317" r:id="rId28"/>
    <p:sldId id="318" r:id="rId29"/>
    <p:sldId id="321" r:id="rId30"/>
    <p:sldId id="322" r:id="rId31"/>
    <p:sldId id="324" r:id="rId32"/>
    <p:sldId id="323" r:id="rId33"/>
    <p:sldId id="319" r:id="rId34"/>
    <p:sldId id="276" r:id="rId35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4579" autoAdjust="0"/>
  </p:normalViewPr>
  <p:slideViewPr>
    <p:cSldViewPr>
      <p:cViewPr varScale="1">
        <p:scale>
          <a:sx n="78" d="100"/>
          <a:sy n="78" d="100"/>
        </p:scale>
        <p:origin x="931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8" d="100"/>
          <a:sy n="48" d="100"/>
        </p:scale>
        <p:origin x="-2910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fld id="{0A006468-1CDF-4088-B87A-4CD0B5F2A406}" type="datetimeFigureOut">
              <a:rPr lang="en-US"/>
              <a:pPr>
                <a:defRPr/>
              </a:pPr>
              <a:t>8/25/2025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fld id="{E6144B60-9DB3-43EA-A003-48D4338781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543800" y="-152400"/>
            <a:ext cx="1647825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29FEB9-5C7C-4D8B-879A-DC07A92BC307}" type="datetime1">
              <a:rPr lang="en-US"/>
              <a:pPr>
                <a:defRPr/>
              </a:pPr>
              <a:t>8/25/2025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Prepared by Renetha J.B.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B8933F-B144-4A24-8A5D-8E40BC4CAB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572375" y="-76200"/>
            <a:ext cx="1647825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/>
          <a:lstStyle>
            <a:lvl1pPr>
              <a:defRPr b="1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334000"/>
          </a:xfrm>
        </p:spPr>
        <p:txBody>
          <a:bodyPr/>
          <a:lstStyle>
            <a:lvl1pPr algn="just">
              <a:defRPr sz="2600">
                <a:latin typeface="Times New Roman" pitchFamily="18" charset="0"/>
                <a:cs typeface="Times New Roman" pitchFamily="18" charset="0"/>
              </a:defRPr>
            </a:lvl1pPr>
            <a:lvl2pPr algn="just">
              <a:defRPr sz="2400">
                <a:latin typeface="Times New Roman" pitchFamily="18" charset="0"/>
                <a:cs typeface="Times New Roman" pitchFamily="18" charset="0"/>
              </a:defRPr>
            </a:lvl2pPr>
            <a:lvl3pPr algn="just">
              <a:defRPr sz="2400">
                <a:latin typeface="Times New Roman" pitchFamily="18" charset="0"/>
                <a:cs typeface="Times New Roman" pitchFamily="18" charset="0"/>
              </a:defRPr>
            </a:lvl3pPr>
            <a:lvl4pPr algn="just">
              <a:defRPr sz="2400">
                <a:latin typeface="Times New Roman" pitchFamily="18" charset="0"/>
                <a:cs typeface="Times New Roman" pitchFamily="18" charset="0"/>
              </a:defRPr>
            </a:lvl4pPr>
            <a:lvl5pPr>
              <a:defRPr sz="240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C59C9A-1610-4072-AFB9-7DF9C4A58976}" type="datetime1">
              <a:rPr lang="en-US"/>
              <a:pPr>
                <a:defRPr/>
              </a:pPr>
              <a:t>8/25/2025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05600" y="6492875"/>
            <a:ext cx="2514600" cy="365125"/>
          </a:xfrm>
        </p:spPr>
        <p:txBody>
          <a:bodyPr/>
          <a:lstStyle>
            <a:lvl1pPr>
              <a:defRPr b="1" i="1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800" y="6477000"/>
            <a:ext cx="3810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760612-1CE6-4420-A721-C80A19F352D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78F254-6DDE-4857-B7DA-3C880C43C80D}" type="datetime1">
              <a:rPr lang="en-US"/>
              <a:pPr>
                <a:defRPr/>
              </a:pPr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59C0EF-273B-49EF-9071-9B0293C937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648575" y="-152400"/>
            <a:ext cx="1647825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>
                <a:latin typeface="Times New Roman" pitchFamily="18" charset="0"/>
                <a:cs typeface="Times New Roman" pitchFamily="18" charset="0"/>
              </a:defRPr>
            </a:lvl1pPr>
            <a:lvl2pPr>
              <a:defRPr sz="2600">
                <a:latin typeface="Times New Roman" pitchFamily="18" charset="0"/>
                <a:cs typeface="Times New Roman" pitchFamily="18" charset="0"/>
              </a:defRPr>
            </a:lvl2pPr>
            <a:lvl3pPr>
              <a:defRPr sz="2600">
                <a:latin typeface="Times New Roman" pitchFamily="18" charset="0"/>
                <a:cs typeface="Times New Roman" pitchFamily="18" charset="0"/>
              </a:defRPr>
            </a:lvl3pPr>
            <a:lvl4pPr>
              <a:defRPr sz="2600">
                <a:latin typeface="Times New Roman" pitchFamily="18" charset="0"/>
                <a:cs typeface="Times New Roman" pitchFamily="18" charset="0"/>
              </a:defRPr>
            </a:lvl4pPr>
            <a:lvl5pPr>
              <a:defRPr sz="2600">
                <a:latin typeface="Times New Roman" pitchFamily="18" charset="0"/>
                <a:cs typeface="Times New Roman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>
                <a:latin typeface="Times New Roman" pitchFamily="18" charset="0"/>
                <a:cs typeface="Times New Roman" pitchFamily="18" charset="0"/>
              </a:defRPr>
            </a:lvl1pPr>
            <a:lvl2pPr>
              <a:defRPr sz="2600">
                <a:latin typeface="Times New Roman" pitchFamily="18" charset="0"/>
                <a:cs typeface="Times New Roman" pitchFamily="18" charset="0"/>
              </a:defRPr>
            </a:lvl2pPr>
            <a:lvl3pPr>
              <a:defRPr sz="2600">
                <a:latin typeface="Times New Roman" pitchFamily="18" charset="0"/>
                <a:cs typeface="Times New Roman" pitchFamily="18" charset="0"/>
              </a:defRPr>
            </a:lvl3pPr>
            <a:lvl4pPr>
              <a:defRPr sz="2600">
                <a:latin typeface="Times New Roman" pitchFamily="18" charset="0"/>
                <a:cs typeface="Times New Roman" pitchFamily="18" charset="0"/>
              </a:defRPr>
            </a:lvl4pPr>
            <a:lvl5pPr>
              <a:defRPr sz="2600">
                <a:latin typeface="Times New Roman" pitchFamily="18" charset="0"/>
                <a:cs typeface="Times New Roman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48797E-EA91-483A-A748-FA7B45BC2CD7}" type="datetime1">
              <a:rPr lang="en-US"/>
              <a:pPr>
                <a:defRPr/>
              </a:pPr>
              <a:t>8/25/2025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77000" y="6492875"/>
            <a:ext cx="2895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6356350"/>
            <a:ext cx="3810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336246-FC46-4052-A6ED-AB27FAD0803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543800" y="-152400"/>
            <a:ext cx="1647825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15CCD5-AF5D-4622-ADE3-840E4EC61F4C}" type="datetime1">
              <a:rPr lang="en-US"/>
              <a:pPr>
                <a:defRPr/>
              </a:pPr>
              <a:t>8/25/2025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48400" y="6492875"/>
            <a:ext cx="2895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Prepared by </a:t>
            </a:r>
            <a:r>
              <a:rPr lang="en-US" dirty="0" err="1"/>
              <a:t>Renetha</a:t>
            </a:r>
            <a:r>
              <a:rPr lang="en-US" dirty="0"/>
              <a:t> J.B.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800" y="6492875"/>
            <a:ext cx="457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3672AF-3668-4769-896B-F90092D9BA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A447E2-AA30-4843-BB4B-1D099F4D6102}" type="datetime1">
              <a:rPr lang="en-US"/>
              <a:pPr>
                <a:defRPr/>
              </a:pPr>
              <a:t>8/25/2025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2583B-E917-44E2-9E13-75059E2FCB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4F405-30E7-4F0C-BA9E-E7E7428EC40F}" type="datetime1">
              <a:rPr lang="en-US"/>
              <a:pPr>
                <a:defRPr/>
              </a:pPr>
              <a:t>8/25/2025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49BB36-D19A-4D1B-964D-197368707D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65AB7-CF6B-4DCE-87AE-17C3AFEC915F}" type="datetime1">
              <a:rPr lang="en-US"/>
              <a:pPr>
                <a:defRPr/>
              </a:pPr>
              <a:t>8/25/2025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B7741A-D6EE-4339-9D85-25048C97D7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50C263-5661-4DF2-AE05-02BDC84FD792}" type="datetime1">
              <a:rPr lang="en-US"/>
              <a:pPr>
                <a:defRPr/>
              </a:pPr>
              <a:t>8/25/2025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725B9E-B1F3-4AAD-B4A2-932FCB8445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037383-A1FA-4F68-AE14-D06A08E99499}" type="datetime1">
              <a:rPr lang="en-US"/>
              <a:pPr>
                <a:defRPr/>
              </a:pPr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566BC8-F3C6-40C6-B592-29EEBF5756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6F2EF7-14C8-478A-A813-5AA3BDFF3B9B}" type="datetime1">
              <a:rPr lang="en-US"/>
              <a:pPr>
                <a:defRPr/>
              </a:pPr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AD7C2C-BB52-436F-B184-A6A883B501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838200"/>
            <a:ext cx="8229600" cy="528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28EDE54-010F-4DEE-B1D3-3CEF57B2E0B2}" type="datetime1">
              <a:rPr lang="en-US"/>
              <a:pPr>
                <a:defRPr/>
              </a:pPr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6294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i="1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6324600"/>
            <a:ext cx="228600" cy="320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F8B2B23-C1A1-4E7E-BBC8-3764BA5692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04" r:id="rId1"/>
    <p:sldLayoutId id="2147484505" r:id="rId2"/>
    <p:sldLayoutId id="2147484497" r:id="rId3"/>
    <p:sldLayoutId id="2147484506" r:id="rId4"/>
    <p:sldLayoutId id="2147484507" r:id="rId5"/>
    <p:sldLayoutId id="2147484498" r:id="rId6"/>
    <p:sldLayoutId id="2147484499" r:id="rId7"/>
    <p:sldLayoutId id="2147484500" r:id="rId8"/>
    <p:sldLayoutId id="2147484501" r:id="rId9"/>
    <p:sldLayoutId id="2147484502" r:id="rId10"/>
    <p:sldLayoutId id="2147484503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Times New Roman" pitchFamily="18" charset="0"/>
          <a:ea typeface="+mj-ea"/>
          <a:cs typeface="Times New Roman" pitchFamily="18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imes New Roman" pitchFamily="18" charset="0"/>
          <a:cs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imes New Roman" pitchFamily="18" charset="0"/>
          <a:cs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imes New Roman" pitchFamily="18" charset="0"/>
          <a:cs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imes New Roman" pitchFamily="18" charset="0"/>
          <a:cs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4">
            <a:extLst>
              <a:ext uri="{FF2B5EF4-FFF2-40B4-BE49-F238E27FC236}">
                <a16:creationId xmlns:a16="http://schemas.microsoft.com/office/drawing/2014/main" id="{7C733785-3169-D1AA-10A5-2E7AA5EFCC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0513880-9B62-D9CE-A5F1-42D71A56BD17}"/>
              </a:ext>
            </a:extLst>
          </p:cNvPr>
          <p:cNvSpPr txBox="1">
            <a:spLocks/>
          </p:cNvSpPr>
          <p:nvPr/>
        </p:nvSpPr>
        <p:spPr>
          <a:xfrm>
            <a:off x="381000" y="1219200"/>
            <a:ext cx="8458200" cy="202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>
                <a:solidFill>
                  <a:srgbClr val="0000CC"/>
                </a:solidFill>
              </a:rPr>
              <a:t>PBCST304 Object Oriented Programming in Java</a:t>
            </a:r>
            <a:br>
              <a:rPr lang="en-US" dirty="0"/>
            </a:br>
            <a:r>
              <a:rPr lang="en-US" dirty="0"/>
              <a:t>Module 4</a:t>
            </a:r>
            <a:br>
              <a:rPr lang="en-US" dirty="0"/>
            </a:br>
            <a:r>
              <a:rPr lang="en-US" dirty="0"/>
              <a:t>(Part 5)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4AFB0688-23BC-0DE1-6669-4353FA7515C4}"/>
              </a:ext>
            </a:extLst>
          </p:cNvPr>
          <p:cNvSpPr txBox="1">
            <a:spLocks/>
          </p:cNvSpPr>
          <p:nvPr/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64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Font typeface="Arial" pitchFamily="34" charset="0"/>
              <a:buNone/>
              <a:defRPr/>
            </a:pPr>
            <a:r>
              <a:rPr lang="en-US">
                <a:latin typeface="Snap ITC" pitchFamily="82" charset="0"/>
              </a:rPr>
              <a:t>Prepared by </a:t>
            </a:r>
          </a:p>
          <a:p>
            <a:pPr>
              <a:buFont typeface="Arial" pitchFamily="34" charset="0"/>
              <a:buNone/>
              <a:defRPr/>
            </a:pPr>
            <a:r>
              <a:rPr lang="en-US" sz="4000" b="1"/>
              <a:t>Renetha J.B.</a:t>
            </a:r>
            <a:endParaRPr lang="en-US" sz="4000" b="1" dirty="0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586608C0-2611-09AF-CC08-D29E0F968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>
              <a:defRPr/>
            </a:pPr>
            <a:fld id="{0B831C5C-37AA-4E91-8C39-54118789491F}" type="slidenum">
              <a:rPr lang="en-US"/>
              <a:pPr>
                <a:defRPr/>
              </a:pPr>
              <a:t>1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F7B32C43-87B9-6C70-30B1-CFA0E7477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0"/>
            <a:ext cx="2895600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Prepared by Renetha J.B.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Topics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3200" b="1" dirty="0">
                <a:solidFill>
                  <a:srgbClr val="C00000"/>
                </a:solidFill>
              </a:rPr>
              <a:t>Swings</a:t>
            </a:r>
            <a:endParaRPr lang="en-US" b="1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buBlip>
                <a:blip r:embed="rId2"/>
              </a:buBlip>
            </a:pPr>
            <a:r>
              <a:rPr lang="en-US" sz="2800" b="1" dirty="0"/>
              <a:t> </a:t>
            </a:r>
            <a:r>
              <a:rPr lang="en-US" sz="2800" dirty="0"/>
              <a:t>Swing Layout Managers</a:t>
            </a:r>
          </a:p>
          <a:p>
            <a:pPr lvl="1">
              <a:lnSpc>
                <a:spcPct val="150000"/>
              </a:lnSpc>
              <a:buNone/>
            </a:pPr>
            <a:endParaRPr lang="en-US" sz="2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DF6EC7-77E1-43CE-AE3A-927B2A2A30F4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7173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Prepared by Renetha J.B.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Swing Layout Managers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4267200"/>
          </a:xfrm>
        </p:spPr>
        <p:txBody>
          <a:bodyPr/>
          <a:lstStyle/>
          <a:p>
            <a:r>
              <a:rPr lang="en-US" sz="2400" dirty="0"/>
              <a:t>A layout manager </a:t>
            </a:r>
            <a:r>
              <a:rPr lang="en-US" sz="2400" b="1" dirty="0"/>
              <a:t>automatically arranges our controls within a window</a:t>
            </a:r>
            <a:r>
              <a:rPr lang="en-US" sz="2400" dirty="0"/>
              <a:t> by using some type of algorithm.</a:t>
            </a:r>
          </a:p>
          <a:p>
            <a:endParaRPr lang="en-US" sz="2400" dirty="0"/>
          </a:p>
          <a:p>
            <a:r>
              <a:rPr lang="en-US" sz="2400" dirty="0"/>
              <a:t>Each Container object has a layout manager associated with it. </a:t>
            </a:r>
          </a:p>
          <a:p>
            <a:r>
              <a:rPr lang="en-US" sz="2400" dirty="0"/>
              <a:t>A layout manager is an instance of any class that </a:t>
            </a:r>
            <a:r>
              <a:rPr lang="en-US" sz="2400" u="sng" dirty="0"/>
              <a:t>implements the </a:t>
            </a:r>
            <a:r>
              <a:rPr lang="en-US" sz="2400" u="sng" dirty="0" err="1"/>
              <a:t>LayoutManager</a:t>
            </a:r>
            <a:r>
              <a:rPr lang="en-US" sz="2400" u="sng" dirty="0"/>
              <a:t> interface</a:t>
            </a:r>
            <a:r>
              <a:rPr lang="en-US" sz="2400" dirty="0"/>
              <a:t>. </a:t>
            </a:r>
          </a:p>
          <a:p>
            <a:r>
              <a:rPr lang="en-US" sz="2400" dirty="0"/>
              <a:t>The layout manager is set by the </a:t>
            </a:r>
            <a:r>
              <a:rPr lang="en-US" sz="2400" b="1" dirty="0" err="1">
                <a:solidFill>
                  <a:srgbClr val="C00000"/>
                </a:solidFill>
              </a:rPr>
              <a:t>setLayout</a:t>
            </a:r>
            <a:r>
              <a:rPr lang="en-US" sz="2400" b="1" dirty="0">
                <a:solidFill>
                  <a:srgbClr val="C00000"/>
                </a:solidFill>
              </a:rPr>
              <a:t>( ) </a:t>
            </a:r>
            <a:r>
              <a:rPr lang="en-US" sz="2400" dirty="0"/>
              <a:t>method. </a:t>
            </a:r>
          </a:p>
          <a:p>
            <a:pPr lvl="1"/>
            <a:r>
              <a:rPr lang="en-US" sz="2200" dirty="0"/>
              <a:t>If no call to </a:t>
            </a:r>
            <a:r>
              <a:rPr lang="en-US" sz="2200" dirty="0" err="1"/>
              <a:t>setLayout</a:t>
            </a:r>
            <a:r>
              <a:rPr lang="en-US" sz="2200" dirty="0"/>
              <a:t>( ) is made, then the default layout </a:t>
            </a:r>
            <a:r>
              <a:rPr lang="en-US" sz="2400" dirty="0"/>
              <a:t>manager is used.</a:t>
            </a:r>
          </a:p>
          <a:p>
            <a:r>
              <a:rPr lang="en-US" sz="2400" dirty="0"/>
              <a:t>The </a:t>
            </a:r>
            <a:r>
              <a:rPr lang="en-US" sz="2400" b="1" dirty="0" err="1"/>
              <a:t>setLayout</a:t>
            </a:r>
            <a:r>
              <a:rPr lang="en-US" sz="2400" b="1" dirty="0"/>
              <a:t>( ) </a:t>
            </a:r>
            <a:r>
              <a:rPr lang="en-US" sz="2400" dirty="0"/>
              <a:t>method has the following general form: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	</a:t>
            </a:r>
            <a:endParaRPr lang="en-US" sz="2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5029200"/>
            <a:ext cx="6019800" cy="685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void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C00000"/>
                </a:solidFill>
              </a:rPr>
              <a:t>setLayout</a:t>
            </a:r>
            <a:r>
              <a:rPr lang="en-US" sz="2400" dirty="0">
                <a:solidFill>
                  <a:srgbClr val="0000CC"/>
                </a:solidFill>
              </a:rPr>
              <a:t>(</a:t>
            </a:r>
            <a:r>
              <a:rPr lang="en-US" sz="2400" b="1" dirty="0" err="1">
                <a:solidFill>
                  <a:srgbClr val="0000CC"/>
                </a:solidFill>
              </a:rPr>
              <a:t>LayoutManager</a:t>
            </a:r>
            <a:r>
              <a:rPr lang="en-US" sz="2400" dirty="0">
                <a:solidFill>
                  <a:srgbClr val="0000CC"/>
                </a:solidFill>
              </a:rPr>
              <a:t> </a:t>
            </a:r>
            <a:r>
              <a:rPr lang="en-US" sz="2400" i="1" dirty="0" err="1">
                <a:solidFill>
                  <a:srgbClr val="0000CC"/>
                </a:solidFill>
              </a:rPr>
              <a:t>layoutObj</a:t>
            </a:r>
            <a:r>
              <a:rPr lang="en-US" sz="2400" i="1" dirty="0">
                <a:solidFill>
                  <a:srgbClr val="0000CC"/>
                </a:solidFill>
              </a:rPr>
              <a:t>)</a:t>
            </a:r>
            <a:endParaRPr lang="en-US" sz="2400" dirty="0">
              <a:solidFill>
                <a:srgbClr val="0000CC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Swing Layout Managers</a:t>
            </a:r>
            <a:r>
              <a:rPr lang="en-US" b="0" dirty="0"/>
              <a:t>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/>
              <a:t>The </a:t>
            </a:r>
            <a:r>
              <a:rPr lang="en-US" sz="2400" i="1" dirty="0"/>
              <a:t>layout manager is notified </a:t>
            </a:r>
            <a:r>
              <a:rPr lang="en-US" sz="2400" dirty="0"/>
              <a:t>each time </a:t>
            </a:r>
            <a:r>
              <a:rPr lang="en-US" sz="2400" u="sng" dirty="0"/>
              <a:t>we add a component to a container.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Each layout manager </a:t>
            </a:r>
            <a:r>
              <a:rPr lang="en-US" sz="2400" u="sng" dirty="0"/>
              <a:t>keeps track of a list of components that are stored by their names</a:t>
            </a:r>
            <a:r>
              <a:rPr lang="en-US" sz="24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Whenever the </a:t>
            </a:r>
            <a:r>
              <a:rPr lang="en-US" sz="2400" u="sng" dirty="0"/>
              <a:t>container needs to be resized</a:t>
            </a:r>
            <a:r>
              <a:rPr lang="en-US" sz="2400" dirty="0"/>
              <a:t>, the layout manager is consulted via its </a:t>
            </a:r>
            <a:r>
              <a:rPr lang="en-US" sz="2400" b="1" dirty="0" err="1"/>
              <a:t>minimumLayoutSize</a:t>
            </a:r>
            <a:r>
              <a:rPr lang="en-US" sz="2400" dirty="0"/>
              <a:t>( ) and </a:t>
            </a:r>
            <a:r>
              <a:rPr lang="en-US" sz="2400" b="1" dirty="0" err="1"/>
              <a:t>preferredLayoutSize</a:t>
            </a:r>
            <a:r>
              <a:rPr lang="en-US" sz="2400" dirty="0"/>
              <a:t>( ) methods. 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Each component that is being managed by a layout manager contains the </a:t>
            </a:r>
            <a:r>
              <a:rPr lang="en-US" sz="2200" dirty="0" err="1"/>
              <a:t>getPreferredSize</a:t>
            </a:r>
            <a:r>
              <a:rPr lang="en-US" sz="2200" dirty="0"/>
              <a:t>( ) and </a:t>
            </a:r>
            <a:r>
              <a:rPr lang="en-US" sz="2200" dirty="0" err="1"/>
              <a:t>getMinimumSize</a:t>
            </a:r>
            <a:r>
              <a:rPr lang="en-US" sz="2200" dirty="0"/>
              <a:t>( ) methods.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 has several predefined </a:t>
            </a:r>
            <a:r>
              <a:rPr lang="en-US" b="1" dirty="0" err="1"/>
              <a:t>LayoutManager</a:t>
            </a:r>
            <a:r>
              <a:rPr lang="en-US" b="1" dirty="0"/>
              <a:t> classes,</a:t>
            </a:r>
          </a:p>
          <a:p>
            <a:pPr lvl="1">
              <a:lnSpc>
                <a:spcPct val="150000"/>
              </a:lnSpc>
            </a:pPr>
            <a:r>
              <a:rPr lang="en-US" b="1" dirty="0" err="1"/>
              <a:t>FlowLayout</a:t>
            </a:r>
            <a:endParaRPr lang="en-US" b="1" dirty="0"/>
          </a:p>
          <a:p>
            <a:pPr lvl="1">
              <a:lnSpc>
                <a:spcPct val="150000"/>
              </a:lnSpc>
            </a:pPr>
            <a:r>
              <a:rPr lang="en-US" b="1" dirty="0" err="1"/>
              <a:t>BorderLayout</a:t>
            </a:r>
            <a:endParaRPr lang="en-US" b="1" dirty="0"/>
          </a:p>
          <a:p>
            <a:pPr lvl="1">
              <a:lnSpc>
                <a:spcPct val="150000"/>
              </a:lnSpc>
            </a:pPr>
            <a:r>
              <a:rPr lang="en-US" b="1" dirty="0" err="1"/>
              <a:t>GridLayout</a:t>
            </a:r>
            <a:endParaRPr lang="en-US" b="1" dirty="0"/>
          </a:p>
          <a:p>
            <a:pPr lvl="1">
              <a:lnSpc>
                <a:spcPct val="150000"/>
              </a:lnSpc>
            </a:pPr>
            <a:r>
              <a:rPr lang="en-US" b="1" dirty="0" err="1"/>
              <a:t>CardLayout</a:t>
            </a:r>
            <a:endParaRPr lang="en-US" b="1" dirty="0"/>
          </a:p>
          <a:p>
            <a:pPr lvl="1">
              <a:lnSpc>
                <a:spcPct val="150000"/>
              </a:lnSpc>
            </a:pPr>
            <a:r>
              <a:rPr lang="en-US" b="1" dirty="0" err="1"/>
              <a:t>GridBagLayout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FlowLayout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94360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The direction of the layout is governed by the container’s component orientation property, which, by default, is </a:t>
            </a:r>
            <a:r>
              <a:rPr lang="en-US" sz="2400" b="1" dirty="0"/>
              <a:t>left to right, top to bottom.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/>
              <a:t>In Flow </a:t>
            </a:r>
            <a:r>
              <a:rPr lang="en-US" sz="2400" dirty="0"/>
              <a:t>Layout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components are laid out </a:t>
            </a:r>
            <a:r>
              <a:rPr lang="en-US" sz="2200" b="1" dirty="0"/>
              <a:t>line-by-line </a:t>
            </a:r>
            <a:r>
              <a:rPr lang="en-US" sz="2200" b="1" u="sng" dirty="0"/>
              <a:t>beginning at the upper-left corner.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200" u="sng" dirty="0"/>
              <a:t>When a line is filled</a:t>
            </a:r>
            <a:r>
              <a:rPr lang="en-US" sz="2200" dirty="0"/>
              <a:t>, layout advances to </a:t>
            </a:r>
            <a:r>
              <a:rPr lang="en-US" sz="2200" b="1" dirty="0"/>
              <a:t>the next line</a:t>
            </a:r>
            <a:r>
              <a:rPr lang="en-US" sz="2200" dirty="0"/>
              <a:t>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A small space is left between each component, above and below, as well as left and right.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The constructors for </a:t>
            </a:r>
            <a:r>
              <a:rPr lang="en-US" sz="2400" b="1" dirty="0" err="1"/>
              <a:t>FlowLayout</a:t>
            </a:r>
            <a:r>
              <a:rPr lang="en-US" sz="2400" b="1" dirty="0"/>
              <a:t>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 err="1"/>
              <a:t>FlowLayout</a:t>
            </a:r>
            <a:r>
              <a:rPr lang="en-US" dirty="0"/>
              <a:t>( 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 err="1"/>
              <a:t>FlowLayout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i="1" dirty="0"/>
              <a:t>how)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 err="1"/>
              <a:t>FlowLayout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i="1" dirty="0"/>
              <a:t>how, </a:t>
            </a:r>
            <a:r>
              <a:rPr lang="en-US" i="1" dirty="0" err="1"/>
              <a:t>int</a:t>
            </a:r>
            <a:r>
              <a:rPr lang="en-US" i="1" dirty="0"/>
              <a:t> </a:t>
            </a:r>
            <a:r>
              <a:rPr lang="en-US" i="1" dirty="0" err="1"/>
              <a:t>horz</a:t>
            </a:r>
            <a:r>
              <a:rPr lang="en-US" i="1" dirty="0"/>
              <a:t>, </a:t>
            </a:r>
            <a:r>
              <a:rPr lang="en-US" i="1" dirty="0" err="1"/>
              <a:t>int</a:t>
            </a:r>
            <a:r>
              <a:rPr lang="en-US" i="1" dirty="0"/>
              <a:t> </a:t>
            </a:r>
            <a:r>
              <a:rPr lang="en-US" i="1" dirty="0" err="1"/>
              <a:t>vert</a:t>
            </a:r>
            <a:r>
              <a:rPr lang="en-US" i="1" dirty="0"/>
              <a:t>)</a:t>
            </a: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FlowLayout</a:t>
            </a:r>
            <a:r>
              <a:rPr lang="en-US" b="0" dirty="0"/>
              <a:t>(contd.)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562600"/>
          </a:xfrm>
        </p:spPr>
        <p:txBody>
          <a:bodyPr/>
          <a:lstStyle/>
          <a:p>
            <a:pPr marL="342900" lvl="1" indent="-342900">
              <a:spcBef>
                <a:spcPts val="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dirty="0" err="1"/>
              <a:t>FlowLayout</a:t>
            </a:r>
            <a:r>
              <a:rPr lang="en-US" dirty="0"/>
              <a:t>( ) creates the default layout, which </a:t>
            </a:r>
            <a:r>
              <a:rPr lang="en-US" b="1" u="sng" dirty="0"/>
              <a:t>centers components</a:t>
            </a:r>
            <a:r>
              <a:rPr lang="en-US" dirty="0"/>
              <a:t> and leaves </a:t>
            </a:r>
            <a:r>
              <a:rPr lang="en-US" u="sng" dirty="0"/>
              <a:t>five pixels of space between each component</a:t>
            </a:r>
            <a:r>
              <a:rPr lang="en-US" dirty="0"/>
              <a:t>. </a:t>
            </a:r>
          </a:p>
          <a:p>
            <a:pPr marL="342900" lvl="1" indent="-342900">
              <a:spcBef>
                <a:spcPts val="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dirty="0" err="1"/>
              <a:t>FlowLayout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i="1" dirty="0"/>
              <a:t>how) </a:t>
            </a:r>
            <a:r>
              <a:rPr lang="en-US" dirty="0"/>
              <a:t>lets us specify </a:t>
            </a:r>
            <a:r>
              <a:rPr lang="en-US" b="1" u="sng" dirty="0"/>
              <a:t>how each line is aligned</a:t>
            </a:r>
            <a:r>
              <a:rPr lang="en-US" u="sng" dirty="0"/>
              <a:t>.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Valid values for </a:t>
            </a:r>
            <a:r>
              <a:rPr lang="en-US" i="1" dirty="0"/>
              <a:t>how are as follows: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FlowLayout.LEFT</a:t>
            </a:r>
            <a:endParaRPr lang="en-US" dirty="0"/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FlowLayout.CENTER</a:t>
            </a:r>
            <a:endParaRPr lang="en-US" dirty="0"/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FlowLayout.RIGHT</a:t>
            </a:r>
            <a:endParaRPr lang="en-US" dirty="0"/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FlowLayout.LEADING</a:t>
            </a:r>
            <a:endParaRPr lang="en-US" dirty="0"/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FlowLayout.TRAILING</a:t>
            </a:r>
            <a:endParaRPr lang="en-US" dirty="0"/>
          </a:p>
          <a:p>
            <a:pPr lvl="3"/>
            <a:r>
              <a:rPr lang="en-US" sz="2000" dirty="0"/>
              <a:t>These values specify left, center, right, leading edge, and trailing edge alignment, respectively.</a:t>
            </a:r>
          </a:p>
          <a:p>
            <a:pPr marL="342900" lvl="1" indent="-342900">
              <a:buFont typeface="Arial" charset="0"/>
              <a:buChar char="•"/>
            </a:pPr>
            <a:r>
              <a:rPr lang="en-US" dirty="0" err="1"/>
              <a:t>FlowLayout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i="1" dirty="0"/>
              <a:t>how, </a:t>
            </a:r>
            <a:r>
              <a:rPr lang="en-US" i="1" dirty="0" err="1"/>
              <a:t>int</a:t>
            </a:r>
            <a:r>
              <a:rPr lang="en-US" i="1" dirty="0"/>
              <a:t> </a:t>
            </a:r>
            <a:r>
              <a:rPr lang="en-US" i="1" dirty="0" err="1"/>
              <a:t>horz</a:t>
            </a:r>
            <a:r>
              <a:rPr lang="en-US" i="1" dirty="0"/>
              <a:t>, </a:t>
            </a:r>
            <a:r>
              <a:rPr lang="en-US" i="1" dirty="0" err="1"/>
              <a:t>int</a:t>
            </a:r>
            <a:r>
              <a:rPr lang="en-US" i="1" dirty="0"/>
              <a:t> </a:t>
            </a:r>
            <a:r>
              <a:rPr lang="en-US" i="1" dirty="0" err="1"/>
              <a:t>vert</a:t>
            </a:r>
            <a:r>
              <a:rPr lang="en-US" i="1" dirty="0"/>
              <a:t>) </a:t>
            </a:r>
            <a:r>
              <a:rPr lang="en-US" sz="2400" dirty="0"/>
              <a:t> allows us to specify the </a:t>
            </a:r>
            <a:r>
              <a:rPr lang="en-US" sz="2400" b="1" u="sng" dirty="0"/>
              <a:t>horizontal and vertical space left between components</a:t>
            </a:r>
            <a:r>
              <a:rPr lang="en-US" sz="2400" b="1" dirty="0"/>
              <a:t> </a:t>
            </a:r>
            <a:r>
              <a:rPr lang="en-US" sz="2400" dirty="0"/>
              <a:t>in </a:t>
            </a:r>
            <a:r>
              <a:rPr lang="en-US" sz="2400" i="1" dirty="0" err="1"/>
              <a:t>horz</a:t>
            </a:r>
            <a:r>
              <a:rPr lang="en-US" sz="2400" i="1" dirty="0"/>
              <a:t> and </a:t>
            </a:r>
            <a:r>
              <a:rPr lang="en-US" sz="2400" i="1" dirty="0" err="1"/>
              <a:t>vert</a:t>
            </a:r>
            <a:r>
              <a:rPr lang="en-US" sz="2400" i="1" dirty="0"/>
              <a:t>, </a:t>
            </a:r>
            <a:r>
              <a:rPr lang="en-US" sz="2400" dirty="0"/>
              <a:t>respectively</a:t>
            </a:r>
            <a:r>
              <a:rPr lang="en-US" sz="2200" i="1" dirty="0"/>
              <a:t>.</a:t>
            </a:r>
            <a:endParaRPr lang="en-US" sz="22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228600" y="0"/>
            <a:ext cx="6172200" cy="6126163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sz="1800" dirty="0"/>
              <a:t>import java.awt.*;      import </a:t>
            </a:r>
            <a:r>
              <a:rPr lang="en-US" sz="1800" dirty="0" err="1"/>
              <a:t>java.awt.event</a:t>
            </a:r>
            <a:r>
              <a:rPr lang="en-US" sz="1800" dirty="0"/>
              <a:t>.*;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import </a:t>
            </a:r>
            <a:r>
              <a:rPr lang="en-US" sz="1800" dirty="0" err="1"/>
              <a:t>javax.swing</a:t>
            </a:r>
            <a:r>
              <a:rPr lang="en-US" sz="1800" dirty="0"/>
              <a:t>.*;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class </a:t>
            </a:r>
            <a:r>
              <a:rPr lang="en-US" sz="1800" dirty="0" err="1"/>
              <a:t>EventDemoSwing</a:t>
            </a:r>
            <a:r>
              <a:rPr lang="en-US" sz="1800" dirty="0"/>
              <a:t>  extends </a:t>
            </a:r>
            <a:r>
              <a:rPr lang="en-US" sz="1800" dirty="0" err="1"/>
              <a:t>JFrame</a:t>
            </a:r>
            <a:r>
              <a:rPr lang="en-US" sz="1800" dirty="0"/>
              <a:t> implements </a:t>
            </a:r>
            <a:r>
              <a:rPr lang="en-US" sz="1800" dirty="0" err="1"/>
              <a:t>ActionListener</a:t>
            </a:r>
            <a:r>
              <a:rPr lang="en-US" sz="1800" dirty="0"/>
              <a:t>{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JLabel</a:t>
            </a:r>
            <a:r>
              <a:rPr lang="en-US" sz="1800" dirty="0"/>
              <a:t> </a:t>
            </a:r>
            <a:r>
              <a:rPr lang="en-US" sz="1800" dirty="0" err="1"/>
              <a:t>jlab</a:t>
            </a:r>
            <a:r>
              <a:rPr lang="en-US" sz="1800" dirty="0"/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JFrame</a:t>
            </a:r>
            <a:r>
              <a:rPr lang="en-US" sz="1800" dirty="0"/>
              <a:t> </a:t>
            </a:r>
            <a:r>
              <a:rPr lang="en-US" sz="1800" dirty="0" err="1"/>
              <a:t>jfrm</a:t>
            </a:r>
            <a:r>
              <a:rPr lang="en-US" sz="1800" dirty="0"/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JButton</a:t>
            </a:r>
            <a:r>
              <a:rPr lang="en-US" sz="1800" dirty="0"/>
              <a:t> </a:t>
            </a:r>
            <a:r>
              <a:rPr lang="en-US" sz="1800" dirty="0" err="1"/>
              <a:t>jbtnOk</a:t>
            </a:r>
            <a:r>
              <a:rPr lang="en-US" sz="1800" dirty="0"/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JButton</a:t>
            </a:r>
            <a:r>
              <a:rPr lang="en-US" sz="1800" dirty="0"/>
              <a:t> </a:t>
            </a:r>
            <a:r>
              <a:rPr lang="en-US" sz="1800" dirty="0" err="1"/>
              <a:t>jbtnCancel</a:t>
            </a:r>
            <a:r>
              <a:rPr lang="en-US" sz="1800" dirty="0"/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EventDemoSwing</a:t>
            </a:r>
            <a:r>
              <a:rPr lang="en-US" sz="1800" dirty="0"/>
              <a:t>() 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	{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err="1"/>
              <a:t>jfrm</a:t>
            </a:r>
            <a:r>
              <a:rPr lang="en-US" sz="1800" dirty="0"/>
              <a:t> = new </a:t>
            </a:r>
            <a:r>
              <a:rPr lang="en-US" sz="1800" dirty="0" err="1"/>
              <a:t>JFrame</a:t>
            </a:r>
            <a:r>
              <a:rPr lang="en-US" sz="1800" dirty="0"/>
              <a:t>("An Event </a:t>
            </a:r>
            <a:r>
              <a:rPr lang="en-US" sz="1800" dirty="0" err="1"/>
              <a:t>Eg</a:t>
            </a:r>
            <a:r>
              <a:rPr lang="en-US" sz="1800" dirty="0"/>
              <a:t>");</a:t>
            </a:r>
          </a:p>
          <a:p>
            <a:pPr>
              <a:spcBef>
                <a:spcPts val="0"/>
              </a:spcBef>
              <a:buNone/>
            </a:pPr>
            <a:r>
              <a:rPr lang="en-US" sz="1800" b="1" dirty="0" err="1"/>
              <a:t>jfrm.setLayout</a:t>
            </a:r>
            <a:r>
              <a:rPr lang="en-US" sz="1800" b="1" dirty="0"/>
              <a:t>(new </a:t>
            </a:r>
            <a:r>
              <a:rPr lang="en-US" sz="1800" b="1" dirty="0" err="1">
                <a:solidFill>
                  <a:srgbClr val="C00000"/>
                </a:solidFill>
              </a:rPr>
              <a:t>FlowLayout</a:t>
            </a:r>
            <a:r>
              <a:rPr lang="en-US" sz="1800" b="1" dirty="0">
                <a:solidFill>
                  <a:srgbClr val="C00000"/>
                </a:solidFill>
              </a:rPr>
              <a:t>());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err="1"/>
              <a:t>jfrm.setSize</a:t>
            </a:r>
            <a:r>
              <a:rPr lang="en-US" sz="1800" dirty="0"/>
              <a:t>(220, 90);</a:t>
            </a:r>
          </a:p>
          <a:p>
            <a:pPr>
              <a:spcBef>
                <a:spcPts val="0"/>
              </a:spcBef>
              <a:buNone/>
            </a:pPr>
            <a:r>
              <a:rPr lang="en-US" sz="1800" b="1" dirty="0" err="1"/>
              <a:t>jfrm.setDefaultCloseOperation</a:t>
            </a:r>
            <a:r>
              <a:rPr lang="en-US" sz="1800" b="1" dirty="0"/>
              <a:t>(</a:t>
            </a:r>
            <a:r>
              <a:rPr lang="en-US" sz="1800" b="1" dirty="0" err="1"/>
              <a:t>JFrame.EXIT_ON_CLOSE</a:t>
            </a:r>
            <a:r>
              <a:rPr lang="en-US" sz="1800" b="1" dirty="0"/>
              <a:t>);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err="1"/>
              <a:t>jbtnOk</a:t>
            </a:r>
            <a:r>
              <a:rPr lang="en-US" sz="1800" dirty="0"/>
              <a:t> = new </a:t>
            </a:r>
            <a:r>
              <a:rPr lang="en-US" sz="1800" dirty="0" err="1"/>
              <a:t>JButton</a:t>
            </a:r>
            <a:r>
              <a:rPr lang="en-US" sz="1800" dirty="0"/>
              <a:t>("OK");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err="1"/>
              <a:t>JButton</a:t>
            </a:r>
            <a:r>
              <a:rPr lang="en-US" sz="1800" dirty="0"/>
              <a:t> </a:t>
            </a:r>
            <a:r>
              <a:rPr lang="en-US" sz="1800" dirty="0" err="1"/>
              <a:t>jbtnCancel</a:t>
            </a:r>
            <a:r>
              <a:rPr lang="en-US" sz="1800" dirty="0"/>
              <a:t> = new </a:t>
            </a:r>
            <a:r>
              <a:rPr lang="en-US" sz="1800" dirty="0" err="1"/>
              <a:t>JButton</a:t>
            </a:r>
            <a:r>
              <a:rPr lang="en-US" sz="1800" dirty="0"/>
              <a:t>("Cancel");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err="1"/>
              <a:t>jbtnOk.setToolTipText</a:t>
            </a:r>
            <a:r>
              <a:rPr lang="en-US" sz="1800" dirty="0"/>
              <a:t>("click");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err="1"/>
              <a:t>jbtnOk.addActionListener</a:t>
            </a:r>
            <a:r>
              <a:rPr lang="en-US" sz="1800" dirty="0"/>
              <a:t>(this);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err="1"/>
              <a:t>jbtnCancel.addActionListener</a:t>
            </a:r>
            <a:r>
              <a:rPr lang="en-US" sz="1800" dirty="0"/>
              <a:t>(this);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err="1"/>
              <a:t>jfrm.add</a:t>
            </a:r>
            <a:r>
              <a:rPr lang="en-US" sz="1800" dirty="0"/>
              <a:t>(</a:t>
            </a:r>
            <a:r>
              <a:rPr lang="en-US" sz="1800" dirty="0" err="1"/>
              <a:t>jbtnOk</a:t>
            </a:r>
            <a:r>
              <a:rPr lang="en-US" sz="1800" dirty="0"/>
              <a:t>);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err="1"/>
              <a:t>jfrm.add</a:t>
            </a:r>
            <a:r>
              <a:rPr lang="en-US" sz="1800" dirty="0"/>
              <a:t>(</a:t>
            </a:r>
            <a:r>
              <a:rPr lang="en-US" sz="1800" dirty="0" err="1"/>
              <a:t>jbtnCancel</a:t>
            </a:r>
            <a:r>
              <a:rPr lang="en-US" sz="1800" dirty="0"/>
              <a:t>);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err="1"/>
              <a:t>jlab</a:t>
            </a:r>
            <a:r>
              <a:rPr lang="en-US" sz="1800" dirty="0"/>
              <a:t> = new </a:t>
            </a:r>
            <a:r>
              <a:rPr lang="en-US" sz="1800" dirty="0" err="1"/>
              <a:t>JLabel</a:t>
            </a:r>
            <a:r>
              <a:rPr lang="en-US" sz="1800" dirty="0"/>
              <a:t>("Press a button.");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err="1"/>
              <a:t>jfrm.add</a:t>
            </a:r>
            <a:r>
              <a:rPr lang="en-US" sz="1800" dirty="0"/>
              <a:t>(</a:t>
            </a:r>
            <a:r>
              <a:rPr lang="en-US" sz="1800" dirty="0" err="1"/>
              <a:t>jlab</a:t>
            </a:r>
            <a:r>
              <a:rPr lang="en-US" sz="1800" dirty="0"/>
              <a:t>);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err="1"/>
              <a:t>jfrm.setVisible</a:t>
            </a:r>
            <a:r>
              <a:rPr lang="en-US" sz="1800" dirty="0"/>
              <a:t>(true);  	}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	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4114800" y="0"/>
            <a:ext cx="5029200" cy="6126163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endParaRPr lang="en-US" sz="2000" dirty="0"/>
          </a:p>
          <a:p>
            <a:pPr>
              <a:spcBef>
                <a:spcPts val="0"/>
              </a:spcBef>
              <a:buNone/>
            </a:pPr>
            <a:endParaRPr lang="en-US" sz="2000" dirty="0"/>
          </a:p>
          <a:p>
            <a:pPr>
              <a:spcBef>
                <a:spcPts val="0"/>
              </a:spcBef>
              <a:buNone/>
            </a:pPr>
            <a:endParaRPr lang="en-US" sz="2000" dirty="0"/>
          </a:p>
          <a:p>
            <a:pPr>
              <a:spcBef>
                <a:spcPts val="0"/>
              </a:spcBef>
              <a:buNone/>
            </a:pPr>
            <a:endParaRPr lang="en-US" sz="2000" dirty="0"/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public void </a:t>
            </a:r>
            <a:r>
              <a:rPr lang="en-US" sz="2000" b="1" dirty="0" err="1"/>
              <a:t>actionPerformed</a:t>
            </a:r>
            <a:r>
              <a:rPr lang="en-US" sz="2000" dirty="0"/>
              <a:t>(</a:t>
            </a:r>
            <a:r>
              <a:rPr lang="en-US" sz="2000" dirty="0" err="1"/>
              <a:t>ActionEvent</a:t>
            </a:r>
            <a:r>
              <a:rPr lang="en-US" sz="2000" dirty="0"/>
              <a:t> </a:t>
            </a:r>
            <a:r>
              <a:rPr lang="en-US" sz="2000" dirty="0" err="1"/>
              <a:t>ae</a:t>
            </a:r>
            <a:r>
              <a:rPr lang="en-US" sz="2000" dirty="0"/>
              <a:t>)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{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String s = </a:t>
            </a:r>
            <a:r>
              <a:rPr lang="en-US" sz="2000" dirty="0" err="1"/>
              <a:t>ae.getActionCommand</a:t>
            </a:r>
            <a:r>
              <a:rPr lang="en-US" sz="2000" dirty="0"/>
              <a:t>(); 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if(</a:t>
            </a:r>
            <a:r>
              <a:rPr lang="en-US" sz="2000" dirty="0" err="1"/>
              <a:t>s.equalsIgnoreCase</a:t>
            </a:r>
            <a:r>
              <a:rPr lang="en-US" sz="2000" dirty="0"/>
              <a:t>("ok"))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</a:t>
            </a:r>
            <a:r>
              <a:rPr lang="en-US" sz="2000" dirty="0" err="1"/>
              <a:t>jlab.setText</a:t>
            </a:r>
            <a:r>
              <a:rPr lang="en-US" sz="2000" dirty="0"/>
              <a:t>("OK  pressed.");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else if(</a:t>
            </a:r>
            <a:r>
              <a:rPr lang="en-US" sz="2000" dirty="0" err="1"/>
              <a:t>s.equalsIgnoreCase</a:t>
            </a:r>
            <a:r>
              <a:rPr lang="en-US" sz="2000" dirty="0"/>
              <a:t>("cancel"))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</a:t>
            </a:r>
            <a:r>
              <a:rPr lang="en-US" sz="2000" dirty="0" err="1"/>
              <a:t>jlab.setText</a:t>
            </a:r>
            <a:r>
              <a:rPr lang="en-US" sz="2000" dirty="0"/>
              <a:t>("Cancel  pressed."); 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}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</a:t>
            </a:r>
          </a:p>
          <a:p>
            <a:pPr>
              <a:spcBef>
                <a:spcPts val="0"/>
              </a:spcBef>
              <a:buNone/>
            </a:pPr>
            <a:endParaRPr lang="en-US" sz="2000" dirty="0"/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public static void </a:t>
            </a:r>
            <a:r>
              <a:rPr lang="en-US" sz="2000" b="1" dirty="0"/>
              <a:t>main(</a:t>
            </a:r>
            <a:r>
              <a:rPr lang="en-US" sz="2000" dirty="0"/>
              <a:t>String </a:t>
            </a:r>
            <a:r>
              <a:rPr lang="en-US" sz="2000" dirty="0" err="1"/>
              <a:t>args</a:t>
            </a:r>
            <a:r>
              <a:rPr lang="en-US" sz="2000" dirty="0"/>
              <a:t>[]) 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    {</a:t>
            </a:r>
            <a:r>
              <a:rPr lang="en-US" sz="2000" dirty="0" err="1"/>
              <a:t>SwingUtilities.invokeLater</a:t>
            </a:r>
            <a:r>
              <a:rPr lang="en-US" sz="2000" dirty="0"/>
              <a:t>(new </a:t>
            </a:r>
            <a:r>
              <a:rPr lang="en-US" sz="2000" dirty="0" err="1"/>
              <a:t>Runnable</a:t>
            </a:r>
            <a:r>
              <a:rPr lang="en-US" sz="2000" dirty="0"/>
              <a:t>() 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 {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public void run() 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 { new </a:t>
            </a:r>
            <a:r>
              <a:rPr lang="en-US" sz="2000" dirty="0" err="1"/>
              <a:t>EventDemoSwing</a:t>
            </a:r>
            <a:r>
              <a:rPr lang="en-US" sz="2000" dirty="0"/>
              <a:t>();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}					} );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  }   }</a:t>
            </a:r>
          </a:p>
          <a:p>
            <a:pPr>
              <a:spcBef>
                <a:spcPts val="0"/>
              </a:spcBef>
              <a:buNone/>
            </a:pPr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934200" y="601980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Prepared by </a:t>
            </a:r>
            <a:r>
              <a:rPr lang="en-US" dirty="0" err="1"/>
              <a:t>Renetha</a:t>
            </a:r>
            <a:r>
              <a:rPr lang="en-US" dirty="0"/>
              <a:t> J.B.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FlowLayout</a:t>
            </a:r>
            <a:r>
              <a:rPr lang="en-US" dirty="0"/>
              <a:t>(contd.)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162800" y="6096000"/>
            <a:ext cx="25146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Prepared by </a:t>
            </a:r>
            <a:r>
              <a:rPr lang="en-US" dirty="0" err="1"/>
              <a:t>Renetha</a:t>
            </a:r>
            <a:r>
              <a:rPr lang="en-US" dirty="0"/>
              <a:t> J.B.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336246-FC46-4052-A6ED-AB27FAD0803F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1295400"/>
            <a:ext cx="5331883" cy="218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ectangle 10"/>
          <p:cNvSpPr/>
          <p:nvPr/>
        </p:nvSpPr>
        <p:spPr>
          <a:xfrm>
            <a:off x="914400" y="3733800"/>
            <a:ext cx="7543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If in code we modify the layout as </a:t>
            </a:r>
          </a:p>
          <a:p>
            <a:r>
              <a:rPr lang="en-US" dirty="0"/>
              <a:t>	</a:t>
            </a:r>
            <a:r>
              <a:rPr lang="en-US" dirty="0" err="1">
                <a:solidFill>
                  <a:srgbClr val="0000CC"/>
                </a:solidFill>
              </a:rPr>
              <a:t>jfrm.setLayout</a:t>
            </a:r>
            <a:r>
              <a:rPr lang="en-US" dirty="0">
                <a:solidFill>
                  <a:srgbClr val="0000CC"/>
                </a:solidFill>
              </a:rPr>
              <a:t>(new </a:t>
            </a:r>
            <a:r>
              <a:rPr lang="en-US" dirty="0" err="1">
                <a:solidFill>
                  <a:srgbClr val="0000CC"/>
                </a:solidFill>
              </a:rPr>
              <a:t>FlowLayout</a:t>
            </a:r>
            <a:r>
              <a:rPr lang="en-US" dirty="0">
                <a:solidFill>
                  <a:srgbClr val="0000CC"/>
                </a:solidFill>
              </a:rPr>
              <a:t>(</a:t>
            </a:r>
            <a:r>
              <a:rPr lang="en-US" b="1" dirty="0" err="1">
                <a:solidFill>
                  <a:srgbClr val="0000CC"/>
                </a:solidFill>
              </a:rPr>
              <a:t>FlowLayout.LEFT</a:t>
            </a:r>
            <a:r>
              <a:rPr lang="en-US" dirty="0">
                <a:solidFill>
                  <a:srgbClr val="0000CC"/>
                </a:solidFill>
              </a:rPr>
              <a:t>));</a:t>
            </a: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95400" y="4613563"/>
            <a:ext cx="5486400" cy="2244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BorderLayout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562600"/>
          </a:xfrm>
        </p:spPr>
        <p:txBody>
          <a:bodyPr/>
          <a:lstStyle/>
          <a:p>
            <a:r>
              <a:rPr lang="en-US" sz="2400" dirty="0"/>
              <a:t>By default, the content pane associated with a </a:t>
            </a:r>
            <a:r>
              <a:rPr lang="en-US" sz="2400" b="1" dirty="0" err="1"/>
              <a:t>JFrame</a:t>
            </a:r>
            <a:r>
              <a:rPr lang="en-US" sz="2400" b="1" dirty="0"/>
              <a:t> uses border layout.</a:t>
            </a:r>
            <a:endParaRPr lang="en-US" sz="2400" dirty="0"/>
          </a:p>
          <a:p>
            <a:r>
              <a:rPr lang="en-US" sz="2400" dirty="0"/>
              <a:t>The </a:t>
            </a:r>
            <a:r>
              <a:rPr lang="en-US" sz="2400" b="1" dirty="0" err="1"/>
              <a:t>BorderLayout</a:t>
            </a:r>
            <a:r>
              <a:rPr lang="en-US" sz="2400" b="1" dirty="0"/>
              <a:t> class implements a common layout </a:t>
            </a:r>
            <a:r>
              <a:rPr lang="en-US" sz="2400" dirty="0"/>
              <a:t>style for top-level windows. </a:t>
            </a:r>
          </a:p>
          <a:p>
            <a:r>
              <a:rPr lang="en-US" sz="2400" dirty="0"/>
              <a:t>It has four narrow, fixed-width components at the edges and one large area in the center</a:t>
            </a:r>
            <a:r>
              <a:rPr lang="en-US" dirty="0"/>
              <a:t>. </a:t>
            </a:r>
          </a:p>
          <a:p>
            <a:r>
              <a:rPr lang="en-US" dirty="0"/>
              <a:t>The four sides are referred to as</a:t>
            </a:r>
          </a:p>
          <a:p>
            <a:pPr lvl="1"/>
            <a:r>
              <a:rPr lang="en-US" dirty="0"/>
              <a:t>North,</a:t>
            </a:r>
          </a:p>
          <a:p>
            <a:pPr lvl="1"/>
            <a:r>
              <a:rPr lang="en-US" dirty="0"/>
              <a:t>South</a:t>
            </a:r>
          </a:p>
          <a:p>
            <a:pPr lvl="1"/>
            <a:r>
              <a:rPr lang="en-US" dirty="0"/>
              <a:t>East</a:t>
            </a:r>
          </a:p>
          <a:p>
            <a:pPr lvl="1"/>
            <a:r>
              <a:rPr lang="en-US" dirty="0"/>
              <a:t>West.</a:t>
            </a:r>
          </a:p>
          <a:p>
            <a:r>
              <a:rPr lang="en-US" dirty="0"/>
              <a:t>The middle area is called </a:t>
            </a:r>
          </a:p>
          <a:p>
            <a:pPr lvl="1"/>
            <a:r>
              <a:rPr lang="en-US" dirty="0"/>
              <a:t>Center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336246-FC46-4052-A6ED-AB27FAD0803F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00600" y="3581400"/>
            <a:ext cx="3848100" cy="286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BorderLayout</a:t>
            </a:r>
            <a:r>
              <a:rPr lang="en-US" sz="3200" b="0" dirty="0"/>
              <a:t>(contd.)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/>
              <a:t>The constructors defined by </a:t>
            </a:r>
            <a:r>
              <a:rPr lang="en-US" sz="2400" b="1" dirty="0" err="1"/>
              <a:t>BorderLayout</a:t>
            </a:r>
            <a:r>
              <a:rPr lang="en-US" sz="2400" b="1" dirty="0"/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 err="1"/>
              <a:t>BorderLayout</a:t>
            </a:r>
            <a:r>
              <a:rPr lang="en-US" sz="2400" dirty="0"/>
              <a:t>( )</a:t>
            </a:r>
          </a:p>
          <a:p>
            <a:pPr>
              <a:lnSpc>
                <a:spcPct val="150000"/>
              </a:lnSpc>
            </a:pPr>
            <a:r>
              <a:rPr lang="en-US" sz="2400" dirty="0" err="1"/>
              <a:t>BorderLayout</a:t>
            </a:r>
            <a:r>
              <a:rPr lang="en-US" sz="2400" dirty="0"/>
              <a:t>( ) creates a default border layout. </a:t>
            </a:r>
          </a:p>
          <a:p>
            <a:pPr>
              <a:lnSpc>
                <a:spcPct val="150000"/>
              </a:lnSpc>
            </a:pPr>
            <a:r>
              <a:rPr lang="en-US" sz="2400" dirty="0" err="1"/>
              <a:t>BorderLayout</a:t>
            </a:r>
            <a:r>
              <a:rPr lang="en-US" sz="2400" dirty="0"/>
              <a:t>(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i="1" dirty="0" err="1"/>
              <a:t>horz</a:t>
            </a:r>
            <a:r>
              <a:rPr lang="en-US" sz="2400" i="1" dirty="0"/>
              <a:t>, </a:t>
            </a:r>
            <a:r>
              <a:rPr lang="en-US" sz="2400" i="1" dirty="0" err="1"/>
              <a:t>int</a:t>
            </a:r>
            <a:r>
              <a:rPr lang="en-US" sz="2400" i="1" dirty="0"/>
              <a:t> </a:t>
            </a:r>
            <a:r>
              <a:rPr lang="en-US" sz="2400" i="1" dirty="0" err="1"/>
              <a:t>vert</a:t>
            </a:r>
            <a:r>
              <a:rPr lang="en-US" sz="2400" i="1" dirty="0"/>
              <a:t>) </a:t>
            </a:r>
            <a:r>
              <a:rPr lang="en-US" sz="2400" dirty="0"/>
              <a:t>specify the horizontal and vertical space left between components in </a:t>
            </a:r>
            <a:r>
              <a:rPr lang="en-US" sz="2400" i="1" dirty="0" err="1"/>
              <a:t>horz</a:t>
            </a:r>
            <a:r>
              <a:rPr lang="en-US" sz="2400" i="1" dirty="0"/>
              <a:t> and </a:t>
            </a:r>
            <a:r>
              <a:rPr lang="en-US" sz="2400" i="1" dirty="0" err="1"/>
              <a:t>vert</a:t>
            </a:r>
            <a:r>
              <a:rPr lang="en-US" sz="2400" i="1" dirty="0"/>
              <a:t>, respectively</a:t>
            </a:r>
            <a:endParaRPr lang="en-US" sz="24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336246-FC46-4052-A6ED-AB27FAD0803F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BorderLayout</a:t>
            </a:r>
            <a:r>
              <a:rPr lang="en-US" sz="3200" b="0" dirty="0"/>
              <a:t>(contd.)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15000"/>
          </a:xfrm>
        </p:spPr>
        <p:txBody>
          <a:bodyPr/>
          <a:lstStyle/>
          <a:p>
            <a:r>
              <a:rPr lang="en-US" sz="2400" dirty="0" err="1"/>
              <a:t>BorderLayout</a:t>
            </a:r>
            <a:r>
              <a:rPr lang="en-US" sz="2400" dirty="0"/>
              <a:t> defines the following constants</a:t>
            </a:r>
          </a:p>
          <a:p>
            <a:pPr lvl="1"/>
            <a:r>
              <a:rPr lang="en-US" dirty="0" err="1"/>
              <a:t>BorderLayout.CENTER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BorderLayout.SOUTH</a:t>
            </a:r>
            <a:endParaRPr lang="en-US" dirty="0"/>
          </a:p>
          <a:p>
            <a:pPr lvl="1"/>
            <a:r>
              <a:rPr lang="en-US" dirty="0" err="1"/>
              <a:t>BorderLayout.EAST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BorderLayout.WEST</a:t>
            </a:r>
            <a:endParaRPr lang="en-US" dirty="0"/>
          </a:p>
          <a:p>
            <a:pPr lvl="1"/>
            <a:r>
              <a:rPr lang="en-US" dirty="0" err="1"/>
              <a:t>BorderLayout.NORTH</a:t>
            </a:r>
            <a:endParaRPr lang="en-US" dirty="0"/>
          </a:p>
          <a:p>
            <a:r>
              <a:rPr lang="en-US" sz="2400" dirty="0"/>
              <a:t>When adding components, you will use these constants with the following form </a:t>
            </a:r>
            <a:r>
              <a:rPr lang="en-US" sz="2400" dirty="0" err="1"/>
              <a:t>of</a:t>
            </a:r>
            <a:r>
              <a:rPr lang="en-US" sz="2400" b="1" dirty="0" err="1"/>
              <a:t>add</a:t>
            </a:r>
            <a:r>
              <a:rPr lang="en-US" sz="2400" b="1" dirty="0"/>
              <a:t>( ), </a:t>
            </a:r>
            <a:r>
              <a:rPr lang="en-US" sz="2400" dirty="0"/>
              <a:t>which is defined by Container</a:t>
            </a:r>
            <a:r>
              <a:rPr lang="en-US" sz="2400" b="1" dirty="0"/>
              <a:t>: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	void</a:t>
            </a:r>
            <a:r>
              <a:rPr lang="en-US" sz="2400" b="1" dirty="0">
                <a:solidFill>
                  <a:srgbClr val="C00000"/>
                </a:solidFill>
              </a:rPr>
              <a:t> add</a:t>
            </a:r>
            <a:r>
              <a:rPr lang="en-US" sz="2400" dirty="0"/>
              <a:t>(Component </a:t>
            </a:r>
            <a:r>
              <a:rPr lang="en-US" sz="2400" i="1" dirty="0" err="1"/>
              <a:t>compObj</a:t>
            </a:r>
            <a:r>
              <a:rPr lang="en-US" sz="2400" i="1" dirty="0"/>
              <a:t>, Object region)</a:t>
            </a:r>
          </a:p>
          <a:p>
            <a:pPr>
              <a:buNone/>
            </a:pPr>
            <a:endParaRPr lang="en-US" sz="2400" i="1" dirty="0"/>
          </a:p>
          <a:p>
            <a:pPr lvl="1"/>
            <a:r>
              <a:rPr lang="en-US" sz="2200" dirty="0"/>
              <a:t>Here, </a:t>
            </a:r>
            <a:r>
              <a:rPr lang="en-US" sz="2200" i="1" dirty="0" err="1"/>
              <a:t>compObj</a:t>
            </a:r>
            <a:r>
              <a:rPr lang="en-US" sz="2200" i="1" dirty="0"/>
              <a:t> </a:t>
            </a:r>
            <a:r>
              <a:rPr lang="en-US" sz="2200" dirty="0"/>
              <a:t>is the component to be added, and</a:t>
            </a:r>
            <a:r>
              <a:rPr lang="en-US" sz="2200" i="1" dirty="0"/>
              <a:t> region </a:t>
            </a:r>
            <a:r>
              <a:rPr lang="en-US" sz="2200" dirty="0"/>
              <a:t>specifies where the component will be added.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336246-FC46-4052-A6ED-AB27FAD0803F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85800" y="4724400"/>
            <a:ext cx="647700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228600" y="0"/>
            <a:ext cx="6172200" cy="6126163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sz="1800" dirty="0"/>
              <a:t>import java.awt.*;      import </a:t>
            </a:r>
            <a:r>
              <a:rPr lang="en-US" sz="1800" dirty="0" err="1"/>
              <a:t>java.awt.event</a:t>
            </a:r>
            <a:r>
              <a:rPr lang="en-US" sz="1800" dirty="0"/>
              <a:t>.*;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import </a:t>
            </a:r>
            <a:r>
              <a:rPr lang="en-US" sz="1800" dirty="0" err="1"/>
              <a:t>javax.swing</a:t>
            </a:r>
            <a:r>
              <a:rPr lang="en-US" sz="1800" dirty="0"/>
              <a:t>.*;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class </a:t>
            </a:r>
            <a:r>
              <a:rPr lang="en-US" sz="1800" dirty="0" err="1"/>
              <a:t>EventDemoSwing</a:t>
            </a:r>
            <a:r>
              <a:rPr lang="en-US" sz="1800" dirty="0"/>
              <a:t>  extends </a:t>
            </a:r>
            <a:r>
              <a:rPr lang="en-US" sz="1800" dirty="0" err="1"/>
              <a:t>JFrame</a:t>
            </a:r>
            <a:r>
              <a:rPr lang="en-US" sz="1800" dirty="0"/>
              <a:t> implements </a:t>
            </a:r>
            <a:r>
              <a:rPr lang="en-US" sz="1800" dirty="0" err="1"/>
              <a:t>ActionListener</a:t>
            </a:r>
            <a:r>
              <a:rPr lang="en-US" sz="1800" dirty="0"/>
              <a:t>{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JLabel</a:t>
            </a:r>
            <a:r>
              <a:rPr lang="en-US" sz="1800" dirty="0"/>
              <a:t> </a:t>
            </a:r>
            <a:r>
              <a:rPr lang="en-US" sz="1800" dirty="0" err="1"/>
              <a:t>jlab</a:t>
            </a:r>
            <a:r>
              <a:rPr lang="en-US" sz="1800" dirty="0"/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JFrame</a:t>
            </a:r>
            <a:r>
              <a:rPr lang="en-US" sz="1800" dirty="0"/>
              <a:t> </a:t>
            </a:r>
            <a:r>
              <a:rPr lang="en-US" sz="1800" dirty="0" err="1"/>
              <a:t>jfrm</a:t>
            </a:r>
            <a:r>
              <a:rPr lang="en-US" sz="1800" dirty="0"/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JButton</a:t>
            </a:r>
            <a:r>
              <a:rPr lang="en-US" sz="1800" dirty="0"/>
              <a:t> </a:t>
            </a:r>
            <a:r>
              <a:rPr lang="en-US" sz="1800" dirty="0" err="1"/>
              <a:t>jbtnOk</a:t>
            </a:r>
            <a:r>
              <a:rPr lang="en-US" sz="1800" dirty="0"/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JButton</a:t>
            </a:r>
            <a:r>
              <a:rPr lang="en-US" sz="1800" dirty="0"/>
              <a:t> </a:t>
            </a:r>
            <a:r>
              <a:rPr lang="en-US" sz="1800" dirty="0" err="1"/>
              <a:t>jbtnCancel</a:t>
            </a:r>
            <a:r>
              <a:rPr lang="en-US" sz="1800" dirty="0"/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EventDemoSwing</a:t>
            </a:r>
            <a:r>
              <a:rPr lang="en-US" sz="1800" dirty="0"/>
              <a:t>() 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	{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err="1"/>
              <a:t>jfrm</a:t>
            </a:r>
            <a:r>
              <a:rPr lang="en-US" sz="1800" dirty="0"/>
              <a:t> = new </a:t>
            </a:r>
            <a:r>
              <a:rPr lang="en-US" sz="1800" dirty="0" err="1"/>
              <a:t>JFrame</a:t>
            </a:r>
            <a:r>
              <a:rPr lang="en-US" sz="1800" dirty="0"/>
              <a:t>("An Event </a:t>
            </a:r>
            <a:r>
              <a:rPr lang="en-US" sz="1800" dirty="0" err="1"/>
              <a:t>Eg</a:t>
            </a:r>
            <a:r>
              <a:rPr lang="en-US" sz="1800" dirty="0"/>
              <a:t>");</a:t>
            </a:r>
          </a:p>
          <a:p>
            <a:pPr>
              <a:spcBef>
                <a:spcPts val="0"/>
              </a:spcBef>
              <a:buNone/>
            </a:pPr>
            <a:r>
              <a:rPr lang="en-US" sz="1800" b="1" dirty="0" err="1"/>
              <a:t>jfrm.setLayout</a:t>
            </a:r>
            <a:r>
              <a:rPr lang="en-US" sz="1800" b="1" dirty="0"/>
              <a:t>(new </a:t>
            </a:r>
            <a:r>
              <a:rPr lang="en-US" sz="1800" b="1" dirty="0" err="1">
                <a:solidFill>
                  <a:srgbClr val="C00000"/>
                </a:solidFill>
              </a:rPr>
              <a:t>BorderLayout</a:t>
            </a:r>
            <a:r>
              <a:rPr lang="en-US" sz="1800" b="1" dirty="0">
                <a:solidFill>
                  <a:srgbClr val="C00000"/>
                </a:solidFill>
              </a:rPr>
              <a:t> ());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err="1"/>
              <a:t>jfrm.setSize</a:t>
            </a:r>
            <a:r>
              <a:rPr lang="en-US" sz="1800" dirty="0"/>
              <a:t>(220, 90);</a:t>
            </a:r>
          </a:p>
          <a:p>
            <a:pPr>
              <a:spcBef>
                <a:spcPts val="0"/>
              </a:spcBef>
              <a:buNone/>
            </a:pPr>
            <a:r>
              <a:rPr lang="en-US" sz="1800" b="1" dirty="0" err="1"/>
              <a:t>jfrm.setDefaultCloseOperation</a:t>
            </a:r>
            <a:r>
              <a:rPr lang="en-US" sz="1800" b="1" dirty="0"/>
              <a:t>(</a:t>
            </a:r>
            <a:r>
              <a:rPr lang="en-US" sz="1800" b="1" dirty="0" err="1"/>
              <a:t>JFrame.EXIT_ON_CLOSE</a:t>
            </a:r>
            <a:r>
              <a:rPr lang="en-US" sz="1800" b="1" dirty="0"/>
              <a:t>);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err="1"/>
              <a:t>jbtnOk</a:t>
            </a:r>
            <a:r>
              <a:rPr lang="en-US" sz="1800" dirty="0"/>
              <a:t> = new </a:t>
            </a:r>
            <a:r>
              <a:rPr lang="en-US" sz="1800" dirty="0" err="1"/>
              <a:t>JButton</a:t>
            </a:r>
            <a:r>
              <a:rPr lang="en-US" sz="1800" dirty="0"/>
              <a:t>("OK");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err="1"/>
              <a:t>JButton</a:t>
            </a:r>
            <a:r>
              <a:rPr lang="en-US" sz="1800" dirty="0"/>
              <a:t> </a:t>
            </a:r>
            <a:r>
              <a:rPr lang="en-US" sz="1800" dirty="0" err="1"/>
              <a:t>jbtnCancel</a:t>
            </a:r>
            <a:r>
              <a:rPr lang="en-US" sz="1800" dirty="0"/>
              <a:t> = new </a:t>
            </a:r>
            <a:r>
              <a:rPr lang="en-US" sz="1800" dirty="0" err="1"/>
              <a:t>JButton</a:t>
            </a:r>
            <a:r>
              <a:rPr lang="en-US" sz="1800" dirty="0"/>
              <a:t>("Cancel");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err="1"/>
              <a:t>jbtnOk.setToolTipText</a:t>
            </a:r>
            <a:r>
              <a:rPr lang="en-US" sz="1800" dirty="0"/>
              <a:t>("click");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err="1"/>
              <a:t>jbtnOk.addActionListener</a:t>
            </a:r>
            <a:r>
              <a:rPr lang="en-US" sz="1800" dirty="0"/>
              <a:t>(this);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err="1"/>
              <a:t>jbtnCancel.addActionListener</a:t>
            </a:r>
            <a:r>
              <a:rPr lang="en-US" sz="1800" dirty="0"/>
              <a:t>(this);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err="1"/>
              <a:t>jfrm.add</a:t>
            </a:r>
            <a:r>
              <a:rPr lang="en-US" sz="1800" dirty="0"/>
              <a:t>(</a:t>
            </a:r>
            <a:r>
              <a:rPr lang="en-US" sz="1800" dirty="0" err="1"/>
              <a:t>jbtnOk,</a:t>
            </a:r>
            <a:r>
              <a:rPr lang="en-US" sz="1800" b="1" dirty="0" err="1">
                <a:solidFill>
                  <a:srgbClr val="0000CC"/>
                </a:solidFill>
              </a:rPr>
              <a:t>BorderLayout.EAST</a:t>
            </a:r>
            <a:r>
              <a:rPr lang="en-US" sz="1800" dirty="0"/>
              <a:t>);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err="1"/>
              <a:t>jfrm.add</a:t>
            </a:r>
            <a:r>
              <a:rPr lang="en-US" sz="1800" dirty="0"/>
              <a:t>(</a:t>
            </a:r>
            <a:r>
              <a:rPr lang="en-US" sz="1800" dirty="0" err="1"/>
              <a:t>jbtnCancel</a:t>
            </a:r>
            <a:r>
              <a:rPr lang="en-US" sz="1800" dirty="0"/>
              <a:t>, </a:t>
            </a:r>
            <a:r>
              <a:rPr lang="en-US" sz="1800" b="1" dirty="0" err="1">
                <a:solidFill>
                  <a:srgbClr val="0000CC"/>
                </a:solidFill>
              </a:rPr>
              <a:t>BorderLayout.WEST</a:t>
            </a:r>
            <a:r>
              <a:rPr lang="en-US" sz="1800" dirty="0"/>
              <a:t>);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err="1"/>
              <a:t>jlab</a:t>
            </a:r>
            <a:r>
              <a:rPr lang="en-US" sz="1800" dirty="0"/>
              <a:t> = new </a:t>
            </a:r>
            <a:r>
              <a:rPr lang="en-US" sz="1800" dirty="0" err="1"/>
              <a:t>JLabel</a:t>
            </a:r>
            <a:r>
              <a:rPr lang="en-US" sz="1800" dirty="0"/>
              <a:t>("Press a button.");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err="1"/>
              <a:t>jfrm.add</a:t>
            </a:r>
            <a:r>
              <a:rPr lang="en-US" sz="1800" dirty="0"/>
              <a:t>(</a:t>
            </a:r>
            <a:r>
              <a:rPr lang="en-US" sz="1800" dirty="0" err="1"/>
              <a:t>jlab</a:t>
            </a:r>
            <a:r>
              <a:rPr lang="en-US" sz="1800" b="1" dirty="0">
                <a:solidFill>
                  <a:srgbClr val="0000CC"/>
                </a:solidFill>
              </a:rPr>
              <a:t> </a:t>
            </a:r>
            <a:r>
              <a:rPr lang="en-US" sz="1800" b="1" dirty="0" err="1">
                <a:solidFill>
                  <a:srgbClr val="0000CC"/>
                </a:solidFill>
              </a:rPr>
              <a:t>BorderLayout.NORTH</a:t>
            </a:r>
            <a:r>
              <a:rPr lang="en-US" sz="1800" dirty="0"/>
              <a:t>);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err="1"/>
              <a:t>jfrm.setVisible</a:t>
            </a:r>
            <a:r>
              <a:rPr lang="en-US" sz="1800" dirty="0"/>
              <a:t>(true);  	}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	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4114800" y="0"/>
            <a:ext cx="5029200" cy="6126163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endParaRPr lang="en-US" sz="2000" dirty="0"/>
          </a:p>
          <a:p>
            <a:pPr>
              <a:spcBef>
                <a:spcPts val="0"/>
              </a:spcBef>
              <a:buNone/>
            </a:pPr>
            <a:endParaRPr lang="en-US" sz="2000" dirty="0"/>
          </a:p>
          <a:p>
            <a:pPr>
              <a:spcBef>
                <a:spcPts val="0"/>
              </a:spcBef>
              <a:buNone/>
            </a:pPr>
            <a:endParaRPr lang="en-US" sz="2000" dirty="0"/>
          </a:p>
          <a:p>
            <a:pPr>
              <a:spcBef>
                <a:spcPts val="0"/>
              </a:spcBef>
              <a:buNone/>
            </a:pPr>
            <a:endParaRPr lang="en-US" sz="2000" dirty="0"/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public void </a:t>
            </a:r>
            <a:r>
              <a:rPr lang="en-US" sz="2000" b="1" dirty="0" err="1"/>
              <a:t>actionPerformed</a:t>
            </a:r>
            <a:r>
              <a:rPr lang="en-US" sz="2000" dirty="0"/>
              <a:t>(</a:t>
            </a:r>
            <a:r>
              <a:rPr lang="en-US" sz="2000" dirty="0" err="1"/>
              <a:t>ActionEvent</a:t>
            </a:r>
            <a:r>
              <a:rPr lang="en-US" sz="2000" dirty="0"/>
              <a:t> </a:t>
            </a:r>
            <a:r>
              <a:rPr lang="en-US" sz="2000" dirty="0" err="1"/>
              <a:t>ae</a:t>
            </a:r>
            <a:r>
              <a:rPr lang="en-US" sz="2000" dirty="0"/>
              <a:t>)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{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String s = </a:t>
            </a:r>
            <a:r>
              <a:rPr lang="en-US" sz="2000" dirty="0" err="1"/>
              <a:t>ae.getActionCommand</a:t>
            </a:r>
            <a:r>
              <a:rPr lang="en-US" sz="2000" dirty="0"/>
              <a:t>(); 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if(</a:t>
            </a:r>
            <a:r>
              <a:rPr lang="en-US" sz="2000" dirty="0" err="1"/>
              <a:t>s.equalsIgnoreCase</a:t>
            </a:r>
            <a:r>
              <a:rPr lang="en-US" sz="2000" dirty="0"/>
              <a:t>("ok"))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</a:t>
            </a:r>
            <a:r>
              <a:rPr lang="en-US" sz="2000" dirty="0" err="1"/>
              <a:t>jlab.setText</a:t>
            </a:r>
            <a:r>
              <a:rPr lang="en-US" sz="2000" dirty="0"/>
              <a:t>("OK  pressed.");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else if(</a:t>
            </a:r>
            <a:r>
              <a:rPr lang="en-US" sz="2000" dirty="0" err="1"/>
              <a:t>s.equalsIgnoreCase</a:t>
            </a:r>
            <a:r>
              <a:rPr lang="en-US" sz="2000" dirty="0"/>
              <a:t>("cancel"))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</a:t>
            </a:r>
            <a:r>
              <a:rPr lang="en-US" sz="2000" dirty="0" err="1"/>
              <a:t>jlab.setText</a:t>
            </a:r>
            <a:r>
              <a:rPr lang="en-US" sz="2000" dirty="0"/>
              <a:t>("Cancel  pressed."); 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}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</a:t>
            </a:r>
          </a:p>
          <a:p>
            <a:pPr>
              <a:spcBef>
                <a:spcPts val="0"/>
              </a:spcBef>
              <a:buNone/>
            </a:pPr>
            <a:endParaRPr lang="en-US" sz="2000" dirty="0"/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public static void </a:t>
            </a:r>
            <a:r>
              <a:rPr lang="en-US" sz="2000" b="1" dirty="0"/>
              <a:t>main(</a:t>
            </a:r>
            <a:r>
              <a:rPr lang="en-US" sz="2000" dirty="0"/>
              <a:t>String </a:t>
            </a:r>
            <a:r>
              <a:rPr lang="en-US" sz="2000" dirty="0" err="1"/>
              <a:t>args</a:t>
            </a:r>
            <a:r>
              <a:rPr lang="en-US" sz="2000" dirty="0"/>
              <a:t>[]) 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    {</a:t>
            </a:r>
            <a:r>
              <a:rPr lang="en-US" sz="2000" dirty="0" err="1"/>
              <a:t>SwingUtilities.invokeLater</a:t>
            </a:r>
            <a:r>
              <a:rPr lang="en-US" sz="2000" dirty="0"/>
              <a:t>(new </a:t>
            </a:r>
            <a:r>
              <a:rPr lang="en-US" sz="2000" dirty="0" err="1"/>
              <a:t>Runnable</a:t>
            </a:r>
            <a:r>
              <a:rPr lang="en-US" sz="2000" dirty="0"/>
              <a:t>() 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 {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public void run() 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 { new </a:t>
            </a:r>
            <a:r>
              <a:rPr lang="en-US" sz="2000" dirty="0" err="1"/>
              <a:t>EventDemoSwing</a:t>
            </a:r>
            <a:r>
              <a:rPr lang="en-US" sz="2000" dirty="0"/>
              <a:t>();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}					} );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  }   }</a:t>
            </a:r>
          </a:p>
          <a:p>
            <a:pPr>
              <a:spcBef>
                <a:spcPts val="0"/>
              </a:spcBef>
              <a:buNone/>
            </a:pPr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705600" y="6492875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Prepared by </a:t>
            </a:r>
            <a:r>
              <a:rPr lang="en-US" dirty="0" err="1"/>
              <a:t>Renetha</a:t>
            </a:r>
            <a:r>
              <a:rPr lang="en-US" dirty="0"/>
              <a:t> J.B.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BorderLayout</a:t>
            </a:r>
            <a:r>
              <a:rPr lang="en-US" sz="3200" b="0" dirty="0"/>
              <a:t>(contd.)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336246-FC46-4052-A6ED-AB27FAD0803F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1066800"/>
            <a:ext cx="4656667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Insets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486400"/>
          </a:xfrm>
        </p:spPr>
        <p:txBody>
          <a:bodyPr/>
          <a:lstStyle/>
          <a:p>
            <a:r>
              <a:rPr lang="en-US" sz="2400" dirty="0"/>
              <a:t>Sometimes we may want to </a:t>
            </a:r>
            <a:r>
              <a:rPr lang="en-US" sz="2400" b="1" dirty="0"/>
              <a:t>leave a small amount of space </a:t>
            </a:r>
            <a:r>
              <a:rPr lang="en-US" sz="2400" u="sng" dirty="0"/>
              <a:t>between the container that holds the components and the window</a:t>
            </a:r>
            <a:r>
              <a:rPr lang="en-US" sz="2400" dirty="0"/>
              <a:t> that contains it. </a:t>
            </a:r>
          </a:p>
          <a:p>
            <a:pPr lvl="1"/>
            <a:r>
              <a:rPr lang="en-US" sz="2200" dirty="0"/>
              <a:t>To do this, override the </a:t>
            </a:r>
            <a:r>
              <a:rPr lang="en-US" sz="2200" b="1" dirty="0" err="1"/>
              <a:t>getInsets</a:t>
            </a:r>
            <a:r>
              <a:rPr lang="en-US" sz="2200" b="1" dirty="0"/>
              <a:t>( ) method </a:t>
            </a:r>
            <a:r>
              <a:rPr lang="en-US" sz="2400" dirty="0"/>
              <a:t>that is defined by </a:t>
            </a:r>
            <a:r>
              <a:rPr lang="en-US" sz="2400" b="1" dirty="0"/>
              <a:t>Container. </a:t>
            </a:r>
          </a:p>
          <a:p>
            <a:pPr lvl="1"/>
            <a:r>
              <a:rPr lang="en-US" b="1" dirty="0" err="1"/>
              <a:t>getInsets</a:t>
            </a:r>
            <a:r>
              <a:rPr lang="en-US" b="1" dirty="0"/>
              <a:t>( ) method</a:t>
            </a:r>
            <a:r>
              <a:rPr lang="en-US" sz="2400" dirty="0"/>
              <a:t> returns an Insets object that contains the top, bottom, left, and right inset to be used when the container is displayed. </a:t>
            </a:r>
          </a:p>
          <a:p>
            <a:pPr lvl="1"/>
            <a:r>
              <a:rPr lang="en-US" sz="2400" dirty="0"/>
              <a:t>These values are used by the layout manager to inset the components when it lays out the window</a:t>
            </a:r>
          </a:p>
          <a:p>
            <a:r>
              <a:rPr lang="en-US" sz="2400" dirty="0"/>
              <a:t>The constructor for </a:t>
            </a:r>
            <a:r>
              <a:rPr lang="en-US" sz="2400" b="1" dirty="0"/>
              <a:t>Insets is shown here:</a:t>
            </a:r>
          </a:p>
          <a:p>
            <a:pPr>
              <a:buNone/>
            </a:pPr>
            <a:r>
              <a:rPr lang="en-US" sz="2400" dirty="0"/>
              <a:t>		Insets(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i="1" dirty="0"/>
              <a:t>top, </a:t>
            </a:r>
            <a:r>
              <a:rPr lang="en-US" sz="2400" i="1" dirty="0" err="1"/>
              <a:t>int</a:t>
            </a:r>
            <a:r>
              <a:rPr lang="en-US" sz="2400" i="1" dirty="0"/>
              <a:t> left, </a:t>
            </a:r>
            <a:r>
              <a:rPr lang="en-US" sz="2400" i="1" dirty="0" err="1"/>
              <a:t>int</a:t>
            </a:r>
            <a:r>
              <a:rPr lang="en-US" sz="2400" i="1" dirty="0"/>
              <a:t> bottom, </a:t>
            </a:r>
            <a:r>
              <a:rPr lang="en-US" sz="2400" i="1" dirty="0" err="1"/>
              <a:t>int</a:t>
            </a:r>
            <a:r>
              <a:rPr lang="en-US" sz="2400" i="1" dirty="0"/>
              <a:t> right)</a:t>
            </a:r>
          </a:p>
          <a:p>
            <a:pPr lvl="1"/>
            <a:r>
              <a:rPr lang="en-US" sz="2200" dirty="0"/>
              <a:t>The values passed in top, left, bottom, and right specify the </a:t>
            </a:r>
            <a:r>
              <a:rPr lang="en-US" sz="2200" i="1" u="sng" dirty="0"/>
              <a:t>amount of space between the container and its enclosing window</a:t>
            </a:r>
            <a:endParaRPr lang="en-US" sz="2400" i="1" u="sn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336246-FC46-4052-A6ED-AB27FAD0803F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Insets</a:t>
            </a:r>
            <a:r>
              <a:rPr lang="en-US" sz="3200" b="0" dirty="0"/>
              <a:t>(contd.)</a:t>
            </a:r>
            <a:endParaRPr lang="en-US" b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/>
              <a:t>The </a:t>
            </a:r>
            <a:r>
              <a:rPr lang="en-US" sz="2400" b="1" dirty="0" err="1"/>
              <a:t>getInsets</a:t>
            </a:r>
            <a:r>
              <a:rPr lang="en-US" sz="2400" b="1" dirty="0"/>
              <a:t>( ) method has this general form: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/>
              <a:t>	Insets </a:t>
            </a:r>
            <a:r>
              <a:rPr lang="en-US" sz="2400" b="1" dirty="0" err="1">
                <a:solidFill>
                  <a:srgbClr val="C00000"/>
                </a:solidFill>
              </a:rPr>
              <a:t>getInsets</a:t>
            </a:r>
            <a:r>
              <a:rPr lang="en-US" sz="2400" dirty="0"/>
              <a:t>( )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When overriding this method, we must return a new </a:t>
            </a:r>
            <a:r>
              <a:rPr lang="en-US" sz="2200" b="1" dirty="0"/>
              <a:t>Insets object </a:t>
            </a:r>
            <a:r>
              <a:rPr lang="en-US" sz="2200" dirty="0"/>
              <a:t>that contains the inset </a:t>
            </a:r>
            <a:r>
              <a:rPr lang="en-US" sz="2400" dirty="0"/>
              <a:t>spacing you desire.</a:t>
            </a:r>
          </a:p>
          <a:p>
            <a:pPr>
              <a:lnSpc>
                <a:spcPct val="150000"/>
              </a:lnSpc>
            </a:pPr>
            <a:endParaRPr lang="en-US" sz="2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b="1" dirty="0" err="1"/>
              <a:t>GridLayout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686800" cy="5715000"/>
          </a:xfrm>
        </p:spPr>
        <p:txBody>
          <a:bodyPr/>
          <a:lstStyle/>
          <a:p>
            <a:r>
              <a:rPr lang="en-US" sz="2300" b="1" dirty="0" err="1"/>
              <a:t>GridLayout</a:t>
            </a:r>
            <a:r>
              <a:rPr lang="en-US" sz="2300" b="1" dirty="0"/>
              <a:t> </a:t>
            </a:r>
            <a:r>
              <a:rPr lang="en-US" sz="2300" dirty="0"/>
              <a:t>lays out components in a </a:t>
            </a:r>
            <a:r>
              <a:rPr lang="en-US" sz="2300" b="1" dirty="0"/>
              <a:t>two-dimensional grid</a:t>
            </a:r>
            <a:r>
              <a:rPr lang="en-US" sz="2300" dirty="0"/>
              <a:t>. </a:t>
            </a:r>
          </a:p>
          <a:p>
            <a:pPr lvl="1"/>
            <a:r>
              <a:rPr lang="en-US" sz="2300" dirty="0"/>
              <a:t>We can define the number of rows and columns. </a:t>
            </a:r>
          </a:p>
          <a:p>
            <a:r>
              <a:rPr lang="en-US" sz="2400" dirty="0"/>
              <a:t>The constructors supported by </a:t>
            </a:r>
            <a:r>
              <a:rPr lang="en-US" sz="2400" dirty="0" err="1"/>
              <a:t>GridLayout</a:t>
            </a:r>
            <a:r>
              <a:rPr lang="en-US" sz="2400" dirty="0"/>
              <a:t> are</a:t>
            </a:r>
          </a:p>
          <a:p>
            <a:pPr>
              <a:buNone/>
            </a:pPr>
            <a:r>
              <a:rPr lang="en-US" sz="2400" dirty="0" err="1"/>
              <a:t>GridLayout</a:t>
            </a:r>
            <a:r>
              <a:rPr lang="en-US" sz="2400" dirty="0"/>
              <a:t>( )</a:t>
            </a:r>
          </a:p>
          <a:p>
            <a:pPr>
              <a:buNone/>
            </a:pPr>
            <a:r>
              <a:rPr lang="en-US" sz="2400" dirty="0" err="1"/>
              <a:t>GridLayout</a:t>
            </a:r>
            <a:r>
              <a:rPr lang="en-US" sz="2400" dirty="0"/>
              <a:t>(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i="1" dirty="0" err="1"/>
              <a:t>numRows</a:t>
            </a:r>
            <a:r>
              <a:rPr lang="en-US" sz="2400" i="1" dirty="0"/>
              <a:t>, </a:t>
            </a:r>
            <a:r>
              <a:rPr lang="en-US" sz="2400" i="1" dirty="0" err="1"/>
              <a:t>int</a:t>
            </a:r>
            <a:r>
              <a:rPr lang="en-US" sz="2400" i="1" dirty="0"/>
              <a:t> </a:t>
            </a:r>
            <a:r>
              <a:rPr lang="en-US" sz="2400" i="1" dirty="0" err="1"/>
              <a:t>numColumns</a:t>
            </a:r>
            <a:r>
              <a:rPr lang="en-US" sz="2400" i="1" dirty="0"/>
              <a:t>)</a:t>
            </a:r>
          </a:p>
          <a:p>
            <a:pPr>
              <a:buNone/>
            </a:pPr>
            <a:r>
              <a:rPr lang="en-US" sz="2400" dirty="0" err="1"/>
              <a:t>GridLayolayoutut</a:t>
            </a:r>
            <a:r>
              <a:rPr lang="en-US" sz="2400" dirty="0"/>
              <a:t>(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i="1" dirty="0" err="1"/>
              <a:t>numRows</a:t>
            </a:r>
            <a:r>
              <a:rPr lang="en-US" sz="2400" i="1" dirty="0"/>
              <a:t>, </a:t>
            </a:r>
            <a:r>
              <a:rPr lang="en-US" sz="2400" i="1" dirty="0" err="1"/>
              <a:t>int</a:t>
            </a:r>
            <a:r>
              <a:rPr lang="en-US" sz="2400" i="1" dirty="0"/>
              <a:t> </a:t>
            </a:r>
            <a:r>
              <a:rPr lang="en-US" sz="2400" i="1" dirty="0" err="1"/>
              <a:t>numColumns</a:t>
            </a:r>
            <a:r>
              <a:rPr lang="en-US" sz="2400" i="1" dirty="0"/>
              <a:t>, </a:t>
            </a:r>
            <a:r>
              <a:rPr lang="en-US" sz="2400" i="1" dirty="0" err="1"/>
              <a:t>int</a:t>
            </a:r>
            <a:r>
              <a:rPr lang="en-US" sz="2400" i="1" dirty="0"/>
              <a:t> </a:t>
            </a:r>
            <a:r>
              <a:rPr lang="en-US" sz="2400" i="1" dirty="0" err="1"/>
              <a:t>horz</a:t>
            </a:r>
            <a:r>
              <a:rPr lang="en-US" sz="2400" i="1" dirty="0"/>
              <a:t>, </a:t>
            </a:r>
            <a:r>
              <a:rPr lang="en-US" sz="2400" i="1" dirty="0" err="1"/>
              <a:t>int</a:t>
            </a:r>
            <a:r>
              <a:rPr lang="en-US" sz="2400" i="1" dirty="0"/>
              <a:t> </a:t>
            </a:r>
            <a:r>
              <a:rPr lang="en-US" sz="2400" i="1" dirty="0" err="1"/>
              <a:t>vert</a:t>
            </a:r>
            <a:r>
              <a:rPr lang="en-US" sz="2400" i="1" dirty="0"/>
              <a:t>)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sz="2200" dirty="0" err="1"/>
              <a:t>GridLayout</a:t>
            </a:r>
            <a:r>
              <a:rPr lang="en-US" sz="2200" dirty="0"/>
              <a:t>( ) creates a single-column grid</a:t>
            </a:r>
          </a:p>
          <a:p>
            <a:pPr lvl="1"/>
            <a:r>
              <a:rPr lang="en-US" sz="2200" dirty="0" err="1"/>
              <a:t>GridLayout</a:t>
            </a:r>
            <a:r>
              <a:rPr lang="en-US" sz="2200" dirty="0"/>
              <a:t>(</a:t>
            </a:r>
            <a:r>
              <a:rPr lang="en-US" sz="2200" dirty="0" err="1"/>
              <a:t>int</a:t>
            </a:r>
            <a:r>
              <a:rPr lang="en-US" sz="2200" dirty="0"/>
              <a:t> </a:t>
            </a:r>
            <a:r>
              <a:rPr lang="en-US" sz="2200" i="1" dirty="0" err="1"/>
              <a:t>numRows</a:t>
            </a:r>
            <a:r>
              <a:rPr lang="en-US" sz="2200" i="1" dirty="0"/>
              <a:t>, </a:t>
            </a:r>
            <a:r>
              <a:rPr lang="en-US" sz="2200" i="1" dirty="0" err="1"/>
              <a:t>int</a:t>
            </a:r>
            <a:r>
              <a:rPr lang="en-US" sz="2200" i="1" dirty="0"/>
              <a:t> </a:t>
            </a:r>
            <a:r>
              <a:rPr lang="en-US" sz="2200" i="1" dirty="0" err="1"/>
              <a:t>numColumns</a:t>
            </a:r>
            <a:r>
              <a:rPr lang="en-US" sz="2200" i="1" dirty="0"/>
              <a:t>) </a:t>
            </a:r>
            <a:r>
              <a:rPr lang="en-US" sz="2200" dirty="0"/>
              <a:t>creates a grid layout with the specified number of rows and columns. </a:t>
            </a:r>
          </a:p>
          <a:p>
            <a:pPr lvl="1"/>
            <a:r>
              <a:rPr lang="en-US" sz="2200" dirty="0" err="1"/>
              <a:t>GridLayolayoutut</a:t>
            </a:r>
            <a:r>
              <a:rPr lang="en-US" sz="2200" dirty="0"/>
              <a:t>(</a:t>
            </a:r>
            <a:r>
              <a:rPr lang="en-US" sz="2200" dirty="0" err="1"/>
              <a:t>int</a:t>
            </a:r>
            <a:r>
              <a:rPr lang="en-US" sz="2200" dirty="0"/>
              <a:t> </a:t>
            </a:r>
            <a:r>
              <a:rPr lang="en-US" sz="2200" i="1" dirty="0" err="1"/>
              <a:t>numRows</a:t>
            </a:r>
            <a:r>
              <a:rPr lang="en-US" sz="2200" i="1" dirty="0"/>
              <a:t>, </a:t>
            </a:r>
            <a:r>
              <a:rPr lang="en-US" sz="2200" i="1" dirty="0" err="1"/>
              <a:t>int</a:t>
            </a:r>
            <a:r>
              <a:rPr lang="en-US" sz="2200" i="1" dirty="0"/>
              <a:t> </a:t>
            </a:r>
            <a:r>
              <a:rPr lang="en-US" sz="2200" i="1" dirty="0" err="1"/>
              <a:t>numColumns</a:t>
            </a:r>
            <a:r>
              <a:rPr lang="en-US" sz="2200" i="1" dirty="0"/>
              <a:t>, </a:t>
            </a:r>
            <a:r>
              <a:rPr lang="en-US" sz="2200" i="1" dirty="0" err="1"/>
              <a:t>int</a:t>
            </a:r>
            <a:r>
              <a:rPr lang="en-US" sz="2200" i="1" dirty="0"/>
              <a:t> </a:t>
            </a:r>
            <a:r>
              <a:rPr lang="en-US" sz="2200" i="1" dirty="0" err="1"/>
              <a:t>horz</a:t>
            </a:r>
            <a:r>
              <a:rPr lang="en-US" sz="2200" i="1" dirty="0"/>
              <a:t>, </a:t>
            </a:r>
            <a:r>
              <a:rPr lang="en-US" sz="2200" i="1" dirty="0" err="1"/>
              <a:t>int</a:t>
            </a:r>
            <a:r>
              <a:rPr lang="en-US" sz="2200" i="1" dirty="0"/>
              <a:t> </a:t>
            </a:r>
            <a:r>
              <a:rPr lang="en-US" sz="2200" i="1" dirty="0" err="1"/>
              <a:t>vert</a:t>
            </a:r>
            <a:r>
              <a:rPr lang="en-US" sz="2200" i="1" dirty="0"/>
              <a:t>) </a:t>
            </a:r>
            <a:r>
              <a:rPr lang="en-US" sz="2200" dirty="0"/>
              <a:t> allows us to specify the horizontal and vertical space left between components in </a:t>
            </a:r>
            <a:r>
              <a:rPr lang="en-US" sz="2200" i="1" dirty="0" err="1"/>
              <a:t>horz</a:t>
            </a:r>
            <a:r>
              <a:rPr lang="en-US" sz="2200" i="1" dirty="0"/>
              <a:t> and </a:t>
            </a:r>
            <a:r>
              <a:rPr lang="en-US" sz="2200" i="1" dirty="0" err="1"/>
              <a:t>vert</a:t>
            </a:r>
            <a:r>
              <a:rPr lang="en-US" sz="2200" i="1" dirty="0"/>
              <a:t>, </a:t>
            </a:r>
            <a:r>
              <a:rPr lang="en-US" sz="2200" dirty="0"/>
              <a:t>respectively</a:t>
            </a:r>
            <a:r>
              <a:rPr lang="en-US" sz="2200" i="1" dirty="0"/>
              <a:t>. </a:t>
            </a:r>
            <a:r>
              <a:rPr lang="en-US" sz="2200" dirty="0"/>
              <a:t>Either</a:t>
            </a:r>
            <a:r>
              <a:rPr lang="en-US" sz="2200" i="1" dirty="0"/>
              <a:t> </a:t>
            </a:r>
            <a:r>
              <a:rPr lang="en-US" sz="2200" i="1" dirty="0" err="1"/>
              <a:t>numRows</a:t>
            </a:r>
            <a:r>
              <a:rPr lang="en-US" sz="2200" i="1" dirty="0"/>
              <a:t> </a:t>
            </a:r>
            <a:r>
              <a:rPr lang="en-US" sz="2200" dirty="0"/>
              <a:t>or</a:t>
            </a:r>
            <a:r>
              <a:rPr lang="en-US" sz="2200" i="1" dirty="0"/>
              <a:t> </a:t>
            </a:r>
            <a:r>
              <a:rPr lang="en-US" sz="2200" i="1" dirty="0" err="1"/>
              <a:t>numColumns</a:t>
            </a:r>
            <a:r>
              <a:rPr lang="en-US" sz="2200" i="1" dirty="0"/>
              <a:t> </a:t>
            </a:r>
            <a:r>
              <a:rPr lang="en-US" sz="2200" dirty="0"/>
              <a:t>can be zero</a:t>
            </a:r>
            <a:r>
              <a:rPr lang="en-US" sz="2200" i="1" dirty="0"/>
              <a:t>. Specifying </a:t>
            </a:r>
            <a:r>
              <a:rPr lang="en-US" sz="2200" i="1" dirty="0" err="1"/>
              <a:t>numRows</a:t>
            </a:r>
            <a:r>
              <a:rPr lang="en-US" sz="2200" i="1" dirty="0"/>
              <a:t> </a:t>
            </a:r>
            <a:r>
              <a:rPr lang="en-US" sz="2200" dirty="0"/>
              <a:t>as zero allows for unlimited-length columns.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76200" y="0"/>
            <a:ext cx="6553200" cy="6126163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sz="1800" dirty="0"/>
              <a:t>import java.awt.*;      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import </a:t>
            </a:r>
            <a:r>
              <a:rPr lang="en-US" sz="1800" dirty="0" err="1"/>
              <a:t>java.awt.event</a:t>
            </a:r>
            <a:r>
              <a:rPr lang="en-US" sz="1800" dirty="0"/>
              <a:t>.*;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import </a:t>
            </a:r>
            <a:r>
              <a:rPr lang="en-US" sz="1800" dirty="0" err="1"/>
              <a:t>javax.swing</a:t>
            </a:r>
            <a:r>
              <a:rPr lang="en-US" sz="1800" dirty="0"/>
              <a:t>.*;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class </a:t>
            </a:r>
            <a:r>
              <a:rPr lang="en-US" sz="1800" dirty="0" err="1"/>
              <a:t>GridDemo</a:t>
            </a:r>
            <a:r>
              <a:rPr lang="en-US" sz="1800" dirty="0"/>
              <a:t>  extends </a:t>
            </a:r>
            <a:r>
              <a:rPr lang="en-US" sz="1800" dirty="0" err="1"/>
              <a:t>JFrame</a:t>
            </a:r>
            <a:r>
              <a:rPr lang="en-US" sz="1800" dirty="0"/>
              <a:t> implements  </a:t>
            </a:r>
            <a:r>
              <a:rPr lang="en-US" sz="1800" dirty="0" err="1"/>
              <a:t>ActionListener</a:t>
            </a:r>
            <a:endParaRPr lang="en-US" sz="1800" dirty="0"/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{ 	</a:t>
            </a:r>
            <a:r>
              <a:rPr lang="en-US" sz="1800" dirty="0" err="1"/>
              <a:t>JLabel</a:t>
            </a:r>
            <a:r>
              <a:rPr lang="en-US" sz="1800" dirty="0"/>
              <a:t> </a:t>
            </a:r>
            <a:r>
              <a:rPr lang="en-US" sz="1800" dirty="0" err="1"/>
              <a:t>jlab</a:t>
            </a:r>
            <a:r>
              <a:rPr lang="en-US" sz="1800" dirty="0"/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JFrame</a:t>
            </a:r>
            <a:r>
              <a:rPr lang="en-US" sz="1800" dirty="0"/>
              <a:t> </a:t>
            </a:r>
            <a:r>
              <a:rPr lang="en-US" sz="1800" dirty="0" err="1"/>
              <a:t>jfrm</a:t>
            </a:r>
            <a:r>
              <a:rPr lang="en-US" sz="1800" dirty="0"/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GridDemo</a:t>
            </a:r>
            <a:r>
              <a:rPr lang="en-US" sz="1800" dirty="0"/>
              <a:t>() 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	{ </a:t>
            </a:r>
            <a:r>
              <a:rPr lang="en-US" sz="1800" dirty="0" err="1"/>
              <a:t>jfrm</a:t>
            </a:r>
            <a:r>
              <a:rPr lang="en-US" sz="1800" dirty="0"/>
              <a:t> = new </a:t>
            </a:r>
            <a:r>
              <a:rPr lang="en-US" sz="1800" dirty="0" err="1"/>
              <a:t>JFrame</a:t>
            </a:r>
            <a:r>
              <a:rPr lang="en-US" sz="1800" dirty="0"/>
              <a:t>("An Event </a:t>
            </a:r>
            <a:r>
              <a:rPr lang="en-US" sz="1800" dirty="0" err="1"/>
              <a:t>Eg</a:t>
            </a:r>
            <a:r>
              <a:rPr lang="en-US" sz="1800" dirty="0"/>
              <a:t>");</a:t>
            </a:r>
          </a:p>
          <a:p>
            <a:pPr>
              <a:spcBef>
                <a:spcPts val="0"/>
              </a:spcBef>
              <a:buNone/>
            </a:pPr>
            <a:r>
              <a:rPr lang="en-US" sz="1800" b="1" dirty="0"/>
              <a:t>	</a:t>
            </a:r>
            <a:r>
              <a:rPr lang="en-US" sz="1800" b="1" dirty="0" err="1"/>
              <a:t>jfrm.setLayout</a:t>
            </a:r>
            <a:r>
              <a:rPr lang="en-US" sz="1800" b="1" dirty="0"/>
              <a:t>(new </a:t>
            </a:r>
            <a:r>
              <a:rPr lang="en-US" sz="1800" b="1" dirty="0" err="1"/>
              <a:t>GridLayout</a:t>
            </a:r>
            <a:r>
              <a:rPr lang="en-US" sz="1800" b="1" dirty="0"/>
              <a:t> (2,2));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jfrm.setSize</a:t>
            </a:r>
            <a:r>
              <a:rPr lang="en-US" sz="1800" dirty="0"/>
              <a:t>(220, 90);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err="1"/>
              <a:t>jfrm.setDefaultCloseOperation</a:t>
            </a:r>
            <a:r>
              <a:rPr lang="en-US" sz="1800" dirty="0"/>
              <a:t>(</a:t>
            </a:r>
            <a:r>
              <a:rPr lang="en-US" sz="1800" b="1" dirty="0" err="1"/>
              <a:t>JFrame.EXIT_ON_CLOSE</a:t>
            </a:r>
            <a:r>
              <a:rPr lang="en-US" sz="1800" dirty="0"/>
              <a:t>);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JButton</a:t>
            </a:r>
            <a:r>
              <a:rPr lang="en-US" sz="1800" dirty="0"/>
              <a:t> </a:t>
            </a:r>
            <a:r>
              <a:rPr lang="en-US" sz="1800" dirty="0" err="1"/>
              <a:t>jbtnOne</a:t>
            </a:r>
            <a:r>
              <a:rPr lang="en-US" sz="1800" dirty="0"/>
              <a:t> = new </a:t>
            </a:r>
            <a:r>
              <a:rPr lang="en-US" sz="1800" dirty="0" err="1"/>
              <a:t>JButton</a:t>
            </a:r>
            <a:r>
              <a:rPr lang="en-US" sz="1800" dirty="0"/>
              <a:t>("One");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JButton</a:t>
            </a:r>
            <a:r>
              <a:rPr lang="en-US" sz="1800" dirty="0"/>
              <a:t> </a:t>
            </a:r>
            <a:r>
              <a:rPr lang="en-US" sz="1800" dirty="0" err="1"/>
              <a:t>jbtnTwo</a:t>
            </a:r>
            <a:r>
              <a:rPr lang="en-US" sz="1800" dirty="0"/>
              <a:t>= new </a:t>
            </a:r>
            <a:r>
              <a:rPr lang="en-US" sz="1800" dirty="0" err="1"/>
              <a:t>JButton</a:t>
            </a:r>
            <a:r>
              <a:rPr lang="en-US" sz="1800" dirty="0"/>
              <a:t>("Two");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JButton</a:t>
            </a:r>
            <a:r>
              <a:rPr lang="en-US" sz="1800" dirty="0"/>
              <a:t> </a:t>
            </a:r>
            <a:r>
              <a:rPr lang="en-US" sz="1800" dirty="0" err="1"/>
              <a:t>jbtnThree</a:t>
            </a:r>
            <a:r>
              <a:rPr lang="en-US" sz="1800" dirty="0"/>
              <a:t> = new </a:t>
            </a:r>
            <a:r>
              <a:rPr lang="en-US" sz="1800" dirty="0" err="1"/>
              <a:t>JButton</a:t>
            </a:r>
            <a:r>
              <a:rPr lang="en-US" sz="1800" dirty="0"/>
              <a:t>("Three");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JButton</a:t>
            </a:r>
            <a:r>
              <a:rPr lang="en-US" sz="1800" dirty="0"/>
              <a:t> </a:t>
            </a:r>
            <a:r>
              <a:rPr lang="en-US" sz="1800" dirty="0" err="1"/>
              <a:t>jbtnFour</a:t>
            </a:r>
            <a:r>
              <a:rPr lang="en-US" sz="1800" dirty="0"/>
              <a:t> = new </a:t>
            </a:r>
            <a:r>
              <a:rPr lang="en-US" sz="1800" dirty="0" err="1"/>
              <a:t>JButton</a:t>
            </a:r>
            <a:r>
              <a:rPr lang="en-US" sz="1800" dirty="0"/>
              <a:t>("Four");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jbtnOne.addActionListener</a:t>
            </a:r>
            <a:r>
              <a:rPr lang="en-US" sz="1800" dirty="0"/>
              <a:t>(this);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jbtnTwo.addActionListener</a:t>
            </a:r>
            <a:r>
              <a:rPr lang="en-US" sz="1800" dirty="0"/>
              <a:t>(this);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jbtnThree.addActionListener</a:t>
            </a:r>
            <a:r>
              <a:rPr lang="en-US" sz="1800" dirty="0"/>
              <a:t>(this);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jbtnFour.addActionListener</a:t>
            </a:r>
            <a:r>
              <a:rPr lang="en-US" sz="1800" dirty="0"/>
              <a:t>(this);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jfrm.add</a:t>
            </a:r>
            <a:r>
              <a:rPr lang="en-US" sz="1800" dirty="0"/>
              <a:t>(</a:t>
            </a:r>
            <a:r>
              <a:rPr lang="en-US" sz="1800" dirty="0" err="1"/>
              <a:t>jbtnOne</a:t>
            </a:r>
            <a:r>
              <a:rPr lang="en-US" sz="1800" dirty="0"/>
              <a:t>);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jfrm.add</a:t>
            </a:r>
            <a:r>
              <a:rPr lang="en-US" sz="1800" dirty="0"/>
              <a:t>(</a:t>
            </a:r>
            <a:r>
              <a:rPr lang="en-US" sz="1800" dirty="0" err="1"/>
              <a:t>jbtnTwo</a:t>
            </a:r>
            <a:r>
              <a:rPr lang="en-US" sz="1800" dirty="0"/>
              <a:t>);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jfrm.add</a:t>
            </a:r>
            <a:r>
              <a:rPr lang="en-US" sz="1800" dirty="0"/>
              <a:t>(</a:t>
            </a:r>
            <a:r>
              <a:rPr lang="en-US" sz="1800" dirty="0" err="1"/>
              <a:t>jbtnThree</a:t>
            </a:r>
            <a:r>
              <a:rPr lang="en-US" sz="1800" dirty="0"/>
              <a:t>);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jfrm.add</a:t>
            </a:r>
            <a:r>
              <a:rPr lang="en-US" sz="1800" dirty="0"/>
              <a:t>(</a:t>
            </a:r>
            <a:r>
              <a:rPr lang="en-US" sz="1800" dirty="0" err="1"/>
              <a:t>jbtnFour</a:t>
            </a:r>
            <a:r>
              <a:rPr lang="en-US" sz="1800" dirty="0"/>
              <a:t>);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jfrm.setVisible</a:t>
            </a:r>
            <a:r>
              <a:rPr lang="en-US" sz="1800" dirty="0"/>
              <a:t>(true);  	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	}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	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4114800" y="0"/>
            <a:ext cx="5029200" cy="6126163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endParaRPr lang="en-US" sz="2000" dirty="0"/>
          </a:p>
          <a:p>
            <a:pPr>
              <a:spcBef>
                <a:spcPts val="0"/>
              </a:spcBef>
              <a:buNone/>
            </a:pPr>
            <a:endParaRPr lang="en-US" sz="2000" dirty="0"/>
          </a:p>
          <a:p>
            <a:pPr>
              <a:spcBef>
                <a:spcPts val="0"/>
              </a:spcBef>
              <a:buNone/>
            </a:pPr>
            <a:endParaRPr lang="en-US" sz="2000" dirty="0"/>
          </a:p>
          <a:p>
            <a:pPr>
              <a:spcBef>
                <a:spcPts val="0"/>
              </a:spcBef>
              <a:buNone/>
            </a:pPr>
            <a:endParaRPr lang="en-US" sz="2000" dirty="0"/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public void </a:t>
            </a:r>
            <a:r>
              <a:rPr lang="en-US" sz="2000" dirty="0" err="1"/>
              <a:t>actionPerformed</a:t>
            </a:r>
            <a:r>
              <a:rPr lang="en-US" sz="2000" dirty="0"/>
              <a:t>(</a:t>
            </a:r>
            <a:r>
              <a:rPr lang="en-US" sz="2000" dirty="0" err="1"/>
              <a:t>ActionEvent</a:t>
            </a:r>
            <a:r>
              <a:rPr lang="en-US" sz="2000" dirty="0"/>
              <a:t> </a:t>
            </a:r>
            <a:r>
              <a:rPr lang="en-US" sz="2000" dirty="0" err="1"/>
              <a:t>ae</a:t>
            </a:r>
            <a:r>
              <a:rPr lang="en-US" sz="2000" dirty="0"/>
              <a:t>)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{	String s = </a:t>
            </a:r>
            <a:r>
              <a:rPr lang="en-US" sz="2000" dirty="0" err="1"/>
              <a:t>ae.getActionCommand</a:t>
            </a:r>
            <a:r>
              <a:rPr lang="en-US" sz="2000" dirty="0"/>
              <a:t>();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if(</a:t>
            </a:r>
            <a:r>
              <a:rPr lang="en-US" sz="2000" dirty="0" err="1"/>
              <a:t>s.equalsIgnoreCase</a:t>
            </a:r>
            <a:r>
              <a:rPr lang="en-US" sz="2000" dirty="0"/>
              <a:t>("one")) 	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	</a:t>
            </a:r>
            <a:r>
              <a:rPr lang="en-US" sz="2000" dirty="0" err="1"/>
              <a:t>jlab.setText</a:t>
            </a:r>
            <a:r>
              <a:rPr lang="en-US" sz="2000" dirty="0"/>
              <a:t>("One  pressed.");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else if(</a:t>
            </a:r>
            <a:r>
              <a:rPr lang="en-US" sz="2000" dirty="0" err="1"/>
              <a:t>s.equalsIgnoreCase</a:t>
            </a:r>
            <a:r>
              <a:rPr lang="en-US" sz="2000" dirty="0"/>
              <a:t>("two"))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	</a:t>
            </a:r>
            <a:r>
              <a:rPr lang="en-US" sz="2000" dirty="0" err="1"/>
              <a:t>jlab.setText</a:t>
            </a:r>
            <a:r>
              <a:rPr lang="en-US" sz="2000" dirty="0"/>
              <a:t>("Two pressed."); 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else if(</a:t>
            </a:r>
            <a:r>
              <a:rPr lang="en-US" sz="2000" dirty="0" err="1"/>
              <a:t>s.equalsIgnoreCase</a:t>
            </a:r>
            <a:r>
              <a:rPr lang="en-US" sz="2000" dirty="0"/>
              <a:t>("three"))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</a:t>
            </a:r>
            <a:r>
              <a:rPr lang="en-US" sz="2000" dirty="0" err="1"/>
              <a:t>jlab.setText</a:t>
            </a:r>
            <a:r>
              <a:rPr lang="en-US" sz="2000" dirty="0"/>
              <a:t>("Three pressed."); 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else if(</a:t>
            </a:r>
            <a:r>
              <a:rPr lang="en-US" sz="2000" dirty="0" err="1"/>
              <a:t>s.equalsIgnoreCase</a:t>
            </a:r>
            <a:r>
              <a:rPr lang="en-US" sz="2000" dirty="0"/>
              <a:t>("four"))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</a:t>
            </a:r>
            <a:r>
              <a:rPr lang="en-US" sz="2000" dirty="0" err="1"/>
              <a:t>jlab.setText</a:t>
            </a:r>
            <a:r>
              <a:rPr lang="en-US" sz="2000" dirty="0"/>
              <a:t>("Four pressed."); 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}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public static void main(String </a:t>
            </a:r>
            <a:r>
              <a:rPr lang="en-US" sz="2000" dirty="0" err="1"/>
              <a:t>args</a:t>
            </a:r>
            <a:r>
              <a:rPr lang="en-US" sz="2000" dirty="0"/>
              <a:t>[]) 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    {</a:t>
            </a:r>
            <a:r>
              <a:rPr lang="en-US" sz="2000" dirty="0" err="1"/>
              <a:t>SwingUtilities.invokeLater</a:t>
            </a:r>
            <a:r>
              <a:rPr lang="en-US" sz="2000" dirty="0"/>
              <a:t>(new </a:t>
            </a:r>
            <a:r>
              <a:rPr lang="en-US" sz="2000" dirty="0" err="1"/>
              <a:t>Runnable</a:t>
            </a:r>
            <a:r>
              <a:rPr lang="en-US" sz="2000" dirty="0"/>
              <a:t>() 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 { public void run() 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 { new </a:t>
            </a:r>
            <a:r>
              <a:rPr lang="en-US" sz="2000" dirty="0" err="1"/>
              <a:t>GridDemo</a:t>
            </a:r>
            <a:r>
              <a:rPr lang="en-US" sz="2000" dirty="0"/>
              <a:t>(); }		} ); 	  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}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705600" y="6492875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Prepared by </a:t>
            </a:r>
            <a:r>
              <a:rPr lang="en-US" dirty="0" err="1"/>
              <a:t>Renetha</a:t>
            </a:r>
            <a:r>
              <a:rPr lang="en-US" dirty="0"/>
              <a:t> J.B.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800" b="1" dirty="0" err="1"/>
              <a:t>jfrm.setLayout</a:t>
            </a:r>
            <a:r>
              <a:rPr lang="en-US" sz="2800" b="1" dirty="0"/>
              <a:t>(new </a:t>
            </a:r>
            <a:r>
              <a:rPr lang="en-US" sz="2800" b="1" dirty="0" err="1"/>
              <a:t>GridLayout</a:t>
            </a:r>
            <a:r>
              <a:rPr lang="en-US" sz="2800" b="1" dirty="0"/>
              <a:t> (2,2));</a:t>
            </a:r>
          </a:p>
          <a:p>
            <a:r>
              <a:rPr lang="en-US" dirty="0"/>
              <a:t>This set 2 rows and 2 columns </a:t>
            </a:r>
          </a:p>
          <a:p>
            <a:r>
              <a:rPr lang="en-US" dirty="0"/>
              <a:t>Components are filled in order from first row first column</a:t>
            </a:r>
          </a:p>
          <a:p>
            <a:pPr lvl="1">
              <a:buNone/>
            </a:pPr>
            <a:r>
              <a:rPr lang="en-US" dirty="0"/>
              <a:t>(0,0)	(0,1)</a:t>
            </a:r>
          </a:p>
          <a:p>
            <a:pPr lvl="1">
              <a:buNone/>
            </a:pPr>
            <a:r>
              <a:rPr lang="en-US" dirty="0"/>
              <a:t>(1,0)	(1,1)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3429000"/>
            <a:ext cx="5774267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CardLayout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334000"/>
          </a:xfrm>
        </p:spPr>
        <p:txBody>
          <a:bodyPr/>
          <a:lstStyle/>
          <a:p>
            <a:r>
              <a:rPr lang="en-US" sz="2400" dirty="0"/>
              <a:t>The </a:t>
            </a:r>
            <a:r>
              <a:rPr lang="en-US" sz="2400" dirty="0" err="1"/>
              <a:t>CardLayout</a:t>
            </a:r>
            <a:r>
              <a:rPr lang="en-US" sz="2400" dirty="0"/>
              <a:t> class is unique among the other layout managers in that it </a:t>
            </a:r>
            <a:r>
              <a:rPr lang="en-US" sz="2400" b="1" dirty="0"/>
              <a:t>stores several different layouts</a:t>
            </a:r>
            <a:r>
              <a:rPr lang="en-US" sz="2400" dirty="0"/>
              <a:t>. </a:t>
            </a:r>
          </a:p>
          <a:p>
            <a:r>
              <a:rPr lang="en-US" sz="2400" dirty="0"/>
              <a:t>Each layout can be thought of as being on </a:t>
            </a:r>
            <a:r>
              <a:rPr lang="en-US" sz="2400" b="1" dirty="0"/>
              <a:t>a separate index card in a deck </a:t>
            </a:r>
            <a:r>
              <a:rPr lang="en-US" sz="2400" dirty="0"/>
              <a:t>that </a:t>
            </a:r>
            <a:r>
              <a:rPr lang="en-US" sz="2400" b="1" dirty="0"/>
              <a:t>can be shuffled </a:t>
            </a:r>
            <a:r>
              <a:rPr lang="en-US" sz="2400" dirty="0"/>
              <a:t>so that </a:t>
            </a:r>
            <a:r>
              <a:rPr lang="en-US" sz="2400" b="1" dirty="0"/>
              <a:t>any card is on top at a given time</a:t>
            </a:r>
          </a:p>
          <a:p>
            <a:r>
              <a:rPr lang="en-US" sz="2400" dirty="0"/>
              <a:t>This can be useful for user interfaces with </a:t>
            </a:r>
            <a:r>
              <a:rPr lang="en-US" sz="2400" u="sng" dirty="0"/>
              <a:t>optional components that can be dynamically enabled and disabled upon user input. </a:t>
            </a:r>
          </a:p>
          <a:p>
            <a:r>
              <a:rPr lang="en-US" sz="2400" b="1" dirty="0" err="1"/>
              <a:t>CardLayout</a:t>
            </a:r>
            <a:r>
              <a:rPr lang="en-US" sz="2400" b="1" dirty="0"/>
              <a:t> </a:t>
            </a:r>
            <a:r>
              <a:rPr lang="en-US" sz="2400" dirty="0"/>
              <a:t>provides these two constructors:</a:t>
            </a:r>
          </a:p>
          <a:p>
            <a:pPr>
              <a:buNone/>
            </a:pPr>
            <a:r>
              <a:rPr lang="en-US" sz="2400" dirty="0" err="1"/>
              <a:t>CardLayout</a:t>
            </a:r>
            <a:r>
              <a:rPr lang="en-US" sz="2400" dirty="0"/>
              <a:t>( )</a:t>
            </a:r>
          </a:p>
          <a:p>
            <a:pPr>
              <a:buNone/>
            </a:pPr>
            <a:r>
              <a:rPr lang="en-US" sz="2400" dirty="0" err="1"/>
              <a:t>CardLayout</a:t>
            </a:r>
            <a:r>
              <a:rPr lang="en-US" sz="2400" dirty="0"/>
              <a:t>(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i="1" dirty="0" err="1"/>
              <a:t>horz</a:t>
            </a:r>
            <a:r>
              <a:rPr lang="en-US" sz="2400" i="1" dirty="0"/>
              <a:t>, </a:t>
            </a:r>
            <a:r>
              <a:rPr lang="en-US" sz="2400" i="1" dirty="0" err="1"/>
              <a:t>int</a:t>
            </a:r>
            <a:r>
              <a:rPr lang="en-US" sz="2400" i="1" dirty="0"/>
              <a:t> </a:t>
            </a:r>
            <a:r>
              <a:rPr lang="en-US" sz="2400" i="1" dirty="0" err="1"/>
              <a:t>vert</a:t>
            </a:r>
            <a:r>
              <a:rPr lang="en-US" sz="2400" i="1" dirty="0"/>
              <a:t>)</a:t>
            </a:r>
          </a:p>
          <a:p>
            <a:pPr lvl="1"/>
            <a:r>
              <a:rPr lang="en-US" sz="2200" dirty="0" err="1"/>
              <a:t>CardLayout</a:t>
            </a:r>
            <a:r>
              <a:rPr lang="en-US" sz="2200" dirty="0"/>
              <a:t>( ) creates a default card layout. </a:t>
            </a:r>
          </a:p>
          <a:p>
            <a:pPr lvl="1"/>
            <a:r>
              <a:rPr lang="en-US" sz="2200" dirty="0" err="1"/>
              <a:t>CardLayout</a:t>
            </a:r>
            <a:r>
              <a:rPr lang="en-US" sz="2200" dirty="0"/>
              <a:t>(</a:t>
            </a:r>
            <a:r>
              <a:rPr lang="en-US" sz="2200" dirty="0" err="1"/>
              <a:t>int</a:t>
            </a:r>
            <a:r>
              <a:rPr lang="en-US" sz="2200" dirty="0"/>
              <a:t> </a:t>
            </a:r>
            <a:r>
              <a:rPr lang="en-US" sz="2200" i="1" dirty="0" err="1"/>
              <a:t>horz</a:t>
            </a:r>
            <a:r>
              <a:rPr lang="en-US" sz="2200" i="1" dirty="0"/>
              <a:t>, </a:t>
            </a:r>
            <a:r>
              <a:rPr lang="en-US" sz="2200" i="1" dirty="0" err="1"/>
              <a:t>int</a:t>
            </a:r>
            <a:r>
              <a:rPr lang="en-US" sz="2200" i="1" dirty="0"/>
              <a:t> </a:t>
            </a:r>
            <a:r>
              <a:rPr lang="en-US" sz="2200" i="1" dirty="0" err="1"/>
              <a:t>vert</a:t>
            </a:r>
            <a:r>
              <a:rPr lang="en-US" sz="2200" i="1" dirty="0"/>
              <a:t>) </a:t>
            </a:r>
            <a:r>
              <a:rPr lang="en-US" sz="2200" dirty="0"/>
              <a:t>allows to specify the horizontal and vertical space left between components in </a:t>
            </a:r>
            <a:r>
              <a:rPr lang="en-US" sz="2200" i="1" dirty="0" err="1"/>
              <a:t>horz</a:t>
            </a:r>
            <a:r>
              <a:rPr lang="en-US" sz="2200" i="1" dirty="0"/>
              <a:t> and </a:t>
            </a:r>
            <a:r>
              <a:rPr lang="en-US" sz="2200" i="1" dirty="0" err="1"/>
              <a:t>vert</a:t>
            </a:r>
            <a:r>
              <a:rPr lang="en-US" sz="2200" i="1" dirty="0"/>
              <a:t>, respectively.</a:t>
            </a:r>
            <a:endParaRPr lang="en-US" sz="22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CardLayout</a:t>
            </a:r>
            <a:r>
              <a:rPr lang="en-US" sz="3200" dirty="0"/>
              <a:t>(</a:t>
            </a:r>
            <a:r>
              <a:rPr lang="en-US" sz="3200" b="0" dirty="0"/>
              <a:t>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/>
              <a:t>The cards are typically held in an object of type </a:t>
            </a:r>
            <a:r>
              <a:rPr lang="en-US" sz="2400" b="1" dirty="0"/>
              <a:t>Panel</a:t>
            </a:r>
            <a:r>
              <a:rPr lang="en-US" sz="24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This panel must have </a:t>
            </a:r>
            <a:r>
              <a:rPr lang="en-US" sz="2400" b="1" dirty="0" err="1"/>
              <a:t>CardLayout</a:t>
            </a:r>
            <a:r>
              <a:rPr lang="en-US" sz="2400" dirty="0"/>
              <a:t> selected as its layout manager.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The cards that form the deck are also typically objects of type </a:t>
            </a:r>
            <a:r>
              <a:rPr lang="en-US" sz="2400" b="1" dirty="0"/>
              <a:t>Panel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CardLayout</a:t>
            </a:r>
            <a:r>
              <a:rPr lang="en-US" sz="3200" dirty="0"/>
              <a:t>(</a:t>
            </a:r>
            <a:r>
              <a:rPr lang="en-US" sz="3200" b="0" dirty="0"/>
              <a:t>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We must </a:t>
            </a:r>
            <a:r>
              <a:rPr lang="en-US" sz="2400" b="1" dirty="0"/>
              <a:t>create </a:t>
            </a:r>
          </a:p>
          <a:p>
            <a:pPr lvl="1"/>
            <a:r>
              <a:rPr lang="en-US" sz="2200" b="1" dirty="0"/>
              <a:t>a panel </a:t>
            </a:r>
            <a:r>
              <a:rPr lang="en-US" sz="2200" u="sng" dirty="0"/>
              <a:t>that contains the deck </a:t>
            </a:r>
            <a:r>
              <a:rPr lang="en-US" sz="2200" dirty="0"/>
              <a:t>and </a:t>
            </a:r>
          </a:p>
          <a:p>
            <a:pPr lvl="1"/>
            <a:r>
              <a:rPr lang="en-US" sz="2200" dirty="0"/>
              <a:t>a </a:t>
            </a:r>
            <a:r>
              <a:rPr lang="en-US" sz="2200" b="1" u="sng" dirty="0"/>
              <a:t>panel</a:t>
            </a:r>
            <a:r>
              <a:rPr lang="en-US" sz="2200" u="sng" dirty="0"/>
              <a:t> for each card in the deck.</a:t>
            </a:r>
          </a:p>
          <a:p>
            <a:r>
              <a:rPr lang="en-US" sz="2400" dirty="0"/>
              <a:t>Next, we </a:t>
            </a:r>
            <a:r>
              <a:rPr lang="en-US" sz="2400" b="1" u="sng" dirty="0"/>
              <a:t>add components that form each card </a:t>
            </a:r>
            <a:r>
              <a:rPr lang="en-US" sz="2400" u="sng" dirty="0"/>
              <a:t>to the appropriate panel.</a:t>
            </a:r>
          </a:p>
          <a:p>
            <a:r>
              <a:rPr lang="en-US" sz="2400" dirty="0"/>
              <a:t>We then </a:t>
            </a:r>
            <a:r>
              <a:rPr lang="en-US" sz="2400" b="1" dirty="0"/>
              <a:t>add these panels to the panel</a:t>
            </a:r>
            <a:r>
              <a:rPr lang="en-US" sz="2400" dirty="0"/>
              <a:t> for which </a:t>
            </a:r>
            <a:r>
              <a:rPr lang="en-US" sz="2400" dirty="0" err="1"/>
              <a:t>CardLayout</a:t>
            </a:r>
            <a:r>
              <a:rPr lang="en-US" sz="2400" dirty="0"/>
              <a:t> is the layout manager. </a:t>
            </a:r>
          </a:p>
          <a:p>
            <a:r>
              <a:rPr lang="en-US" sz="2400" dirty="0"/>
              <a:t>Finally, we </a:t>
            </a:r>
            <a:r>
              <a:rPr lang="en-US" sz="2400" b="1" dirty="0"/>
              <a:t>add this panel to the window. </a:t>
            </a:r>
          </a:p>
          <a:p>
            <a:endParaRPr lang="en-US" sz="2400" dirty="0"/>
          </a:p>
          <a:p>
            <a:r>
              <a:rPr lang="en-US" sz="2400" dirty="0"/>
              <a:t>Once these steps are complete, we must provide some way for the user to select between cards. </a:t>
            </a:r>
          </a:p>
          <a:p>
            <a:pPr lvl="1"/>
            <a:r>
              <a:rPr lang="en-US" sz="2200" dirty="0"/>
              <a:t>One common approach is to include one push button for each card in the deck.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57200"/>
          </a:xfrm>
        </p:spPr>
        <p:txBody>
          <a:bodyPr/>
          <a:lstStyle/>
          <a:p>
            <a:r>
              <a:rPr lang="en-US" dirty="0" err="1"/>
              <a:t>CardLayout</a:t>
            </a:r>
            <a:r>
              <a:rPr lang="en-US" sz="3200" dirty="0"/>
              <a:t>(</a:t>
            </a:r>
            <a:r>
              <a:rPr lang="en-US" sz="3200" b="0" dirty="0"/>
              <a:t>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8674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2400" dirty="0"/>
              <a:t>Use </a:t>
            </a:r>
            <a:r>
              <a:rPr lang="en-US" sz="2400" b="1" dirty="0"/>
              <a:t>add( ) </a:t>
            </a:r>
            <a:r>
              <a:rPr lang="en-US" sz="2400" dirty="0"/>
              <a:t>when adding cards to a panel: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void </a:t>
            </a:r>
            <a:r>
              <a:rPr lang="en-US" sz="2400" b="1" dirty="0">
                <a:solidFill>
                  <a:srgbClr val="C00000"/>
                </a:solidFill>
              </a:rPr>
              <a:t>add</a:t>
            </a:r>
            <a:r>
              <a:rPr lang="en-US" sz="2400" dirty="0"/>
              <a:t>(Component </a:t>
            </a:r>
            <a:r>
              <a:rPr lang="en-US" sz="2400" i="1" dirty="0" err="1"/>
              <a:t>panelObj</a:t>
            </a:r>
            <a:r>
              <a:rPr lang="en-US" sz="2400" i="1" dirty="0"/>
              <a:t>, Object name)</a:t>
            </a:r>
          </a:p>
          <a:p>
            <a:pPr lvl="1">
              <a:spcBef>
                <a:spcPts val="0"/>
              </a:spcBef>
            </a:pPr>
            <a:r>
              <a:rPr lang="en-US" sz="2200" dirty="0"/>
              <a:t>Here, </a:t>
            </a:r>
            <a:r>
              <a:rPr lang="en-US" sz="2200" i="1" dirty="0"/>
              <a:t>name is a string that specifies the name of the card whose panel is specified by </a:t>
            </a:r>
            <a:r>
              <a:rPr lang="en-US" sz="2200" i="1" dirty="0" err="1"/>
              <a:t>panelObj</a:t>
            </a:r>
            <a:r>
              <a:rPr lang="en-US" sz="2200" i="1" dirty="0"/>
              <a:t>.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After we have created a deck, our program activates a card by calling one of the following methods defined by </a:t>
            </a:r>
            <a:r>
              <a:rPr lang="en-US" sz="2400" b="1" dirty="0" err="1"/>
              <a:t>CardLayout</a:t>
            </a:r>
            <a:r>
              <a:rPr lang="en-US" sz="2400" b="1" dirty="0"/>
              <a:t>:</a:t>
            </a:r>
          </a:p>
          <a:p>
            <a:pPr lvl="1">
              <a:spcBef>
                <a:spcPts val="0"/>
              </a:spcBef>
              <a:buNone/>
            </a:pPr>
            <a:r>
              <a:rPr lang="en-US" sz="2200" dirty="0"/>
              <a:t>void first(Container </a:t>
            </a:r>
            <a:r>
              <a:rPr lang="en-US" sz="2200" i="1" dirty="0"/>
              <a:t>deck)</a:t>
            </a:r>
          </a:p>
          <a:p>
            <a:pPr lvl="1">
              <a:spcBef>
                <a:spcPts val="0"/>
              </a:spcBef>
              <a:buNone/>
            </a:pPr>
            <a:r>
              <a:rPr lang="en-US" sz="2200" dirty="0"/>
              <a:t>void last(Container </a:t>
            </a:r>
            <a:r>
              <a:rPr lang="en-US" sz="2200" i="1" dirty="0"/>
              <a:t>deck)</a:t>
            </a:r>
          </a:p>
          <a:p>
            <a:pPr lvl="1">
              <a:spcBef>
                <a:spcPts val="0"/>
              </a:spcBef>
              <a:buNone/>
            </a:pPr>
            <a:r>
              <a:rPr lang="en-US" sz="2200" dirty="0"/>
              <a:t>void next(Container </a:t>
            </a:r>
            <a:r>
              <a:rPr lang="en-US" sz="2200" i="1" dirty="0"/>
              <a:t>deck)</a:t>
            </a:r>
          </a:p>
          <a:p>
            <a:pPr lvl="1">
              <a:spcBef>
                <a:spcPts val="0"/>
              </a:spcBef>
              <a:buNone/>
            </a:pPr>
            <a:r>
              <a:rPr lang="en-US" sz="2200" dirty="0"/>
              <a:t>void previous(Container </a:t>
            </a:r>
            <a:r>
              <a:rPr lang="en-US" sz="2200" i="1" dirty="0"/>
              <a:t>deck)</a:t>
            </a:r>
          </a:p>
          <a:p>
            <a:pPr lvl="1">
              <a:spcBef>
                <a:spcPts val="0"/>
              </a:spcBef>
              <a:buNone/>
            </a:pPr>
            <a:r>
              <a:rPr lang="en-US" sz="2200" dirty="0"/>
              <a:t>void show(Container </a:t>
            </a:r>
            <a:r>
              <a:rPr lang="en-US" sz="2200" i="1" dirty="0"/>
              <a:t>deck, String </a:t>
            </a:r>
            <a:r>
              <a:rPr lang="en-US" sz="2200" i="1" dirty="0" err="1"/>
              <a:t>cardName</a:t>
            </a:r>
            <a:r>
              <a:rPr lang="en-US" sz="2200" i="1" dirty="0"/>
              <a:t>)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Here, </a:t>
            </a:r>
            <a:r>
              <a:rPr lang="en-US" sz="2000" i="1" dirty="0"/>
              <a:t>deck</a:t>
            </a:r>
            <a:r>
              <a:rPr lang="en-US" sz="2000" dirty="0"/>
              <a:t> is a reference to the container (usually a panel) that holds the cards, and </a:t>
            </a:r>
            <a:r>
              <a:rPr lang="en-US" sz="2000" i="1" dirty="0" err="1"/>
              <a:t>cardName</a:t>
            </a:r>
            <a:r>
              <a:rPr lang="en-US" sz="2000" i="1" dirty="0"/>
              <a:t> </a:t>
            </a:r>
            <a:r>
              <a:rPr lang="en-US" sz="2000" dirty="0"/>
              <a:t>is the name of a card.</a:t>
            </a:r>
          </a:p>
          <a:p>
            <a:pPr lvl="1">
              <a:spcBef>
                <a:spcPts val="0"/>
              </a:spcBef>
            </a:pPr>
            <a:r>
              <a:rPr lang="en-US" sz="2200" dirty="0"/>
              <a:t>Calling </a:t>
            </a:r>
            <a:r>
              <a:rPr lang="en-US" sz="2200" u="sng" dirty="0"/>
              <a:t>first( ) causes the first card in the deck to be shown</a:t>
            </a:r>
            <a:r>
              <a:rPr lang="en-US" sz="2200" dirty="0"/>
              <a:t>. To show the last card, call last( ). To show the next card, call next( ). To show the previous card, call previous( ). Both next( ) and previous( ) automatically cycle back to the top or bottom of the deck, respectively. The show( ) method displays the card whose name is passed in </a:t>
            </a:r>
            <a:r>
              <a:rPr lang="en-US" sz="2200" i="1" dirty="0" err="1"/>
              <a:t>cardName</a:t>
            </a:r>
            <a:r>
              <a:rPr lang="en-US" sz="2200" i="1" dirty="0"/>
              <a:t>.</a:t>
            </a:r>
            <a:endParaRPr lang="en-US" sz="2000" dirty="0"/>
          </a:p>
          <a:p>
            <a:pPr>
              <a:spcBef>
                <a:spcPts val="0"/>
              </a:spcBef>
            </a:pPr>
            <a:endParaRPr lang="en-US" sz="7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76200" y="0"/>
            <a:ext cx="6553200" cy="6126163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sz="1800" dirty="0"/>
              <a:t>import java.awt.*;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import </a:t>
            </a:r>
            <a:r>
              <a:rPr lang="en-US" sz="1800" dirty="0" err="1"/>
              <a:t>java.awt.event</a:t>
            </a:r>
            <a:r>
              <a:rPr lang="en-US" sz="1800" dirty="0"/>
              <a:t>.*;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import </a:t>
            </a:r>
            <a:r>
              <a:rPr lang="en-US" sz="1800" dirty="0" err="1"/>
              <a:t>javax.swing</a:t>
            </a:r>
            <a:r>
              <a:rPr lang="en-US" sz="1800" dirty="0"/>
              <a:t>.*;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public class </a:t>
            </a:r>
            <a:r>
              <a:rPr lang="en-US" sz="1800" dirty="0" err="1"/>
              <a:t>CardLayoutDemo</a:t>
            </a:r>
            <a:r>
              <a:rPr lang="en-US" sz="1800" dirty="0"/>
              <a:t> extends </a:t>
            </a:r>
            <a:r>
              <a:rPr lang="en-US" sz="1800" dirty="0" err="1"/>
              <a:t>JFrame</a:t>
            </a:r>
            <a:r>
              <a:rPr lang="en-US" sz="1800" dirty="0"/>
              <a:t> implements </a:t>
            </a:r>
            <a:r>
              <a:rPr lang="en-US" sz="1800" dirty="0" err="1"/>
              <a:t>ActionListener</a:t>
            </a:r>
            <a:endParaRPr lang="en-US" sz="1800" dirty="0"/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{  </a:t>
            </a:r>
          </a:p>
          <a:p>
            <a:pPr>
              <a:spcBef>
                <a:spcPts val="0"/>
              </a:spcBef>
              <a:buNone/>
            </a:pPr>
            <a:r>
              <a:rPr lang="en-US" sz="1800" b="1" dirty="0" err="1">
                <a:solidFill>
                  <a:srgbClr val="0000CC"/>
                </a:solidFill>
              </a:rPr>
              <a:t>CardLayout</a:t>
            </a:r>
            <a:r>
              <a:rPr lang="en-US" sz="1800" dirty="0"/>
              <a:t> card;  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err="1"/>
              <a:t>JButton</a:t>
            </a:r>
            <a:r>
              <a:rPr lang="en-US" sz="1800" dirty="0"/>
              <a:t> b1,b2,b3;  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Container c;  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    </a:t>
            </a:r>
            <a:r>
              <a:rPr lang="en-US" sz="1800" dirty="0" err="1"/>
              <a:t>CardLayoutDemo</a:t>
            </a:r>
            <a:r>
              <a:rPr lang="en-US" sz="1800" dirty="0"/>
              <a:t>()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	{  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	c=</a:t>
            </a:r>
            <a:r>
              <a:rPr lang="en-US" sz="1800" b="1" dirty="0" err="1"/>
              <a:t>getContentPane</a:t>
            </a:r>
            <a:r>
              <a:rPr lang="en-US" sz="1800" dirty="0"/>
              <a:t>();  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        card=new </a:t>
            </a:r>
            <a:r>
              <a:rPr lang="en-US" sz="1800" b="1" dirty="0" err="1">
                <a:solidFill>
                  <a:srgbClr val="0000CC"/>
                </a:solidFill>
              </a:rPr>
              <a:t>CardLayout</a:t>
            </a:r>
            <a:r>
              <a:rPr lang="en-US" sz="1800" dirty="0"/>
              <a:t>(40,30);  </a:t>
            </a:r>
          </a:p>
          <a:p>
            <a:pPr>
              <a:spcBef>
                <a:spcPts val="0"/>
              </a:spcBef>
              <a:buNone/>
            </a:pPr>
            <a:r>
              <a:rPr lang="en-US" sz="1800" b="1" i="1" dirty="0"/>
              <a:t>//create </a:t>
            </a:r>
            <a:r>
              <a:rPr lang="en-US" sz="1800" b="1" i="1" dirty="0" err="1"/>
              <a:t>CardLayout</a:t>
            </a:r>
            <a:r>
              <a:rPr lang="en-US" sz="1800" b="1" i="1" dirty="0"/>
              <a:t> object with 40 </a:t>
            </a:r>
            <a:r>
              <a:rPr lang="en-US" sz="1800" b="1" i="1" dirty="0" err="1"/>
              <a:t>hor</a:t>
            </a:r>
            <a:r>
              <a:rPr lang="en-US" sz="1800" b="1" i="1" dirty="0"/>
              <a:t> space and 30 </a:t>
            </a:r>
            <a:r>
              <a:rPr lang="en-US" sz="1800" b="1" i="1" dirty="0" err="1"/>
              <a:t>ver</a:t>
            </a:r>
            <a:r>
              <a:rPr lang="en-US" sz="1800" b="1" i="1" dirty="0"/>
              <a:t> space  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        </a:t>
            </a:r>
            <a:r>
              <a:rPr lang="en-US" sz="1800" dirty="0" err="1"/>
              <a:t>c.setLayout</a:t>
            </a:r>
            <a:r>
              <a:rPr lang="en-US" sz="1800" dirty="0"/>
              <a:t>(card);  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        b1=new </a:t>
            </a:r>
            <a:r>
              <a:rPr lang="en-US" sz="1800" dirty="0" err="1"/>
              <a:t>JButton</a:t>
            </a:r>
            <a:r>
              <a:rPr lang="en-US" sz="1800" dirty="0"/>
              <a:t>("Apple");  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        b2=new </a:t>
            </a:r>
            <a:r>
              <a:rPr lang="en-US" sz="1800" dirty="0" err="1"/>
              <a:t>JButton</a:t>
            </a:r>
            <a:r>
              <a:rPr lang="en-US" sz="1800" dirty="0"/>
              <a:t>("Boy");  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        b3=new </a:t>
            </a:r>
            <a:r>
              <a:rPr lang="en-US" sz="1800" dirty="0" err="1"/>
              <a:t>JButton</a:t>
            </a:r>
            <a:r>
              <a:rPr lang="en-US" sz="1800" dirty="0"/>
              <a:t>("Cat");  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        b1.addActionListener(this);  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        b2.addActionListener(this);  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        b3.addActionListener(this);  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              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        </a:t>
            </a:r>
            <a:r>
              <a:rPr lang="en-US" sz="1800" dirty="0" err="1"/>
              <a:t>c.add</a:t>
            </a:r>
            <a:r>
              <a:rPr lang="en-US" sz="1800" dirty="0"/>
              <a:t>(b1);</a:t>
            </a:r>
            <a:r>
              <a:rPr lang="en-US" sz="1800" dirty="0" err="1"/>
              <a:t>c.add</a:t>
            </a:r>
            <a:r>
              <a:rPr lang="en-US" sz="1800" dirty="0"/>
              <a:t>(b2);</a:t>
            </a:r>
            <a:r>
              <a:rPr lang="en-US" sz="1800" dirty="0" err="1"/>
              <a:t>c.add</a:t>
            </a:r>
            <a:r>
              <a:rPr lang="en-US" sz="1800" dirty="0"/>
              <a:t>(b3);  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                       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    }  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3810000" y="0"/>
            <a:ext cx="5334000" cy="6126163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endParaRPr lang="en-US" sz="2000" dirty="0"/>
          </a:p>
          <a:p>
            <a:pPr>
              <a:spcBef>
                <a:spcPts val="0"/>
              </a:spcBef>
              <a:buNone/>
            </a:pPr>
            <a:endParaRPr lang="en-US" sz="2000" dirty="0"/>
          </a:p>
          <a:p>
            <a:pPr>
              <a:spcBef>
                <a:spcPts val="0"/>
              </a:spcBef>
              <a:buNone/>
            </a:pPr>
            <a:endParaRPr lang="en-US" sz="2000" dirty="0"/>
          </a:p>
          <a:p>
            <a:pPr>
              <a:spcBef>
                <a:spcPts val="0"/>
              </a:spcBef>
              <a:buNone/>
            </a:pPr>
            <a:endParaRPr lang="en-US" sz="2000" dirty="0"/>
          </a:p>
          <a:p>
            <a:pPr>
              <a:spcBef>
                <a:spcPts val="0"/>
              </a:spcBef>
              <a:buNone/>
            </a:pPr>
            <a:endParaRPr lang="en-US" sz="2000" dirty="0"/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 public void </a:t>
            </a:r>
            <a:r>
              <a:rPr lang="en-US" sz="2000" dirty="0" err="1"/>
              <a:t>actionPerformed</a:t>
            </a:r>
            <a:r>
              <a:rPr lang="en-US" sz="2000" dirty="0"/>
              <a:t>(</a:t>
            </a:r>
            <a:r>
              <a:rPr lang="en-US" sz="2000" dirty="0" err="1"/>
              <a:t>ActionEvent</a:t>
            </a:r>
            <a:r>
              <a:rPr lang="en-US" sz="2000" dirty="0"/>
              <a:t> e) 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{  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    </a:t>
            </a:r>
            <a:r>
              <a:rPr lang="en-US" sz="2000" dirty="0" err="1"/>
              <a:t>card.</a:t>
            </a:r>
            <a:r>
              <a:rPr lang="en-US" sz="2000" b="1" dirty="0" err="1">
                <a:solidFill>
                  <a:srgbClr val="C00000"/>
                </a:solidFill>
              </a:rPr>
              <a:t>next</a:t>
            </a:r>
            <a:r>
              <a:rPr lang="en-US" sz="2000" b="1" dirty="0">
                <a:solidFill>
                  <a:srgbClr val="C00000"/>
                </a:solidFill>
              </a:rPr>
              <a:t>(</a:t>
            </a:r>
            <a:r>
              <a:rPr lang="en-US" sz="2000" dirty="0"/>
              <a:t>c);  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    }</a:t>
            </a:r>
          </a:p>
          <a:p>
            <a:pPr>
              <a:spcBef>
                <a:spcPts val="0"/>
              </a:spcBef>
              <a:buNone/>
            </a:pPr>
            <a:endParaRPr lang="en-US" sz="2000" dirty="0"/>
          </a:p>
          <a:p>
            <a:pPr>
              <a:spcBef>
                <a:spcPts val="0"/>
              </a:spcBef>
              <a:buNone/>
            </a:pPr>
            <a:endParaRPr lang="en-US" sz="2000" dirty="0"/>
          </a:p>
          <a:p>
            <a:pPr>
              <a:spcBef>
                <a:spcPts val="0"/>
              </a:spcBef>
              <a:buNone/>
            </a:pPr>
            <a:endParaRPr lang="en-US" sz="2000" dirty="0"/>
          </a:p>
          <a:p>
            <a:pPr>
              <a:spcBef>
                <a:spcPts val="0"/>
              </a:spcBef>
              <a:buNone/>
            </a:pPr>
            <a:endParaRPr lang="en-US" sz="2000" dirty="0"/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public static void main(String[] </a:t>
            </a:r>
            <a:r>
              <a:rPr lang="en-US" sz="2000" dirty="0" err="1"/>
              <a:t>args</a:t>
            </a:r>
            <a:r>
              <a:rPr lang="en-US" sz="2000" dirty="0"/>
              <a:t>) 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{  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   </a:t>
            </a:r>
            <a:r>
              <a:rPr lang="en-US" sz="2000" dirty="0" err="1"/>
              <a:t>CardLayoutDemo</a:t>
            </a:r>
            <a:r>
              <a:rPr lang="en-US" sz="2000" dirty="0"/>
              <a:t> </a:t>
            </a:r>
            <a:r>
              <a:rPr lang="en-US" sz="2000" dirty="0" err="1"/>
              <a:t>cl</a:t>
            </a:r>
            <a:r>
              <a:rPr lang="en-US" sz="2000" dirty="0"/>
              <a:t>=new  </a:t>
            </a:r>
            <a:r>
              <a:rPr lang="en-US" sz="2000" dirty="0" err="1"/>
              <a:t>CardLayoutDemo</a:t>
            </a:r>
            <a:r>
              <a:rPr lang="en-US" sz="2000" dirty="0"/>
              <a:t>();  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   </a:t>
            </a:r>
            <a:r>
              <a:rPr lang="en-US" sz="2000" dirty="0" err="1"/>
              <a:t>cl.setSize</a:t>
            </a:r>
            <a:r>
              <a:rPr lang="en-US" sz="2000" dirty="0"/>
              <a:t>(400,400);  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   </a:t>
            </a:r>
            <a:r>
              <a:rPr lang="en-US" sz="2000" dirty="0" err="1"/>
              <a:t>cl.setVisible</a:t>
            </a:r>
            <a:r>
              <a:rPr lang="en-US" sz="2000" dirty="0"/>
              <a:t>(true);  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err="1"/>
              <a:t>cl.setDefaultCloseOperation</a:t>
            </a:r>
            <a:r>
              <a:rPr lang="en-US" sz="2000" dirty="0"/>
              <a:t>(EXIT_ON_CLOSE);  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    }  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705600" y="6492875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Prepared by </a:t>
            </a:r>
            <a:r>
              <a:rPr lang="en-US" dirty="0" err="1"/>
              <a:t>Renetha</a:t>
            </a:r>
            <a:r>
              <a:rPr lang="en-US" dirty="0"/>
              <a:t> J.B.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5029200"/>
            <a:ext cx="4038600" cy="1096963"/>
          </a:xfrm>
        </p:spPr>
        <p:txBody>
          <a:bodyPr/>
          <a:lstStyle/>
          <a:p>
            <a:r>
              <a:rPr lang="en-US" dirty="0"/>
              <a:t>When we click the button it changes to next button like cards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336246-FC46-4052-A6ED-AB27FAD0803F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457200"/>
            <a:ext cx="38100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76800" y="533400"/>
            <a:ext cx="38100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GridBagLayout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867400"/>
          </a:xfrm>
        </p:spPr>
        <p:txBody>
          <a:bodyPr/>
          <a:lstStyle/>
          <a:p>
            <a:r>
              <a:rPr lang="en-US" sz="2400" dirty="0"/>
              <a:t>We can specify the </a:t>
            </a:r>
            <a:r>
              <a:rPr lang="en-US" sz="2400" b="1" dirty="0"/>
              <a:t>relative placement of components by specifying their positions</a:t>
            </a:r>
            <a:r>
              <a:rPr lang="en-US" sz="2400" dirty="0"/>
              <a:t> within cells inside a grid using </a:t>
            </a:r>
            <a:r>
              <a:rPr lang="en-US" sz="2400" b="1" dirty="0" err="1"/>
              <a:t>GridBagLayout</a:t>
            </a:r>
            <a:r>
              <a:rPr lang="en-US" sz="2400" dirty="0"/>
              <a:t>.</a:t>
            </a:r>
          </a:p>
          <a:p>
            <a:r>
              <a:rPr lang="en-US" sz="2400" dirty="0"/>
              <a:t>The key to the grid bag is that </a:t>
            </a:r>
            <a:r>
              <a:rPr lang="en-US" sz="2400" u="sng" dirty="0"/>
              <a:t>each component can be</a:t>
            </a:r>
            <a:r>
              <a:rPr lang="en-US" sz="2400" dirty="0"/>
              <a:t> a </a:t>
            </a:r>
            <a:r>
              <a:rPr lang="en-US" sz="2400" b="1" dirty="0"/>
              <a:t>different size</a:t>
            </a:r>
            <a:r>
              <a:rPr lang="en-US" sz="2400" dirty="0"/>
              <a:t>, and </a:t>
            </a:r>
            <a:r>
              <a:rPr lang="en-US" sz="2400" u="sng" dirty="0"/>
              <a:t>each </a:t>
            </a:r>
            <a:r>
              <a:rPr lang="en-US" sz="2400" b="1" u="sng" dirty="0">
                <a:solidFill>
                  <a:srgbClr val="C00000"/>
                </a:solidFill>
              </a:rPr>
              <a:t>row</a:t>
            </a:r>
            <a:r>
              <a:rPr lang="en-US" sz="2400" u="sng" dirty="0"/>
              <a:t> in the grid </a:t>
            </a:r>
            <a:r>
              <a:rPr lang="en-US" sz="2400" dirty="0"/>
              <a:t>can </a:t>
            </a:r>
            <a:r>
              <a:rPr lang="en-US" sz="2400" u="sng" dirty="0"/>
              <a:t>have a </a:t>
            </a:r>
            <a:r>
              <a:rPr lang="en-US" sz="2400" b="1" u="sng" dirty="0"/>
              <a:t>different number of </a:t>
            </a:r>
            <a:r>
              <a:rPr lang="en-US" sz="2400" b="1" u="sng" dirty="0">
                <a:solidFill>
                  <a:srgbClr val="C00000"/>
                </a:solidFill>
              </a:rPr>
              <a:t>columns</a:t>
            </a:r>
            <a:r>
              <a:rPr lang="en-US" sz="2400" u="sng" dirty="0"/>
              <a:t>. </a:t>
            </a:r>
          </a:p>
          <a:p>
            <a:pPr lvl="1"/>
            <a:r>
              <a:rPr lang="en-US" sz="2200" dirty="0"/>
              <a:t>This is why the layout is called a </a:t>
            </a:r>
            <a:r>
              <a:rPr lang="en-US" sz="2200" i="1" dirty="0"/>
              <a:t>grid bag</a:t>
            </a:r>
            <a:r>
              <a:rPr lang="en-US" sz="2200" dirty="0"/>
              <a:t>. </a:t>
            </a:r>
          </a:p>
          <a:p>
            <a:r>
              <a:rPr lang="en-US" sz="2400" dirty="0"/>
              <a:t>It’s a </a:t>
            </a:r>
            <a:r>
              <a:rPr lang="en-US" sz="2400" b="1" dirty="0"/>
              <a:t>collection of small grids joined together</a:t>
            </a:r>
            <a:r>
              <a:rPr lang="en-US" sz="2400" dirty="0"/>
              <a:t>.</a:t>
            </a:r>
          </a:p>
          <a:p>
            <a:r>
              <a:rPr lang="en-US" sz="2400" dirty="0"/>
              <a:t>The location and size of each component in a grid bag are determined by a set of </a:t>
            </a:r>
            <a:r>
              <a:rPr lang="en-US" sz="2400" b="1" dirty="0"/>
              <a:t>constraints</a:t>
            </a:r>
            <a:r>
              <a:rPr lang="en-US" sz="2400" dirty="0"/>
              <a:t> linked to it. </a:t>
            </a:r>
          </a:p>
          <a:p>
            <a:r>
              <a:rPr lang="en-US" sz="2400" dirty="0"/>
              <a:t>The </a:t>
            </a:r>
            <a:r>
              <a:rPr lang="en-US" sz="2400" b="1" dirty="0"/>
              <a:t>constraints</a:t>
            </a:r>
            <a:r>
              <a:rPr lang="en-US" sz="2400" dirty="0"/>
              <a:t> are contained in an object of type </a:t>
            </a:r>
            <a:r>
              <a:rPr lang="en-US" sz="2400" b="1" dirty="0" err="1"/>
              <a:t>GridBagConstraints</a:t>
            </a:r>
            <a:r>
              <a:rPr lang="en-US" sz="2400" b="1" dirty="0"/>
              <a:t>. </a:t>
            </a:r>
          </a:p>
          <a:p>
            <a:pPr lvl="1"/>
            <a:r>
              <a:rPr lang="en-US" sz="2200" b="1" dirty="0"/>
              <a:t>Constraints </a:t>
            </a:r>
            <a:r>
              <a:rPr lang="en-US" sz="2200" dirty="0"/>
              <a:t>include the height and width of a cell, and the placement of a component, its alignment, and its anchor point within the cell.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GridBagLayout</a:t>
            </a:r>
            <a:r>
              <a:rPr lang="en-US" sz="3200" b="0" dirty="0"/>
              <a:t>(</a:t>
            </a:r>
            <a:r>
              <a:rPr lang="en-US" sz="2800" b="0" dirty="0"/>
              <a:t>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382000" cy="5486400"/>
          </a:xfrm>
        </p:spPr>
        <p:txBody>
          <a:bodyPr/>
          <a:lstStyle/>
          <a:p>
            <a:r>
              <a:rPr lang="en-US" sz="2400" dirty="0"/>
              <a:t>The general procedure for using a grid bag is to </a:t>
            </a:r>
          </a:p>
          <a:p>
            <a:pPr lvl="1"/>
            <a:r>
              <a:rPr lang="en-US" sz="2200" dirty="0"/>
              <a:t>first </a:t>
            </a:r>
            <a:r>
              <a:rPr lang="en-US" sz="2200" u="sng" dirty="0"/>
              <a:t>create</a:t>
            </a:r>
            <a:r>
              <a:rPr lang="en-US" sz="2200" dirty="0"/>
              <a:t> a new </a:t>
            </a:r>
            <a:r>
              <a:rPr lang="en-US" sz="2200" b="1" dirty="0" err="1"/>
              <a:t>GridBagLayout</a:t>
            </a:r>
            <a:r>
              <a:rPr lang="en-US" sz="2200" b="1" dirty="0"/>
              <a:t> object </a:t>
            </a:r>
            <a:r>
              <a:rPr lang="en-US" sz="2200" dirty="0"/>
              <a:t>and </a:t>
            </a:r>
            <a:r>
              <a:rPr lang="en-US" sz="2200" u="sng" dirty="0"/>
              <a:t>to make it the current layout manager.</a:t>
            </a:r>
          </a:p>
          <a:p>
            <a:pPr lvl="1"/>
            <a:r>
              <a:rPr lang="en-US" sz="2200" dirty="0"/>
              <a:t>Then, </a:t>
            </a:r>
            <a:r>
              <a:rPr lang="en-US" sz="2200" b="1" dirty="0"/>
              <a:t>set the constraints </a:t>
            </a:r>
            <a:r>
              <a:rPr lang="en-US" sz="2200" dirty="0"/>
              <a:t>that apply to each component that will be added to the grid bag. </a:t>
            </a:r>
          </a:p>
          <a:p>
            <a:pPr lvl="1"/>
            <a:r>
              <a:rPr lang="en-US" sz="2200" dirty="0"/>
              <a:t>Finally, </a:t>
            </a:r>
            <a:r>
              <a:rPr lang="en-US" sz="2200" u="sng" dirty="0"/>
              <a:t>add the components to the layout </a:t>
            </a:r>
            <a:r>
              <a:rPr lang="en-US" sz="2000" u="sng" dirty="0"/>
              <a:t>manager.</a:t>
            </a:r>
          </a:p>
          <a:p>
            <a:r>
              <a:rPr lang="en-US" sz="2400" b="1" dirty="0" err="1"/>
              <a:t>GridBagLayout</a:t>
            </a:r>
            <a:r>
              <a:rPr lang="en-US" sz="2400" dirty="0"/>
              <a:t> defines only one constructor</a:t>
            </a:r>
          </a:p>
          <a:p>
            <a:pPr>
              <a:buNone/>
            </a:pPr>
            <a:r>
              <a:rPr lang="en-US" sz="2400" dirty="0"/>
              <a:t>	</a:t>
            </a:r>
            <a:r>
              <a:rPr lang="en-US" sz="2400" dirty="0" err="1"/>
              <a:t>GridBagLayout</a:t>
            </a:r>
            <a:r>
              <a:rPr lang="en-US" sz="2400" dirty="0"/>
              <a:t>( )</a:t>
            </a:r>
          </a:p>
          <a:p>
            <a:r>
              <a:rPr lang="en-US" sz="2400" dirty="0" err="1"/>
              <a:t>GridBagLayout</a:t>
            </a:r>
            <a:r>
              <a:rPr lang="en-US" sz="2400" dirty="0"/>
              <a:t> defines several methods, of which many are protected and not for general use. </a:t>
            </a:r>
          </a:p>
          <a:p>
            <a:r>
              <a:rPr lang="en-US" sz="2400" dirty="0"/>
              <a:t>One method is </a:t>
            </a:r>
            <a:r>
              <a:rPr lang="en-US" sz="2400" dirty="0" err="1"/>
              <a:t>setConstraints</a:t>
            </a:r>
            <a:r>
              <a:rPr lang="en-US" sz="2400" dirty="0"/>
              <a:t>( )</a:t>
            </a:r>
          </a:p>
          <a:p>
            <a:pPr>
              <a:buNone/>
            </a:pPr>
            <a:r>
              <a:rPr lang="fr-FR" sz="2400" dirty="0" err="1"/>
              <a:t>void</a:t>
            </a:r>
            <a:r>
              <a:rPr lang="fr-FR" sz="2400" dirty="0"/>
              <a:t> </a:t>
            </a:r>
            <a:r>
              <a:rPr lang="fr-FR" sz="2400" b="1" dirty="0" err="1">
                <a:solidFill>
                  <a:srgbClr val="C00000"/>
                </a:solidFill>
              </a:rPr>
              <a:t>setConstraints</a:t>
            </a:r>
            <a:r>
              <a:rPr lang="fr-FR" sz="2400" dirty="0"/>
              <a:t>(Component </a:t>
            </a:r>
            <a:r>
              <a:rPr lang="fr-FR" sz="2400" i="1" dirty="0" err="1"/>
              <a:t>comp</a:t>
            </a:r>
            <a:r>
              <a:rPr lang="fr-FR" sz="2400" i="1" dirty="0"/>
              <a:t>, </a:t>
            </a:r>
            <a:r>
              <a:rPr lang="fr-FR" sz="2400" i="1" dirty="0" err="1"/>
              <a:t>GridBagConstraints</a:t>
            </a:r>
            <a:r>
              <a:rPr lang="fr-FR" sz="2400" i="1" dirty="0"/>
              <a:t> cons)</a:t>
            </a:r>
            <a:endParaRPr lang="en-US" u="sn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04800" y="5181600"/>
            <a:ext cx="8610600" cy="533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228600"/>
          </a:xfrm>
        </p:spPr>
        <p:txBody>
          <a:bodyPr/>
          <a:lstStyle/>
          <a:p>
            <a:pPr algn="l"/>
            <a:r>
              <a:rPr lang="en-US" sz="2800" dirty="0" err="1"/>
              <a:t>GridBagLayout</a:t>
            </a:r>
            <a:r>
              <a:rPr lang="en-US" sz="2400" b="0" dirty="0"/>
              <a:t>(</a:t>
            </a:r>
            <a:r>
              <a:rPr lang="en-US" sz="2000" b="0" dirty="0"/>
              <a:t>contd.)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914400"/>
            <a:ext cx="7543800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381000" y="228600"/>
            <a:ext cx="7620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GridBagConstraints</a:t>
            </a:r>
            <a:r>
              <a:rPr lang="en-US" b="1" dirty="0"/>
              <a:t> defines several </a:t>
            </a:r>
            <a:r>
              <a:rPr lang="en-US" dirty="0"/>
              <a:t>fields that to govern the size, placement, and spacing of a component.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GridBagLayout</a:t>
            </a:r>
            <a:r>
              <a:rPr lang="en-US" sz="3200" b="0" dirty="0"/>
              <a:t>(</a:t>
            </a:r>
            <a:r>
              <a:rPr lang="en-US" sz="2800" b="0" dirty="0"/>
              <a:t>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2400" dirty="0" err="1"/>
              <a:t>GridBagConstraints</a:t>
            </a:r>
            <a:r>
              <a:rPr lang="en-US" sz="2400" dirty="0"/>
              <a:t> also defines several static fields that contain standard constraint values, such as </a:t>
            </a:r>
          </a:p>
          <a:p>
            <a:pPr lvl="1" algn="l"/>
            <a:r>
              <a:rPr lang="en-US" sz="2200" dirty="0" err="1"/>
              <a:t>GridBagConstraints.CENTER</a:t>
            </a:r>
            <a:r>
              <a:rPr lang="en-US" sz="2200" dirty="0"/>
              <a:t> </a:t>
            </a:r>
          </a:p>
          <a:p>
            <a:pPr lvl="1" algn="l"/>
            <a:r>
              <a:rPr lang="en-US" sz="2200" dirty="0" err="1"/>
              <a:t>GridBagConstraints.VERTICAL</a:t>
            </a:r>
            <a:endParaRPr lang="en-US" sz="2200" dirty="0"/>
          </a:p>
          <a:p>
            <a:r>
              <a:rPr lang="en-US" sz="2400" dirty="0"/>
              <a:t>When a component is smaller than its cell, you can use the anchor field to specify where within the cell the component’s top-left corner will be locate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191000"/>
            <a:ext cx="918972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GridBagLayout</a:t>
            </a:r>
            <a:r>
              <a:rPr lang="en-US" sz="3200" b="0" dirty="0"/>
              <a:t>(</a:t>
            </a:r>
            <a:r>
              <a:rPr lang="en-US" sz="2800" b="0" dirty="0"/>
              <a:t>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The second type of values that can be given to anchor is relative, which means the values are relative to the container’s orientation,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9657" y="2133600"/>
            <a:ext cx="8984343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248400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sz="2000" dirty="0"/>
              <a:t>import java.awt.*;       import </a:t>
            </a:r>
            <a:r>
              <a:rPr lang="en-US" sz="2000" dirty="0" err="1"/>
              <a:t>java.awt.event</a:t>
            </a:r>
            <a:r>
              <a:rPr lang="en-US" sz="2000" dirty="0"/>
              <a:t>.*;  import </a:t>
            </a:r>
            <a:r>
              <a:rPr lang="en-US" sz="2000" dirty="0" err="1"/>
              <a:t>javax.swing</a:t>
            </a:r>
            <a:r>
              <a:rPr lang="en-US" sz="2000" dirty="0"/>
              <a:t>.*;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public </a:t>
            </a:r>
            <a:r>
              <a:rPr lang="en-US" sz="2000" dirty="0" err="1"/>
              <a:t>GridLayoutDemo</a:t>
            </a:r>
            <a:r>
              <a:rPr lang="en-US" sz="2000" dirty="0"/>
              <a:t>() {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	</a:t>
            </a:r>
            <a:r>
              <a:rPr lang="en-US" sz="2000" dirty="0" err="1"/>
              <a:t>jfrm</a:t>
            </a:r>
            <a:r>
              <a:rPr lang="en-US" sz="2000" dirty="0"/>
              <a:t> = new </a:t>
            </a:r>
            <a:r>
              <a:rPr lang="en-US" sz="2000" dirty="0" err="1"/>
              <a:t>JFrame</a:t>
            </a:r>
            <a:r>
              <a:rPr lang="en-US" sz="2000" dirty="0"/>
              <a:t>("An Event </a:t>
            </a:r>
            <a:r>
              <a:rPr lang="en-US" sz="2000" dirty="0" err="1"/>
              <a:t>Eg</a:t>
            </a:r>
            <a:r>
              <a:rPr lang="en-US" sz="2000" dirty="0"/>
              <a:t>");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</a:t>
            </a:r>
            <a:r>
              <a:rPr lang="en-US" sz="2000" b="1" dirty="0" err="1"/>
              <a:t>GridBagLayout</a:t>
            </a:r>
            <a:r>
              <a:rPr lang="en-US" sz="2000" b="1" dirty="0"/>
              <a:t> </a:t>
            </a:r>
            <a:r>
              <a:rPr lang="en-US" sz="2000" dirty="0" err="1">
                <a:solidFill>
                  <a:srgbClr val="C00000"/>
                </a:solidFill>
              </a:rPr>
              <a:t>gbag</a:t>
            </a:r>
            <a:r>
              <a:rPr lang="en-US" sz="2000" dirty="0"/>
              <a:t> = new </a:t>
            </a:r>
            <a:r>
              <a:rPr lang="en-US" sz="2000" dirty="0" err="1"/>
              <a:t>GridBagLayout</a:t>
            </a:r>
            <a:r>
              <a:rPr lang="en-US" sz="2000" dirty="0"/>
              <a:t>();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</a:t>
            </a:r>
            <a:r>
              <a:rPr lang="en-US" sz="2000" b="1" dirty="0" err="1"/>
              <a:t>GridBagConstraints</a:t>
            </a:r>
            <a:r>
              <a:rPr lang="en-US" sz="2000" dirty="0"/>
              <a:t> </a:t>
            </a:r>
            <a:r>
              <a:rPr lang="en-US" sz="2000" dirty="0" err="1"/>
              <a:t>gbc</a:t>
            </a:r>
            <a:r>
              <a:rPr lang="en-US" sz="2000" dirty="0"/>
              <a:t> = new </a:t>
            </a:r>
            <a:r>
              <a:rPr lang="en-US" sz="2000" dirty="0" err="1"/>
              <a:t>GridBagConstraints</a:t>
            </a:r>
            <a:r>
              <a:rPr lang="en-US" sz="2000" dirty="0"/>
              <a:t>();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	</a:t>
            </a:r>
            <a:r>
              <a:rPr lang="en-US" sz="2000" dirty="0" err="1"/>
              <a:t>jfrm.setLayout</a:t>
            </a:r>
            <a:r>
              <a:rPr lang="en-US" sz="2000" dirty="0"/>
              <a:t>(</a:t>
            </a:r>
            <a:r>
              <a:rPr lang="en-US" sz="2000" dirty="0" err="1"/>
              <a:t>gbag</a:t>
            </a:r>
            <a:r>
              <a:rPr lang="en-US" sz="2000" dirty="0"/>
              <a:t>);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	</a:t>
            </a:r>
            <a:r>
              <a:rPr lang="en-US" sz="2000" dirty="0" err="1"/>
              <a:t>jfrm.setSize</a:t>
            </a:r>
            <a:r>
              <a:rPr lang="en-US" sz="2000" dirty="0"/>
              <a:t>(520, 500);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	</a:t>
            </a:r>
            <a:r>
              <a:rPr lang="en-US" sz="2000" dirty="0" err="1"/>
              <a:t>jfrm.setDefaultCloseOperation</a:t>
            </a:r>
            <a:r>
              <a:rPr lang="en-US" sz="2000" dirty="0"/>
              <a:t>(</a:t>
            </a:r>
            <a:r>
              <a:rPr lang="en-US" sz="2000" dirty="0" err="1"/>
              <a:t>JFrame.EXIT_ON_CLOSE</a:t>
            </a:r>
            <a:r>
              <a:rPr lang="en-US" sz="2000" dirty="0"/>
              <a:t>);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	</a:t>
            </a:r>
            <a:r>
              <a:rPr lang="en-US" sz="2000" dirty="0" err="1"/>
              <a:t>jbtnOk</a:t>
            </a:r>
            <a:r>
              <a:rPr lang="en-US" sz="2000" dirty="0"/>
              <a:t> = new </a:t>
            </a:r>
            <a:r>
              <a:rPr lang="en-US" sz="2000" dirty="0" err="1"/>
              <a:t>JButton</a:t>
            </a:r>
            <a:r>
              <a:rPr lang="en-US" sz="2000" dirty="0"/>
              <a:t>("OK");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	</a:t>
            </a:r>
            <a:r>
              <a:rPr lang="en-US" sz="2000" dirty="0" err="1"/>
              <a:t>jbtnCancel</a:t>
            </a:r>
            <a:r>
              <a:rPr lang="en-US" sz="2000" dirty="0"/>
              <a:t> = new </a:t>
            </a:r>
            <a:r>
              <a:rPr lang="en-US" sz="2000" dirty="0" err="1"/>
              <a:t>JButton</a:t>
            </a:r>
            <a:r>
              <a:rPr lang="en-US" sz="2000" dirty="0"/>
              <a:t>("Cancel");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	</a:t>
            </a:r>
            <a:r>
              <a:rPr lang="en-US" sz="2000" dirty="0" err="1"/>
              <a:t>jbtnOk.setToolTipText</a:t>
            </a:r>
            <a:r>
              <a:rPr lang="en-US" sz="2000" dirty="0"/>
              <a:t>("click");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	</a:t>
            </a:r>
            <a:r>
              <a:rPr lang="en-US" sz="2000" dirty="0" err="1"/>
              <a:t>jbtnOk.addActionListener</a:t>
            </a:r>
            <a:r>
              <a:rPr lang="en-US" sz="2000" dirty="0"/>
              <a:t>(this);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	</a:t>
            </a:r>
            <a:r>
              <a:rPr lang="en-US" sz="2000" dirty="0" err="1"/>
              <a:t>jbtnCancel.addActionListener</a:t>
            </a:r>
            <a:r>
              <a:rPr lang="en-US" sz="2000" dirty="0"/>
              <a:t>(this);			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//</a:t>
            </a:r>
            <a:r>
              <a:rPr lang="en-US" sz="2000" i="1" dirty="0"/>
              <a:t>Define the grid bag. // Use default row weight of 0 for first row.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</a:t>
            </a:r>
            <a:r>
              <a:rPr lang="en-US" sz="2000" dirty="0" err="1"/>
              <a:t>gbc.weightx</a:t>
            </a:r>
            <a:r>
              <a:rPr lang="en-US" sz="2000" dirty="0"/>
              <a:t> = 1.0; 		    </a:t>
            </a:r>
            <a:r>
              <a:rPr lang="en-US" sz="2000" i="1" dirty="0"/>
              <a:t>// use a column weight of 1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</a:t>
            </a:r>
            <a:r>
              <a:rPr lang="en-US" sz="2000" dirty="0" err="1"/>
              <a:t>gbc.ipadx</a:t>
            </a:r>
            <a:r>
              <a:rPr lang="en-US" sz="2000" dirty="0"/>
              <a:t> = 200; 		                   </a:t>
            </a:r>
            <a:r>
              <a:rPr lang="en-US" sz="2000" i="1" dirty="0"/>
              <a:t>// pad by 200 units</a:t>
            </a:r>
            <a:r>
              <a:rPr lang="en-US" sz="2000" dirty="0"/>
              <a:t>		</a:t>
            </a:r>
            <a:r>
              <a:rPr lang="en-US" sz="2000" dirty="0" err="1"/>
              <a:t>gbc.insets</a:t>
            </a:r>
            <a:r>
              <a:rPr lang="en-US" sz="2000" dirty="0"/>
              <a:t> = new Insets(4, 4, 10, 10);   </a:t>
            </a:r>
            <a:r>
              <a:rPr lang="en-US" sz="2000" i="1" dirty="0"/>
              <a:t>// inset slightly from top left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</a:t>
            </a:r>
            <a:r>
              <a:rPr lang="en-US" sz="2000" dirty="0" err="1"/>
              <a:t>gbc.anchor</a:t>
            </a:r>
            <a:r>
              <a:rPr lang="en-US" sz="2000" dirty="0"/>
              <a:t> = </a:t>
            </a:r>
            <a:r>
              <a:rPr lang="en-US" sz="2000" dirty="0" err="1"/>
              <a:t>GridBagConstraints.NORTH</a:t>
            </a:r>
            <a:r>
              <a:rPr lang="en-US" sz="2000" dirty="0"/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</a:t>
            </a:r>
            <a:r>
              <a:rPr lang="en-US" sz="2000" dirty="0" err="1"/>
              <a:t>gbc.gridwidth</a:t>
            </a:r>
            <a:r>
              <a:rPr lang="en-US" sz="2000" dirty="0"/>
              <a:t> = </a:t>
            </a:r>
            <a:r>
              <a:rPr lang="en-US" sz="2000" dirty="0" err="1"/>
              <a:t>GridBagConstraints.RELATIVE</a:t>
            </a:r>
            <a:r>
              <a:rPr lang="en-US" sz="2000" dirty="0"/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</a:t>
            </a:r>
            <a:r>
              <a:rPr lang="en-US" sz="2000" b="1" dirty="0" err="1">
                <a:solidFill>
                  <a:srgbClr val="C00000"/>
                </a:solidFill>
              </a:rPr>
              <a:t>gbag</a:t>
            </a:r>
            <a:r>
              <a:rPr lang="en-US" sz="2000" dirty="0" err="1"/>
              <a:t>.setConstraints</a:t>
            </a:r>
            <a:r>
              <a:rPr lang="en-US" sz="2000" dirty="0"/>
              <a:t>(</a:t>
            </a:r>
            <a:r>
              <a:rPr lang="en-US" sz="2000" dirty="0" err="1"/>
              <a:t>jbtnOk</a:t>
            </a:r>
            <a:r>
              <a:rPr lang="en-US" sz="2000" dirty="0"/>
              <a:t>, </a:t>
            </a:r>
            <a:r>
              <a:rPr lang="en-US" sz="2000" dirty="0" err="1"/>
              <a:t>gbc</a:t>
            </a:r>
            <a:r>
              <a:rPr lang="en-US" sz="2000" dirty="0"/>
              <a:t>);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</a:t>
            </a:r>
            <a:r>
              <a:rPr lang="en-US" sz="2000" dirty="0" err="1"/>
              <a:t>gbc.gridwidth</a:t>
            </a:r>
            <a:r>
              <a:rPr lang="en-US" sz="2000" dirty="0"/>
              <a:t> = </a:t>
            </a:r>
            <a:r>
              <a:rPr lang="en-US" sz="2000" dirty="0" err="1"/>
              <a:t>GridBagConstraints.REMAINDER</a:t>
            </a:r>
            <a:r>
              <a:rPr lang="en-US" sz="2000" dirty="0"/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</a:t>
            </a:r>
            <a:r>
              <a:rPr lang="en-US" sz="2000" b="1" dirty="0" err="1">
                <a:solidFill>
                  <a:srgbClr val="C00000"/>
                </a:solidFill>
              </a:rPr>
              <a:t>gbag</a:t>
            </a:r>
            <a:r>
              <a:rPr lang="en-US" sz="2000" dirty="0" err="1"/>
              <a:t>.setConstraints</a:t>
            </a:r>
            <a:r>
              <a:rPr lang="en-US" sz="2000" dirty="0"/>
              <a:t>(</a:t>
            </a:r>
            <a:r>
              <a:rPr lang="en-US" sz="2000" dirty="0" err="1"/>
              <a:t>jbtnCancel</a:t>
            </a:r>
            <a:r>
              <a:rPr lang="en-US" sz="2000" dirty="0"/>
              <a:t>, </a:t>
            </a:r>
            <a:r>
              <a:rPr lang="en-US" sz="2000" dirty="0" err="1"/>
              <a:t>gbc</a:t>
            </a:r>
            <a:r>
              <a:rPr lang="en-US" sz="2000" dirty="0"/>
              <a:t>);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		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00" y="6172200"/>
            <a:ext cx="25146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Prepared by </a:t>
            </a:r>
            <a:r>
              <a:rPr lang="en-US" dirty="0" err="1"/>
              <a:t>Renetha</a:t>
            </a:r>
            <a:r>
              <a:rPr lang="en-US" dirty="0"/>
              <a:t> J.B.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304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019800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sz="2000" dirty="0"/>
              <a:t>				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		</a:t>
            </a:r>
            <a:r>
              <a:rPr lang="en-US" sz="2000" dirty="0" err="1"/>
              <a:t>jlab</a:t>
            </a:r>
            <a:r>
              <a:rPr lang="en-US" sz="2000" dirty="0"/>
              <a:t> = new </a:t>
            </a:r>
            <a:r>
              <a:rPr lang="en-US" sz="2000" dirty="0" err="1"/>
              <a:t>JLabel</a:t>
            </a:r>
            <a:r>
              <a:rPr lang="en-US" sz="2000" dirty="0"/>
              <a:t>("Press a button.");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		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		</a:t>
            </a:r>
            <a:r>
              <a:rPr lang="en-US" sz="2000" dirty="0" err="1"/>
              <a:t>jfrm.add</a:t>
            </a:r>
            <a:r>
              <a:rPr lang="en-US" sz="2000" dirty="0"/>
              <a:t>(</a:t>
            </a:r>
            <a:r>
              <a:rPr lang="en-US" sz="2000" dirty="0" err="1"/>
              <a:t>jbtnOk</a:t>
            </a:r>
            <a:r>
              <a:rPr lang="en-US" sz="2000" dirty="0"/>
              <a:t>);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		</a:t>
            </a:r>
            <a:r>
              <a:rPr lang="en-US" sz="2000" dirty="0" err="1"/>
              <a:t>jfrm.add</a:t>
            </a:r>
            <a:r>
              <a:rPr lang="en-US" sz="2000" dirty="0"/>
              <a:t>(</a:t>
            </a:r>
            <a:r>
              <a:rPr lang="en-US" sz="2000" dirty="0" err="1"/>
              <a:t>jbtnCancel</a:t>
            </a:r>
            <a:r>
              <a:rPr lang="en-US" sz="2000" dirty="0"/>
              <a:t>);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		</a:t>
            </a:r>
            <a:r>
              <a:rPr lang="en-US" sz="2000" dirty="0" err="1"/>
              <a:t>jfrm.add</a:t>
            </a:r>
            <a:r>
              <a:rPr lang="en-US" sz="2000" dirty="0"/>
              <a:t>(</a:t>
            </a:r>
            <a:r>
              <a:rPr lang="en-US" sz="2000" dirty="0" err="1"/>
              <a:t>jlab</a:t>
            </a:r>
            <a:r>
              <a:rPr lang="en-US" sz="2000" dirty="0"/>
              <a:t>);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		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		</a:t>
            </a:r>
            <a:r>
              <a:rPr lang="en-US" sz="2000" dirty="0" err="1"/>
              <a:t>jfrm.setVisible</a:t>
            </a:r>
            <a:r>
              <a:rPr lang="en-US" sz="2000" dirty="0"/>
              <a:t>(true);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}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public void </a:t>
            </a:r>
            <a:r>
              <a:rPr lang="en-US" sz="2000" dirty="0" err="1"/>
              <a:t>actionPerformed</a:t>
            </a:r>
            <a:r>
              <a:rPr lang="en-US" sz="2000" dirty="0"/>
              <a:t>(</a:t>
            </a:r>
            <a:r>
              <a:rPr lang="en-US" sz="2000" dirty="0" err="1"/>
              <a:t>ActionEvent</a:t>
            </a:r>
            <a:r>
              <a:rPr lang="en-US" sz="2000" dirty="0"/>
              <a:t> </a:t>
            </a:r>
            <a:r>
              <a:rPr lang="en-US" sz="2000" dirty="0" err="1"/>
              <a:t>ae</a:t>
            </a:r>
            <a:r>
              <a:rPr lang="en-US" sz="2000" dirty="0"/>
              <a:t>)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{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String s = </a:t>
            </a:r>
            <a:r>
              <a:rPr lang="en-US" sz="2000" dirty="0" err="1"/>
              <a:t>ae.getActionCommand</a:t>
            </a:r>
            <a:r>
              <a:rPr lang="en-US" sz="2000" dirty="0"/>
              <a:t>(); 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if(</a:t>
            </a:r>
            <a:r>
              <a:rPr lang="en-US" sz="2000" dirty="0" err="1"/>
              <a:t>s.equalsIgnoreCase</a:t>
            </a:r>
            <a:r>
              <a:rPr lang="en-US" sz="2000" dirty="0"/>
              <a:t>("ok"))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	</a:t>
            </a:r>
            <a:r>
              <a:rPr lang="en-US" sz="2000" dirty="0" err="1"/>
              <a:t>jlab.setText</a:t>
            </a:r>
            <a:r>
              <a:rPr lang="en-US" sz="2000" dirty="0"/>
              <a:t>("OK  pressed.");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else if(</a:t>
            </a:r>
            <a:r>
              <a:rPr lang="en-US" sz="2000" dirty="0" err="1"/>
              <a:t>s.equalsIgnoreCase</a:t>
            </a:r>
            <a:r>
              <a:rPr lang="en-US" sz="2000" dirty="0"/>
              <a:t>("cancel"))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	</a:t>
            </a:r>
            <a:r>
              <a:rPr lang="en-US" sz="2000" dirty="0" err="1"/>
              <a:t>jlab.setText</a:t>
            </a:r>
            <a:r>
              <a:rPr lang="en-US" sz="2000" dirty="0"/>
              <a:t>("Cancel  pressed."); 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}</a:t>
            </a:r>
          </a:p>
          <a:p>
            <a:pPr>
              <a:spcBef>
                <a:spcPts val="0"/>
              </a:spcBef>
              <a:buNone/>
            </a:pPr>
            <a:endParaRPr lang="en-US" sz="2000" dirty="0"/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95500" y="1047750"/>
            <a:ext cx="4953000" cy="476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Reference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Herbert Schildt, Java: </a:t>
            </a:r>
            <a:r>
              <a:rPr lang="en-US" b="1"/>
              <a:t>The Complete Reference, 8/e, Tata McGraw Hill, 2011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177B24-24EE-4360-837F-21ED05759566}" type="slidenum">
              <a:rPr lang="en-US"/>
              <a:pPr>
                <a:defRPr/>
              </a:pPr>
              <a:t>34</a:t>
            </a:fld>
            <a:endParaRPr lang="en-US"/>
          </a:p>
        </p:txBody>
      </p:sp>
      <p:sp>
        <p:nvSpPr>
          <p:cNvPr id="36869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Prepared by Renetha J.B.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10451</TotalTime>
  <Words>3545</Words>
  <Application>Microsoft Office PowerPoint</Application>
  <PresentationFormat>On-screen Show (4:3)</PresentationFormat>
  <Paragraphs>465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Snap ITC</vt:lpstr>
      <vt:lpstr>Times New Roman</vt:lpstr>
      <vt:lpstr>Office Theme</vt:lpstr>
      <vt:lpstr>PowerPoint Presentation</vt:lpstr>
      <vt:lpstr>Topics</vt:lpstr>
      <vt:lpstr>Swing Layout Managers</vt:lpstr>
      <vt:lpstr>Swing Layout Managers(contd.)</vt:lpstr>
      <vt:lpstr>PowerPoint Presentation</vt:lpstr>
      <vt:lpstr>FlowLayout</vt:lpstr>
      <vt:lpstr>FlowLayout(contd.)</vt:lpstr>
      <vt:lpstr>PowerPoint Presentation</vt:lpstr>
      <vt:lpstr>FlowLayout(contd.)</vt:lpstr>
      <vt:lpstr>BorderLayout</vt:lpstr>
      <vt:lpstr>BorderLayout(contd.)</vt:lpstr>
      <vt:lpstr>BorderLayout(contd.)</vt:lpstr>
      <vt:lpstr>PowerPoint Presentation</vt:lpstr>
      <vt:lpstr>BorderLayout(contd.)</vt:lpstr>
      <vt:lpstr>Using Insets</vt:lpstr>
      <vt:lpstr>Using Insets(contd.)</vt:lpstr>
      <vt:lpstr>GridLayout</vt:lpstr>
      <vt:lpstr>PowerPoint Presentation</vt:lpstr>
      <vt:lpstr>PowerPoint Presentation</vt:lpstr>
      <vt:lpstr>CardLayout</vt:lpstr>
      <vt:lpstr>CardLayout(contd.)</vt:lpstr>
      <vt:lpstr>CardLayout(contd.)</vt:lpstr>
      <vt:lpstr>CardLayout(contd.)</vt:lpstr>
      <vt:lpstr>PowerPoint Presentation</vt:lpstr>
      <vt:lpstr>PowerPoint Presentation</vt:lpstr>
      <vt:lpstr>GridBagLayout</vt:lpstr>
      <vt:lpstr>GridBagLayout(contd.)</vt:lpstr>
      <vt:lpstr>GridBagLayout(contd.)</vt:lpstr>
      <vt:lpstr>GridBagLayout(contd.)</vt:lpstr>
      <vt:lpstr>GridBagLayout(contd.)</vt:lpstr>
      <vt:lpstr>PowerPoint Presentation</vt:lpstr>
      <vt:lpstr>PowerPoint Presentation</vt:lpstr>
      <vt:lpstr>PowerPoint Presentation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CS205 Object Oriented Programming in Java Module 2 - Core Java Fundamentals</dc:title>
  <dc:creator>USER</dc:creator>
  <cp:lastModifiedBy>RENETHA J B</cp:lastModifiedBy>
  <cp:revision>4698</cp:revision>
  <dcterms:created xsi:type="dcterms:W3CDTF">2006-08-16T00:00:00Z</dcterms:created>
  <dcterms:modified xsi:type="dcterms:W3CDTF">2025-08-24T19:05:49Z</dcterms:modified>
</cp:coreProperties>
</file>