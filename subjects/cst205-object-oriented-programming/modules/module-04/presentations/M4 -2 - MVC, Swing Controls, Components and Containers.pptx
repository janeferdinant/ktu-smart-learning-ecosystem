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94" r:id="rId2"/>
    <p:sldId id="257" r:id="rId3"/>
    <p:sldId id="295" r:id="rId4"/>
    <p:sldId id="313" r:id="rId5"/>
    <p:sldId id="296" r:id="rId6"/>
    <p:sldId id="317" r:id="rId7"/>
    <p:sldId id="318" r:id="rId8"/>
    <p:sldId id="315" r:id="rId9"/>
    <p:sldId id="297" r:id="rId10"/>
    <p:sldId id="319" r:id="rId11"/>
    <p:sldId id="298" r:id="rId12"/>
    <p:sldId id="303" r:id="rId13"/>
    <p:sldId id="299" r:id="rId14"/>
    <p:sldId id="300" r:id="rId15"/>
    <p:sldId id="301" r:id="rId16"/>
    <p:sldId id="309" r:id="rId17"/>
    <p:sldId id="310" r:id="rId18"/>
    <p:sldId id="308" r:id="rId19"/>
    <p:sldId id="311" r:id="rId20"/>
    <p:sldId id="312" r:id="rId21"/>
    <p:sldId id="304" r:id="rId22"/>
    <p:sldId id="302" r:id="rId23"/>
    <p:sldId id="276" r:id="rId24"/>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4" autoAdjust="0"/>
  </p:normalViewPr>
  <p:slideViewPr>
    <p:cSldViewPr>
      <p:cViewPr varScale="1">
        <p:scale>
          <a:sx n="74" d="100"/>
          <a:sy n="74" d="100"/>
        </p:scale>
        <p:origin x="1742" y="91"/>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p:cViewPr varScale="1">
        <p:scale>
          <a:sx n="53" d="100"/>
          <a:sy n="53" d="100"/>
        </p:scale>
        <p:origin x="-2874" y="-8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6661" tIns="48331" rIns="96661" bIns="48331" rtlCol="0"/>
          <a:lstStyle>
            <a:lvl1pPr algn="l" fontAlgn="auto">
              <a:spcBef>
                <a:spcPts val="0"/>
              </a:spcBef>
              <a:spcAft>
                <a:spcPts val="0"/>
              </a:spcAft>
              <a:defRPr sz="1300">
                <a:latin typeface="+mn-lt"/>
                <a:cs typeface="+mn-cs"/>
              </a:defRPr>
            </a:lvl1pPr>
          </a:lstStyle>
          <a:p>
            <a:pPr>
              <a:defRPr/>
            </a:pPr>
            <a:endParaRPr lang="en-US"/>
          </a:p>
        </p:txBody>
      </p:sp>
      <p:sp>
        <p:nvSpPr>
          <p:cNvPr id="3" name="Date Placeholder 2"/>
          <p:cNvSpPr>
            <a:spLocks noGrp="1"/>
          </p:cNvSpPr>
          <p:nvPr>
            <p:ph type="dt" idx="1"/>
          </p:nvPr>
        </p:nvSpPr>
        <p:spPr>
          <a:xfrm>
            <a:off x="4143375" y="0"/>
            <a:ext cx="3170238" cy="479425"/>
          </a:xfrm>
          <a:prstGeom prst="rect">
            <a:avLst/>
          </a:prstGeom>
        </p:spPr>
        <p:txBody>
          <a:bodyPr vert="horz" lIns="96661" tIns="48331" rIns="96661" bIns="48331" rtlCol="0"/>
          <a:lstStyle>
            <a:lvl1pPr algn="r" fontAlgn="auto">
              <a:spcBef>
                <a:spcPts val="0"/>
              </a:spcBef>
              <a:spcAft>
                <a:spcPts val="0"/>
              </a:spcAft>
              <a:defRPr sz="1300">
                <a:latin typeface="+mn-lt"/>
                <a:cs typeface="+mn-cs"/>
              </a:defRPr>
            </a:lvl1pPr>
          </a:lstStyle>
          <a:p>
            <a:pPr>
              <a:defRPr/>
            </a:pPr>
            <a:fld id="{0A006468-1CDF-4088-B87A-4CD0B5F2A406}" type="datetimeFigureOut">
              <a:rPr lang="en-US"/>
              <a:pPr>
                <a:defRPr/>
              </a:pPr>
              <a:t>8/23/2025</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pPr lvl="0"/>
            <a:endParaRPr lang="en-US" noProof="0"/>
          </a:p>
        </p:txBody>
      </p:sp>
      <p:sp>
        <p:nvSpPr>
          <p:cNvPr id="5" name="Notes Placeholder 4"/>
          <p:cNvSpPr>
            <a:spLocks noGrp="1"/>
          </p:cNvSpPr>
          <p:nvPr>
            <p:ph type="body" sz="quarter" idx="3"/>
          </p:nvPr>
        </p:nvSpPr>
        <p:spPr>
          <a:xfrm>
            <a:off x="731838" y="4560888"/>
            <a:ext cx="5851525" cy="4319587"/>
          </a:xfrm>
          <a:prstGeom prst="rect">
            <a:avLst/>
          </a:prstGeom>
        </p:spPr>
        <p:txBody>
          <a:bodyPr vert="horz" lIns="96661" tIns="48331" rIns="96661" bIns="483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20188"/>
            <a:ext cx="3170238" cy="479425"/>
          </a:xfrm>
          <a:prstGeom prst="rect">
            <a:avLst/>
          </a:prstGeom>
        </p:spPr>
        <p:txBody>
          <a:bodyPr vert="horz" lIns="96661" tIns="48331" rIns="96661" bIns="48331" rtlCol="0" anchor="b"/>
          <a:lstStyle>
            <a:lvl1pPr algn="l" fontAlgn="auto">
              <a:spcBef>
                <a:spcPts val="0"/>
              </a:spcBef>
              <a:spcAft>
                <a:spcPts val="0"/>
              </a:spcAft>
              <a:defRPr sz="13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4143375" y="9120188"/>
            <a:ext cx="3170238" cy="479425"/>
          </a:xfrm>
          <a:prstGeom prst="rect">
            <a:avLst/>
          </a:prstGeom>
        </p:spPr>
        <p:txBody>
          <a:bodyPr vert="horz" lIns="96661" tIns="48331" rIns="96661" bIns="48331" rtlCol="0" anchor="b"/>
          <a:lstStyle>
            <a:lvl1pPr algn="r" fontAlgn="auto">
              <a:spcBef>
                <a:spcPts val="0"/>
              </a:spcBef>
              <a:spcAft>
                <a:spcPts val="0"/>
              </a:spcAft>
              <a:defRPr sz="1300">
                <a:latin typeface="+mn-lt"/>
                <a:cs typeface="+mn-cs"/>
              </a:defRPr>
            </a:lvl1pPr>
          </a:lstStyle>
          <a:p>
            <a:pPr>
              <a:defRPr/>
            </a:pPr>
            <a:fld id="{E6144B60-9DB3-43EA-A003-48D4338781BA}"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E6144B60-9DB3-43EA-A003-48D4338781BA}" type="slidenum">
              <a:rPr lang="en-US" smtClean="0"/>
              <a:pPr>
                <a:defRPr/>
              </a:pPr>
              <a:t>19</a:t>
            </a:fld>
            <a:endParaRPr lang="en-US"/>
          </a:p>
        </p:txBody>
      </p:sp>
    </p:spTree>
    <p:extLst>
      <p:ext uri="{BB962C8B-B14F-4D97-AF65-F5344CB8AC3E}">
        <p14:creationId xmlns:p14="http://schemas.microsoft.com/office/powerpoint/2010/main" val="19663331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srcRect/>
          <a:stretch>
            <a:fillRect/>
          </a:stretch>
        </p:blipFill>
        <p:spPr bwMode="auto">
          <a:xfrm>
            <a:off x="7543800" y="-152400"/>
            <a:ext cx="1647825" cy="952500"/>
          </a:xfrm>
          <a:prstGeom prst="rect">
            <a:avLst/>
          </a:prstGeom>
          <a:noFill/>
          <a:ln w="9525">
            <a:noFill/>
            <a:miter lim="800000"/>
            <a:headEnd/>
            <a:tailEnd/>
          </a:ln>
        </p:spPr>
      </p:pic>
      <p:sp>
        <p:nvSpPr>
          <p:cNvPr id="2" name="Title 1"/>
          <p:cNvSpPr>
            <a:spLocks noGrp="1"/>
          </p:cNvSpPr>
          <p:nvPr>
            <p:ph type="ctrTitle"/>
          </p:nvPr>
        </p:nvSpPr>
        <p:spPr>
          <a:xfrm>
            <a:off x="685800" y="2130425"/>
            <a:ext cx="7772400" cy="1470025"/>
          </a:xfrm>
        </p:spPr>
        <p:txBody>
          <a:bodyPr/>
          <a:lstStyle>
            <a:lvl1pPr>
              <a:defRPr>
                <a:latin typeface="Times New Roman" pitchFamily="18" charset="0"/>
                <a:cs typeface="Times New Roman" pitchFamily="18" charset="0"/>
              </a:defRPr>
            </a:lvl1p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Date Placeholder 3"/>
          <p:cNvSpPr>
            <a:spLocks noGrp="1"/>
          </p:cNvSpPr>
          <p:nvPr>
            <p:ph type="dt" sz="half" idx="10"/>
          </p:nvPr>
        </p:nvSpPr>
        <p:spPr/>
        <p:txBody>
          <a:bodyPr/>
          <a:lstStyle>
            <a:lvl1pPr>
              <a:defRPr/>
            </a:lvl1pPr>
          </a:lstStyle>
          <a:p>
            <a:pPr>
              <a:defRPr/>
            </a:pPr>
            <a:fld id="{A829FEB9-5C7C-4D8B-879A-DC07A92BC307}" type="datetime1">
              <a:rPr lang="en-US"/>
              <a:pPr>
                <a:defRPr/>
              </a:pPr>
              <a:t>8/23/2025</a:t>
            </a:fld>
            <a:endParaRPr lang="en-US"/>
          </a:p>
        </p:txBody>
      </p:sp>
      <p:sp>
        <p:nvSpPr>
          <p:cNvPr id="6" name="Footer Placeholder 4"/>
          <p:cNvSpPr>
            <a:spLocks noGrp="1"/>
          </p:cNvSpPr>
          <p:nvPr>
            <p:ph type="ftr" sz="quarter" idx="11"/>
          </p:nvPr>
        </p:nvSpPr>
        <p:spPr/>
        <p:txBody>
          <a:bodyPr/>
          <a:lstStyle>
            <a:lvl1pPr>
              <a:defRPr b="1">
                <a:latin typeface="Times New Roman" pitchFamily="18" charset="0"/>
                <a:cs typeface="Times New Roman" pitchFamily="18" charset="0"/>
              </a:defRPr>
            </a:lvl1pPr>
          </a:lstStyle>
          <a:p>
            <a:pPr>
              <a:defRPr/>
            </a:pPr>
            <a:r>
              <a:rPr lang="en-US"/>
              <a:t>Prepared by Renetha J.B.</a:t>
            </a:r>
          </a:p>
        </p:txBody>
      </p:sp>
      <p:sp>
        <p:nvSpPr>
          <p:cNvPr id="7" name="Slide Number Placeholder 5"/>
          <p:cNvSpPr>
            <a:spLocks noGrp="1"/>
          </p:cNvSpPr>
          <p:nvPr>
            <p:ph type="sldNum" sz="quarter" idx="12"/>
          </p:nvPr>
        </p:nvSpPr>
        <p:spPr/>
        <p:txBody>
          <a:bodyPr/>
          <a:lstStyle>
            <a:lvl1pPr>
              <a:defRPr/>
            </a:lvl1pPr>
          </a:lstStyle>
          <a:p>
            <a:pPr>
              <a:defRPr/>
            </a:pPr>
            <a:fld id="{0BB8933F-B144-4A24-8A5D-8E40BC4CAB0B}"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srcRect/>
          <a:stretch>
            <a:fillRect/>
          </a:stretch>
        </p:blipFill>
        <p:spPr bwMode="auto">
          <a:xfrm>
            <a:off x="7572375" y="-76200"/>
            <a:ext cx="1647825" cy="952500"/>
          </a:xfrm>
          <a:prstGeom prst="rect">
            <a:avLst/>
          </a:prstGeom>
          <a:noFill/>
          <a:ln w="9525">
            <a:noFill/>
            <a:miter lim="800000"/>
            <a:headEnd/>
            <a:tailEnd/>
          </a:ln>
        </p:spPr>
      </p:pic>
      <p:sp>
        <p:nvSpPr>
          <p:cNvPr id="2" name="Title 1"/>
          <p:cNvSpPr>
            <a:spLocks noGrp="1"/>
          </p:cNvSpPr>
          <p:nvPr>
            <p:ph type="title"/>
          </p:nvPr>
        </p:nvSpPr>
        <p:spPr>
          <a:xfrm>
            <a:off x="457200" y="0"/>
            <a:ext cx="8229600" cy="685800"/>
          </a:xfrm>
        </p:spPr>
        <p:txBody>
          <a:bodyPr/>
          <a:lstStyle>
            <a:lvl1pPr>
              <a:defRPr b="1">
                <a:latin typeface="Times New Roman" pitchFamily="18" charset="0"/>
                <a:cs typeface="Times New Roman" pitchFamily="18" charset="0"/>
              </a:defRPr>
            </a:lvl1pPr>
          </a:lstStyle>
          <a:p>
            <a:r>
              <a:rPr lang="en-US" dirty="0"/>
              <a:t>Click to edit Master title style</a:t>
            </a:r>
          </a:p>
        </p:txBody>
      </p:sp>
      <p:sp>
        <p:nvSpPr>
          <p:cNvPr id="3" name="Content Placeholder 2"/>
          <p:cNvSpPr>
            <a:spLocks noGrp="1"/>
          </p:cNvSpPr>
          <p:nvPr>
            <p:ph idx="1"/>
          </p:nvPr>
        </p:nvSpPr>
        <p:spPr>
          <a:xfrm>
            <a:off x="457200" y="914400"/>
            <a:ext cx="8229600" cy="5334000"/>
          </a:xfrm>
        </p:spPr>
        <p:txBody>
          <a:bodyPr/>
          <a:lstStyle>
            <a:lvl1pPr algn="just">
              <a:defRPr sz="2600">
                <a:latin typeface="Times New Roman" pitchFamily="18" charset="0"/>
                <a:cs typeface="Times New Roman" pitchFamily="18" charset="0"/>
              </a:defRPr>
            </a:lvl1pPr>
            <a:lvl2pPr algn="just">
              <a:defRPr sz="2400">
                <a:latin typeface="Times New Roman" pitchFamily="18" charset="0"/>
                <a:cs typeface="Times New Roman" pitchFamily="18" charset="0"/>
              </a:defRPr>
            </a:lvl2pPr>
            <a:lvl3pPr algn="just">
              <a:defRPr sz="2400">
                <a:latin typeface="Times New Roman" pitchFamily="18" charset="0"/>
                <a:cs typeface="Times New Roman" pitchFamily="18" charset="0"/>
              </a:defRPr>
            </a:lvl3pPr>
            <a:lvl4pPr algn="just">
              <a:defRPr sz="2400">
                <a:latin typeface="Times New Roman" pitchFamily="18" charset="0"/>
                <a:cs typeface="Times New Roman" pitchFamily="18" charset="0"/>
              </a:defRPr>
            </a:lvl4pPr>
            <a:lvl5pPr>
              <a:defRPr sz="2400">
                <a:latin typeface="Times New Roman" pitchFamily="18" charset="0"/>
                <a:cs typeface="Times New Roman"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p:cNvSpPr>
            <a:spLocks noGrp="1"/>
          </p:cNvSpPr>
          <p:nvPr>
            <p:ph type="dt" sz="half" idx="10"/>
          </p:nvPr>
        </p:nvSpPr>
        <p:spPr/>
        <p:txBody>
          <a:bodyPr/>
          <a:lstStyle>
            <a:lvl1pPr>
              <a:defRPr/>
            </a:lvl1pPr>
          </a:lstStyle>
          <a:p>
            <a:pPr>
              <a:defRPr/>
            </a:pPr>
            <a:fld id="{0BC59C9A-1610-4072-AFB9-7DF9C4A58976}" type="datetime1">
              <a:rPr lang="en-US"/>
              <a:pPr>
                <a:defRPr/>
              </a:pPr>
              <a:t>8/23/2025</a:t>
            </a:fld>
            <a:endParaRPr lang="en-US"/>
          </a:p>
        </p:txBody>
      </p:sp>
      <p:sp>
        <p:nvSpPr>
          <p:cNvPr id="6" name="Footer Placeholder 4"/>
          <p:cNvSpPr>
            <a:spLocks noGrp="1"/>
          </p:cNvSpPr>
          <p:nvPr>
            <p:ph type="ftr" sz="quarter" idx="11"/>
          </p:nvPr>
        </p:nvSpPr>
        <p:spPr>
          <a:xfrm>
            <a:off x="6705600" y="6492875"/>
            <a:ext cx="2514600" cy="365125"/>
          </a:xfrm>
        </p:spPr>
        <p:txBody>
          <a:bodyPr/>
          <a:lstStyle>
            <a:lvl1pPr>
              <a:defRPr b="1" i="1">
                <a:solidFill>
                  <a:srgbClr val="0000CC"/>
                </a:solidFill>
                <a:latin typeface="Times New Roman" pitchFamily="18" charset="0"/>
                <a:cs typeface="Times New Roman" pitchFamily="18" charset="0"/>
              </a:defRPr>
            </a:lvl1pPr>
          </a:lstStyle>
          <a:p>
            <a:pPr>
              <a:defRPr/>
            </a:pPr>
            <a:r>
              <a:rPr lang="en-US"/>
              <a:t>Prepared by Renetha J.B.</a:t>
            </a:r>
            <a:endParaRPr lang="en-US" dirty="0"/>
          </a:p>
        </p:txBody>
      </p:sp>
      <p:sp>
        <p:nvSpPr>
          <p:cNvPr id="7" name="Slide Number Placeholder 5"/>
          <p:cNvSpPr>
            <a:spLocks noGrp="1"/>
          </p:cNvSpPr>
          <p:nvPr>
            <p:ph type="sldNum" sz="quarter" idx="12"/>
          </p:nvPr>
        </p:nvSpPr>
        <p:spPr>
          <a:xfrm>
            <a:off x="8686800" y="6477000"/>
            <a:ext cx="381000" cy="365125"/>
          </a:xfrm>
        </p:spPr>
        <p:txBody>
          <a:bodyPr/>
          <a:lstStyle>
            <a:lvl1pPr>
              <a:defRPr/>
            </a:lvl1pPr>
          </a:lstStyle>
          <a:p>
            <a:pPr>
              <a:defRPr/>
            </a:pPr>
            <a:fld id="{7C760612-1CE6-4420-A721-C80A19F352D5}"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2C78F254-6DDE-4857-B7DA-3C880C43C80D}" type="datetime1">
              <a:rPr lang="en-US"/>
              <a:pPr>
                <a:defRPr/>
              </a:pPr>
              <a:t>8/23/2025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Prepared by Renetha J.B.</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459C0EF-273B-49EF-9071-9B0293C93770}"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5" name="Picture 2"/>
          <p:cNvPicPr>
            <a:picLocks noChangeAspect="1" noChangeArrowheads="1"/>
          </p:cNvPicPr>
          <p:nvPr userDrawn="1"/>
        </p:nvPicPr>
        <p:blipFill>
          <a:blip r:embed="rId2"/>
          <a:srcRect/>
          <a:stretch>
            <a:fillRect/>
          </a:stretch>
        </p:blipFill>
        <p:spPr bwMode="auto">
          <a:xfrm>
            <a:off x="7648575" y="-152400"/>
            <a:ext cx="1647825" cy="9525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600">
                <a:latin typeface="Times New Roman" pitchFamily="18" charset="0"/>
                <a:cs typeface="Times New Roman" pitchFamily="18" charset="0"/>
              </a:defRPr>
            </a:lvl1pPr>
            <a:lvl2pPr>
              <a:defRPr sz="2600">
                <a:latin typeface="Times New Roman" pitchFamily="18" charset="0"/>
                <a:cs typeface="Times New Roman" pitchFamily="18" charset="0"/>
              </a:defRPr>
            </a:lvl2pPr>
            <a:lvl3pPr>
              <a:defRPr sz="2600">
                <a:latin typeface="Times New Roman" pitchFamily="18" charset="0"/>
                <a:cs typeface="Times New Roman" pitchFamily="18" charset="0"/>
              </a:defRPr>
            </a:lvl3pPr>
            <a:lvl4pPr>
              <a:defRPr sz="2600">
                <a:latin typeface="Times New Roman" pitchFamily="18" charset="0"/>
                <a:cs typeface="Times New Roman" pitchFamily="18" charset="0"/>
              </a:defRPr>
            </a:lvl4pPr>
            <a:lvl5pPr>
              <a:defRPr sz="2600">
                <a:latin typeface="Times New Roman" pitchFamily="18" charset="0"/>
                <a:cs typeface="Times New Roman" pitchFamily="18"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p:spPr>
        <p:txBody>
          <a:bodyPr/>
          <a:lstStyle>
            <a:lvl1pPr>
              <a:defRPr sz="2600">
                <a:latin typeface="Times New Roman" pitchFamily="18" charset="0"/>
                <a:cs typeface="Times New Roman" pitchFamily="18" charset="0"/>
              </a:defRPr>
            </a:lvl1pPr>
            <a:lvl2pPr>
              <a:defRPr sz="2600">
                <a:latin typeface="Times New Roman" pitchFamily="18" charset="0"/>
                <a:cs typeface="Times New Roman" pitchFamily="18" charset="0"/>
              </a:defRPr>
            </a:lvl2pPr>
            <a:lvl3pPr>
              <a:defRPr sz="2600">
                <a:latin typeface="Times New Roman" pitchFamily="18" charset="0"/>
                <a:cs typeface="Times New Roman" pitchFamily="18" charset="0"/>
              </a:defRPr>
            </a:lvl3pPr>
            <a:lvl4pPr>
              <a:defRPr sz="2600">
                <a:latin typeface="Times New Roman" pitchFamily="18" charset="0"/>
                <a:cs typeface="Times New Roman" pitchFamily="18" charset="0"/>
              </a:defRPr>
            </a:lvl4pPr>
            <a:lvl5pPr>
              <a:defRPr sz="2600">
                <a:latin typeface="Times New Roman" pitchFamily="18" charset="0"/>
                <a:cs typeface="Times New Roman" pitchFamily="18"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3"/>
          <p:cNvSpPr>
            <a:spLocks noGrp="1"/>
          </p:cNvSpPr>
          <p:nvPr>
            <p:ph type="dt" sz="half" idx="10"/>
          </p:nvPr>
        </p:nvSpPr>
        <p:spPr/>
        <p:txBody>
          <a:bodyPr/>
          <a:lstStyle>
            <a:lvl1pPr>
              <a:defRPr/>
            </a:lvl1pPr>
          </a:lstStyle>
          <a:p>
            <a:pPr>
              <a:defRPr/>
            </a:pPr>
            <a:fld id="{1C48797E-EA91-483A-A748-FA7B45BC2CD7}" type="datetime1">
              <a:rPr lang="en-US"/>
              <a:pPr>
                <a:defRPr/>
              </a:pPr>
              <a:t>8/23/2025</a:t>
            </a:fld>
            <a:endParaRPr lang="en-US"/>
          </a:p>
        </p:txBody>
      </p:sp>
      <p:sp>
        <p:nvSpPr>
          <p:cNvPr id="7" name="Footer Placeholder 4"/>
          <p:cNvSpPr>
            <a:spLocks noGrp="1"/>
          </p:cNvSpPr>
          <p:nvPr>
            <p:ph type="ftr" sz="quarter" idx="11"/>
          </p:nvPr>
        </p:nvSpPr>
        <p:spPr/>
        <p:txBody>
          <a:bodyPr/>
          <a:lstStyle>
            <a:lvl1pPr>
              <a:defRPr/>
            </a:lvl1pPr>
          </a:lstStyle>
          <a:p>
            <a:pPr>
              <a:defRPr/>
            </a:pPr>
            <a:r>
              <a:rPr lang="en-US"/>
              <a:t>Prepared by Renetha J.B.</a:t>
            </a:r>
            <a:endParaRPr lang="en-US" dirty="0"/>
          </a:p>
        </p:txBody>
      </p:sp>
      <p:sp>
        <p:nvSpPr>
          <p:cNvPr id="8" name="Slide Number Placeholder 5"/>
          <p:cNvSpPr>
            <a:spLocks noGrp="1"/>
          </p:cNvSpPr>
          <p:nvPr>
            <p:ph type="sldNum" sz="quarter" idx="12"/>
          </p:nvPr>
        </p:nvSpPr>
        <p:spPr/>
        <p:txBody>
          <a:bodyPr/>
          <a:lstStyle>
            <a:lvl1pPr>
              <a:defRPr/>
            </a:lvl1pPr>
          </a:lstStyle>
          <a:p>
            <a:pPr>
              <a:defRPr/>
            </a:pPr>
            <a:fld id="{DA336246-FC46-4052-A6ED-AB27FAD0803F}"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2"/>
          <p:cNvPicPr>
            <a:picLocks noChangeAspect="1" noChangeArrowheads="1"/>
          </p:cNvPicPr>
          <p:nvPr userDrawn="1"/>
        </p:nvPicPr>
        <p:blipFill>
          <a:blip r:embed="rId2"/>
          <a:srcRect/>
          <a:stretch>
            <a:fillRect/>
          </a:stretch>
        </p:blipFill>
        <p:spPr bwMode="auto">
          <a:xfrm>
            <a:off x="7543800" y="-152400"/>
            <a:ext cx="1647825" cy="952500"/>
          </a:xfrm>
          <a:prstGeom prst="rect">
            <a:avLst/>
          </a:prstGeom>
          <a:noFill/>
          <a:ln w="9525">
            <a:noFill/>
            <a:miter lim="800000"/>
            <a:headEnd/>
            <a:tailEnd/>
          </a:ln>
        </p:spPr>
      </p:pic>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3"/>
          <p:cNvSpPr>
            <a:spLocks noGrp="1"/>
          </p:cNvSpPr>
          <p:nvPr>
            <p:ph type="dt" sz="half" idx="10"/>
          </p:nvPr>
        </p:nvSpPr>
        <p:spPr/>
        <p:txBody>
          <a:bodyPr/>
          <a:lstStyle>
            <a:lvl1pPr>
              <a:defRPr/>
            </a:lvl1pPr>
          </a:lstStyle>
          <a:p>
            <a:pPr>
              <a:defRPr/>
            </a:pPr>
            <a:fld id="{EB15CCD5-AF5D-4622-ADE3-840E4EC61F4C}" type="datetime1">
              <a:rPr lang="en-US"/>
              <a:pPr>
                <a:defRPr/>
              </a:pPr>
              <a:t>8/23/2025</a:t>
            </a:fld>
            <a:endParaRPr lang="en-US"/>
          </a:p>
        </p:txBody>
      </p:sp>
      <p:sp>
        <p:nvSpPr>
          <p:cNvPr id="9" name="Footer Placeholder 4"/>
          <p:cNvSpPr>
            <a:spLocks noGrp="1"/>
          </p:cNvSpPr>
          <p:nvPr>
            <p:ph type="ftr" sz="quarter" idx="11"/>
          </p:nvPr>
        </p:nvSpPr>
        <p:spPr>
          <a:xfrm>
            <a:off x="6248400" y="6492875"/>
            <a:ext cx="2895600" cy="365125"/>
          </a:xfrm>
        </p:spPr>
        <p:txBody>
          <a:bodyPr/>
          <a:lstStyle>
            <a:lvl1pPr>
              <a:defRPr/>
            </a:lvl1pPr>
          </a:lstStyle>
          <a:p>
            <a:pPr>
              <a:defRPr/>
            </a:pPr>
            <a:r>
              <a:rPr lang="en-US" dirty="0"/>
              <a:t>Prepared by </a:t>
            </a:r>
            <a:r>
              <a:rPr lang="en-US" dirty="0" err="1"/>
              <a:t>Renetha</a:t>
            </a:r>
            <a:r>
              <a:rPr lang="en-US" dirty="0"/>
              <a:t> J.B.</a:t>
            </a:r>
          </a:p>
        </p:txBody>
      </p:sp>
      <p:sp>
        <p:nvSpPr>
          <p:cNvPr id="10" name="Slide Number Placeholder 5"/>
          <p:cNvSpPr>
            <a:spLocks noGrp="1"/>
          </p:cNvSpPr>
          <p:nvPr>
            <p:ph type="sldNum" sz="quarter" idx="12"/>
          </p:nvPr>
        </p:nvSpPr>
        <p:spPr>
          <a:xfrm>
            <a:off x="8686800" y="6492875"/>
            <a:ext cx="457200" cy="365125"/>
          </a:xfrm>
        </p:spPr>
        <p:txBody>
          <a:bodyPr/>
          <a:lstStyle>
            <a:lvl1pPr>
              <a:defRPr/>
            </a:lvl1pPr>
          </a:lstStyle>
          <a:p>
            <a:pPr>
              <a:defRPr/>
            </a:pPr>
            <a:fld id="{D93672AF-3668-4769-896B-F90092D9BAC8}"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9AA447E2-AA30-4843-BB4B-1D099F4D6102}" type="datetime1">
              <a:rPr lang="en-US"/>
              <a:pPr>
                <a:defRPr/>
              </a:pPr>
              <a:t>8/23/2025</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Prepared by Renetha J.B.</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FDB2583B-E917-44E2-9E13-75059E2FCB64}"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4794F405-30E7-4F0C-BA9E-E7E7428EC40F}" type="datetime1">
              <a:rPr lang="en-US"/>
              <a:pPr>
                <a:defRPr/>
              </a:pPr>
              <a:t>8/23/2025</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Prepared by Renetha J.B.</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349BB36-D19A-4D1B-964D-197368707DF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1065AB7-CF6B-4DCE-87AE-17C3AFEC915F}" type="datetime1">
              <a:rPr lang="en-US"/>
              <a:pPr>
                <a:defRPr/>
              </a:pPr>
              <a:t>8/23/2025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Prepared by Renetha J.B.</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6B7741A-D6EE-4339-9D85-25048C97D78F}"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C750C263-5661-4DF2-AE05-02BDC84FD792}" type="datetime1">
              <a:rPr lang="en-US"/>
              <a:pPr>
                <a:defRPr/>
              </a:pPr>
              <a:t>8/23/2025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Prepared by Renetha J.B.</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75725B9E-B1F3-4AAD-B4A2-932FCB8445D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3037383-A1FA-4F68-AE14-D06A08E99499}" type="datetime1">
              <a:rPr lang="en-US"/>
              <a:pPr>
                <a:defRPr/>
              </a:pPr>
              <a:t>8/23/2025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Prepared by Renetha J.B.</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B566BC8-F3C6-40C6-B592-29EEBF57565A}"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A46F2EF7-14C8-478A-A813-5AA3BDFF3B9B}" type="datetime1">
              <a:rPr lang="en-US"/>
              <a:pPr>
                <a:defRPr/>
              </a:pPr>
              <a:t>8/23/2025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Prepared by Renetha J.B.</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F0AD7C2C-BB52-436F-B184-A6A883B501E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0"/>
            <a:ext cx="82296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838200"/>
            <a:ext cx="8229600" cy="5287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B28EDE54-010F-4DEE-B1D3-3CEF57B2E0B2}" type="datetime1">
              <a:rPr lang="en-US"/>
              <a:pPr>
                <a:defRPr/>
              </a:pPr>
              <a:t>8/23/2025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i="1">
                <a:solidFill>
                  <a:srgbClr val="0000CC"/>
                </a:solidFill>
                <a:latin typeface="Times New Roman" pitchFamily="18" charset="0"/>
                <a:cs typeface="Times New Roman" pitchFamily="18" charset="0"/>
              </a:defRPr>
            </a:lvl1pPr>
          </a:lstStyle>
          <a:p>
            <a:pPr>
              <a:defRPr/>
            </a:pPr>
            <a:r>
              <a:rPr lang="en-US"/>
              <a:t>Prepared by Renetha J.B.</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2F8B2B23-C1A1-4E7E-BBC8-3764BA5692DA}"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4504" r:id="rId1"/>
    <p:sldLayoutId id="2147484505" r:id="rId2"/>
    <p:sldLayoutId id="2147484497" r:id="rId3"/>
    <p:sldLayoutId id="2147484506" r:id="rId4"/>
    <p:sldLayoutId id="2147484507" r:id="rId5"/>
    <p:sldLayoutId id="2147484498" r:id="rId6"/>
    <p:sldLayoutId id="2147484499" r:id="rId7"/>
    <p:sldLayoutId id="2147484500" r:id="rId8"/>
    <p:sldLayoutId id="2147484501" r:id="rId9"/>
    <p:sldLayoutId id="2147484502" r:id="rId10"/>
    <p:sldLayoutId id="2147484503" r:id="rId11"/>
  </p:sldLayoutIdLst>
  <p:hf hdr="0" dt="0"/>
  <p:txStyles>
    <p:titleStyle>
      <a:lvl1pPr algn="ctr" rtl="0" eaLnBrk="0" fontAlgn="base" hangingPunct="0">
        <a:spcBef>
          <a:spcPct val="0"/>
        </a:spcBef>
        <a:spcAft>
          <a:spcPct val="0"/>
        </a:spcAft>
        <a:defRPr sz="3600" kern="1200">
          <a:solidFill>
            <a:schemeClr val="tx1"/>
          </a:solidFill>
          <a:latin typeface="Times New Roman" pitchFamily="18" charset="0"/>
          <a:ea typeface="+mj-ea"/>
          <a:cs typeface="Times New Roman" pitchFamily="18" charset="0"/>
        </a:defRPr>
      </a:lvl1pPr>
      <a:lvl2pPr algn="ctr" rtl="0" eaLnBrk="0" fontAlgn="base" hangingPunct="0">
        <a:spcBef>
          <a:spcPct val="0"/>
        </a:spcBef>
        <a:spcAft>
          <a:spcPct val="0"/>
        </a:spcAft>
        <a:defRPr sz="3600">
          <a:solidFill>
            <a:schemeClr val="tx1"/>
          </a:solidFill>
          <a:latin typeface="Times New Roman" pitchFamily="18" charset="0"/>
          <a:cs typeface="Times New Roman" pitchFamily="18" charset="0"/>
        </a:defRPr>
      </a:lvl2pPr>
      <a:lvl3pPr algn="ctr" rtl="0" eaLnBrk="0" fontAlgn="base" hangingPunct="0">
        <a:spcBef>
          <a:spcPct val="0"/>
        </a:spcBef>
        <a:spcAft>
          <a:spcPct val="0"/>
        </a:spcAft>
        <a:defRPr sz="3600">
          <a:solidFill>
            <a:schemeClr val="tx1"/>
          </a:solidFill>
          <a:latin typeface="Times New Roman" pitchFamily="18" charset="0"/>
          <a:cs typeface="Times New Roman" pitchFamily="18" charset="0"/>
        </a:defRPr>
      </a:lvl3pPr>
      <a:lvl4pPr algn="ctr" rtl="0" eaLnBrk="0" fontAlgn="base" hangingPunct="0">
        <a:spcBef>
          <a:spcPct val="0"/>
        </a:spcBef>
        <a:spcAft>
          <a:spcPct val="0"/>
        </a:spcAft>
        <a:defRPr sz="3600">
          <a:solidFill>
            <a:schemeClr val="tx1"/>
          </a:solidFill>
          <a:latin typeface="Times New Roman" pitchFamily="18" charset="0"/>
          <a:cs typeface="Times New Roman" pitchFamily="18" charset="0"/>
        </a:defRPr>
      </a:lvl4pPr>
      <a:lvl5pPr algn="ctr" rtl="0" eaLnBrk="0" fontAlgn="base" hangingPunct="0">
        <a:spcBef>
          <a:spcPct val="0"/>
        </a:spcBef>
        <a:spcAft>
          <a:spcPct val="0"/>
        </a:spcAft>
        <a:defRPr sz="3600">
          <a:solidFill>
            <a:schemeClr val="tx1"/>
          </a:solidFill>
          <a:latin typeface="Times New Roman" pitchFamily="18" charset="0"/>
          <a:cs typeface="Times New Roman" pitchFamily="18"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eveloper.mozilla.org/en-US/docs/Glossary/MVC#the_view" TargetMode="External"/><Relationship Id="rId2" Type="http://schemas.openxmlformats.org/officeDocument/2006/relationships/hyperlink" Target="https://developer.mozilla.org/en-US/docs/Glossary/MVC#the_mode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developer.mozilla.org/en-US/docs/Glossary/MVC#the_controller"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a:xfrm>
            <a:off x="381000" y="1219200"/>
            <a:ext cx="8458200" cy="2381250"/>
          </a:xfrm>
        </p:spPr>
        <p:txBody>
          <a:bodyPr/>
          <a:lstStyle/>
          <a:p>
            <a:pPr eaLnBrk="1" hangingPunct="1"/>
            <a:r>
              <a:rPr lang="en-US" dirty="0">
                <a:solidFill>
                  <a:srgbClr val="0000CC"/>
                </a:solidFill>
              </a:rPr>
              <a:t>PBCST304 Object Oriented Programming in Java</a:t>
            </a:r>
            <a:br>
              <a:rPr lang="en-US" dirty="0"/>
            </a:br>
            <a:r>
              <a:rPr lang="en-US" dirty="0"/>
              <a:t>Module 4</a:t>
            </a:r>
            <a:br>
              <a:rPr lang="en-US" dirty="0"/>
            </a:br>
            <a:r>
              <a:rPr lang="en-US" dirty="0"/>
              <a:t>(Part 2)</a:t>
            </a:r>
          </a:p>
        </p:txBody>
      </p:sp>
      <p:sp>
        <p:nvSpPr>
          <p:cNvPr id="3" name="Subtitle 2"/>
          <p:cNvSpPr>
            <a:spLocks noGrp="1"/>
          </p:cNvSpPr>
          <p:nvPr>
            <p:ph type="subTitle" idx="1"/>
          </p:nvPr>
        </p:nvSpPr>
        <p:spPr/>
        <p:txBody>
          <a:bodyPr rtlCol="0">
            <a:normAutofit/>
          </a:bodyPr>
          <a:lstStyle/>
          <a:p>
            <a:pPr algn="l" eaLnBrk="1" fontAlgn="auto" hangingPunct="1">
              <a:spcAft>
                <a:spcPts val="0"/>
              </a:spcAft>
              <a:buFont typeface="Arial" pitchFamily="34" charset="0"/>
              <a:buNone/>
              <a:defRPr/>
            </a:pPr>
            <a:r>
              <a:rPr lang="en-US" dirty="0">
                <a:latin typeface="Snap ITC" pitchFamily="82" charset="0"/>
              </a:rPr>
              <a:t>Prepared by </a:t>
            </a:r>
          </a:p>
          <a:p>
            <a:pPr eaLnBrk="1" fontAlgn="auto" hangingPunct="1">
              <a:spcAft>
                <a:spcPts val="0"/>
              </a:spcAft>
              <a:buFont typeface="Arial" pitchFamily="34" charset="0"/>
              <a:buNone/>
              <a:defRPr/>
            </a:pPr>
            <a:r>
              <a:rPr lang="en-US" sz="4000" b="1" dirty="0" err="1"/>
              <a:t>Renetha</a:t>
            </a:r>
            <a:r>
              <a:rPr lang="en-US" sz="4000" b="1" dirty="0"/>
              <a:t> J.B.</a:t>
            </a:r>
          </a:p>
        </p:txBody>
      </p:sp>
      <p:sp>
        <p:nvSpPr>
          <p:cNvPr id="4" name="Slide Number Placeholder 3"/>
          <p:cNvSpPr>
            <a:spLocks noGrp="1"/>
          </p:cNvSpPr>
          <p:nvPr>
            <p:ph type="sldNum" sz="quarter" idx="12"/>
          </p:nvPr>
        </p:nvSpPr>
        <p:spPr/>
        <p:txBody>
          <a:bodyPr/>
          <a:lstStyle/>
          <a:p>
            <a:pPr>
              <a:defRPr/>
            </a:pPr>
            <a:fld id="{0B831C5C-37AA-4E91-8C39-54118789491F}" type="slidenum">
              <a:rPr lang="en-US"/>
              <a:pPr>
                <a:defRPr/>
              </a:pPr>
              <a:t>1</a:t>
            </a:fld>
            <a:endParaRPr lang="en-US"/>
          </a:p>
        </p:txBody>
      </p:sp>
      <p:sp>
        <p:nvSpPr>
          <p:cNvPr id="6149" name="Footer Placeholder 4"/>
          <p:cNvSpPr>
            <a:spLocks noGrp="1"/>
          </p:cNvSpPr>
          <p:nvPr>
            <p:ph type="ftr" sz="quarter" idx="11"/>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r>
              <a:rPr lang="en-US"/>
              <a:t>Prepared by Renetha J.B.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r>
              <a:rPr lang="en-US"/>
              <a:t>Topics</a:t>
            </a:r>
          </a:p>
        </p:txBody>
      </p:sp>
      <p:sp>
        <p:nvSpPr>
          <p:cNvPr id="7171" name="Content Placeholder 2"/>
          <p:cNvSpPr>
            <a:spLocks noGrp="1"/>
          </p:cNvSpPr>
          <p:nvPr>
            <p:ph idx="1"/>
          </p:nvPr>
        </p:nvSpPr>
        <p:spPr/>
        <p:txBody>
          <a:bodyPr/>
          <a:lstStyle/>
          <a:p>
            <a:pPr>
              <a:lnSpc>
                <a:spcPct val="150000"/>
              </a:lnSpc>
              <a:buBlip>
                <a:blip r:embed="rId2"/>
              </a:buBlip>
            </a:pPr>
            <a:r>
              <a:rPr lang="en-US" sz="3200" b="1" dirty="0">
                <a:solidFill>
                  <a:srgbClr val="C00000"/>
                </a:solidFill>
              </a:rPr>
              <a:t>Swings</a:t>
            </a:r>
            <a:endParaRPr lang="en-US" b="1" dirty="0">
              <a:solidFill>
                <a:srgbClr val="C00000"/>
              </a:solidFill>
            </a:endParaRPr>
          </a:p>
          <a:p>
            <a:pPr lvl="1">
              <a:lnSpc>
                <a:spcPct val="150000"/>
              </a:lnSpc>
              <a:buBlip>
                <a:blip r:embed="rId2"/>
              </a:buBlip>
            </a:pPr>
            <a:r>
              <a:rPr lang="en-US" sz="2800" b="1" dirty="0"/>
              <a:t> </a:t>
            </a:r>
            <a:r>
              <a:rPr lang="en-US" sz="2800" dirty="0"/>
              <a:t>MVC</a:t>
            </a:r>
          </a:p>
          <a:p>
            <a:pPr lvl="1">
              <a:lnSpc>
                <a:spcPct val="150000"/>
              </a:lnSpc>
              <a:buBlip>
                <a:blip r:embed="rId2"/>
              </a:buBlip>
            </a:pPr>
            <a:r>
              <a:rPr lang="en-US" sz="2800" dirty="0"/>
              <a:t>Swing Controls</a:t>
            </a:r>
          </a:p>
          <a:p>
            <a:pPr lvl="1">
              <a:lnSpc>
                <a:spcPct val="150000"/>
              </a:lnSpc>
              <a:buBlip>
                <a:blip r:embed="rId2"/>
              </a:buBlip>
            </a:pPr>
            <a:r>
              <a:rPr lang="en-US" sz="2800" dirty="0"/>
              <a:t>Components and Containers</a:t>
            </a:r>
            <a:endParaRPr lang="en-US" sz="2600" b="1" dirty="0"/>
          </a:p>
        </p:txBody>
      </p:sp>
      <p:sp>
        <p:nvSpPr>
          <p:cNvPr id="4" name="Slide Number Placeholder 3"/>
          <p:cNvSpPr>
            <a:spLocks noGrp="1"/>
          </p:cNvSpPr>
          <p:nvPr>
            <p:ph type="sldNum" sz="quarter" idx="12"/>
          </p:nvPr>
        </p:nvSpPr>
        <p:spPr/>
        <p:txBody>
          <a:bodyPr/>
          <a:lstStyle/>
          <a:p>
            <a:pPr>
              <a:defRPr/>
            </a:pPr>
            <a:fld id="{5FDF6EC7-77E1-43CE-AE3A-927B2A2A30F4}" type="slidenum">
              <a:rPr lang="en-US"/>
              <a:pPr>
                <a:defRPr/>
              </a:pPr>
              <a:t>2</a:t>
            </a:fld>
            <a:endParaRPr lang="en-US"/>
          </a:p>
        </p:txBody>
      </p:sp>
      <p:sp>
        <p:nvSpPr>
          <p:cNvPr id="7173" name="Footer Placeholder 4"/>
          <p:cNvSpPr>
            <a:spLocks noGrp="1"/>
          </p:cNvSpPr>
          <p:nvPr>
            <p:ph type="ftr" sz="quarter" idx="11"/>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r>
              <a:rPr lang="en-US"/>
              <a:t>Prepared by Renetha J.B.</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06477"/>
            <a:ext cx="8229600" cy="685800"/>
          </a:xfrm>
        </p:spPr>
        <p:txBody>
          <a:bodyPr/>
          <a:lstStyle/>
          <a:p>
            <a:r>
              <a:rPr lang="en-US" sz="2800" dirty="0"/>
              <a:t>MVC</a:t>
            </a:r>
            <a:br>
              <a:rPr lang="en-US" sz="2800" dirty="0"/>
            </a:br>
            <a:r>
              <a:rPr lang="en-US" sz="2800" dirty="0"/>
              <a:t>(Model View Controller)</a:t>
            </a:r>
          </a:p>
        </p:txBody>
      </p:sp>
      <p:sp>
        <p:nvSpPr>
          <p:cNvPr id="3" name="Content Placeholder 2"/>
          <p:cNvSpPr>
            <a:spLocks noGrp="1"/>
          </p:cNvSpPr>
          <p:nvPr>
            <p:ph idx="1"/>
          </p:nvPr>
        </p:nvSpPr>
        <p:spPr>
          <a:xfrm>
            <a:off x="442452" y="1101212"/>
            <a:ext cx="8229600" cy="5334000"/>
          </a:xfrm>
        </p:spPr>
        <p:txBody>
          <a:bodyPr/>
          <a:lstStyle/>
          <a:p>
            <a:r>
              <a:rPr lang="en-US" dirty="0"/>
              <a:t>A visual component is a composite of three distinct aspects:</a:t>
            </a:r>
          </a:p>
          <a:p>
            <a:pPr lvl="1"/>
            <a:r>
              <a:rPr lang="en-US" dirty="0"/>
              <a:t>The </a:t>
            </a:r>
            <a:r>
              <a:rPr lang="en-US" b="1" dirty="0"/>
              <a:t>state information</a:t>
            </a:r>
            <a:r>
              <a:rPr lang="en-US" dirty="0"/>
              <a:t> associated with the component </a:t>
            </a:r>
            <a:r>
              <a:rPr lang="en-US" b="1" dirty="0"/>
              <a:t>MODEL</a:t>
            </a:r>
          </a:p>
          <a:p>
            <a:pPr lvl="1"/>
            <a:r>
              <a:rPr lang="en-US" dirty="0"/>
              <a:t>The way that the </a:t>
            </a:r>
            <a:r>
              <a:rPr lang="en-US" b="1" dirty="0"/>
              <a:t>component looks </a:t>
            </a:r>
            <a:r>
              <a:rPr lang="en-US" u="sng" dirty="0"/>
              <a:t>when rendered on the screen  </a:t>
            </a:r>
            <a:r>
              <a:rPr lang="en-US" b="1" dirty="0"/>
              <a:t>VIEW</a:t>
            </a:r>
          </a:p>
          <a:p>
            <a:pPr lvl="1"/>
            <a:r>
              <a:rPr lang="en-US" dirty="0"/>
              <a:t>The way that the </a:t>
            </a:r>
            <a:r>
              <a:rPr lang="en-US" b="1" dirty="0"/>
              <a:t>component reacts to the user</a:t>
            </a:r>
            <a:r>
              <a:rPr lang="en-US" dirty="0"/>
              <a:t>-  </a:t>
            </a:r>
            <a:r>
              <a:rPr lang="en-US" b="1" dirty="0"/>
              <a:t>CONTROLLER</a:t>
            </a:r>
          </a:p>
          <a:p>
            <a:pPr lvl="1"/>
            <a:endParaRPr lang="en-US" dirty="0"/>
          </a:p>
          <a:p>
            <a:r>
              <a:rPr lang="en-US" dirty="0"/>
              <a:t>MVC (Model View Controller) architecture is successful because </a:t>
            </a:r>
            <a:r>
              <a:rPr lang="en-US" b="1" dirty="0"/>
              <a:t>each piece of the </a:t>
            </a:r>
            <a:r>
              <a:rPr lang="en-US" b="1" dirty="0">
                <a:solidFill>
                  <a:srgbClr val="C00000"/>
                </a:solidFill>
              </a:rPr>
              <a:t>design</a:t>
            </a:r>
            <a:r>
              <a:rPr lang="en-US" b="1" dirty="0"/>
              <a:t> corresponds to an </a:t>
            </a:r>
            <a:r>
              <a:rPr lang="en-US" b="1" u="sng" dirty="0"/>
              <a:t>aspect of a component.</a:t>
            </a:r>
          </a:p>
        </p:txBody>
      </p:sp>
      <p:sp>
        <p:nvSpPr>
          <p:cNvPr id="4" name="Footer Placeholder 3"/>
          <p:cNvSpPr>
            <a:spLocks noGrp="1"/>
          </p:cNvSpPr>
          <p:nvPr>
            <p:ph type="ftr" sz="quarter" idx="11"/>
          </p:nvPr>
        </p:nvSpPr>
        <p:spPr/>
        <p:txBody>
          <a:bodyPr/>
          <a:lstStyle/>
          <a:p>
            <a:pPr>
              <a:defRPr/>
            </a:pPr>
            <a:r>
              <a:rPr lang="en-US"/>
              <a:t>Prepared by Renetha J.B.</a:t>
            </a:r>
            <a:endParaRPr lang="en-US" dirty="0"/>
          </a:p>
        </p:txBody>
      </p:sp>
      <p:sp>
        <p:nvSpPr>
          <p:cNvPr id="5" name="Slide Number Placeholder 4"/>
          <p:cNvSpPr>
            <a:spLocks noGrp="1"/>
          </p:cNvSpPr>
          <p:nvPr>
            <p:ph type="sldNum" sz="quarter" idx="12"/>
          </p:nvPr>
        </p:nvSpPr>
        <p:spPr/>
        <p:txBody>
          <a:bodyPr/>
          <a:lstStyle/>
          <a:p>
            <a:pPr>
              <a:defRPr/>
            </a:pPr>
            <a:fld id="{7C760612-1CE6-4420-A721-C80A19F352D5}" type="slidenum">
              <a:rPr lang="en-US" smtClean="0"/>
              <a:pPr>
                <a:defRPr/>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7ADA6-4AEB-3A8C-775F-E318140586AD}"/>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238CF3EE-2D61-8E00-81E4-0A1921EECBA2}"/>
              </a:ext>
            </a:extLst>
          </p:cNvPr>
          <p:cNvSpPr>
            <a:spLocks noGrp="1"/>
          </p:cNvSpPr>
          <p:nvPr>
            <p:ph type="ftr" sz="quarter" idx="11"/>
          </p:nvPr>
        </p:nvSpPr>
        <p:spPr/>
        <p:txBody>
          <a:bodyPr/>
          <a:lstStyle/>
          <a:p>
            <a:pPr>
              <a:defRPr/>
            </a:pPr>
            <a:r>
              <a:rPr lang="en-US"/>
              <a:t>Prepared by Renetha J.B.</a:t>
            </a:r>
            <a:endParaRPr lang="en-US" dirty="0"/>
          </a:p>
        </p:txBody>
      </p:sp>
      <p:sp>
        <p:nvSpPr>
          <p:cNvPr id="5" name="Slide Number Placeholder 4">
            <a:extLst>
              <a:ext uri="{FF2B5EF4-FFF2-40B4-BE49-F238E27FC236}">
                <a16:creationId xmlns:a16="http://schemas.microsoft.com/office/drawing/2014/main" id="{B3966B48-794F-9350-C01E-E36CF697E6C5}"/>
              </a:ext>
            </a:extLst>
          </p:cNvPr>
          <p:cNvSpPr>
            <a:spLocks noGrp="1"/>
          </p:cNvSpPr>
          <p:nvPr>
            <p:ph type="sldNum" sz="quarter" idx="12"/>
          </p:nvPr>
        </p:nvSpPr>
        <p:spPr/>
        <p:txBody>
          <a:bodyPr/>
          <a:lstStyle/>
          <a:p>
            <a:pPr>
              <a:defRPr/>
            </a:pPr>
            <a:fld id="{7C760612-1CE6-4420-A721-C80A19F352D5}" type="slidenum">
              <a:rPr lang="en-US" smtClean="0"/>
              <a:pPr>
                <a:defRPr/>
              </a:pPr>
              <a:t>4</a:t>
            </a:fld>
            <a:endParaRPr lang="en-US" dirty="0"/>
          </a:p>
        </p:txBody>
      </p:sp>
      <p:pic>
        <p:nvPicPr>
          <p:cNvPr id="1026" name="Picture 2" descr="Benefit of using MVC - GeeksforGeeks">
            <a:extLst>
              <a:ext uri="{FF2B5EF4-FFF2-40B4-BE49-F238E27FC236}">
                <a16:creationId xmlns:a16="http://schemas.microsoft.com/office/drawing/2014/main" id="{A95B0F44-A332-1805-941C-B40CE133AED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9886" y="1295400"/>
            <a:ext cx="8667750" cy="533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0530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MVC(</a:t>
            </a:r>
            <a:r>
              <a:rPr lang="en-US" b="0" dirty="0"/>
              <a:t>contd.)</a:t>
            </a:r>
            <a:endParaRPr lang="en-US" dirty="0"/>
          </a:p>
        </p:txBody>
      </p:sp>
      <p:sp>
        <p:nvSpPr>
          <p:cNvPr id="3" name="Content Placeholder 2"/>
          <p:cNvSpPr>
            <a:spLocks noGrp="1"/>
          </p:cNvSpPr>
          <p:nvPr>
            <p:ph idx="1"/>
          </p:nvPr>
        </p:nvSpPr>
        <p:spPr>
          <a:xfrm>
            <a:off x="457200" y="685800"/>
            <a:ext cx="8229600" cy="5943600"/>
          </a:xfrm>
        </p:spPr>
        <p:txBody>
          <a:bodyPr/>
          <a:lstStyle/>
          <a:p>
            <a:r>
              <a:rPr lang="en-US" dirty="0"/>
              <a:t>In </a:t>
            </a:r>
            <a:r>
              <a:rPr lang="en-US" b="1" dirty="0"/>
              <a:t>MVC</a:t>
            </a:r>
            <a:r>
              <a:rPr lang="en-US" dirty="0"/>
              <a:t> terminology,</a:t>
            </a:r>
          </a:p>
          <a:p>
            <a:pPr lvl="1"/>
            <a:r>
              <a:rPr lang="en-US" dirty="0"/>
              <a:t> the </a:t>
            </a:r>
            <a:r>
              <a:rPr lang="en-US" b="1" i="1" dirty="0">
                <a:solidFill>
                  <a:srgbClr val="C00000"/>
                </a:solidFill>
              </a:rPr>
              <a:t>Model</a:t>
            </a:r>
            <a:r>
              <a:rPr lang="en-US" i="1" dirty="0"/>
              <a:t> </a:t>
            </a:r>
            <a:r>
              <a:rPr lang="en-US" dirty="0"/>
              <a:t>corresponds to the </a:t>
            </a:r>
            <a:r>
              <a:rPr lang="en-US" b="1" dirty="0"/>
              <a:t>state information associated with the component</a:t>
            </a:r>
            <a:r>
              <a:rPr lang="en-US" dirty="0"/>
              <a:t>. </a:t>
            </a:r>
          </a:p>
          <a:p>
            <a:pPr lvl="2"/>
            <a:r>
              <a:rPr lang="en-US" dirty="0"/>
              <a:t>For example, in the case of a check box, the model contains a field that indicates if the box is checked or unchecked. </a:t>
            </a:r>
          </a:p>
          <a:p>
            <a:pPr lvl="1"/>
            <a:r>
              <a:rPr lang="en-US" dirty="0"/>
              <a:t>The </a:t>
            </a:r>
            <a:r>
              <a:rPr lang="en-US" b="1" i="1" dirty="0">
                <a:solidFill>
                  <a:srgbClr val="C00000"/>
                </a:solidFill>
              </a:rPr>
              <a:t>View</a:t>
            </a:r>
            <a:r>
              <a:rPr lang="en-US" i="1" dirty="0"/>
              <a:t> </a:t>
            </a:r>
            <a:r>
              <a:rPr lang="en-US" dirty="0"/>
              <a:t>determines </a:t>
            </a:r>
            <a:r>
              <a:rPr lang="en-US" b="1" dirty="0"/>
              <a:t>how the component is displayed on the screen</a:t>
            </a:r>
          </a:p>
          <a:p>
            <a:pPr lvl="1"/>
            <a:r>
              <a:rPr lang="en-US" dirty="0"/>
              <a:t>The </a:t>
            </a:r>
            <a:r>
              <a:rPr lang="en-US" b="1" i="1" dirty="0">
                <a:solidFill>
                  <a:srgbClr val="C00000"/>
                </a:solidFill>
              </a:rPr>
              <a:t>Controller</a:t>
            </a:r>
            <a:r>
              <a:rPr lang="en-US" i="1" dirty="0"/>
              <a:t> </a:t>
            </a:r>
            <a:r>
              <a:rPr lang="en-US" dirty="0"/>
              <a:t>determines </a:t>
            </a:r>
            <a:r>
              <a:rPr lang="en-US" b="1" dirty="0"/>
              <a:t>how the component reacts to the user</a:t>
            </a:r>
            <a:r>
              <a:rPr lang="en-US" dirty="0"/>
              <a:t>. </a:t>
            </a:r>
          </a:p>
          <a:p>
            <a:pPr lvl="2"/>
            <a:r>
              <a:rPr lang="en-US" dirty="0"/>
              <a:t>For example, when the user clicks a check box, the controller reacts by changing the model to reflect the user’s choice (checked or unchecked). So, the view changes.</a:t>
            </a:r>
          </a:p>
        </p:txBody>
      </p:sp>
      <p:sp>
        <p:nvSpPr>
          <p:cNvPr id="4" name="Footer Placeholder 3"/>
          <p:cNvSpPr>
            <a:spLocks noGrp="1"/>
          </p:cNvSpPr>
          <p:nvPr>
            <p:ph type="ftr" sz="quarter" idx="11"/>
          </p:nvPr>
        </p:nvSpPr>
        <p:spPr/>
        <p:txBody>
          <a:bodyPr/>
          <a:lstStyle/>
          <a:p>
            <a:pPr>
              <a:defRPr/>
            </a:pPr>
            <a:r>
              <a:rPr lang="en-US" dirty="0"/>
              <a:t>Prepared by </a:t>
            </a:r>
            <a:r>
              <a:rPr lang="en-US" dirty="0" err="1"/>
              <a:t>Renetha</a:t>
            </a:r>
            <a:r>
              <a:rPr lang="en-US" dirty="0"/>
              <a:t> J.B.</a:t>
            </a:r>
          </a:p>
        </p:txBody>
      </p:sp>
      <p:sp>
        <p:nvSpPr>
          <p:cNvPr id="5" name="Slide Number Placeholder 4"/>
          <p:cNvSpPr>
            <a:spLocks noGrp="1"/>
          </p:cNvSpPr>
          <p:nvPr>
            <p:ph type="sldNum" sz="quarter" idx="12"/>
          </p:nvPr>
        </p:nvSpPr>
        <p:spPr/>
        <p:txBody>
          <a:bodyPr/>
          <a:lstStyle/>
          <a:p>
            <a:pPr>
              <a:defRPr/>
            </a:pPr>
            <a:fld id="{7C760612-1CE6-4420-A721-C80A19F352D5}" type="slidenum">
              <a:rPr lang="en-US" smtClean="0"/>
              <a:pPr>
                <a:defRPr/>
              </a:pPr>
              <a:t>5</a:t>
            </a:fld>
            <a:endParaRPr lang="en-US" dirty="0"/>
          </a:p>
        </p:txBody>
      </p:sp>
      <p:pic>
        <p:nvPicPr>
          <p:cNvPr id="1026" name="Picture 2" descr="Check Box Empty Royalty-Free Images ...">
            <a:extLst>
              <a:ext uri="{FF2B5EF4-FFF2-40B4-BE49-F238E27FC236}">
                <a16:creationId xmlns:a16="http://schemas.microsoft.com/office/drawing/2014/main" id="{40E6B53B-2C60-2002-9C53-5BAE85B166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16" y="2218966"/>
            <a:ext cx="1456814" cy="9365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C3726-9F01-178F-BAA5-3054453BB16B}"/>
              </a:ext>
            </a:extLst>
          </p:cNvPr>
          <p:cNvSpPr>
            <a:spLocks noGrp="1"/>
          </p:cNvSpPr>
          <p:nvPr>
            <p:ph type="title"/>
          </p:nvPr>
        </p:nvSpPr>
        <p:spPr/>
        <p:txBody>
          <a:bodyPr/>
          <a:lstStyle/>
          <a:p>
            <a:r>
              <a:rPr lang="en-IN" dirty="0"/>
              <a:t>E.g. MVC - Shopping list app</a:t>
            </a:r>
          </a:p>
        </p:txBody>
      </p:sp>
      <p:sp>
        <p:nvSpPr>
          <p:cNvPr id="3" name="Content Placeholder 2">
            <a:extLst>
              <a:ext uri="{FF2B5EF4-FFF2-40B4-BE49-F238E27FC236}">
                <a16:creationId xmlns:a16="http://schemas.microsoft.com/office/drawing/2014/main" id="{8C9C34E2-4F76-3A2F-736D-7B7D06F942BD}"/>
              </a:ext>
            </a:extLst>
          </p:cNvPr>
          <p:cNvSpPr>
            <a:spLocks noGrp="1"/>
          </p:cNvSpPr>
          <p:nvPr>
            <p:ph idx="1"/>
          </p:nvPr>
        </p:nvSpPr>
        <p:spPr/>
        <p:txBody>
          <a:bodyPr/>
          <a:lstStyle/>
          <a:p>
            <a:r>
              <a:rPr lang="en-US" sz="2400" dirty="0">
                <a:hlinkClick r:id="rId2"/>
              </a:rPr>
              <a:t>The Model</a:t>
            </a:r>
            <a:endParaRPr lang="en-US" sz="2400" dirty="0"/>
          </a:p>
          <a:p>
            <a:r>
              <a:rPr lang="en-US" sz="2400" dirty="0"/>
              <a:t>The model defines what data the app should contain. If the state of this data changes, then the model will usually notify the view (so the display can change as needed) and sometimes the controller (if different logic is needed to control the updated view).</a:t>
            </a:r>
          </a:p>
          <a:p>
            <a:pPr marL="0" indent="0">
              <a:buNone/>
            </a:pPr>
            <a:r>
              <a:rPr lang="en-US" sz="2400" dirty="0" err="1"/>
              <a:t>E.g</a:t>
            </a:r>
            <a:r>
              <a:rPr lang="en-US" sz="2400" dirty="0"/>
              <a:t> Shopping list app, the model would specify what data the list items should contain — item, price, etc. — and what list items are already present.</a:t>
            </a:r>
          </a:p>
          <a:p>
            <a:r>
              <a:rPr lang="en-US" sz="2400" dirty="0">
                <a:hlinkClick r:id="rId3"/>
              </a:rPr>
              <a:t>The View</a:t>
            </a:r>
            <a:endParaRPr lang="en-US" sz="2400" dirty="0"/>
          </a:p>
          <a:p>
            <a:r>
              <a:rPr lang="en-US" sz="2400" dirty="0"/>
              <a:t>In shopping list app, the view would define how the list is presented to the user, and receive the data to display from the model.</a:t>
            </a:r>
          </a:p>
          <a:p>
            <a:endParaRPr lang="en-IN" sz="2400" dirty="0"/>
          </a:p>
        </p:txBody>
      </p:sp>
      <p:sp>
        <p:nvSpPr>
          <p:cNvPr id="4" name="Footer Placeholder 3">
            <a:extLst>
              <a:ext uri="{FF2B5EF4-FFF2-40B4-BE49-F238E27FC236}">
                <a16:creationId xmlns:a16="http://schemas.microsoft.com/office/drawing/2014/main" id="{61AE68FF-F7ED-5C63-4934-0CB253011487}"/>
              </a:ext>
            </a:extLst>
          </p:cNvPr>
          <p:cNvSpPr>
            <a:spLocks noGrp="1"/>
          </p:cNvSpPr>
          <p:nvPr>
            <p:ph type="ftr" sz="quarter" idx="11"/>
          </p:nvPr>
        </p:nvSpPr>
        <p:spPr/>
        <p:txBody>
          <a:bodyPr/>
          <a:lstStyle/>
          <a:p>
            <a:pPr>
              <a:defRPr/>
            </a:pPr>
            <a:r>
              <a:rPr lang="en-US"/>
              <a:t>Prepared by Renetha J.B.</a:t>
            </a:r>
            <a:endParaRPr lang="en-US" dirty="0"/>
          </a:p>
        </p:txBody>
      </p:sp>
      <p:sp>
        <p:nvSpPr>
          <p:cNvPr id="5" name="Slide Number Placeholder 4">
            <a:extLst>
              <a:ext uri="{FF2B5EF4-FFF2-40B4-BE49-F238E27FC236}">
                <a16:creationId xmlns:a16="http://schemas.microsoft.com/office/drawing/2014/main" id="{9433404C-DF8A-1997-9E4B-DB118E1C0452}"/>
              </a:ext>
            </a:extLst>
          </p:cNvPr>
          <p:cNvSpPr>
            <a:spLocks noGrp="1"/>
          </p:cNvSpPr>
          <p:nvPr>
            <p:ph type="sldNum" sz="quarter" idx="12"/>
          </p:nvPr>
        </p:nvSpPr>
        <p:spPr/>
        <p:txBody>
          <a:bodyPr/>
          <a:lstStyle/>
          <a:p>
            <a:pPr>
              <a:defRPr/>
            </a:pPr>
            <a:fld id="{7C760612-1CE6-4420-A721-C80A19F352D5}" type="slidenum">
              <a:rPr lang="en-US" smtClean="0"/>
              <a:pPr>
                <a:defRPr/>
              </a:pPr>
              <a:t>6</a:t>
            </a:fld>
            <a:endParaRPr lang="en-US" dirty="0"/>
          </a:p>
        </p:txBody>
      </p:sp>
    </p:spTree>
    <p:extLst>
      <p:ext uri="{BB962C8B-B14F-4D97-AF65-F5344CB8AC3E}">
        <p14:creationId xmlns:p14="http://schemas.microsoft.com/office/powerpoint/2010/main" val="3207447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E8F37-FE85-7805-4E9D-A5667A31139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F8B6860-ACE0-B703-E6F5-84EF212252A2}"/>
              </a:ext>
            </a:extLst>
          </p:cNvPr>
          <p:cNvSpPr>
            <a:spLocks noGrp="1"/>
          </p:cNvSpPr>
          <p:nvPr>
            <p:ph idx="1"/>
          </p:nvPr>
        </p:nvSpPr>
        <p:spPr/>
        <p:txBody>
          <a:bodyPr/>
          <a:lstStyle/>
          <a:p>
            <a:r>
              <a:rPr lang="en-US" sz="2400" dirty="0">
                <a:hlinkClick r:id="rId2"/>
              </a:rPr>
              <a:t>The Controller</a:t>
            </a:r>
            <a:endParaRPr lang="en-US" sz="2400" dirty="0"/>
          </a:p>
          <a:p>
            <a:r>
              <a:rPr lang="en-US" sz="2400" dirty="0"/>
              <a:t>The controller contains </a:t>
            </a:r>
            <a:r>
              <a:rPr lang="en-US" sz="2400" b="1" u="sng" dirty="0"/>
              <a:t>logic</a:t>
            </a:r>
            <a:r>
              <a:rPr lang="en-US" sz="2400" u="sng" dirty="0"/>
              <a:t> that updates the model and/or view in response to input from the users </a:t>
            </a:r>
            <a:r>
              <a:rPr lang="en-US" sz="2400" dirty="0"/>
              <a:t>of the app.</a:t>
            </a:r>
          </a:p>
          <a:p>
            <a:endParaRPr lang="en-US" sz="2400" dirty="0"/>
          </a:p>
          <a:p>
            <a:r>
              <a:rPr lang="en-US" sz="2400" dirty="0"/>
              <a:t>Shopping list app could have input forms and buttons that allow us to add or delete items. </a:t>
            </a:r>
          </a:p>
          <a:p>
            <a:pPr lvl="1"/>
            <a:r>
              <a:rPr lang="en-US" sz="2200" dirty="0"/>
              <a:t>These actions require the model to be updated, so the input is sent to the controller, which then manipulates the model as appropriate, which then sends updated data to the view.</a:t>
            </a:r>
          </a:p>
          <a:p>
            <a:endParaRPr lang="en-IN" sz="2400" dirty="0"/>
          </a:p>
        </p:txBody>
      </p:sp>
      <p:sp>
        <p:nvSpPr>
          <p:cNvPr id="4" name="Footer Placeholder 3">
            <a:extLst>
              <a:ext uri="{FF2B5EF4-FFF2-40B4-BE49-F238E27FC236}">
                <a16:creationId xmlns:a16="http://schemas.microsoft.com/office/drawing/2014/main" id="{5C38C99B-F8FF-68F8-0D6E-BE428DADD9AE}"/>
              </a:ext>
            </a:extLst>
          </p:cNvPr>
          <p:cNvSpPr>
            <a:spLocks noGrp="1"/>
          </p:cNvSpPr>
          <p:nvPr>
            <p:ph type="ftr" sz="quarter" idx="11"/>
          </p:nvPr>
        </p:nvSpPr>
        <p:spPr/>
        <p:txBody>
          <a:bodyPr/>
          <a:lstStyle/>
          <a:p>
            <a:pPr>
              <a:defRPr/>
            </a:pPr>
            <a:r>
              <a:rPr lang="en-US"/>
              <a:t>Prepared by Renetha J.B.</a:t>
            </a:r>
            <a:endParaRPr lang="en-US" dirty="0"/>
          </a:p>
        </p:txBody>
      </p:sp>
      <p:sp>
        <p:nvSpPr>
          <p:cNvPr id="5" name="Slide Number Placeholder 4">
            <a:extLst>
              <a:ext uri="{FF2B5EF4-FFF2-40B4-BE49-F238E27FC236}">
                <a16:creationId xmlns:a16="http://schemas.microsoft.com/office/drawing/2014/main" id="{FA5248BE-6B0F-B2B2-0229-9A041B8BDD60}"/>
              </a:ext>
            </a:extLst>
          </p:cNvPr>
          <p:cNvSpPr>
            <a:spLocks noGrp="1"/>
          </p:cNvSpPr>
          <p:nvPr>
            <p:ph type="sldNum" sz="quarter" idx="12"/>
          </p:nvPr>
        </p:nvSpPr>
        <p:spPr/>
        <p:txBody>
          <a:bodyPr/>
          <a:lstStyle/>
          <a:p>
            <a:pPr>
              <a:defRPr/>
            </a:pPr>
            <a:fld id="{7C760612-1CE6-4420-A721-C80A19F352D5}" type="slidenum">
              <a:rPr lang="en-US" smtClean="0"/>
              <a:pPr>
                <a:defRPr/>
              </a:pPr>
              <a:t>7</a:t>
            </a:fld>
            <a:endParaRPr lang="en-US" dirty="0"/>
          </a:p>
        </p:txBody>
      </p:sp>
    </p:spTree>
    <p:extLst>
      <p:ext uri="{BB962C8B-B14F-4D97-AF65-F5344CB8AC3E}">
        <p14:creationId xmlns:p14="http://schemas.microsoft.com/office/powerpoint/2010/main" val="92088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A92ED-545E-048E-406D-7D6DAAAC831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022B008-6AA2-106F-6FDC-6AF2E52B4D44}"/>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87F789BA-A35B-6040-ABAC-8E613A15750A}"/>
              </a:ext>
            </a:extLst>
          </p:cNvPr>
          <p:cNvSpPr>
            <a:spLocks noGrp="1"/>
          </p:cNvSpPr>
          <p:nvPr>
            <p:ph type="ftr" sz="quarter" idx="11"/>
          </p:nvPr>
        </p:nvSpPr>
        <p:spPr/>
        <p:txBody>
          <a:bodyPr/>
          <a:lstStyle/>
          <a:p>
            <a:pPr>
              <a:defRPr/>
            </a:pPr>
            <a:r>
              <a:rPr lang="en-US"/>
              <a:t>Prepared by Renetha J.B.</a:t>
            </a:r>
            <a:endParaRPr lang="en-US" dirty="0"/>
          </a:p>
        </p:txBody>
      </p:sp>
      <p:sp>
        <p:nvSpPr>
          <p:cNvPr id="5" name="Slide Number Placeholder 4">
            <a:extLst>
              <a:ext uri="{FF2B5EF4-FFF2-40B4-BE49-F238E27FC236}">
                <a16:creationId xmlns:a16="http://schemas.microsoft.com/office/drawing/2014/main" id="{B621672D-E9C4-AF3F-77EA-07264EE25CDE}"/>
              </a:ext>
            </a:extLst>
          </p:cNvPr>
          <p:cNvSpPr>
            <a:spLocks noGrp="1"/>
          </p:cNvSpPr>
          <p:nvPr>
            <p:ph type="sldNum" sz="quarter" idx="12"/>
          </p:nvPr>
        </p:nvSpPr>
        <p:spPr/>
        <p:txBody>
          <a:bodyPr/>
          <a:lstStyle/>
          <a:p>
            <a:pPr>
              <a:defRPr/>
            </a:pPr>
            <a:fld id="{7C760612-1CE6-4420-A721-C80A19F352D5}" type="slidenum">
              <a:rPr lang="en-US" smtClean="0"/>
              <a:pPr>
                <a:defRPr/>
              </a:pPr>
              <a:t>8</a:t>
            </a:fld>
            <a:endParaRPr lang="en-US" dirty="0"/>
          </a:p>
        </p:txBody>
      </p:sp>
      <p:pic>
        <p:nvPicPr>
          <p:cNvPr id="7" name="Picture 6">
            <a:extLst>
              <a:ext uri="{FF2B5EF4-FFF2-40B4-BE49-F238E27FC236}">
                <a16:creationId xmlns:a16="http://schemas.microsoft.com/office/drawing/2014/main" id="{BE7D4DF2-BB59-4452-346A-6AD89CDD4100}"/>
              </a:ext>
            </a:extLst>
          </p:cNvPr>
          <p:cNvPicPr>
            <a:picLocks noChangeAspect="1"/>
          </p:cNvPicPr>
          <p:nvPr/>
        </p:nvPicPr>
        <p:blipFill>
          <a:blip r:embed="rId2"/>
          <a:stretch>
            <a:fillRect/>
          </a:stretch>
        </p:blipFill>
        <p:spPr>
          <a:xfrm>
            <a:off x="89862" y="618733"/>
            <a:ext cx="8964276" cy="5620534"/>
          </a:xfrm>
          <a:prstGeom prst="rect">
            <a:avLst/>
          </a:prstGeom>
        </p:spPr>
      </p:pic>
    </p:spTree>
    <p:extLst>
      <p:ext uri="{BB962C8B-B14F-4D97-AF65-F5344CB8AC3E}">
        <p14:creationId xmlns:p14="http://schemas.microsoft.com/office/powerpoint/2010/main" val="1147285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MVC(</a:t>
            </a:r>
            <a:r>
              <a:rPr lang="en-US" b="0" dirty="0"/>
              <a:t>contd.)</a:t>
            </a:r>
            <a:endParaRPr lang="en-US" dirty="0"/>
          </a:p>
        </p:txBody>
      </p:sp>
      <p:sp>
        <p:nvSpPr>
          <p:cNvPr id="3" name="Content Placeholder 2"/>
          <p:cNvSpPr>
            <a:spLocks noGrp="1"/>
          </p:cNvSpPr>
          <p:nvPr>
            <p:ph idx="1"/>
          </p:nvPr>
        </p:nvSpPr>
        <p:spPr/>
        <p:txBody>
          <a:bodyPr/>
          <a:lstStyle/>
          <a:p>
            <a:pPr>
              <a:lnSpc>
                <a:spcPct val="150000"/>
              </a:lnSpc>
            </a:pPr>
            <a:r>
              <a:rPr lang="en-US" sz="2400" dirty="0"/>
              <a:t>By </a:t>
            </a:r>
            <a:r>
              <a:rPr lang="en-US" sz="2400" u="sng" dirty="0"/>
              <a:t>separating a component into a model, a view, and a controller</a:t>
            </a:r>
            <a:r>
              <a:rPr lang="en-US" sz="2400" dirty="0"/>
              <a:t>, the </a:t>
            </a:r>
            <a:r>
              <a:rPr lang="en-US" sz="2400" i="1" dirty="0"/>
              <a:t>specific implementation of each can be changed</a:t>
            </a:r>
            <a:r>
              <a:rPr lang="en-US" sz="2400" dirty="0"/>
              <a:t> </a:t>
            </a:r>
            <a:r>
              <a:rPr lang="en-US" sz="2400" b="1" dirty="0"/>
              <a:t>without affecting the other two</a:t>
            </a:r>
            <a:r>
              <a:rPr lang="en-US" sz="2400" dirty="0"/>
              <a:t>. </a:t>
            </a:r>
          </a:p>
          <a:p>
            <a:pPr>
              <a:lnSpc>
                <a:spcPct val="150000"/>
              </a:lnSpc>
            </a:pPr>
            <a:r>
              <a:rPr lang="en-US" sz="2400" dirty="0"/>
              <a:t>Swing uses a </a:t>
            </a:r>
            <a:r>
              <a:rPr lang="en-US" sz="2400" dirty="0">
                <a:solidFill>
                  <a:schemeClr val="tx2"/>
                </a:solidFill>
              </a:rPr>
              <a:t>modified version of MVC</a:t>
            </a:r>
            <a:r>
              <a:rPr lang="en-US" sz="2400" dirty="0"/>
              <a:t> that </a:t>
            </a:r>
            <a:r>
              <a:rPr lang="en-US" sz="2400" b="1" dirty="0"/>
              <a:t>combines the </a:t>
            </a:r>
            <a:r>
              <a:rPr lang="en-US" sz="2400" b="1" dirty="0">
                <a:solidFill>
                  <a:srgbClr val="C00000"/>
                </a:solidFill>
              </a:rPr>
              <a:t>view </a:t>
            </a:r>
            <a:r>
              <a:rPr lang="en-US" sz="2400" b="1" dirty="0"/>
              <a:t>and</a:t>
            </a:r>
            <a:r>
              <a:rPr lang="en-US" sz="2400" b="1" dirty="0">
                <a:solidFill>
                  <a:srgbClr val="C00000"/>
                </a:solidFill>
              </a:rPr>
              <a:t> the controller </a:t>
            </a:r>
            <a:r>
              <a:rPr lang="en-US" sz="2400" b="1" dirty="0"/>
              <a:t>into a single logical entity</a:t>
            </a:r>
            <a:r>
              <a:rPr lang="en-US" sz="2400" dirty="0"/>
              <a:t> called the </a:t>
            </a:r>
            <a:r>
              <a:rPr lang="en-US" sz="2400" b="1" i="1" dirty="0">
                <a:solidFill>
                  <a:srgbClr val="C00000"/>
                </a:solidFill>
              </a:rPr>
              <a:t>UI delegate</a:t>
            </a:r>
            <a:r>
              <a:rPr lang="en-US" sz="2400" i="1" dirty="0"/>
              <a:t>. </a:t>
            </a:r>
          </a:p>
          <a:p>
            <a:pPr lvl="1">
              <a:lnSpc>
                <a:spcPct val="150000"/>
              </a:lnSpc>
            </a:pPr>
            <a:r>
              <a:rPr lang="en-US" dirty="0"/>
              <a:t>So, Swing’s approach is called either the </a:t>
            </a:r>
            <a:r>
              <a:rPr lang="en-US" dirty="0">
                <a:solidFill>
                  <a:srgbClr val="C00000"/>
                </a:solidFill>
              </a:rPr>
              <a:t>Model-Delegate architecture</a:t>
            </a:r>
            <a:r>
              <a:rPr lang="en-US" dirty="0"/>
              <a:t> or the </a:t>
            </a:r>
            <a:r>
              <a:rPr lang="en-US" dirty="0">
                <a:solidFill>
                  <a:srgbClr val="0000CC"/>
                </a:solidFill>
              </a:rPr>
              <a:t>Separable Model architecture</a:t>
            </a:r>
            <a:r>
              <a:rPr lang="en-US" dirty="0"/>
              <a:t>.</a:t>
            </a:r>
          </a:p>
        </p:txBody>
      </p:sp>
      <p:sp>
        <p:nvSpPr>
          <p:cNvPr id="4" name="Footer Placeholder 3"/>
          <p:cNvSpPr>
            <a:spLocks noGrp="1"/>
          </p:cNvSpPr>
          <p:nvPr>
            <p:ph type="ftr" sz="quarter" idx="11"/>
          </p:nvPr>
        </p:nvSpPr>
        <p:spPr/>
        <p:txBody>
          <a:bodyPr/>
          <a:lstStyle/>
          <a:p>
            <a:pPr>
              <a:defRPr/>
            </a:pPr>
            <a:r>
              <a:rPr lang="en-US"/>
              <a:t>Prepared by Renetha J.B.</a:t>
            </a:r>
            <a:endParaRPr lang="en-US" dirty="0"/>
          </a:p>
        </p:txBody>
      </p:sp>
      <p:sp>
        <p:nvSpPr>
          <p:cNvPr id="5" name="Slide Number Placeholder 4"/>
          <p:cNvSpPr>
            <a:spLocks noGrp="1"/>
          </p:cNvSpPr>
          <p:nvPr>
            <p:ph type="sldNum" sz="quarter" idx="12"/>
          </p:nvPr>
        </p:nvSpPr>
        <p:spPr/>
        <p:txBody>
          <a:bodyPr/>
          <a:lstStyle/>
          <a:p>
            <a:pPr>
              <a:defRPr/>
            </a:pPr>
            <a:fld id="{7C760612-1CE6-4420-A721-C80A19F352D5}" type="slidenum">
              <a:rPr lang="en-US" smtClean="0"/>
              <a:pPr>
                <a:defRPr/>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DEF13-44E2-F01B-6937-148E2BDC5B8F}"/>
              </a:ext>
            </a:extLst>
          </p:cNvPr>
          <p:cNvSpPr>
            <a:spLocks noGrp="1"/>
          </p:cNvSpPr>
          <p:nvPr>
            <p:ph type="title"/>
          </p:nvPr>
        </p:nvSpPr>
        <p:spPr/>
        <p:txBody>
          <a:bodyPr/>
          <a:lstStyle/>
          <a:p>
            <a:r>
              <a:rPr lang="en-IN" dirty="0"/>
              <a:t>MVC(contd.)</a:t>
            </a:r>
          </a:p>
        </p:txBody>
      </p:sp>
      <p:sp>
        <p:nvSpPr>
          <p:cNvPr id="3" name="Content Placeholder 2">
            <a:extLst>
              <a:ext uri="{FF2B5EF4-FFF2-40B4-BE49-F238E27FC236}">
                <a16:creationId xmlns:a16="http://schemas.microsoft.com/office/drawing/2014/main" id="{34F39C1F-313B-B309-E8A5-405FDC829683}"/>
              </a:ext>
            </a:extLst>
          </p:cNvPr>
          <p:cNvSpPr>
            <a:spLocks noGrp="1"/>
          </p:cNvSpPr>
          <p:nvPr>
            <p:ph idx="1"/>
          </p:nvPr>
        </p:nvSpPr>
        <p:spPr/>
        <p:txBody>
          <a:bodyPr/>
          <a:lstStyle/>
          <a:p>
            <a:pPr>
              <a:lnSpc>
                <a:spcPct val="150000"/>
              </a:lnSpc>
            </a:pPr>
            <a:r>
              <a:rPr lang="en-US" sz="2800" dirty="0"/>
              <a:t>Swing’s pluggable look and feel is made possible by its Model-Delegate architecture.</a:t>
            </a:r>
          </a:p>
          <a:p>
            <a:pPr>
              <a:lnSpc>
                <a:spcPct val="150000"/>
              </a:lnSpc>
            </a:pPr>
            <a:r>
              <a:rPr lang="en-US" sz="2800" dirty="0"/>
              <a:t>Because the view (look) and controller (feel) are </a:t>
            </a:r>
            <a:r>
              <a:rPr lang="en-US" sz="2800" b="1" i="1" dirty="0"/>
              <a:t>separate</a:t>
            </a:r>
            <a:r>
              <a:rPr lang="en-US" sz="2800" dirty="0"/>
              <a:t> from the model, the </a:t>
            </a:r>
            <a:r>
              <a:rPr lang="en-US" sz="2800" u="sng" dirty="0"/>
              <a:t>look and feel can be changed without affecting how the component is used within a program</a:t>
            </a:r>
            <a:r>
              <a:rPr lang="en-US" sz="2800" dirty="0"/>
              <a:t>.</a:t>
            </a:r>
            <a:endParaRPr lang="en-US" dirty="0"/>
          </a:p>
          <a:p>
            <a:pPr>
              <a:lnSpc>
                <a:spcPct val="150000"/>
              </a:lnSpc>
            </a:pPr>
            <a:endParaRPr lang="en-IN" dirty="0"/>
          </a:p>
        </p:txBody>
      </p:sp>
      <p:sp>
        <p:nvSpPr>
          <p:cNvPr id="4" name="Footer Placeholder 3">
            <a:extLst>
              <a:ext uri="{FF2B5EF4-FFF2-40B4-BE49-F238E27FC236}">
                <a16:creationId xmlns:a16="http://schemas.microsoft.com/office/drawing/2014/main" id="{AF1C2155-2BEA-D1D2-1639-DA5C0EB0513E}"/>
              </a:ext>
            </a:extLst>
          </p:cNvPr>
          <p:cNvSpPr>
            <a:spLocks noGrp="1"/>
          </p:cNvSpPr>
          <p:nvPr>
            <p:ph type="ftr" sz="quarter" idx="11"/>
          </p:nvPr>
        </p:nvSpPr>
        <p:spPr/>
        <p:txBody>
          <a:bodyPr/>
          <a:lstStyle/>
          <a:p>
            <a:pPr>
              <a:defRPr/>
            </a:pPr>
            <a:r>
              <a:rPr lang="en-US"/>
              <a:t>Prepared by Renetha J.B.</a:t>
            </a:r>
            <a:endParaRPr lang="en-US" dirty="0"/>
          </a:p>
        </p:txBody>
      </p:sp>
      <p:sp>
        <p:nvSpPr>
          <p:cNvPr id="5" name="Slide Number Placeholder 4">
            <a:extLst>
              <a:ext uri="{FF2B5EF4-FFF2-40B4-BE49-F238E27FC236}">
                <a16:creationId xmlns:a16="http://schemas.microsoft.com/office/drawing/2014/main" id="{D02C940A-3352-1495-A5A7-6F0BC7B16779}"/>
              </a:ext>
            </a:extLst>
          </p:cNvPr>
          <p:cNvSpPr>
            <a:spLocks noGrp="1"/>
          </p:cNvSpPr>
          <p:nvPr>
            <p:ph type="sldNum" sz="quarter" idx="12"/>
          </p:nvPr>
        </p:nvSpPr>
        <p:spPr/>
        <p:txBody>
          <a:bodyPr/>
          <a:lstStyle/>
          <a:p>
            <a:pPr>
              <a:defRPr/>
            </a:pPr>
            <a:fld id="{7C760612-1CE6-4420-A721-C80A19F352D5}" type="slidenum">
              <a:rPr lang="en-US" smtClean="0"/>
              <a:pPr>
                <a:defRPr/>
              </a:pPr>
              <a:t>10</a:t>
            </a:fld>
            <a:endParaRPr lang="en-US" dirty="0"/>
          </a:p>
        </p:txBody>
      </p:sp>
    </p:spTree>
    <p:extLst>
      <p:ext uri="{BB962C8B-B14F-4D97-AF65-F5344CB8AC3E}">
        <p14:creationId xmlns:p14="http://schemas.microsoft.com/office/powerpoint/2010/main" val="1025157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MVC(</a:t>
            </a:r>
            <a:r>
              <a:rPr lang="en-US" b="0" dirty="0"/>
              <a:t>contd.)</a:t>
            </a:r>
            <a:endParaRPr lang="en-US" dirty="0"/>
          </a:p>
        </p:txBody>
      </p:sp>
      <p:sp>
        <p:nvSpPr>
          <p:cNvPr id="3" name="Content Placeholder 2"/>
          <p:cNvSpPr>
            <a:spLocks noGrp="1"/>
          </p:cNvSpPr>
          <p:nvPr>
            <p:ph idx="1"/>
          </p:nvPr>
        </p:nvSpPr>
        <p:spPr/>
        <p:txBody>
          <a:bodyPr/>
          <a:lstStyle/>
          <a:p>
            <a:pPr>
              <a:lnSpc>
                <a:spcPct val="150000"/>
              </a:lnSpc>
            </a:pPr>
            <a:r>
              <a:rPr lang="en-US" dirty="0"/>
              <a:t>To support the Model-Delegate architecture, most Swing components contain two objects.</a:t>
            </a:r>
          </a:p>
          <a:p>
            <a:pPr lvl="1">
              <a:lnSpc>
                <a:spcPct val="150000"/>
              </a:lnSpc>
            </a:pPr>
            <a:r>
              <a:rPr lang="en-US" dirty="0"/>
              <a:t>The first represents the </a:t>
            </a:r>
            <a:r>
              <a:rPr lang="en-US" b="1" dirty="0"/>
              <a:t>model</a:t>
            </a:r>
            <a:r>
              <a:rPr lang="en-US" dirty="0"/>
              <a:t>. </a:t>
            </a:r>
          </a:p>
          <a:p>
            <a:pPr lvl="2">
              <a:lnSpc>
                <a:spcPct val="150000"/>
              </a:lnSpc>
            </a:pPr>
            <a:r>
              <a:rPr lang="en-US" dirty="0"/>
              <a:t>Models are defined by interfaces</a:t>
            </a:r>
          </a:p>
          <a:p>
            <a:pPr lvl="1">
              <a:lnSpc>
                <a:spcPct val="150000"/>
              </a:lnSpc>
            </a:pPr>
            <a:r>
              <a:rPr lang="en-US" dirty="0"/>
              <a:t>The second represents the </a:t>
            </a:r>
            <a:r>
              <a:rPr lang="en-US" b="1" dirty="0"/>
              <a:t>UI delegate</a:t>
            </a:r>
            <a:r>
              <a:rPr lang="en-US" dirty="0"/>
              <a:t>.</a:t>
            </a:r>
          </a:p>
          <a:p>
            <a:pPr lvl="2">
              <a:lnSpc>
                <a:spcPct val="150000"/>
              </a:lnSpc>
            </a:pPr>
            <a:r>
              <a:rPr lang="en-US" dirty="0"/>
              <a:t>UI delegates are classes that inherit </a:t>
            </a:r>
            <a:r>
              <a:rPr lang="en-US" b="1" dirty="0" err="1"/>
              <a:t>ComponentUI</a:t>
            </a:r>
            <a:r>
              <a:rPr lang="en-US" b="1" dirty="0"/>
              <a:t>.</a:t>
            </a:r>
          </a:p>
          <a:p>
            <a:pPr lvl="2">
              <a:lnSpc>
                <a:spcPct val="150000"/>
              </a:lnSpc>
              <a:buNone/>
            </a:pPr>
            <a:endParaRPr lang="en-US" dirty="0"/>
          </a:p>
        </p:txBody>
      </p:sp>
      <p:sp>
        <p:nvSpPr>
          <p:cNvPr id="4" name="Footer Placeholder 3"/>
          <p:cNvSpPr>
            <a:spLocks noGrp="1"/>
          </p:cNvSpPr>
          <p:nvPr>
            <p:ph type="ftr" sz="quarter" idx="11"/>
          </p:nvPr>
        </p:nvSpPr>
        <p:spPr/>
        <p:txBody>
          <a:bodyPr/>
          <a:lstStyle/>
          <a:p>
            <a:pPr>
              <a:defRPr/>
            </a:pPr>
            <a:r>
              <a:rPr lang="en-US"/>
              <a:t>Prepared by Renetha J.B.</a:t>
            </a:r>
            <a:endParaRPr lang="en-US" dirty="0"/>
          </a:p>
        </p:txBody>
      </p:sp>
      <p:sp>
        <p:nvSpPr>
          <p:cNvPr id="5" name="Slide Number Placeholder 4"/>
          <p:cNvSpPr>
            <a:spLocks noGrp="1"/>
          </p:cNvSpPr>
          <p:nvPr>
            <p:ph type="sldNum" sz="quarter" idx="12"/>
          </p:nvPr>
        </p:nvSpPr>
        <p:spPr/>
        <p:txBody>
          <a:bodyPr/>
          <a:lstStyle/>
          <a:p>
            <a:pPr>
              <a:defRPr/>
            </a:pPr>
            <a:fld id="{7C760612-1CE6-4420-A721-C80A19F352D5}" type="slidenum">
              <a:rPr lang="en-US" smtClean="0"/>
              <a:pPr>
                <a:defRPr/>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Swing Controls</a:t>
            </a:r>
          </a:p>
        </p:txBody>
      </p:sp>
      <p:sp>
        <p:nvSpPr>
          <p:cNvPr id="3" name="Content Placeholder 2"/>
          <p:cNvSpPr>
            <a:spLocks noGrp="1"/>
          </p:cNvSpPr>
          <p:nvPr>
            <p:ph idx="1"/>
          </p:nvPr>
        </p:nvSpPr>
        <p:spPr/>
        <p:txBody>
          <a:bodyPr/>
          <a:lstStyle/>
          <a:p>
            <a:r>
              <a:rPr lang="en-US" dirty="0"/>
              <a:t>Swing controls plays major role in swing applications, every application will have some components and their corresponding event listener. </a:t>
            </a:r>
          </a:p>
          <a:p>
            <a:r>
              <a:rPr lang="en-US" dirty="0"/>
              <a:t>Swing controls will inherit the properties from following classes.</a:t>
            </a:r>
          </a:p>
          <a:p>
            <a:pPr lvl="1"/>
            <a:r>
              <a:rPr lang="en-US" dirty="0"/>
              <a:t>Component</a:t>
            </a:r>
          </a:p>
          <a:p>
            <a:pPr lvl="1"/>
            <a:r>
              <a:rPr lang="en-US" dirty="0"/>
              <a:t>Container</a:t>
            </a:r>
          </a:p>
          <a:p>
            <a:pPr lvl="1"/>
            <a:r>
              <a:rPr lang="en-US" dirty="0" err="1"/>
              <a:t>JComponent</a:t>
            </a:r>
            <a:r>
              <a:rPr lang="en-US" dirty="0"/>
              <a:t>.</a:t>
            </a:r>
          </a:p>
          <a:p>
            <a:pPr lvl="1"/>
            <a:endParaRPr lang="en-US" dirty="0"/>
          </a:p>
        </p:txBody>
      </p:sp>
      <p:sp>
        <p:nvSpPr>
          <p:cNvPr id="4" name="Footer Placeholder 3"/>
          <p:cNvSpPr>
            <a:spLocks noGrp="1"/>
          </p:cNvSpPr>
          <p:nvPr>
            <p:ph type="ftr" sz="quarter" idx="11"/>
          </p:nvPr>
        </p:nvSpPr>
        <p:spPr/>
        <p:txBody>
          <a:bodyPr/>
          <a:lstStyle/>
          <a:p>
            <a:pPr>
              <a:defRPr/>
            </a:pPr>
            <a:r>
              <a:rPr lang="en-US"/>
              <a:t>Prepared by Renetha J.B.</a:t>
            </a:r>
            <a:endParaRPr lang="en-US" dirty="0"/>
          </a:p>
        </p:txBody>
      </p:sp>
      <p:sp>
        <p:nvSpPr>
          <p:cNvPr id="5" name="Slide Number Placeholder 4"/>
          <p:cNvSpPr>
            <a:spLocks noGrp="1"/>
          </p:cNvSpPr>
          <p:nvPr>
            <p:ph type="sldNum" sz="quarter" idx="12"/>
          </p:nvPr>
        </p:nvSpPr>
        <p:spPr/>
        <p:txBody>
          <a:bodyPr/>
          <a:lstStyle/>
          <a:p>
            <a:pPr>
              <a:defRPr/>
            </a:pPr>
            <a:fld id="{7C760612-1CE6-4420-A721-C80A19F352D5}" type="slidenum">
              <a:rPr lang="en-US" smtClean="0"/>
              <a:pPr>
                <a:defRPr/>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Components and Containers</a:t>
            </a:r>
          </a:p>
        </p:txBody>
      </p:sp>
      <p:sp>
        <p:nvSpPr>
          <p:cNvPr id="3" name="Content Placeholder 2"/>
          <p:cNvSpPr>
            <a:spLocks noGrp="1"/>
          </p:cNvSpPr>
          <p:nvPr>
            <p:ph idx="1"/>
          </p:nvPr>
        </p:nvSpPr>
        <p:spPr/>
        <p:txBody>
          <a:bodyPr/>
          <a:lstStyle/>
          <a:p>
            <a:pPr>
              <a:lnSpc>
                <a:spcPct val="150000"/>
              </a:lnSpc>
            </a:pPr>
            <a:r>
              <a:rPr lang="en-US" sz="2400" dirty="0"/>
              <a:t>A Swing GUI consists of two key items: </a:t>
            </a:r>
            <a:r>
              <a:rPr lang="en-US" sz="2400" b="1" i="1" dirty="0">
                <a:solidFill>
                  <a:srgbClr val="0000CC"/>
                </a:solidFill>
              </a:rPr>
              <a:t>components</a:t>
            </a:r>
            <a:r>
              <a:rPr lang="en-US" sz="2400" i="1" dirty="0"/>
              <a:t> </a:t>
            </a:r>
            <a:r>
              <a:rPr lang="en-US" sz="2400" dirty="0"/>
              <a:t>and</a:t>
            </a:r>
            <a:r>
              <a:rPr lang="en-US" sz="2400" i="1" dirty="0"/>
              <a:t> </a:t>
            </a:r>
            <a:r>
              <a:rPr lang="en-US" sz="2400" b="1" i="1" dirty="0">
                <a:solidFill>
                  <a:srgbClr val="C00000"/>
                </a:solidFill>
              </a:rPr>
              <a:t>containers</a:t>
            </a:r>
          </a:p>
          <a:p>
            <a:pPr>
              <a:lnSpc>
                <a:spcPct val="150000"/>
              </a:lnSpc>
            </a:pPr>
            <a:r>
              <a:rPr lang="en-US" sz="2400" dirty="0"/>
              <a:t>A container </a:t>
            </a:r>
            <a:r>
              <a:rPr lang="en-US" sz="2400" u="sng" dirty="0"/>
              <a:t>holds a group of components. </a:t>
            </a:r>
          </a:p>
          <a:p>
            <a:pPr lvl="1">
              <a:lnSpc>
                <a:spcPct val="150000"/>
              </a:lnSpc>
            </a:pPr>
            <a:r>
              <a:rPr lang="en-US" dirty="0"/>
              <a:t>So a </a:t>
            </a:r>
            <a:r>
              <a:rPr lang="en-US" b="1" dirty="0">
                <a:solidFill>
                  <a:srgbClr val="C00000"/>
                </a:solidFill>
              </a:rPr>
              <a:t>container</a:t>
            </a:r>
            <a:r>
              <a:rPr lang="en-US" dirty="0"/>
              <a:t> is a </a:t>
            </a:r>
            <a:r>
              <a:rPr lang="en-US" b="1" dirty="0"/>
              <a:t>special type of </a:t>
            </a:r>
            <a:r>
              <a:rPr lang="en-US" b="1" dirty="0">
                <a:solidFill>
                  <a:srgbClr val="0000CC"/>
                </a:solidFill>
              </a:rPr>
              <a:t>component</a:t>
            </a:r>
            <a:r>
              <a:rPr lang="en-US" b="1" dirty="0"/>
              <a:t> </a:t>
            </a:r>
            <a:r>
              <a:rPr lang="en-US" dirty="0"/>
              <a:t>that is designed to hold other components. </a:t>
            </a:r>
          </a:p>
          <a:p>
            <a:pPr lvl="1">
              <a:lnSpc>
                <a:spcPct val="150000"/>
              </a:lnSpc>
            </a:pPr>
            <a:r>
              <a:rPr lang="en-US" sz="2200" dirty="0"/>
              <a:t>i.e. To display a component, it must be held within a container.</a:t>
            </a:r>
          </a:p>
          <a:p>
            <a:pPr>
              <a:lnSpc>
                <a:spcPct val="150000"/>
              </a:lnSpc>
            </a:pPr>
            <a:r>
              <a:rPr lang="en-US" sz="2400" dirty="0"/>
              <a:t>So, all Swing GUIs will have at least one container.</a:t>
            </a:r>
          </a:p>
          <a:p>
            <a:pPr>
              <a:lnSpc>
                <a:spcPct val="150000"/>
              </a:lnSpc>
            </a:pPr>
            <a:r>
              <a:rPr lang="en-US" sz="2400" dirty="0"/>
              <a:t>Since containers are components, a </a:t>
            </a:r>
            <a:r>
              <a:rPr lang="en-US" sz="2400" i="1" dirty="0"/>
              <a:t>container can also hold other containers.</a:t>
            </a:r>
            <a:endParaRPr lang="en-US" sz="2400" b="1" i="1" dirty="0"/>
          </a:p>
        </p:txBody>
      </p:sp>
      <p:sp>
        <p:nvSpPr>
          <p:cNvPr id="4" name="Footer Placeholder 3"/>
          <p:cNvSpPr>
            <a:spLocks noGrp="1"/>
          </p:cNvSpPr>
          <p:nvPr>
            <p:ph type="ftr" sz="quarter" idx="11"/>
          </p:nvPr>
        </p:nvSpPr>
        <p:spPr/>
        <p:txBody>
          <a:bodyPr/>
          <a:lstStyle/>
          <a:p>
            <a:pPr>
              <a:defRPr/>
            </a:pPr>
            <a:r>
              <a:rPr lang="en-US"/>
              <a:t>Prepared by Renetha J.B.</a:t>
            </a:r>
            <a:endParaRPr lang="en-US" dirty="0"/>
          </a:p>
        </p:txBody>
      </p:sp>
      <p:sp>
        <p:nvSpPr>
          <p:cNvPr id="5" name="Slide Number Placeholder 4"/>
          <p:cNvSpPr>
            <a:spLocks noGrp="1"/>
          </p:cNvSpPr>
          <p:nvPr>
            <p:ph type="sldNum" sz="quarter" idx="12"/>
          </p:nvPr>
        </p:nvSpPr>
        <p:spPr/>
        <p:txBody>
          <a:bodyPr/>
          <a:lstStyle/>
          <a:p>
            <a:pPr>
              <a:defRPr/>
            </a:pPr>
            <a:fld id="{7C760612-1CE6-4420-A721-C80A19F352D5}" type="slidenum">
              <a:rPr lang="en-US" smtClean="0"/>
              <a:pPr>
                <a:defRPr/>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Components</a:t>
            </a:r>
          </a:p>
        </p:txBody>
      </p:sp>
      <p:sp>
        <p:nvSpPr>
          <p:cNvPr id="3" name="Content Placeholder 2"/>
          <p:cNvSpPr>
            <a:spLocks noGrp="1"/>
          </p:cNvSpPr>
          <p:nvPr>
            <p:ph idx="1"/>
          </p:nvPr>
        </p:nvSpPr>
        <p:spPr>
          <a:xfrm>
            <a:off x="457200" y="685800"/>
            <a:ext cx="8229600" cy="5867400"/>
          </a:xfrm>
        </p:spPr>
        <p:txBody>
          <a:bodyPr/>
          <a:lstStyle/>
          <a:p>
            <a:pPr>
              <a:lnSpc>
                <a:spcPct val="150000"/>
              </a:lnSpc>
            </a:pPr>
            <a:r>
              <a:rPr lang="en-US" sz="2400" dirty="0"/>
              <a:t>Swing components are derived from the </a:t>
            </a:r>
            <a:r>
              <a:rPr lang="en-US" sz="2400" b="1" dirty="0" err="1">
                <a:solidFill>
                  <a:srgbClr val="C00000"/>
                </a:solidFill>
              </a:rPr>
              <a:t>JComponent</a:t>
            </a:r>
            <a:r>
              <a:rPr lang="en-US" sz="2400" b="1" dirty="0"/>
              <a:t> class.</a:t>
            </a:r>
          </a:p>
          <a:p>
            <a:pPr>
              <a:lnSpc>
                <a:spcPct val="150000"/>
              </a:lnSpc>
            </a:pPr>
            <a:r>
              <a:rPr lang="en-US" sz="2400" b="1" dirty="0" err="1"/>
              <a:t>JComponent</a:t>
            </a:r>
            <a:r>
              <a:rPr lang="en-US" sz="2400" b="1" dirty="0"/>
              <a:t> </a:t>
            </a:r>
            <a:r>
              <a:rPr lang="en-US" sz="2400" dirty="0"/>
              <a:t>provides the </a:t>
            </a:r>
            <a:r>
              <a:rPr lang="en-US" sz="2400" b="1" i="1" u="sng" dirty="0"/>
              <a:t>functionality</a:t>
            </a:r>
            <a:r>
              <a:rPr lang="en-US" sz="2400" u="sng" dirty="0"/>
              <a:t> that is common to all components.</a:t>
            </a:r>
          </a:p>
          <a:p>
            <a:pPr lvl="1">
              <a:lnSpc>
                <a:spcPct val="150000"/>
              </a:lnSpc>
            </a:pPr>
            <a:r>
              <a:rPr lang="en-US" dirty="0" err="1"/>
              <a:t>E.g</a:t>
            </a:r>
            <a:r>
              <a:rPr lang="en-US" b="1" dirty="0"/>
              <a:t>  </a:t>
            </a:r>
            <a:r>
              <a:rPr lang="en-US" b="1" dirty="0" err="1"/>
              <a:t>JComponent</a:t>
            </a:r>
            <a:r>
              <a:rPr lang="en-US" b="1" dirty="0"/>
              <a:t> </a:t>
            </a:r>
            <a:r>
              <a:rPr lang="en-US" dirty="0"/>
              <a:t>supports</a:t>
            </a:r>
            <a:r>
              <a:rPr lang="en-US" b="1" dirty="0"/>
              <a:t> </a:t>
            </a:r>
            <a:r>
              <a:rPr lang="en-US" dirty="0"/>
              <a:t>the pluggable look and feel. </a:t>
            </a:r>
          </a:p>
          <a:p>
            <a:pPr>
              <a:lnSpc>
                <a:spcPct val="150000"/>
              </a:lnSpc>
            </a:pPr>
            <a:r>
              <a:rPr lang="en-US" sz="2400" b="1" dirty="0" err="1"/>
              <a:t>JComponent</a:t>
            </a:r>
            <a:r>
              <a:rPr lang="en-US" sz="2400" b="1" dirty="0"/>
              <a:t> </a:t>
            </a:r>
            <a:r>
              <a:rPr lang="en-US" sz="2400" u="sng" dirty="0"/>
              <a:t>inherits the AWT classes </a:t>
            </a:r>
            <a:r>
              <a:rPr lang="en-US" sz="2400" b="1" dirty="0">
                <a:solidFill>
                  <a:srgbClr val="0000CC"/>
                </a:solidFill>
              </a:rPr>
              <a:t>Container</a:t>
            </a:r>
            <a:r>
              <a:rPr lang="en-US" sz="2400" dirty="0"/>
              <a:t> and </a:t>
            </a:r>
            <a:r>
              <a:rPr lang="en-US" sz="2400" b="1" dirty="0">
                <a:solidFill>
                  <a:srgbClr val="C00000"/>
                </a:solidFill>
              </a:rPr>
              <a:t>Component</a:t>
            </a:r>
            <a:r>
              <a:rPr lang="en-US" sz="2400" b="1" dirty="0"/>
              <a:t>.</a:t>
            </a:r>
            <a:r>
              <a:rPr lang="en-US" sz="2400" dirty="0"/>
              <a:t>.</a:t>
            </a:r>
          </a:p>
          <a:p>
            <a:pPr lvl="1">
              <a:lnSpc>
                <a:spcPct val="150000"/>
              </a:lnSpc>
            </a:pPr>
            <a:r>
              <a:rPr lang="en-US" dirty="0"/>
              <a:t>So, a Swing component is </a:t>
            </a:r>
            <a:r>
              <a:rPr lang="en-US" b="1" dirty="0"/>
              <a:t>built on and compatible </a:t>
            </a:r>
            <a:r>
              <a:rPr lang="en-US" dirty="0"/>
              <a:t>with an </a:t>
            </a:r>
            <a:r>
              <a:rPr lang="en-US" u="sng" dirty="0"/>
              <a:t>AWT component</a:t>
            </a:r>
            <a:r>
              <a:rPr lang="en-US" dirty="0"/>
              <a:t>.</a:t>
            </a:r>
          </a:p>
          <a:p>
            <a:pPr>
              <a:lnSpc>
                <a:spcPct val="150000"/>
              </a:lnSpc>
            </a:pPr>
            <a:endParaRPr lang="en-US" sz="2400" dirty="0"/>
          </a:p>
        </p:txBody>
      </p:sp>
      <p:sp>
        <p:nvSpPr>
          <p:cNvPr id="4" name="Footer Placeholder 3"/>
          <p:cNvSpPr>
            <a:spLocks noGrp="1"/>
          </p:cNvSpPr>
          <p:nvPr>
            <p:ph type="ftr" sz="quarter" idx="11"/>
          </p:nvPr>
        </p:nvSpPr>
        <p:spPr/>
        <p:txBody>
          <a:bodyPr/>
          <a:lstStyle/>
          <a:p>
            <a:pPr>
              <a:defRPr/>
            </a:pPr>
            <a:r>
              <a:rPr lang="en-US"/>
              <a:t>Prepared by Renetha J.B.</a:t>
            </a:r>
            <a:endParaRPr lang="en-US" dirty="0"/>
          </a:p>
        </p:txBody>
      </p:sp>
      <p:sp>
        <p:nvSpPr>
          <p:cNvPr id="5" name="Slide Number Placeholder 4"/>
          <p:cNvSpPr>
            <a:spLocks noGrp="1"/>
          </p:cNvSpPr>
          <p:nvPr>
            <p:ph type="sldNum" sz="quarter" idx="12"/>
          </p:nvPr>
        </p:nvSpPr>
        <p:spPr/>
        <p:txBody>
          <a:bodyPr/>
          <a:lstStyle/>
          <a:p>
            <a:pPr>
              <a:defRPr/>
            </a:pPr>
            <a:fld id="{7C760612-1CE6-4420-A721-C80A19F352D5}" type="slidenum">
              <a:rPr lang="en-US" smtClean="0"/>
              <a:pPr>
                <a:defRPr/>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Components</a:t>
            </a:r>
            <a:r>
              <a:rPr lang="en-US" sz="3200" b="0" dirty="0"/>
              <a:t>(contd.)</a:t>
            </a:r>
            <a:endParaRPr lang="en-US" b="0" dirty="0"/>
          </a:p>
        </p:txBody>
      </p:sp>
      <p:sp>
        <p:nvSpPr>
          <p:cNvPr id="3" name="Content Placeholder 2"/>
          <p:cNvSpPr>
            <a:spLocks noGrp="1"/>
          </p:cNvSpPr>
          <p:nvPr>
            <p:ph idx="1"/>
          </p:nvPr>
        </p:nvSpPr>
        <p:spPr>
          <a:xfrm>
            <a:off x="457200" y="685800"/>
            <a:ext cx="8229600" cy="5334000"/>
          </a:xfrm>
        </p:spPr>
        <p:txBody>
          <a:bodyPr/>
          <a:lstStyle/>
          <a:p>
            <a:r>
              <a:rPr lang="en-US" sz="2400" dirty="0"/>
              <a:t>All of Swing’s </a:t>
            </a:r>
            <a:r>
              <a:rPr lang="en-US" sz="2400" b="1" dirty="0"/>
              <a:t>components</a:t>
            </a:r>
            <a:r>
              <a:rPr lang="en-US" sz="2400" dirty="0"/>
              <a:t> are </a:t>
            </a:r>
            <a:r>
              <a:rPr lang="en-US" sz="2400" u="sng" dirty="0"/>
              <a:t>represented by </a:t>
            </a:r>
            <a:r>
              <a:rPr lang="en-US" sz="2400" b="1" u="sng" dirty="0"/>
              <a:t>classes</a:t>
            </a:r>
            <a:r>
              <a:rPr lang="en-US" sz="2400" u="sng" dirty="0"/>
              <a:t> defined in the package </a:t>
            </a:r>
            <a:r>
              <a:rPr lang="en-US" sz="2800" b="1" dirty="0" err="1">
                <a:solidFill>
                  <a:srgbClr val="0000CC"/>
                </a:solidFill>
              </a:rPr>
              <a:t>javax.swing</a:t>
            </a:r>
            <a:r>
              <a:rPr lang="en-US" sz="2800" b="1" dirty="0">
                <a:solidFill>
                  <a:srgbClr val="0000CC"/>
                </a:solidFill>
              </a:rPr>
              <a:t>.</a:t>
            </a:r>
            <a:endParaRPr lang="en-US" sz="2400" dirty="0">
              <a:solidFill>
                <a:srgbClr val="0000CC"/>
              </a:solidFill>
            </a:endParaRPr>
          </a:p>
          <a:p>
            <a:r>
              <a:rPr lang="en-US" sz="2400" dirty="0"/>
              <a:t>The class names for Swing components are</a:t>
            </a:r>
          </a:p>
        </p:txBody>
      </p:sp>
      <p:sp>
        <p:nvSpPr>
          <p:cNvPr id="4" name="Footer Placeholder 3"/>
          <p:cNvSpPr>
            <a:spLocks noGrp="1"/>
          </p:cNvSpPr>
          <p:nvPr>
            <p:ph type="ftr" sz="quarter" idx="11"/>
          </p:nvPr>
        </p:nvSpPr>
        <p:spPr/>
        <p:txBody>
          <a:bodyPr/>
          <a:lstStyle/>
          <a:p>
            <a:pPr>
              <a:defRPr/>
            </a:pPr>
            <a:r>
              <a:rPr lang="en-US"/>
              <a:t>Prepared by Renetha J.B.</a:t>
            </a:r>
            <a:endParaRPr lang="en-US" dirty="0"/>
          </a:p>
        </p:txBody>
      </p:sp>
      <p:sp>
        <p:nvSpPr>
          <p:cNvPr id="5" name="Slide Number Placeholder 4"/>
          <p:cNvSpPr>
            <a:spLocks noGrp="1"/>
          </p:cNvSpPr>
          <p:nvPr>
            <p:ph type="sldNum" sz="quarter" idx="12"/>
          </p:nvPr>
        </p:nvSpPr>
        <p:spPr/>
        <p:txBody>
          <a:bodyPr/>
          <a:lstStyle/>
          <a:p>
            <a:pPr>
              <a:defRPr/>
            </a:pPr>
            <a:fld id="{7C760612-1CE6-4420-A721-C80A19F352D5}" type="slidenum">
              <a:rPr lang="en-US" smtClean="0"/>
              <a:pPr>
                <a:defRPr/>
              </a:pPr>
              <a:t>15</a:t>
            </a:fld>
            <a:endParaRPr lang="en-US" dirty="0"/>
          </a:p>
        </p:txBody>
      </p:sp>
      <p:pic>
        <p:nvPicPr>
          <p:cNvPr id="28674" name="Picture 2"/>
          <p:cNvPicPr>
            <a:picLocks noChangeAspect="1" noChangeArrowheads="1"/>
          </p:cNvPicPr>
          <p:nvPr/>
        </p:nvPicPr>
        <p:blipFill>
          <a:blip r:embed="rId2"/>
          <a:srcRect/>
          <a:stretch>
            <a:fillRect/>
          </a:stretch>
        </p:blipFill>
        <p:spPr bwMode="auto">
          <a:xfrm>
            <a:off x="607371" y="1981200"/>
            <a:ext cx="8536629" cy="4343400"/>
          </a:xfrm>
          <a:prstGeom prst="rect">
            <a:avLst/>
          </a:prstGeom>
          <a:noFill/>
          <a:ln w="9525">
            <a:noFill/>
            <a:miter lim="800000"/>
            <a:headEnd/>
            <a:tailEnd/>
          </a:ln>
          <a:effectLst/>
        </p:spPr>
      </p:pic>
      <p:sp>
        <p:nvSpPr>
          <p:cNvPr id="7" name="Rectangle 6"/>
          <p:cNvSpPr/>
          <p:nvPr/>
        </p:nvSpPr>
        <p:spPr>
          <a:xfrm>
            <a:off x="0" y="6324599"/>
            <a:ext cx="7467600" cy="369332"/>
          </a:xfrm>
          <a:prstGeom prst="rect">
            <a:avLst/>
          </a:prstGeom>
        </p:spPr>
        <p:txBody>
          <a:bodyPr wrap="square">
            <a:spAutoFit/>
          </a:bodyPr>
          <a:lstStyle/>
          <a:p>
            <a:r>
              <a:rPr lang="en-US" dirty="0"/>
              <a:t>	</a:t>
            </a:r>
            <a:r>
              <a:rPr lang="en-US" i="1" dirty="0">
                <a:solidFill>
                  <a:srgbClr val="C00000"/>
                </a:solidFill>
              </a:rPr>
              <a:t>* All component classes begin with the letter </a:t>
            </a:r>
            <a:r>
              <a:rPr lang="en-US" b="1" i="1" dirty="0">
                <a:solidFill>
                  <a:srgbClr val="C00000"/>
                </a:solidFill>
              </a:rPr>
              <a:t>J for Java.</a:t>
            </a:r>
            <a:endParaRPr lang="en-US" i="1" dirty="0">
              <a:solidFill>
                <a:srgbClr val="C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Containers</a:t>
            </a:r>
            <a:endParaRPr lang="en-US" b="0" dirty="0"/>
          </a:p>
        </p:txBody>
      </p:sp>
      <p:sp>
        <p:nvSpPr>
          <p:cNvPr id="3" name="Content Placeholder 2"/>
          <p:cNvSpPr>
            <a:spLocks noGrp="1"/>
          </p:cNvSpPr>
          <p:nvPr>
            <p:ph idx="1"/>
          </p:nvPr>
        </p:nvSpPr>
        <p:spPr/>
        <p:txBody>
          <a:bodyPr/>
          <a:lstStyle/>
          <a:p>
            <a:pPr>
              <a:lnSpc>
                <a:spcPct val="200000"/>
              </a:lnSpc>
            </a:pPr>
            <a:r>
              <a:rPr lang="en-US" sz="2800" dirty="0"/>
              <a:t>Swing defines </a:t>
            </a:r>
            <a:r>
              <a:rPr lang="en-US" sz="2800" b="1" dirty="0"/>
              <a:t>two types </a:t>
            </a:r>
            <a:r>
              <a:rPr lang="en-US" sz="2800" dirty="0"/>
              <a:t>of containers. </a:t>
            </a:r>
          </a:p>
          <a:p>
            <a:pPr lvl="1">
              <a:lnSpc>
                <a:spcPct val="200000"/>
              </a:lnSpc>
            </a:pPr>
            <a:r>
              <a:rPr lang="en-US" dirty="0"/>
              <a:t>The first are </a:t>
            </a:r>
            <a:r>
              <a:rPr lang="en-US" b="1" dirty="0">
                <a:solidFill>
                  <a:srgbClr val="C00000"/>
                </a:solidFill>
              </a:rPr>
              <a:t>top-level containers</a:t>
            </a:r>
          </a:p>
          <a:p>
            <a:pPr lvl="1">
              <a:lnSpc>
                <a:spcPct val="200000"/>
              </a:lnSpc>
            </a:pPr>
            <a:r>
              <a:rPr lang="en-US" dirty="0"/>
              <a:t>The second type of containers supported by Swing are </a:t>
            </a:r>
            <a:r>
              <a:rPr lang="en-US" b="1" dirty="0">
                <a:solidFill>
                  <a:srgbClr val="C00000"/>
                </a:solidFill>
              </a:rPr>
              <a:t>lightweight containers</a:t>
            </a:r>
            <a:r>
              <a:rPr lang="en-US" dirty="0"/>
              <a:t>.</a:t>
            </a:r>
          </a:p>
        </p:txBody>
      </p:sp>
      <p:sp>
        <p:nvSpPr>
          <p:cNvPr id="4" name="Footer Placeholder 3"/>
          <p:cNvSpPr>
            <a:spLocks noGrp="1"/>
          </p:cNvSpPr>
          <p:nvPr>
            <p:ph type="ftr" sz="quarter" idx="11"/>
          </p:nvPr>
        </p:nvSpPr>
        <p:spPr/>
        <p:txBody>
          <a:bodyPr/>
          <a:lstStyle/>
          <a:p>
            <a:pPr>
              <a:defRPr/>
            </a:pPr>
            <a:r>
              <a:rPr lang="en-US"/>
              <a:t>Prepared by Renetha J.B.</a:t>
            </a:r>
            <a:endParaRPr lang="en-US" dirty="0"/>
          </a:p>
        </p:txBody>
      </p:sp>
      <p:sp>
        <p:nvSpPr>
          <p:cNvPr id="5" name="Slide Number Placeholder 4"/>
          <p:cNvSpPr>
            <a:spLocks noGrp="1"/>
          </p:cNvSpPr>
          <p:nvPr>
            <p:ph type="sldNum" sz="quarter" idx="12"/>
          </p:nvPr>
        </p:nvSpPr>
        <p:spPr/>
        <p:txBody>
          <a:bodyPr/>
          <a:lstStyle/>
          <a:p>
            <a:pPr>
              <a:defRPr/>
            </a:pPr>
            <a:fld id="{7C760612-1CE6-4420-A721-C80A19F352D5}" type="slidenum">
              <a:rPr lang="en-US" smtClean="0"/>
              <a:pPr>
                <a:defRPr/>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Containers</a:t>
            </a:r>
            <a:r>
              <a:rPr lang="en-US" sz="3200" dirty="0"/>
              <a:t>(</a:t>
            </a:r>
            <a:r>
              <a:rPr lang="en-US" sz="3200" b="0" dirty="0"/>
              <a:t>contd.)</a:t>
            </a:r>
          </a:p>
        </p:txBody>
      </p:sp>
      <p:sp>
        <p:nvSpPr>
          <p:cNvPr id="3" name="Content Placeholder 2"/>
          <p:cNvSpPr>
            <a:spLocks noGrp="1"/>
          </p:cNvSpPr>
          <p:nvPr>
            <p:ph idx="1"/>
          </p:nvPr>
        </p:nvSpPr>
        <p:spPr>
          <a:xfrm>
            <a:off x="457200" y="762000"/>
            <a:ext cx="8229600" cy="5562600"/>
          </a:xfrm>
        </p:spPr>
        <p:txBody>
          <a:bodyPr/>
          <a:lstStyle/>
          <a:p>
            <a:r>
              <a:rPr lang="en-US" sz="2200" dirty="0"/>
              <a:t>The first are </a:t>
            </a:r>
            <a:r>
              <a:rPr lang="en-US" sz="2200" b="1" dirty="0">
                <a:solidFill>
                  <a:srgbClr val="C00000"/>
                </a:solidFill>
              </a:rPr>
              <a:t>top-level containers</a:t>
            </a:r>
          </a:p>
          <a:p>
            <a:pPr lvl="1"/>
            <a:r>
              <a:rPr lang="en-US" sz="2200" b="1" dirty="0" err="1"/>
              <a:t>JFrame</a:t>
            </a:r>
            <a:r>
              <a:rPr lang="en-US" sz="2200" b="1" dirty="0"/>
              <a:t>, </a:t>
            </a:r>
            <a:r>
              <a:rPr lang="en-US" sz="2200" b="1" dirty="0" err="1"/>
              <a:t>JApplet</a:t>
            </a:r>
            <a:r>
              <a:rPr lang="en-US" sz="2200" b="1" dirty="0"/>
              <a:t>, </a:t>
            </a:r>
            <a:r>
              <a:rPr lang="en-US" sz="2200" b="1" dirty="0" err="1"/>
              <a:t>JWindow</a:t>
            </a:r>
            <a:r>
              <a:rPr lang="en-US" sz="2200" b="1" dirty="0"/>
              <a:t>, and </a:t>
            </a:r>
            <a:r>
              <a:rPr lang="en-US" sz="2200" b="1" dirty="0" err="1"/>
              <a:t>JDialog</a:t>
            </a:r>
            <a:r>
              <a:rPr lang="en-US" sz="2200" b="1" dirty="0"/>
              <a:t>.</a:t>
            </a:r>
          </a:p>
          <a:p>
            <a:pPr lvl="1"/>
            <a:r>
              <a:rPr lang="en-US" sz="2200" dirty="0"/>
              <a:t>These containers </a:t>
            </a:r>
            <a:r>
              <a:rPr lang="en-US" sz="2200" b="1" u="sng" dirty="0"/>
              <a:t>do not </a:t>
            </a:r>
            <a:r>
              <a:rPr lang="en-US" sz="2200" u="sng" dirty="0"/>
              <a:t>inherit </a:t>
            </a:r>
            <a:r>
              <a:rPr lang="en-US" sz="2200" b="1" u="sng" dirty="0" err="1"/>
              <a:t>JComponent</a:t>
            </a:r>
            <a:endParaRPr lang="en-US" sz="2200" b="1" u="sng" dirty="0"/>
          </a:p>
          <a:p>
            <a:pPr lvl="1"/>
            <a:r>
              <a:rPr lang="en-US" sz="2200" dirty="0"/>
              <a:t>They inherit the AWT classes </a:t>
            </a:r>
            <a:r>
              <a:rPr lang="en-US" sz="2200" b="1" dirty="0"/>
              <a:t>Component and Container</a:t>
            </a:r>
          </a:p>
          <a:p>
            <a:pPr lvl="1"/>
            <a:r>
              <a:rPr lang="en-US" sz="2200" dirty="0"/>
              <a:t>The top-level containers are </a:t>
            </a:r>
            <a:r>
              <a:rPr lang="en-US" sz="2200" b="1" u="sng" dirty="0"/>
              <a:t>heavyweight.</a:t>
            </a:r>
          </a:p>
          <a:p>
            <a:pPr lvl="1"/>
            <a:r>
              <a:rPr lang="en-US" sz="2200" dirty="0"/>
              <a:t>A top-level container must be at the top of a containment hierarchy</a:t>
            </a:r>
          </a:p>
          <a:p>
            <a:pPr lvl="2"/>
            <a:r>
              <a:rPr lang="en-US" sz="2200" dirty="0" err="1"/>
              <a:t>i.e</a:t>
            </a:r>
            <a:r>
              <a:rPr lang="en-US" sz="2200" dirty="0"/>
              <a:t> Every containment hierarchy must begin with a top-level container. </a:t>
            </a:r>
          </a:p>
          <a:p>
            <a:pPr lvl="1"/>
            <a:r>
              <a:rPr lang="en-US" sz="2200" dirty="0"/>
              <a:t>A top-level container </a:t>
            </a:r>
            <a:r>
              <a:rPr lang="en-US" sz="2200" u="sng" dirty="0"/>
              <a:t>cannot be contained within any other container.</a:t>
            </a:r>
          </a:p>
          <a:p>
            <a:pPr lvl="1"/>
            <a:r>
              <a:rPr lang="en-US" sz="2200" b="1" dirty="0" err="1"/>
              <a:t>Jframe</a:t>
            </a:r>
            <a:r>
              <a:rPr lang="en-US" sz="2200" b="1" dirty="0"/>
              <a:t> </a:t>
            </a:r>
            <a:r>
              <a:rPr lang="en-US" sz="2200" dirty="0"/>
              <a:t>is the most commonly used container</a:t>
            </a:r>
            <a:endParaRPr lang="en-US" sz="2200" b="1" dirty="0"/>
          </a:p>
          <a:p>
            <a:pPr marL="457200" lvl="1" indent="0">
              <a:buNone/>
            </a:pPr>
            <a:endParaRPr lang="en-US" sz="2200" b="1" u="sng" dirty="0"/>
          </a:p>
        </p:txBody>
      </p:sp>
      <p:sp>
        <p:nvSpPr>
          <p:cNvPr id="4" name="Footer Placeholder 3"/>
          <p:cNvSpPr>
            <a:spLocks noGrp="1"/>
          </p:cNvSpPr>
          <p:nvPr>
            <p:ph type="ftr" sz="quarter" idx="11"/>
          </p:nvPr>
        </p:nvSpPr>
        <p:spPr/>
        <p:txBody>
          <a:bodyPr/>
          <a:lstStyle/>
          <a:p>
            <a:pPr>
              <a:defRPr/>
            </a:pPr>
            <a:r>
              <a:rPr lang="en-US"/>
              <a:t>Prepared by Renetha J.B.</a:t>
            </a:r>
            <a:endParaRPr lang="en-US" dirty="0"/>
          </a:p>
        </p:txBody>
      </p:sp>
      <p:sp>
        <p:nvSpPr>
          <p:cNvPr id="5" name="Slide Number Placeholder 4"/>
          <p:cNvSpPr>
            <a:spLocks noGrp="1"/>
          </p:cNvSpPr>
          <p:nvPr>
            <p:ph type="sldNum" sz="quarter" idx="12"/>
          </p:nvPr>
        </p:nvSpPr>
        <p:spPr/>
        <p:txBody>
          <a:bodyPr/>
          <a:lstStyle/>
          <a:p>
            <a:pPr>
              <a:defRPr/>
            </a:pPr>
            <a:fld id="{7C760612-1CE6-4420-A721-C80A19F352D5}" type="slidenum">
              <a:rPr lang="en-US" smtClean="0"/>
              <a:pPr>
                <a:defRPr/>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Containers </a:t>
            </a:r>
            <a:r>
              <a:rPr lang="en-US" sz="3200" b="0" dirty="0"/>
              <a:t>(contd.)</a:t>
            </a:r>
            <a:endParaRPr lang="en-US" b="0" dirty="0"/>
          </a:p>
        </p:txBody>
      </p:sp>
      <p:sp>
        <p:nvSpPr>
          <p:cNvPr id="3" name="Content Placeholder 2"/>
          <p:cNvSpPr>
            <a:spLocks noGrp="1"/>
          </p:cNvSpPr>
          <p:nvPr>
            <p:ph idx="1"/>
          </p:nvPr>
        </p:nvSpPr>
        <p:spPr>
          <a:xfrm>
            <a:off x="457200" y="762000"/>
            <a:ext cx="8229600" cy="5715000"/>
          </a:xfrm>
        </p:spPr>
        <p:txBody>
          <a:bodyPr/>
          <a:lstStyle/>
          <a:p>
            <a:pPr marL="342900" lvl="1" indent="-342900">
              <a:lnSpc>
                <a:spcPct val="150000"/>
              </a:lnSpc>
              <a:buFont typeface="Arial" charset="0"/>
              <a:buChar char="•"/>
            </a:pPr>
            <a:r>
              <a:rPr lang="en-US" sz="2200" dirty="0"/>
              <a:t>The second type of containers supported by Swing are </a:t>
            </a:r>
            <a:r>
              <a:rPr lang="en-US" sz="2200" b="1" dirty="0">
                <a:solidFill>
                  <a:srgbClr val="C00000"/>
                </a:solidFill>
              </a:rPr>
              <a:t>lightweight containers</a:t>
            </a:r>
            <a:r>
              <a:rPr lang="en-US" sz="2200" dirty="0"/>
              <a:t>.</a:t>
            </a:r>
          </a:p>
          <a:p>
            <a:pPr lvl="1">
              <a:lnSpc>
                <a:spcPct val="150000"/>
              </a:lnSpc>
            </a:pPr>
            <a:r>
              <a:rPr lang="en-US" sz="2200" dirty="0"/>
              <a:t>Lightweight containers </a:t>
            </a:r>
            <a:r>
              <a:rPr lang="en-US" sz="2200" i="1" dirty="0"/>
              <a:t>do </a:t>
            </a:r>
            <a:r>
              <a:rPr lang="en-US" sz="2200" b="1" i="1" dirty="0"/>
              <a:t>inherit </a:t>
            </a:r>
            <a:r>
              <a:rPr lang="en-US" sz="2200" b="1" i="1" dirty="0" err="1"/>
              <a:t>JComponent</a:t>
            </a:r>
            <a:r>
              <a:rPr lang="en-US" sz="2200" b="1" i="1" dirty="0"/>
              <a:t>.</a:t>
            </a:r>
          </a:p>
          <a:p>
            <a:pPr lvl="2">
              <a:lnSpc>
                <a:spcPct val="150000"/>
              </a:lnSpc>
            </a:pPr>
            <a:r>
              <a:rPr lang="en-US" sz="2200" dirty="0"/>
              <a:t>E.g.  </a:t>
            </a:r>
            <a:r>
              <a:rPr lang="en-US" sz="2200" b="1" dirty="0" err="1"/>
              <a:t>JPanel</a:t>
            </a:r>
            <a:r>
              <a:rPr lang="en-US" sz="2200" b="1" dirty="0"/>
              <a:t> </a:t>
            </a:r>
            <a:r>
              <a:rPr lang="en-US" sz="2200" dirty="0"/>
              <a:t>is a general-purpose container. </a:t>
            </a:r>
          </a:p>
          <a:p>
            <a:pPr lvl="1">
              <a:lnSpc>
                <a:spcPct val="150000"/>
              </a:lnSpc>
            </a:pPr>
            <a:r>
              <a:rPr lang="en-US" sz="2200" dirty="0"/>
              <a:t>A  lightweight container can be contained within another container. </a:t>
            </a:r>
          </a:p>
          <a:p>
            <a:pPr lvl="1">
              <a:lnSpc>
                <a:spcPct val="150000"/>
              </a:lnSpc>
            </a:pPr>
            <a:r>
              <a:rPr lang="en-US" sz="2200" dirty="0"/>
              <a:t>Lightweight containers are often used to organize and manage groups of related components</a:t>
            </a:r>
          </a:p>
          <a:p>
            <a:pPr lvl="1">
              <a:lnSpc>
                <a:spcPct val="150000"/>
              </a:lnSpc>
            </a:pPr>
            <a:r>
              <a:rPr lang="en-US" sz="2200" dirty="0"/>
              <a:t>We can use lightweight containers such as </a:t>
            </a:r>
            <a:r>
              <a:rPr lang="en-US" sz="2200" b="1" dirty="0" err="1"/>
              <a:t>JPanel</a:t>
            </a:r>
            <a:r>
              <a:rPr lang="en-US" sz="2200" b="1" dirty="0"/>
              <a:t> </a:t>
            </a:r>
            <a:r>
              <a:rPr lang="en-US" sz="2200" u="sng" dirty="0"/>
              <a:t>to create subgroups of related controls that are contained within an outer container.</a:t>
            </a:r>
          </a:p>
          <a:p>
            <a:endParaRPr lang="en-US" sz="2200" dirty="0"/>
          </a:p>
        </p:txBody>
      </p:sp>
      <p:sp>
        <p:nvSpPr>
          <p:cNvPr id="4" name="Footer Placeholder 3"/>
          <p:cNvSpPr>
            <a:spLocks noGrp="1"/>
          </p:cNvSpPr>
          <p:nvPr>
            <p:ph type="ftr" sz="quarter" idx="11"/>
          </p:nvPr>
        </p:nvSpPr>
        <p:spPr/>
        <p:txBody>
          <a:bodyPr/>
          <a:lstStyle/>
          <a:p>
            <a:pPr>
              <a:defRPr/>
            </a:pPr>
            <a:r>
              <a:rPr lang="en-US"/>
              <a:t>Prepared by Renetha J.B.</a:t>
            </a:r>
            <a:endParaRPr lang="en-US" dirty="0"/>
          </a:p>
        </p:txBody>
      </p:sp>
      <p:sp>
        <p:nvSpPr>
          <p:cNvPr id="5" name="Slide Number Placeholder 4"/>
          <p:cNvSpPr>
            <a:spLocks noGrp="1"/>
          </p:cNvSpPr>
          <p:nvPr>
            <p:ph type="sldNum" sz="quarter" idx="12"/>
          </p:nvPr>
        </p:nvSpPr>
        <p:spPr/>
        <p:txBody>
          <a:bodyPr/>
          <a:lstStyle/>
          <a:p>
            <a:pPr>
              <a:defRPr/>
            </a:pPr>
            <a:fld id="{7C760612-1CE6-4420-A721-C80A19F352D5}" type="slidenum">
              <a:rPr lang="en-US" smtClean="0"/>
              <a:pPr>
                <a:defRPr/>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endParaRPr lang="en-US"/>
          </a:p>
        </p:txBody>
      </p:sp>
      <p:sp>
        <p:nvSpPr>
          <p:cNvPr id="7" name="Text Placeholder 6"/>
          <p:cNvSpPr>
            <a:spLocks noGrp="1"/>
          </p:cNvSpPr>
          <p:nvPr>
            <p:ph type="body" idx="1"/>
          </p:nvPr>
        </p:nvSpPr>
        <p:spPr>
          <a:xfrm>
            <a:off x="457200" y="685800"/>
            <a:ext cx="4040188" cy="639762"/>
          </a:xfrm>
        </p:spPr>
        <p:txBody>
          <a:bodyPr/>
          <a:lstStyle/>
          <a:p>
            <a:pPr algn="ctr"/>
            <a:r>
              <a:rPr lang="en-US" dirty="0">
                <a:solidFill>
                  <a:srgbClr val="C00000"/>
                </a:solidFill>
                <a:latin typeface="Times New Roman" pitchFamily="18" charset="0"/>
                <a:cs typeface="Times New Roman" pitchFamily="18" charset="0"/>
              </a:rPr>
              <a:t>Top-level containers</a:t>
            </a:r>
            <a:endParaRPr lang="en-US" dirty="0">
              <a:latin typeface="Times New Roman" pitchFamily="18" charset="0"/>
              <a:cs typeface="Times New Roman" pitchFamily="18" charset="0"/>
            </a:endParaRPr>
          </a:p>
        </p:txBody>
      </p:sp>
      <p:sp>
        <p:nvSpPr>
          <p:cNvPr id="8" name="Content Placeholder 7"/>
          <p:cNvSpPr>
            <a:spLocks noGrp="1"/>
          </p:cNvSpPr>
          <p:nvPr>
            <p:ph sz="half" idx="2"/>
          </p:nvPr>
        </p:nvSpPr>
        <p:spPr>
          <a:xfrm>
            <a:off x="457200" y="1295400"/>
            <a:ext cx="4040188" cy="4830763"/>
          </a:xfrm>
        </p:spPr>
        <p:txBody>
          <a:bodyPr/>
          <a:lstStyle/>
          <a:p>
            <a:r>
              <a:rPr lang="en-US" dirty="0">
                <a:latin typeface="Times New Roman" pitchFamily="18" charset="0"/>
                <a:cs typeface="Times New Roman" pitchFamily="18" charset="0"/>
              </a:rPr>
              <a:t>Top level containers </a:t>
            </a:r>
            <a:r>
              <a:rPr lang="en-US" b="1" dirty="0">
                <a:latin typeface="Times New Roman" pitchFamily="18" charset="0"/>
                <a:cs typeface="Times New Roman" pitchFamily="18" charset="0"/>
              </a:rPr>
              <a:t>do not </a:t>
            </a:r>
            <a:r>
              <a:rPr lang="en-US" dirty="0">
                <a:latin typeface="Times New Roman" pitchFamily="18" charset="0"/>
                <a:cs typeface="Times New Roman" pitchFamily="18" charset="0"/>
              </a:rPr>
              <a:t>inherit </a:t>
            </a:r>
            <a:r>
              <a:rPr lang="en-US" b="1" dirty="0" err="1">
                <a:latin typeface="Times New Roman" pitchFamily="18" charset="0"/>
                <a:cs typeface="Times New Roman" pitchFamily="18" charset="0"/>
              </a:rPr>
              <a:t>Jcomponent</a:t>
            </a:r>
            <a:r>
              <a:rPr lang="en-US" b="1" dirty="0">
                <a:latin typeface="Times New Roman" pitchFamily="18" charset="0"/>
                <a:cs typeface="Times New Roman" pitchFamily="18" charset="0"/>
              </a:rPr>
              <a:t>.</a:t>
            </a:r>
          </a:p>
          <a:p>
            <a:r>
              <a:rPr lang="en-US" b="1" dirty="0">
                <a:latin typeface="Times New Roman" pitchFamily="18" charset="0"/>
                <a:cs typeface="Times New Roman" pitchFamily="18" charset="0"/>
              </a:rPr>
              <a:t>Heavyweight</a:t>
            </a:r>
          </a:p>
          <a:p>
            <a:r>
              <a:rPr lang="en-US" dirty="0">
                <a:latin typeface="Times New Roman" pitchFamily="18" charset="0"/>
                <a:cs typeface="Times New Roman" pitchFamily="18" charset="0"/>
              </a:rPr>
              <a:t>A top-level container is not contained within any other container.</a:t>
            </a:r>
          </a:p>
          <a:p>
            <a:endParaRPr lang="en-US" b="1" dirty="0">
              <a:latin typeface="Times New Roman" pitchFamily="18" charset="0"/>
              <a:cs typeface="Times New Roman" pitchFamily="18" charset="0"/>
            </a:endParaRPr>
          </a:p>
          <a:p>
            <a:r>
              <a:rPr lang="en-US" dirty="0">
                <a:latin typeface="Times New Roman" pitchFamily="18" charset="0"/>
                <a:cs typeface="Times New Roman" pitchFamily="18" charset="0"/>
              </a:rPr>
              <a:t>E.g. </a:t>
            </a:r>
            <a:r>
              <a:rPr lang="en-US" b="1" dirty="0" err="1"/>
              <a:t>JFrame</a:t>
            </a:r>
            <a:r>
              <a:rPr lang="en-US" b="1" dirty="0"/>
              <a:t>, </a:t>
            </a:r>
            <a:r>
              <a:rPr lang="en-US" b="1" dirty="0" err="1"/>
              <a:t>JApplet</a:t>
            </a:r>
            <a:r>
              <a:rPr lang="en-US" b="1" dirty="0"/>
              <a:t>, </a:t>
            </a:r>
            <a:r>
              <a:rPr lang="en-US" b="1" dirty="0" err="1"/>
              <a:t>JWindow</a:t>
            </a:r>
            <a:r>
              <a:rPr lang="en-US" b="1" dirty="0"/>
              <a:t>, and </a:t>
            </a:r>
            <a:r>
              <a:rPr lang="en-US" b="1" dirty="0" err="1"/>
              <a:t>JDialog</a:t>
            </a:r>
            <a:endParaRPr lang="en-US" b="1"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
        <p:nvSpPr>
          <p:cNvPr id="9" name="Text Placeholder 8"/>
          <p:cNvSpPr>
            <a:spLocks noGrp="1"/>
          </p:cNvSpPr>
          <p:nvPr>
            <p:ph type="body" sz="quarter" idx="3"/>
          </p:nvPr>
        </p:nvSpPr>
        <p:spPr>
          <a:xfrm>
            <a:off x="4645025" y="685800"/>
            <a:ext cx="4041775" cy="639762"/>
          </a:xfrm>
        </p:spPr>
        <p:txBody>
          <a:bodyPr/>
          <a:lstStyle/>
          <a:p>
            <a:pPr algn="ctr"/>
            <a:r>
              <a:rPr lang="en-US" dirty="0">
                <a:solidFill>
                  <a:srgbClr val="C00000"/>
                </a:solidFill>
                <a:latin typeface="Times New Roman" pitchFamily="18" charset="0"/>
                <a:cs typeface="Times New Roman" pitchFamily="18" charset="0"/>
              </a:rPr>
              <a:t>Lightweight containers</a:t>
            </a:r>
            <a:r>
              <a:rPr lang="en-US" dirty="0">
                <a:latin typeface="Times New Roman" pitchFamily="18" charset="0"/>
                <a:cs typeface="Times New Roman" pitchFamily="18" charset="0"/>
              </a:rPr>
              <a:t>.</a:t>
            </a:r>
            <a:endParaRPr lang="en-US" b="0" dirty="0">
              <a:latin typeface="Times New Roman" pitchFamily="18" charset="0"/>
              <a:cs typeface="Times New Roman" pitchFamily="18" charset="0"/>
            </a:endParaRPr>
          </a:p>
        </p:txBody>
      </p:sp>
      <p:sp>
        <p:nvSpPr>
          <p:cNvPr id="10" name="Content Placeholder 9"/>
          <p:cNvSpPr>
            <a:spLocks noGrp="1"/>
          </p:cNvSpPr>
          <p:nvPr>
            <p:ph sz="quarter" idx="4"/>
          </p:nvPr>
        </p:nvSpPr>
        <p:spPr>
          <a:xfrm>
            <a:off x="4645025" y="1371600"/>
            <a:ext cx="4041775" cy="4754563"/>
          </a:xfrm>
        </p:spPr>
        <p:txBody>
          <a:bodyPr/>
          <a:lstStyle/>
          <a:p>
            <a:pPr algn="just"/>
            <a:r>
              <a:rPr lang="en-US" dirty="0">
                <a:latin typeface="Times New Roman" pitchFamily="18" charset="0"/>
                <a:cs typeface="Times New Roman" pitchFamily="18" charset="0"/>
              </a:rPr>
              <a:t>Lightweight containers </a:t>
            </a:r>
            <a:r>
              <a:rPr lang="en-US" i="1" dirty="0">
                <a:latin typeface="Times New Roman" pitchFamily="18" charset="0"/>
                <a:cs typeface="Times New Roman" pitchFamily="18" charset="0"/>
              </a:rPr>
              <a:t>do inherit </a:t>
            </a:r>
            <a:r>
              <a:rPr lang="en-US" b="1" i="1" dirty="0" err="1">
                <a:latin typeface="Times New Roman" pitchFamily="18" charset="0"/>
                <a:cs typeface="Times New Roman" pitchFamily="18" charset="0"/>
              </a:rPr>
              <a:t>JComponent</a:t>
            </a:r>
            <a:r>
              <a:rPr lang="en-US" b="1" i="1" dirty="0">
                <a:latin typeface="Times New Roman" pitchFamily="18" charset="0"/>
                <a:cs typeface="Times New Roman" pitchFamily="18" charset="0"/>
              </a:rPr>
              <a:t>.</a:t>
            </a:r>
          </a:p>
          <a:p>
            <a:pPr algn="just"/>
            <a:r>
              <a:rPr lang="en-US" b="1" dirty="0">
                <a:latin typeface="Times New Roman" pitchFamily="18" charset="0"/>
                <a:cs typeface="Times New Roman" pitchFamily="18" charset="0"/>
              </a:rPr>
              <a:t>Lightweight</a:t>
            </a:r>
          </a:p>
          <a:p>
            <a:pPr algn="just"/>
            <a:r>
              <a:rPr lang="en-US" dirty="0">
                <a:latin typeface="Times New Roman" pitchFamily="18" charset="0"/>
                <a:cs typeface="Times New Roman" pitchFamily="18" charset="0"/>
              </a:rPr>
              <a:t>A lightweight container can be contained within  another container.</a:t>
            </a:r>
          </a:p>
          <a:p>
            <a:pPr algn="just"/>
            <a:endParaRPr lang="en-US" b="1"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E.g. </a:t>
            </a:r>
            <a:r>
              <a:rPr lang="en-US" b="1" dirty="0" err="1">
                <a:latin typeface="Times New Roman" pitchFamily="18" charset="0"/>
                <a:cs typeface="Times New Roman" pitchFamily="18" charset="0"/>
              </a:rPr>
              <a:t>JPanel</a:t>
            </a:r>
            <a:endParaRPr lang="en-US" b="1"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pPr>
              <a:defRPr/>
            </a:pPr>
            <a:r>
              <a:rPr lang="en-US"/>
              <a:t>Prepared by Renetha J.B.</a:t>
            </a:r>
            <a:endParaRPr lang="en-US" dirty="0"/>
          </a:p>
        </p:txBody>
      </p:sp>
      <p:sp>
        <p:nvSpPr>
          <p:cNvPr id="5" name="Slide Number Placeholder 4"/>
          <p:cNvSpPr>
            <a:spLocks noGrp="1"/>
          </p:cNvSpPr>
          <p:nvPr>
            <p:ph type="sldNum" sz="quarter" idx="12"/>
          </p:nvPr>
        </p:nvSpPr>
        <p:spPr/>
        <p:txBody>
          <a:bodyPr/>
          <a:lstStyle/>
          <a:p>
            <a:pPr>
              <a:defRPr/>
            </a:pPr>
            <a:fld id="{7C760612-1CE6-4420-A721-C80A19F352D5}" type="slidenum">
              <a:rPr lang="en-US" smtClean="0"/>
              <a:pPr>
                <a:defRPr/>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Top-Level Container Panes</a:t>
            </a:r>
          </a:p>
        </p:txBody>
      </p:sp>
      <p:sp>
        <p:nvSpPr>
          <p:cNvPr id="3" name="Content Placeholder 2"/>
          <p:cNvSpPr>
            <a:spLocks noGrp="1"/>
          </p:cNvSpPr>
          <p:nvPr>
            <p:ph idx="1"/>
          </p:nvPr>
        </p:nvSpPr>
        <p:spPr/>
        <p:txBody>
          <a:bodyPr/>
          <a:lstStyle/>
          <a:p>
            <a:r>
              <a:rPr lang="en-US" dirty="0"/>
              <a:t>The Top-Level Container Panes </a:t>
            </a:r>
          </a:p>
          <a:p>
            <a:pPr lvl="1"/>
            <a:r>
              <a:rPr lang="en-US" dirty="0"/>
              <a:t>Each top-level container defines a set of </a:t>
            </a:r>
            <a:r>
              <a:rPr lang="en-US" b="1" dirty="0"/>
              <a:t>panes</a:t>
            </a:r>
            <a:r>
              <a:rPr lang="en-US" dirty="0"/>
              <a:t>. </a:t>
            </a:r>
          </a:p>
          <a:p>
            <a:pPr lvl="1"/>
            <a:r>
              <a:rPr lang="en-US" dirty="0"/>
              <a:t>At the top of the hierarchy is an instance of </a:t>
            </a:r>
            <a:r>
              <a:rPr lang="en-US" dirty="0" err="1"/>
              <a:t>JRootPane</a:t>
            </a:r>
            <a:r>
              <a:rPr lang="en-US" dirty="0"/>
              <a:t>. </a:t>
            </a:r>
          </a:p>
          <a:p>
            <a:pPr lvl="2"/>
            <a:r>
              <a:rPr lang="en-US" dirty="0" err="1"/>
              <a:t>JRootPane</a:t>
            </a:r>
            <a:r>
              <a:rPr lang="en-US" dirty="0"/>
              <a:t> is a lightweight container to manage other panes and optional menu bar. </a:t>
            </a:r>
          </a:p>
          <a:p>
            <a:pPr lvl="2"/>
            <a:r>
              <a:rPr lang="en-US" dirty="0" err="1"/>
              <a:t>JRootPane</a:t>
            </a:r>
            <a:r>
              <a:rPr lang="en-US" dirty="0"/>
              <a:t> is made up of </a:t>
            </a:r>
          </a:p>
          <a:p>
            <a:pPr lvl="3"/>
            <a:r>
              <a:rPr lang="en-US" dirty="0"/>
              <a:t>the </a:t>
            </a:r>
            <a:r>
              <a:rPr lang="en-US" b="1" dirty="0"/>
              <a:t>glass pane, </a:t>
            </a:r>
          </a:p>
          <a:p>
            <a:pPr lvl="3"/>
            <a:r>
              <a:rPr lang="en-US" b="1" dirty="0"/>
              <a:t>the content pane, </a:t>
            </a:r>
            <a:endParaRPr lang="en-US" dirty="0"/>
          </a:p>
          <a:p>
            <a:pPr lvl="3"/>
            <a:r>
              <a:rPr lang="en-US" b="1" dirty="0"/>
              <a:t>the layered pane</a:t>
            </a:r>
            <a:r>
              <a:rPr lang="en-US" dirty="0"/>
              <a:t>.</a:t>
            </a:r>
          </a:p>
          <a:p>
            <a:endParaRPr lang="en-US" dirty="0"/>
          </a:p>
          <a:p>
            <a:endParaRPr lang="en-US" dirty="0"/>
          </a:p>
        </p:txBody>
      </p:sp>
      <p:sp>
        <p:nvSpPr>
          <p:cNvPr id="4" name="Footer Placeholder 3"/>
          <p:cNvSpPr>
            <a:spLocks noGrp="1"/>
          </p:cNvSpPr>
          <p:nvPr>
            <p:ph type="ftr" sz="quarter" idx="11"/>
          </p:nvPr>
        </p:nvSpPr>
        <p:spPr/>
        <p:txBody>
          <a:bodyPr/>
          <a:lstStyle/>
          <a:p>
            <a:pPr>
              <a:defRPr/>
            </a:pPr>
            <a:r>
              <a:rPr lang="en-US"/>
              <a:t>Prepared by Renetha J.B.</a:t>
            </a:r>
            <a:endParaRPr lang="en-US" dirty="0"/>
          </a:p>
        </p:txBody>
      </p:sp>
      <p:sp>
        <p:nvSpPr>
          <p:cNvPr id="5" name="Slide Number Placeholder 4"/>
          <p:cNvSpPr>
            <a:spLocks noGrp="1"/>
          </p:cNvSpPr>
          <p:nvPr>
            <p:ph type="sldNum" sz="quarter" idx="12"/>
          </p:nvPr>
        </p:nvSpPr>
        <p:spPr/>
        <p:txBody>
          <a:bodyPr/>
          <a:lstStyle/>
          <a:p>
            <a:pPr>
              <a:defRPr/>
            </a:pPr>
            <a:fld id="{7C760612-1CE6-4420-A721-C80A19F352D5}" type="slidenum">
              <a:rPr lang="en-US" smtClean="0"/>
              <a:pPr>
                <a:defRPr/>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Top-Level Container Panes</a:t>
            </a:r>
          </a:p>
        </p:txBody>
      </p:sp>
      <p:sp>
        <p:nvSpPr>
          <p:cNvPr id="3" name="Content Placeholder 2"/>
          <p:cNvSpPr>
            <a:spLocks noGrp="1"/>
          </p:cNvSpPr>
          <p:nvPr>
            <p:ph idx="1"/>
          </p:nvPr>
        </p:nvSpPr>
        <p:spPr/>
        <p:txBody>
          <a:bodyPr/>
          <a:lstStyle/>
          <a:p>
            <a:r>
              <a:rPr lang="en-US" sz="2000" dirty="0"/>
              <a:t>Glass pane : </a:t>
            </a:r>
          </a:p>
          <a:p>
            <a:pPr lvl="1"/>
            <a:r>
              <a:rPr lang="en-US" sz="2000" dirty="0"/>
              <a:t>The glass pane is the </a:t>
            </a:r>
            <a:r>
              <a:rPr lang="en-US" sz="2000" b="1" dirty="0"/>
              <a:t>top-level pane.</a:t>
            </a:r>
          </a:p>
          <a:p>
            <a:pPr lvl="1"/>
            <a:r>
              <a:rPr lang="en-US" sz="2000" dirty="0"/>
              <a:t>It sits above and completely covers all other panes. </a:t>
            </a:r>
          </a:p>
          <a:p>
            <a:pPr lvl="1"/>
            <a:r>
              <a:rPr lang="en-US" sz="2000" dirty="0"/>
              <a:t>By default, it is a </a:t>
            </a:r>
            <a:r>
              <a:rPr lang="en-US" sz="2000" b="1" i="1" dirty="0"/>
              <a:t>transparent</a:t>
            </a:r>
            <a:r>
              <a:rPr lang="en-US" sz="2000" dirty="0"/>
              <a:t> instance of </a:t>
            </a:r>
            <a:r>
              <a:rPr lang="en-US" sz="2000" dirty="0" err="1"/>
              <a:t>JPanel</a:t>
            </a:r>
            <a:r>
              <a:rPr lang="en-US" sz="2000" dirty="0"/>
              <a:t>. </a:t>
            </a:r>
          </a:p>
          <a:p>
            <a:r>
              <a:rPr lang="en-US" sz="2000" dirty="0"/>
              <a:t>Layered pane : </a:t>
            </a:r>
          </a:p>
          <a:p>
            <a:pPr lvl="1"/>
            <a:r>
              <a:rPr lang="en-US" sz="2000" dirty="0"/>
              <a:t>The layered pane is an instance of </a:t>
            </a:r>
            <a:r>
              <a:rPr lang="en-US" sz="2000" dirty="0" err="1"/>
              <a:t>JLayeredPane</a:t>
            </a:r>
            <a:r>
              <a:rPr lang="en-US" sz="2000" dirty="0"/>
              <a:t>. </a:t>
            </a:r>
          </a:p>
          <a:p>
            <a:pPr lvl="1"/>
            <a:r>
              <a:rPr lang="en-US" sz="2000" dirty="0"/>
              <a:t>The layered pane allows components to be given a depth value. </a:t>
            </a:r>
          </a:p>
          <a:p>
            <a:pPr lvl="1"/>
            <a:r>
              <a:rPr lang="en-US" sz="2000" dirty="0"/>
              <a:t>This value determines which component overlays another.</a:t>
            </a:r>
          </a:p>
          <a:p>
            <a:r>
              <a:rPr lang="en-US" sz="2000" dirty="0"/>
              <a:t>Content pane: </a:t>
            </a:r>
          </a:p>
          <a:p>
            <a:pPr lvl="1"/>
            <a:r>
              <a:rPr lang="en-US" sz="2000" dirty="0"/>
              <a:t>The pane with which your application will interact the most is the content pane </a:t>
            </a:r>
          </a:p>
          <a:p>
            <a:pPr lvl="1"/>
            <a:r>
              <a:rPr lang="en-US" sz="2000" dirty="0"/>
              <a:t>When we add a component, such as a button, to a top- level container, we will add it to the content pane. </a:t>
            </a:r>
          </a:p>
          <a:p>
            <a:pPr lvl="1"/>
            <a:r>
              <a:rPr lang="en-US" sz="2000" dirty="0"/>
              <a:t>By default, the content pane is an </a:t>
            </a:r>
            <a:r>
              <a:rPr lang="en-US" sz="2000" b="1" i="1" dirty="0"/>
              <a:t>opaque</a:t>
            </a:r>
            <a:r>
              <a:rPr lang="en-US" sz="2000" dirty="0"/>
              <a:t> instance of </a:t>
            </a:r>
            <a:r>
              <a:rPr lang="en-US" sz="2000" dirty="0" err="1"/>
              <a:t>JPanel</a:t>
            </a:r>
            <a:r>
              <a:rPr lang="en-US" sz="2000" dirty="0"/>
              <a:t>.</a:t>
            </a:r>
          </a:p>
          <a:p>
            <a:pPr lvl="1"/>
            <a:endParaRPr lang="en-US" sz="2000" b="1" dirty="0"/>
          </a:p>
        </p:txBody>
      </p:sp>
      <p:sp>
        <p:nvSpPr>
          <p:cNvPr id="4" name="Footer Placeholder 3"/>
          <p:cNvSpPr>
            <a:spLocks noGrp="1"/>
          </p:cNvSpPr>
          <p:nvPr>
            <p:ph type="ftr" sz="quarter" idx="11"/>
          </p:nvPr>
        </p:nvSpPr>
        <p:spPr/>
        <p:txBody>
          <a:bodyPr/>
          <a:lstStyle/>
          <a:p>
            <a:pPr>
              <a:defRPr/>
            </a:pPr>
            <a:r>
              <a:rPr lang="en-US"/>
              <a:t>Prepared by Renetha J.B.</a:t>
            </a:r>
            <a:endParaRPr lang="en-US" dirty="0"/>
          </a:p>
        </p:txBody>
      </p:sp>
      <p:sp>
        <p:nvSpPr>
          <p:cNvPr id="5" name="Slide Number Placeholder 4"/>
          <p:cNvSpPr>
            <a:spLocks noGrp="1"/>
          </p:cNvSpPr>
          <p:nvPr>
            <p:ph type="sldNum" sz="quarter" idx="12"/>
          </p:nvPr>
        </p:nvSpPr>
        <p:spPr/>
        <p:txBody>
          <a:bodyPr/>
          <a:lstStyle/>
          <a:p>
            <a:pPr>
              <a:defRPr/>
            </a:pPr>
            <a:fld id="{7C760612-1CE6-4420-A721-C80A19F352D5}" type="slidenum">
              <a:rPr lang="en-US" smtClean="0"/>
              <a:pPr>
                <a:defRPr/>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pPr>
              <a:defRPr/>
            </a:pPr>
            <a:r>
              <a:rPr lang="en-US"/>
              <a:t>Prepared by Renetha J.B.</a:t>
            </a:r>
            <a:endParaRPr lang="en-US" dirty="0"/>
          </a:p>
        </p:txBody>
      </p:sp>
      <p:sp>
        <p:nvSpPr>
          <p:cNvPr id="5" name="Slide Number Placeholder 4"/>
          <p:cNvSpPr>
            <a:spLocks noGrp="1"/>
          </p:cNvSpPr>
          <p:nvPr>
            <p:ph type="sldNum" sz="quarter" idx="12"/>
          </p:nvPr>
        </p:nvSpPr>
        <p:spPr/>
        <p:txBody>
          <a:bodyPr/>
          <a:lstStyle/>
          <a:p>
            <a:pPr>
              <a:defRPr/>
            </a:pPr>
            <a:fld id="{7C760612-1CE6-4420-A721-C80A19F352D5}" type="slidenum">
              <a:rPr lang="en-US" smtClean="0"/>
              <a:pPr>
                <a:defRPr/>
              </a:pPr>
              <a:t>22</a:t>
            </a:fld>
            <a:endParaRPr lang="en-US" dirty="0"/>
          </a:p>
        </p:txBody>
      </p:sp>
      <p:pic>
        <p:nvPicPr>
          <p:cNvPr id="27650" name="Picture 2"/>
          <p:cNvPicPr>
            <a:picLocks noChangeAspect="1" noChangeArrowheads="1"/>
          </p:cNvPicPr>
          <p:nvPr/>
        </p:nvPicPr>
        <p:blipFill>
          <a:blip r:embed="rId2"/>
          <a:srcRect l="1121" t="601" r="-3364" b="-601"/>
          <a:stretch>
            <a:fillRect/>
          </a:stretch>
        </p:blipFill>
        <p:spPr bwMode="auto">
          <a:xfrm>
            <a:off x="838200" y="669925"/>
            <a:ext cx="6947647" cy="5351026"/>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pPr eaLnBrk="1" hangingPunct="1"/>
            <a:r>
              <a:rPr lang="en-US"/>
              <a:t>Reference</a:t>
            </a:r>
          </a:p>
        </p:txBody>
      </p:sp>
      <p:sp>
        <p:nvSpPr>
          <p:cNvPr id="36867" name="Content Placeholder 2"/>
          <p:cNvSpPr>
            <a:spLocks noGrp="1"/>
          </p:cNvSpPr>
          <p:nvPr>
            <p:ph idx="1"/>
          </p:nvPr>
        </p:nvSpPr>
        <p:spPr/>
        <p:txBody>
          <a:bodyPr/>
          <a:lstStyle/>
          <a:p>
            <a:pPr eaLnBrk="1" hangingPunct="1"/>
            <a:r>
              <a:rPr lang="en-US"/>
              <a:t>Herbert Schildt, Java: </a:t>
            </a:r>
            <a:r>
              <a:rPr lang="en-US" b="1"/>
              <a:t>The Complete Reference, 8/e, Tata McGraw Hill, 2011</a:t>
            </a:r>
            <a:r>
              <a:rPr lang="en-US"/>
              <a:t>.</a:t>
            </a:r>
          </a:p>
        </p:txBody>
      </p:sp>
      <p:sp>
        <p:nvSpPr>
          <p:cNvPr id="4" name="Slide Number Placeholder 3"/>
          <p:cNvSpPr>
            <a:spLocks noGrp="1"/>
          </p:cNvSpPr>
          <p:nvPr>
            <p:ph type="sldNum" sz="quarter" idx="12"/>
          </p:nvPr>
        </p:nvSpPr>
        <p:spPr/>
        <p:txBody>
          <a:bodyPr/>
          <a:lstStyle/>
          <a:p>
            <a:pPr>
              <a:defRPr/>
            </a:pPr>
            <a:fld id="{CB177B24-24EE-4360-837F-21ED05759566}" type="slidenum">
              <a:rPr lang="en-US"/>
              <a:pPr>
                <a:defRPr/>
              </a:pPr>
              <a:t>23</a:t>
            </a:fld>
            <a:endParaRPr lang="en-US"/>
          </a:p>
        </p:txBody>
      </p:sp>
      <p:sp>
        <p:nvSpPr>
          <p:cNvPr id="36869" name="Footer Placeholder 4"/>
          <p:cNvSpPr>
            <a:spLocks noGrp="1"/>
          </p:cNvSpPr>
          <p:nvPr>
            <p:ph type="ftr" sz="quarter" idx="11"/>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r>
              <a:rPr lang="en-US"/>
              <a:t>Prepared by Renetha J.B.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spPr>
      <a:bodyPr rtlCol="0" anchor="ctr"/>
      <a:lstStyle>
        <a:defPPr>
          <a:defRPr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7905</TotalTime>
  <Words>1422</Words>
  <Application>Microsoft Office PowerPoint</Application>
  <PresentationFormat>On-screen Show (4:3)</PresentationFormat>
  <Paragraphs>173</Paragraphs>
  <Slides>23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Snap ITC</vt:lpstr>
      <vt:lpstr>Times New Roman</vt:lpstr>
      <vt:lpstr>Office Theme</vt:lpstr>
      <vt:lpstr>PBCST304 Object Oriented Programming in Java Module 4 (Part 2)</vt:lpstr>
      <vt:lpstr>Topics</vt:lpstr>
      <vt:lpstr>MVC (Model View Controller)</vt:lpstr>
      <vt:lpstr>PowerPoint Presentation</vt:lpstr>
      <vt:lpstr>MVC(contd.)</vt:lpstr>
      <vt:lpstr>E.g. MVC - Shopping list app</vt:lpstr>
      <vt:lpstr>PowerPoint Presentation</vt:lpstr>
      <vt:lpstr>PowerPoint Presentation</vt:lpstr>
      <vt:lpstr>MVC(contd.)</vt:lpstr>
      <vt:lpstr>MVC(contd.)</vt:lpstr>
      <vt:lpstr>MVC(contd.)</vt:lpstr>
      <vt:lpstr>Swing Controls</vt:lpstr>
      <vt:lpstr>Components and Containers</vt:lpstr>
      <vt:lpstr>Components</vt:lpstr>
      <vt:lpstr>Components(contd.)</vt:lpstr>
      <vt:lpstr>Containers</vt:lpstr>
      <vt:lpstr>Containers(contd.)</vt:lpstr>
      <vt:lpstr>Containers (contd.)</vt:lpstr>
      <vt:lpstr>PowerPoint Presentation</vt:lpstr>
      <vt:lpstr>The Top-Level Container Panes</vt:lpstr>
      <vt:lpstr>The Top-Level Container Panes</vt:lpstr>
      <vt:lpstr>PowerPoint Presentation</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CS205 Object Oriented Programming in Java Module 2 - Core Java Fundamentals</dc:title>
  <dc:creator>USER</dc:creator>
  <cp:lastModifiedBy>RENETHA J B</cp:lastModifiedBy>
  <cp:revision>4517</cp:revision>
  <dcterms:created xsi:type="dcterms:W3CDTF">2006-08-16T00:00:00Z</dcterms:created>
  <dcterms:modified xsi:type="dcterms:W3CDTF">2025-08-23T09:14:17Z</dcterms:modified>
</cp:coreProperties>
</file>