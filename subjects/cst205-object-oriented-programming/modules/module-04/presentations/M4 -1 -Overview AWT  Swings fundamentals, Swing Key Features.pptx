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4" r:id="rId2"/>
    <p:sldId id="306" r:id="rId3"/>
    <p:sldId id="257" r:id="rId4"/>
    <p:sldId id="307" r:id="rId5"/>
    <p:sldId id="308" r:id="rId6"/>
    <p:sldId id="309" r:id="rId7"/>
    <p:sldId id="310" r:id="rId8"/>
    <p:sldId id="295" r:id="rId9"/>
    <p:sldId id="297" r:id="rId10"/>
    <p:sldId id="298" r:id="rId11"/>
    <p:sldId id="299" r:id="rId12"/>
    <p:sldId id="300" r:id="rId13"/>
    <p:sldId id="301" r:id="rId14"/>
    <p:sldId id="296" r:id="rId15"/>
    <p:sldId id="305" r:id="rId16"/>
    <p:sldId id="302" r:id="rId17"/>
    <p:sldId id="276" r:id="rId1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9" autoAdjust="0"/>
    <p:restoredTop sz="94624" autoAdjust="0"/>
  </p:normalViewPr>
  <p:slideViewPr>
    <p:cSldViewPr>
      <p:cViewPr varScale="1">
        <p:scale>
          <a:sx n="78" d="100"/>
          <a:sy n="78" d="100"/>
        </p:scale>
        <p:origin x="158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74" y="-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0A006468-1CDF-4088-B87A-4CD0B5F2A406}" type="datetimeFigureOut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E6144B60-9DB3-43EA-A003-48D433878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/>
              <a:t>AWT is heavyweight </a:t>
            </a:r>
            <a:r>
              <a:rPr lang="en-US" sz="1200" dirty="0"/>
              <a:t>because its components are dependent on the underlying Operating System .When we create an object of </a:t>
            </a:r>
            <a:r>
              <a:rPr lang="en-US" sz="1200" dirty="0" err="1"/>
              <a:t>java.awt.Checkbox</a:t>
            </a:r>
            <a:r>
              <a:rPr lang="en-US" sz="1200" dirty="0"/>
              <a:t> class, its underlying Operating System will generate a checkbox for us.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144B60-9DB3-43EA-A003-48D4338781B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43800" y="-1524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9FEB9-5C7C-4D8B-879A-DC07A92BC307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Prepared by Renetha J.B.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B8933F-B144-4A24-8A5D-8E40BC4CAB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72375" y="-762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>
            <a:lvl1pPr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 algn="just">
              <a:defRPr sz="2600">
                <a:latin typeface="Times New Roman" pitchFamily="18" charset="0"/>
                <a:cs typeface="Times New Roman" pitchFamily="18" charset="0"/>
              </a:defRPr>
            </a:lvl1pPr>
            <a:lvl2pPr algn="just">
              <a:defRPr sz="2400">
                <a:latin typeface="Times New Roman" pitchFamily="18" charset="0"/>
                <a:cs typeface="Times New Roman" pitchFamily="18" charset="0"/>
              </a:defRPr>
            </a:lvl2pPr>
            <a:lvl3pPr algn="just">
              <a:defRPr sz="2400">
                <a:latin typeface="Times New Roman" pitchFamily="18" charset="0"/>
                <a:cs typeface="Times New Roman" pitchFamily="18" charset="0"/>
              </a:defRPr>
            </a:lvl3pPr>
            <a:lvl4pPr algn="just">
              <a:defRPr sz="2400">
                <a:latin typeface="Times New Roman" pitchFamily="18" charset="0"/>
                <a:cs typeface="Times New Roman" pitchFamily="18" charset="0"/>
              </a:defRPr>
            </a:lvl4pPr>
            <a:lvl5pPr>
              <a:defRPr sz="24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C59C9A-1610-4072-AFB9-7DF9C4A58976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705600" y="6492875"/>
            <a:ext cx="2514600" cy="365125"/>
          </a:xfrm>
        </p:spPr>
        <p:txBody>
          <a:bodyPr/>
          <a:lstStyle>
            <a:lvl1pPr>
              <a:defRPr b="1" i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477000"/>
            <a:ext cx="381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60612-1CE6-4420-A721-C80A19F352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8F254-6DDE-4857-B7DA-3C880C43C80D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9C0EF-273B-49EF-9071-9B0293C93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648575" y="-1524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>
                <a:latin typeface="Times New Roman" pitchFamily="18" charset="0"/>
                <a:cs typeface="Times New Roman" pitchFamily="18" charset="0"/>
              </a:defRPr>
            </a:lvl1pPr>
            <a:lvl2pPr>
              <a:defRPr sz="2600">
                <a:latin typeface="Times New Roman" pitchFamily="18" charset="0"/>
                <a:cs typeface="Times New Roman" pitchFamily="18" charset="0"/>
              </a:defRPr>
            </a:lvl2pPr>
            <a:lvl3pPr>
              <a:defRPr sz="2600">
                <a:latin typeface="Times New Roman" pitchFamily="18" charset="0"/>
                <a:cs typeface="Times New Roman" pitchFamily="18" charset="0"/>
              </a:defRPr>
            </a:lvl3pPr>
            <a:lvl4pPr>
              <a:defRPr sz="2600">
                <a:latin typeface="Times New Roman" pitchFamily="18" charset="0"/>
                <a:cs typeface="Times New Roman" pitchFamily="18" charset="0"/>
              </a:defRPr>
            </a:lvl4pPr>
            <a:lvl5pPr>
              <a:defRPr sz="2600">
                <a:latin typeface="Times New Roman" pitchFamily="18" charset="0"/>
                <a:cs typeface="Times New Roman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>
                <a:latin typeface="Times New Roman" pitchFamily="18" charset="0"/>
                <a:cs typeface="Times New Roman" pitchFamily="18" charset="0"/>
              </a:defRPr>
            </a:lvl1pPr>
            <a:lvl2pPr>
              <a:defRPr sz="2600">
                <a:latin typeface="Times New Roman" pitchFamily="18" charset="0"/>
                <a:cs typeface="Times New Roman" pitchFamily="18" charset="0"/>
              </a:defRPr>
            </a:lvl2pPr>
            <a:lvl3pPr>
              <a:defRPr sz="2600">
                <a:latin typeface="Times New Roman" pitchFamily="18" charset="0"/>
                <a:cs typeface="Times New Roman" pitchFamily="18" charset="0"/>
              </a:defRPr>
            </a:lvl3pPr>
            <a:lvl4pPr>
              <a:defRPr sz="2600">
                <a:latin typeface="Times New Roman" pitchFamily="18" charset="0"/>
                <a:cs typeface="Times New Roman" pitchFamily="18" charset="0"/>
              </a:defRPr>
            </a:lvl4pPr>
            <a:lvl5pPr>
              <a:defRPr sz="2600">
                <a:latin typeface="Times New Roman" pitchFamily="18" charset="0"/>
                <a:cs typeface="Times New Roman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8797E-EA91-483A-A748-FA7B45BC2CD7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336246-FC46-4052-A6ED-AB27FAD080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43800" y="-152400"/>
            <a:ext cx="16478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5CCD5-AF5D-4622-ADE3-840E4EC61F4C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492875"/>
            <a:ext cx="457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672AF-3668-4769-896B-F90092D9B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447E2-AA30-4843-BB4B-1D099F4D6102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2583B-E917-44E2-9E13-75059E2FCB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4F405-30E7-4F0C-BA9E-E7E7428EC40F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9BB36-D19A-4D1B-964D-197368707D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65AB7-CF6B-4DCE-87AE-17C3AFEC915F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7741A-D6EE-4339-9D85-25048C97D7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0C263-5661-4DF2-AE05-02BDC84FD792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25B9E-B1F3-4AAD-B4A2-932FCB844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37383-A1FA-4F68-AE14-D06A08E99499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66BC8-F3C6-40C6-B592-29EEBF5756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F2EF7-14C8-478A-A813-5AA3BDFF3B9B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AD7C2C-BB52-436F-B184-A6A883B501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838200"/>
            <a:ext cx="8229600" cy="528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8EDE54-010F-4DEE-B1D3-3CEF57B2E0B2}" type="datetime1">
              <a:rPr lang="en-US"/>
              <a:pPr>
                <a:defRPr/>
              </a:pPr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i="1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F8B2B23-C1A1-4E7E-BBC8-3764BA569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4" r:id="rId1"/>
    <p:sldLayoutId id="2147484505" r:id="rId2"/>
    <p:sldLayoutId id="2147484497" r:id="rId3"/>
    <p:sldLayoutId id="2147484506" r:id="rId4"/>
    <p:sldLayoutId id="2147484507" r:id="rId5"/>
    <p:sldLayoutId id="2147484498" r:id="rId6"/>
    <p:sldLayoutId id="2147484499" r:id="rId7"/>
    <p:sldLayoutId id="2147484500" r:id="rId8"/>
    <p:sldLayoutId id="2147484501" r:id="rId9"/>
    <p:sldLayoutId id="2147484502" r:id="rId10"/>
    <p:sldLayoutId id="214748450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381000" y="1219200"/>
            <a:ext cx="8458200" cy="238125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00CC"/>
                </a:solidFill>
              </a:rPr>
              <a:t>PBCST304 Object Oriented Programming 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Module 4 (Part 1)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latin typeface="Snap ITC" pitchFamily="82" charset="0"/>
              </a:rPr>
              <a:t>Prepared by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4000" b="1" dirty="0" err="1"/>
              <a:t>Renetha</a:t>
            </a:r>
            <a:r>
              <a:rPr lang="en-US" sz="4000" b="1" dirty="0"/>
              <a:t> J.B.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831C5C-37AA-4E91-8C39-54118789491F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614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00F4-23CE-00B8-AD09-FC4C66B3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4 syllabus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F6854-1C0E-937A-0BEA-CC8EB56A2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26F58-DFD4-CB3C-D8F7-F76BD46E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F236CB-ACD3-B07C-BA4B-2131F25B4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63" y="1052181"/>
            <a:ext cx="6973273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39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Topics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3200" b="1" dirty="0">
                <a:solidFill>
                  <a:srgbClr val="C00000"/>
                </a:solidFill>
              </a:rPr>
              <a:t>Swings fundamentals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2800" b="1" dirty="0"/>
              <a:t> </a:t>
            </a:r>
            <a:r>
              <a:rPr lang="en-US" sz="2800" dirty="0"/>
              <a:t>Overview of AWT, </a:t>
            </a:r>
          </a:p>
          <a:p>
            <a:r>
              <a:rPr lang="en-US" sz="2800" dirty="0"/>
              <a:t>Swing v/s AWT, </a:t>
            </a:r>
          </a:p>
          <a:p>
            <a:r>
              <a:rPr lang="en-US" sz="2800" dirty="0"/>
              <a:t>Swing Key </a:t>
            </a:r>
            <a:r>
              <a:rPr lang="en-IN" sz="2800" dirty="0"/>
              <a:t>Features,</a:t>
            </a:r>
            <a:endParaRPr lang="en-US" sz="7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DF6EC7-77E1-43CE-AE3A-927B2A2A30F4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C2ADE-A6B0-249E-65AD-ACFDFA8A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AWT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FC68-2CE6-4D1F-F9F0-3741BB30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AWT- Abstract Window Toolkit</a:t>
            </a:r>
          </a:p>
          <a:p>
            <a:r>
              <a:rPr lang="en-IN" dirty="0"/>
              <a:t>AWT contains numerous classes and methods to create and manage Windows.</a:t>
            </a:r>
          </a:p>
          <a:p>
            <a:r>
              <a:rPr lang="en-IN" dirty="0"/>
              <a:t>AWT classes are contained in </a:t>
            </a:r>
            <a:r>
              <a:rPr lang="en-IN" b="1" dirty="0" err="1"/>
              <a:t>java.awt</a:t>
            </a:r>
            <a:r>
              <a:rPr lang="en-IN" dirty="0"/>
              <a:t> package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EA8F0-011B-7CEC-E691-867413D26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BFE31-8817-E56E-E366-82DF58DB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19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50CE-E1D3-7DCA-BF03-DB46A23CC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1F0D-14DB-9E0F-C00C-AF766AAD0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9E51E-CF96-1812-E5B0-338B6436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401A0D-034E-A67A-A36F-E27C8E908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844BE3-E96B-F5CB-D4E7-252AECEA0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73"/>
            <a:ext cx="9144000" cy="682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34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6E20F-27FD-721B-AAE9-4E56BAAB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43CAC-3629-6C7F-B111-459CBD4CB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8" y="1122894"/>
            <a:ext cx="8229600" cy="5334000"/>
          </a:xfrm>
        </p:spPr>
        <p:txBody>
          <a:bodyPr/>
          <a:lstStyle/>
          <a:p>
            <a:r>
              <a:rPr lang="en-IN" sz="2400" b="1" dirty="0"/>
              <a:t>Window Fundamentals</a:t>
            </a:r>
          </a:p>
          <a:p>
            <a:r>
              <a:rPr lang="en-US" sz="2400" dirty="0"/>
              <a:t>The AWT defines windows according to a class hierarchy.</a:t>
            </a:r>
          </a:p>
          <a:p>
            <a:pPr lvl="1"/>
            <a:r>
              <a:rPr lang="en-US" sz="2000" dirty="0"/>
              <a:t>At the top of the AWT hierarchy is the </a:t>
            </a:r>
            <a:r>
              <a:rPr lang="en-US" sz="2000" b="1" dirty="0"/>
              <a:t>Component </a:t>
            </a:r>
            <a:r>
              <a:rPr lang="en-US" sz="2000" dirty="0"/>
              <a:t>class(abstract class)</a:t>
            </a:r>
          </a:p>
          <a:p>
            <a:pPr lvl="2"/>
            <a:r>
              <a:rPr lang="en-US" sz="2000" dirty="0"/>
              <a:t>The </a:t>
            </a:r>
            <a:r>
              <a:rPr lang="en-US" sz="2000" b="1" dirty="0"/>
              <a:t>Container </a:t>
            </a:r>
            <a:r>
              <a:rPr lang="en-US" sz="2000" dirty="0"/>
              <a:t>class is a subclass of </a:t>
            </a:r>
            <a:r>
              <a:rPr lang="en-US" sz="2000" b="1" dirty="0"/>
              <a:t>Component</a:t>
            </a:r>
            <a:r>
              <a:rPr lang="en-US" sz="2000" dirty="0"/>
              <a:t>.</a:t>
            </a:r>
          </a:p>
          <a:p>
            <a:pPr lvl="3"/>
            <a:r>
              <a:rPr lang="en-US" sz="2000" dirty="0"/>
              <a:t>The </a:t>
            </a:r>
            <a:r>
              <a:rPr lang="en-US" sz="2000" b="1" dirty="0"/>
              <a:t>Panel </a:t>
            </a:r>
            <a:r>
              <a:rPr lang="en-US" sz="2000" dirty="0"/>
              <a:t>class is a concrete subclass of </a:t>
            </a:r>
            <a:r>
              <a:rPr lang="en-US" sz="2000" b="1" dirty="0"/>
              <a:t>Container</a:t>
            </a:r>
          </a:p>
          <a:p>
            <a:pPr marL="1828800" lvl="4" indent="0">
              <a:buNone/>
            </a:pPr>
            <a:r>
              <a:rPr lang="en-US" sz="2000" b="1" dirty="0"/>
              <a:t>(Panel </a:t>
            </a:r>
            <a:r>
              <a:rPr lang="en-US" sz="2000" dirty="0"/>
              <a:t>is a window that does not contain a title bar, menu bar, or border.</a:t>
            </a:r>
            <a:endParaRPr lang="en-US" sz="2000" b="1" dirty="0"/>
          </a:p>
          <a:p>
            <a:pPr lvl="3"/>
            <a:r>
              <a:rPr lang="en-US" sz="2000" b="1" dirty="0"/>
              <a:t>Window </a:t>
            </a:r>
            <a:r>
              <a:rPr lang="en-US" sz="2000" dirty="0"/>
              <a:t>class is a subclass of </a:t>
            </a:r>
            <a:r>
              <a:rPr lang="en-US" sz="2000" b="1" dirty="0"/>
              <a:t>Container</a:t>
            </a:r>
          </a:p>
          <a:p>
            <a:pPr lvl="4"/>
            <a:r>
              <a:rPr lang="en-US" sz="2000" b="1" dirty="0"/>
              <a:t>Frame </a:t>
            </a:r>
            <a:r>
              <a:rPr lang="en-IN" sz="2000" dirty="0"/>
              <a:t>is a subclass of </a:t>
            </a:r>
            <a:r>
              <a:rPr lang="en-IN" sz="2000" b="1" dirty="0"/>
              <a:t>Window </a:t>
            </a:r>
            <a:r>
              <a:rPr lang="en-US" sz="2000" dirty="0"/>
              <a:t>and has a title bar, menu bar, borders, and resizing corners.</a:t>
            </a:r>
            <a:endParaRPr lang="en-US" sz="2000" b="1" dirty="0"/>
          </a:p>
          <a:p>
            <a:pPr lvl="2"/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A9339-9BF0-F3FD-98E1-A7996744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58454-FB77-E68C-C71C-1CA62B90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820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6EB3-CC38-2FD4-D9B8-658EBF24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C5E1D-F93C-65B3-D084-805A96797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345A9-9DF3-7969-F3B8-32CCAE70D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72492-B803-1F28-EE12-0A804A2F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E8D46-4A7E-A41E-1232-54A3747BC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990600"/>
            <a:ext cx="7155623" cy="376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38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/>
          <a:lstStyle/>
          <a:p>
            <a:pPr fontAlgn="t">
              <a:spcAft>
                <a:spcPts val="1200"/>
              </a:spcAft>
            </a:pPr>
            <a:r>
              <a:rPr lang="en-US" sz="2400" dirty="0"/>
              <a:t>Swing is </a:t>
            </a:r>
            <a:r>
              <a:rPr lang="en-US" sz="2400" b="1" dirty="0"/>
              <a:t>written entirely in Java </a:t>
            </a:r>
            <a:r>
              <a:rPr lang="en-US" sz="2400" dirty="0"/>
              <a:t>(platform-independent).</a:t>
            </a:r>
          </a:p>
          <a:p>
            <a:pPr lvl="1" fontAlgn="t">
              <a:spcAft>
                <a:spcPts val="1200"/>
              </a:spcAft>
            </a:pPr>
            <a:r>
              <a:rPr lang="en-US" dirty="0"/>
              <a:t> So swing components are </a:t>
            </a:r>
            <a:r>
              <a:rPr lang="en-US" b="1" u="sng" dirty="0"/>
              <a:t>light-weight</a:t>
            </a:r>
          </a:p>
          <a:p>
            <a:pPr lvl="1" fontAlgn="t">
              <a:spcAft>
                <a:spcPts val="1200"/>
              </a:spcAft>
            </a:pPr>
            <a:r>
              <a:rPr lang="en-US" dirty="0"/>
              <a:t>Swing components are </a:t>
            </a:r>
            <a:r>
              <a:rPr lang="en-US" u="sng" dirty="0"/>
              <a:t>NOT implemented by platform-specific code.</a:t>
            </a:r>
          </a:p>
          <a:p>
            <a:pPr>
              <a:spcAft>
                <a:spcPts val="1200"/>
              </a:spcAft>
            </a:pPr>
            <a:r>
              <a:rPr lang="en-US" sz="2400" b="1" dirty="0">
                <a:solidFill>
                  <a:srgbClr val="C00000"/>
                </a:solidFill>
              </a:rPr>
              <a:t>Swing</a:t>
            </a:r>
            <a:r>
              <a:rPr lang="en-US" sz="2400" dirty="0"/>
              <a:t> is a </a:t>
            </a:r>
            <a:r>
              <a:rPr lang="en-US" sz="2400" b="1" dirty="0"/>
              <a:t>set of classes</a:t>
            </a:r>
            <a:r>
              <a:rPr lang="en-US" sz="2400" dirty="0"/>
              <a:t>. 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Swing is built on the foundation of the AWT</a:t>
            </a:r>
            <a:r>
              <a:rPr lang="en-US" sz="2400" u="sng" dirty="0"/>
              <a:t>(Abstract Window Toolkit)</a:t>
            </a:r>
            <a:r>
              <a:rPr lang="en-US" sz="2400" dirty="0"/>
              <a:t>.</a:t>
            </a:r>
            <a:endParaRPr lang="en-US" sz="2400" b="1" dirty="0"/>
          </a:p>
          <a:p>
            <a:pPr>
              <a:spcAft>
                <a:spcPts val="1200"/>
              </a:spcAft>
            </a:pPr>
            <a:r>
              <a:rPr lang="en-US" sz="2400" dirty="0"/>
              <a:t>Swing provides </a:t>
            </a:r>
            <a:r>
              <a:rPr lang="en-US" sz="2400" u="sng" dirty="0"/>
              <a:t>more </a:t>
            </a:r>
            <a:r>
              <a:rPr lang="en-US" sz="2400" b="1" u="sng" dirty="0"/>
              <a:t>powerful and flexible</a:t>
            </a:r>
            <a:r>
              <a:rPr lang="en-US" sz="2400" u="sng" dirty="0"/>
              <a:t> functionalities than standard AWT components</a:t>
            </a:r>
            <a:r>
              <a:rPr lang="en-US" sz="2400" dirty="0"/>
              <a:t>.</a:t>
            </a:r>
          </a:p>
          <a:p>
            <a:pPr fontAlgn="t">
              <a:spcAft>
                <a:spcPts val="1200"/>
              </a:spcAft>
            </a:pPr>
            <a:r>
              <a:rPr lang="en-US" sz="2400" dirty="0"/>
              <a:t>Swing classes are defined in </a:t>
            </a:r>
            <a:r>
              <a:rPr lang="en-US" sz="2400" dirty="0" err="1"/>
              <a:t>javax.swing</a:t>
            </a:r>
            <a:r>
              <a:rPr lang="en-US" sz="2400" dirty="0"/>
              <a:t> package and its </a:t>
            </a:r>
            <a:r>
              <a:rPr lang="en-US" sz="2400" dirty="0" err="1"/>
              <a:t>subpackages</a:t>
            </a:r>
            <a:r>
              <a:rPr lang="en-US" sz="2400" dirty="0"/>
              <a:t>.</a:t>
            </a:r>
            <a:endParaRPr lang="en-US" sz="2400" u="sng" dirty="0"/>
          </a:p>
          <a:p>
            <a:pPr>
              <a:spcAft>
                <a:spcPts val="1200"/>
              </a:spcAft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en-US" sz="2400" dirty="0"/>
          </a:p>
          <a:p>
            <a:pPr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Swing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5334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Two key features of Swing are</a:t>
            </a:r>
          </a:p>
          <a:p>
            <a:pPr lvl="1">
              <a:lnSpc>
                <a:spcPct val="150000"/>
              </a:lnSpc>
            </a:pPr>
            <a:r>
              <a:rPr lang="en-US" u="sng" dirty="0"/>
              <a:t>Swing components </a:t>
            </a:r>
            <a:r>
              <a:rPr lang="en-US" dirty="0"/>
              <a:t>are </a:t>
            </a:r>
            <a:r>
              <a:rPr lang="en-US" b="1" dirty="0"/>
              <a:t>Lightweight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Swing supports a </a:t>
            </a:r>
            <a:r>
              <a:rPr lang="en-US" b="1" dirty="0"/>
              <a:t>Pluggable Look and Feel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685800"/>
          </a:xfrm>
        </p:spPr>
        <p:txBody>
          <a:bodyPr/>
          <a:lstStyle/>
          <a:p>
            <a:pPr algn="l"/>
            <a:r>
              <a:rPr lang="en-US" sz="2800" b="0" dirty="0"/>
              <a:t>Swing Key Features</a:t>
            </a:r>
            <a:r>
              <a:rPr lang="en-US" sz="2800" dirty="0"/>
              <a:t>-Swing components are 				</a:t>
            </a:r>
            <a:r>
              <a:rPr lang="en-US" sz="2800" dirty="0">
                <a:solidFill>
                  <a:srgbClr val="C00000"/>
                </a:solidFill>
              </a:rPr>
              <a:t>   			 Lightweight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229600" cy="5791200"/>
          </a:xfrm>
        </p:spPr>
        <p:txBody>
          <a:bodyPr/>
          <a:lstStyle/>
          <a:p>
            <a:r>
              <a:rPr lang="en-US" sz="2400" dirty="0"/>
              <a:t>Swing Components are </a:t>
            </a:r>
            <a:r>
              <a:rPr lang="en-US" sz="2400" b="1" dirty="0"/>
              <a:t>lightweight</a:t>
            </a:r>
            <a:r>
              <a:rPr lang="en-US" sz="2400" dirty="0"/>
              <a:t> because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they are </a:t>
            </a:r>
            <a:r>
              <a:rPr lang="en-US" b="1" dirty="0"/>
              <a:t>written entirely in Java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they do </a:t>
            </a:r>
            <a:r>
              <a:rPr lang="en-US" b="1" dirty="0"/>
              <a:t>not</a:t>
            </a:r>
            <a:r>
              <a:rPr lang="en-US" dirty="0"/>
              <a:t> map directly to </a:t>
            </a:r>
            <a:r>
              <a:rPr lang="en-US" b="1" dirty="0"/>
              <a:t>platform-specific peers.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Peer classes are written by java API developers to interface with native objects</a:t>
            </a:r>
            <a:endParaRPr lang="en-US" sz="2000" b="1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Lightweight components </a:t>
            </a:r>
            <a:r>
              <a:rPr lang="en-US" u="sng" dirty="0"/>
              <a:t>do not call the native operating system for drawing the graphical user interface(GUI) components</a:t>
            </a:r>
            <a:r>
              <a:rPr lang="en-US" dirty="0"/>
              <a:t>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They are </a:t>
            </a:r>
            <a:r>
              <a:rPr lang="en-US" b="1" dirty="0"/>
              <a:t>rendered using graphics primitives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they can be transparent, which enables  nonrectangular shapes.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lightweight components are more efficient and more flexible.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29400" y="6492875"/>
            <a:ext cx="2514600" cy="365125"/>
          </a:xfrm>
        </p:spPr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sz="2800" dirty="0"/>
              <a:t>Lightweight components </a:t>
            </a:r>
          </a:p>
          <a:p>
            <a:pPr lvl="1">
              <a:lnSpc>
                <a:spcPct val="200000"/>
              </a:lnSpc>
            </a:pPr>
            <a:r>
              <a:rPr lang="en-US" b="1" dirty="0"/>
              <a:t>do not translate into native peers</a:t>
            </a:r>
            <a:r>
              <a:rPr lang="en-US" dirty="0"/>
              <a:t>, </a:t>
            </a:r>
          </a:p>
          <a:p>
            <a:pPr lvl="1">
              <a:lnSpc>
                <a:spcPct val="200000"/>
              </a:lnSpc>
            </a:pPr>
            <a:r>
              <a:rPr lang="en-US" dirty="0"/>
              <a:t>the </a:t>
            </a:r>
            <a:r>
              <a:rPr lang="en-US" b="1" dirty="0"/>
              <a:t>look and feel of each component is determined by Swing</a:t>
            </a:r>
            <a:r>
              <a:rPr lang="en-US" dirty="0"/>
              <a:t>, not by the underlying operating system. </a:t>
            </a:r>
          </a:p>
          <a:p>
            <a:pPr>
              <a:lnSpc>
                <a:spcPct val="200000"/>
              </a:lnSpc>
            </a:pPr>
            <a:r>
              <a:rPr lang="en-US" dirty="0"/>
              <a:t>This means that </a:t>
            </a:r>
            <a:r>
              <a:rPr lang="en-US" b="1" dirty="0"/>
              <a:t>each component will work in a </a:t>
            </a:r>
            <a:r>
              <a:rPr lang="en-US" b="1" dirty="0">
                <a:solidFill>
                  <a:srgbClr val="C00000"/>
                </a:solidFill>
              </a:rPr>
              <a:t>consistent manner across all platforms.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458200" cy="685800"/>
          </a:xfrm>
        </p:spPr>
        <p:txBody>
          <a:bodyPr/>
          <a:lstStyle/>
          <a:p>
            <a:pPr algn="l"/>
            <a:r>
              <a:rPr lang="en-US" sz="2800" b="0" dirty="0"/>
              <a:t>Swing Key Features</a:t>
            </a:r>
            <a:r>
              <a:rPr lang="en-US" sz="2800" dirty="0"/>
              <a:t>-Swing components are 				    Lightweight</a:t>
            </a:r>
            <a:r>
              <a:rPr lang="en-US" sz="2800" b="0" dirty="0"/>
              <a:t>(contd.)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/>
              <a:t>Swing Key Features</a:t>
            </a:r>
            <a:r>
              <a:rPr lang="en-US" sz="2800" dirty="0"/>
              <a:t>-Swing Supports a </a:t>
            </a:r>
            <a:br>
              <a:rPr lang="en-US" sz="2800" dirty="0"/>
            </a:br>
            <a:r>
              <a:rPr lang="en-US" sz="2800" dirty="0">
                <a:solidFill>
                  <a:srgbClr val="C00000"/>
                </a:solidFill>
              </a:rPr>
              <a:t>Pluggable Look and Feel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/>
              <a:t>Swing supports a </a:t>
            </a:r>
            <a:r>
              <a:rPr lang="en-US" sz="2400" b="1" dirty="0"/>
              <a:t>pluggable look and feel (PLAF</a:t>
            </a:r>
            <a:r>
              <a:rPr lang="en-US" sz="2400" dirty="0"/>
              <a:t>). 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Because each Swing component is </a:t>
            </a:r>
            <a:r>
              <a:rPr lang="en-US" b="1" dirty="0"/>
              <a:t>rendered by Java code </a:t>
            </a:r>
            <a:r>
              <a:rPr lang="en-US" dirty="0"/>
              <a:t>not by native peers, </a:t>
            </a:r>
            <a:r>
              <a:rPr lang="en-US" u="sng" dirty="0"/>
              <a:t>the look and feel of a component is under the control of Swing</a:t>
            </a:r>
            <a:r>
              <a:rPr lang="en-US" dirty="0"/>
              <a:t>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It is possible to </a:t>
            </a:r>
            <a:r>
              <a:rPr lang="en-US" sz="2400" u="sng" dirty="0"/>
              <a:t>separate the </a:t>
            </a:r>
            <a:r>
              <a:rPr lang="en-US" sz="2400" b="1" dirty="0"/>
              <a:t>look and feel of a component </a:t>
            </a:r>
            <a:r>
              <a:rPr lang="en-US" sz="2400" u="sng" dirty="0"/>
              <a:t>from the</a:t>
            </a:r>
            <a:r>
              <a:rPr lang="en-US" sz="2400" b="1" dirty="0"/>
              <a:t> logic of the component.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200" dirty="0"/>
              <a:t>Advantage: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It is possible to </a:t>
            </a:r>
            <a:r>
              <a:rPr lang="en-US" u="sng" dirty="0"/>
              <a:t>change the way that a component is rendered </a:t>
            </a:r>
            <a:r>
              <a:rPr lang="en-US" i="1" dirty="0"/>
              <a:t>without affecting any of its other aspects</a:t>
            </a:r>
          </a:p>
          <a:p>
            <a:pPr lvl="2">
              <a:spcAft>
                <a:spcPts val="1200"/>
              </a:spcAft>
            </a:pPr>
            <a:r>
              <a:rPr lang="en-US" sz="2200" dirty="0"/>
              <a:t>it is possible to </a:t>
            </a:r>
            <a:r>
              <a:rPr lang="en-US" sz="2200" b="1" dirty="0"/>
              <a:t>“plug in” a new look and feel for any given component</a:t>
            </a:r>
            <a:r>
              <a:rPr lang="en-US" sz="2200" dirty="0"/>
              <a:t> </a:t>
            </a:r>
            <a:r>
              <a:rPr lang="en-US" sz="2200" u="sng" dirty="0"/>
              <a:t>without creating any side effects in the code that uses that component.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2400" dirty="0"/>
              <a:t>It is possible to define </a:t>
            </a:r>
            <a:r>
              <a:rPr lang="en-US" sz="2400" u="sng" dirty="0"/>
              <a:t>entire sets of look-and-feels </a:t>
            </a:r>
            <a:r>
              <a:rPr lang="en-US" sz="2400" dirty="0"/>
              <a:t>that represent </a:t>
            </a:r>
            <a:r>
              <a:rPr lang="en-US" sz="2400" i="1" dirty="0"/>
              <a:t>different GUI styles</a:t>
            </a:r>
            <a:endParaRPr lang="en-US" sz="2400" i="1" u="sng" dirty="0"/>
          </a:p>
          <a:p>
            <a:pPr>
              <a:spcBef>
                <a:spcPts val="0"/>
              </a:spcBef>
            </a:pPr>
            <a:r>
              <a:rPr lang="en-US" sz="2400" dirty="0"/>
              <a:t>To use a specific style, its look and feel is simply “plugged in.” </a:t>
            </a:r>
          </a:p>
          <a:p>
            <a:pPr lvl="1">
              <a:spcBef>
                <a:spcPts val="0"/>
              </a:spcBef>
            </a:pPr>
            <a:r>
              <a:rPr lang="en-US" dirty="0"/>
              <a:t>Once this is done, all components are automatically rendered using that style.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Pluggable look-and-feels offer several important advantages. </a:t>
            </a:r>
          </a:p>
          <a:p>
            <a:pPr lvl="1">
              <a:spcBef>
                <a:spcPts val="0"/>
              </a:spcBef>
            </a:pPr>
            <a:r>
              <a:rPr lang="en-US" dirty="0"/>
              <a:t>It is possible to define a look and feel that is </a:t>
            </a:r>
            <a:r>
              <a:rPr lang="en-US" b="1" dirty="0"/>
              <a:t>consistent across all platforms.</a:t>
            </a:r>
          </a:p>
          <a:p>
            <a:pPr lvl="1">
              <a:spcBef>
                <a:spcPts val="0"/>
              </a:spcBef>
            </a:pPr>
            <a:r>
              <a:rPr lang="en-US" sz="2200" dirty="0"/>
              <a:t>it is possible to create a look and feel that acts like a specific platform. </a:t>
            </a:r>
          </a:p>
          <a:p>
            <a:pPr lvl="2">
              <a:spcBef>
                <a:spcPts val="0"/>
              </a:spcBef>
            </a:pPr>
            <a:r>
              <a:rPr lang="en-US" sz="2200" dirty="0"/>
              <a:t>For example, if you know that an application will be running only in a Windows environment, it is possible to specify the Windows look and feel. </a:t>
            </a:r>
          </a:p>
          <a:p>
            <a:pPr lvl="2">
              <a:spcBef>
                <a:spcPts val="0"/>
              </a:spcBef>
            </a:pPr>
            <a:r>
              <a:rPr lang="en-US" sz="2200" dirty="0"/>
              <a:t>It is also possible to design a custom look and feel. Finally, the look and feel can be changed dynamically at run time.</a:t>
            </a:r>
            <a:endParaRPr lang="en-US" sz="2200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sz="2800" b="0" dirty="0"/>
              <a:t>Swing Key Features</a:t>
            </a:r>
            <a:r>
              <a:rPr lang="en-US" sz="2800" dirty="0"/>
              <a:t>-Swing Supports a </a:t>
            </a:r>
            <a:br>
              <a:rPr lang="en-US" sz="2800" dirty="0"/>
            </a:br>
            <a:r>
              <a:rPr lang="en-US" sz="2800" dirty="0">
                <a:solidFill>
                  <a:srgbClr val="C00000"/>
                </a:solidFill>
              </a:rPr>
              <a:t>Pluggable Look and Feel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76200"/>
            <a:ext cx="8229600" cy="685800"/>
          </a:xfrm>
        </p:spPr>
        <p:txBody>
          <a:bodyPr/>
          <a:lstStyle/>
          <a:p>
            <a:pPr lvl="0" algn="l" eaLnBrk="1" hangingPunct="1"/>
            <a:r>
              <a:rPr lang="en-US" sz="2800" dirty="0">
                <a:solidFill>
                  <a:srgbClr val="000000"/>
                </a:solidFill>
              </a:rPr>
              <a:t>Difference between Swing and AWT</a:t>
            </a:r>
            <a:r>
              <a:rPr lang="en-US" sz="2400" dirty="0">
                <a:latin typeface="Times" pitchFamily="18" charset="0"/>
                <a:cs typeface="Arial" pitchFamily="34" charset="0"/>
              </a:rPr>
              <a:t> </a:t>
            </a:r>
            <a:endParaRPr lang="en-US" sz="2400" dirty="0">
              <a:latin typeface="Times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500350"/>
              </p:ext>
            </p:extLst>
          </p:nvPr>
        </p:nvGraphicFramePr>
        <p:xfrm>
          <a:off x="304800" y="563880"/>
          <a:ext cx="8381999" cy="5769248"/>
        </p:xfrm>
        <a:graphic>
          <a:graphicData uri="http://schemas.openxmlformats.org/drawingml/2006/table">
            <a:tbl>
              <a:tblPr/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53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i="0" u="none" strike="noStrike" dirty="0">
                          <a:solidFill>
                            <a:srgbClr val="0000CC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Swing</a:t>
                      </a:r>
                      <a:endParaRPr lang="en-US" sz="2200" dirty="0">
                        <a:solidFill>
                          <a:srgbClr val="0000CC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b="1" i="0" u="none" strike="noStrike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AWT</a:t>
                      </a:r>
                      <a:endParaRPr lang="en-US" sz="2200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25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Swing components are </a:t>
                      </a:r>
                      <a:r>
                        <a:rPr lang="en-US" sz="2200" b="1" i="0" u="sng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not</a:t>
                      </a:r>
                      <a:r>
                        <a:rPr lang="en-US" sz="2200" b="1" i="0" u="sng" baseline="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200" b="1" i="0" u="sng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platform-dependent.</a:t>
                      </a:r>
                      <a:endParaRPr lang="en-US" sz="2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AWT components are </a:t>
                      </a:r>
                      <a:r>
                        <a:rPr lang="en-US" sz="2200" b="1" i="0" u="sng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platform-dependent</a:t>
                      </a:r>
                      <a:endParaRPr lang="en-US" sz="2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4521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u="none" strike="noStrike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Swing provides several </a:t>
                      </a:r>
                      <a:r>
                        <a:rPr lang="en-US" sz="2200" b="1" i="0" u="none" strike="noStrike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additional components</a:t>
                      </a:r>
                      <a:r>
                        <a:rPr lang="en-US" sz="2200" b="0" i="0" u="none" strike="noStrike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such as scroll panes, trees</a:t>
                      </a:r>
                      <a:r>
                        <a:rPr lang="en-US" sz="2200" b="0" i="0" u="none" strike="noStrike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etc </a:t>
                      </a:r>
                      <a:r>
                        <a:rPr lang="en-US" sz="2200" b="0" i="0" u="none" strike="noStrike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in addition to other standard components</a:t>
                      </a: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The AWT defines a </a:t>
                      </a:r>
                      <a:r>
                        <a:rPr lang="en-US" sz="2200" u="sng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basic set of controls</a:t>
                      </a:r>
                      <a:r>
                        <a:rPr lang="en-US" sz="2200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windows, and dialog boxes that support a usable, but limited graphical interface.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3888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Swing is </a:t>
                      </a: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written entirely in Java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 So swing components are </a:t>
                      </a:r>
                      <a:r>
                        <a:rPr lang="en-US" sz="2200" b="0" i="0" u="sng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</a:t>
                      </a:r>
                      <a:r>
                        <a:rPr lang="en-US" sz="2200" b="1" i="0" u="sng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ight-weight</a:t>
                      </a:r>
                      <a:endParaRPr lang="en-US" sz="2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AWT components use native code. So they are </a:t>
                      </a:r>
                      <a:r>
                        <a:rPr lang="en-US" sz="2200" b="0" i="0" u="sng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heavy weight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4521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Swing supports a </a:t>
                      </a: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pluggable look and feel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(PLAF) that </a:t>
                      </a:r>
                      <a:r>
                        <a:rPr lang="en-US" sz="2200" b="0" i="0" u="sng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can be dynamically changed 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at run-time depending on environment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 AWT </a:t>
                      </a:r>
                      <a:r>
                        <a:rPr lang="en-US" sz="2200" b="0" i="0" u="sng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look and feel of each component is fixed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and it is difficult to change its look and feel.</a:t>
                      </a:r>
                      <a:endParaRPr lang="en-US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Swing follow MVC(Model View controller)</a:t>
                      </a: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200" dirty="0">
                          <a:latin typeface="Times New Roman" pitchFamily="18" charset="0"/>
                          <a:cs typeface="Times New Roman" pitchFamily="18" charset="0"/>
                        </a:rPr>
                        <a:t>AWT does not follow MVC</a:t>
                      </a: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629400" y="6492875"/>
            <a:ext cx="2514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Prepared by </a:t>
            </a:r>
            <a:r>
              <a:rPr lang="en-US" dirty="0" err="1"/>
              <a:t>Renetha</a:t>
            </a:r>
            <a:r>
              <a:rPr lang="en-US" dirty="0"/>
              <a:t> J.B.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384175" y="0"/>
            <a:ext cx="4040188" cy="639762"/>
          </a:xfrm>
          <a:ln>
            <a:solidFill>
              <a:srgbClr val="C00000"/>
            </a:solidFill>
          </a:ln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Swing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304800" y="685800"/>
            <a:ext cx="4192588" cy="5715000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Swing is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light weight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Component.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Swing needs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main method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execute the program.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Swing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follows MVC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(Model view Controller).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Swing have its own Layout like most popular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Box Layout.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Swing uses for stand alone Applications.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execute Swing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, 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browser is not needed.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4572000" y="0"/>
            <a:ext cx="4041775" cy="639762"/>
          </a:xfrm>
          <a:ln>
            <a:solidFill>
              <a:srgbClr val="C00000"/>
            </a:solidFill>
          </a:ln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Applet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645025" y="685800"/>
            <a:ext cx="4346575" cy="5638800"/>
          </a:xfrm>
          <a:ln>
            <a:solidFill>
              <a:schemeClr val="accent1"/>
            </a:solidFill>
          </a:ln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Applet is 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heavy weight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Component.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Applet 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does not need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main method to execute.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Applet 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does not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follow MVC.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Applet uses AWT Layouts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Flowlayout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Applet need HTML code for Run.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execute Applet program we need browsers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Appletviewer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web browser etc.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Swing is a set of program components for </a:t>
            </a:r>
            <a:r>
              <a:rPr lang="en-US" b="1" dirty="0"/>
              <a:t>Java</a:t>
            </a:r>
            <a:r>
              <a:rPr lang="en-US" dirty="0"/>
              <a:t> programmers that provide the </a:t>
            </a:r>
            <a:r>
              <a:rPr lang="en-US" b="1" dirty="0"/>
              <a:t>ability</a:t>
            </a:r>
            <a:r>
              <a:rPr lang="en-US" dirty="0"/>
              <a:t> to </a:t>
            </a:r>
            <a:r>
              <a:rPr lang="en-US" b="1" dirty="0">
                <a:solidFill>
                  <a:srgbClr val="C00000"/>
                </a:solidFill>
              </a:rPr>
              <a:t>create graphical user interface ( GUI ) components</a:t>
            </a:r>
            <a:r>
              <a:rPr lang="en-US" dirty="0"/>
              <a:t>, such as </a:t>
            </a:r>
            <a:r>
              <a:rPr lang="en-US" dirty="0">
                <a:solidFill>
                  <a:srgbClr val="0000CC"/>
                </a:solidFill>
              </a:rPr>
              <a:t>buttons</a:t>
            </a:r>
            <a:r>
              <a:rPr lang="en-US" dirty="0"/>
              <a:t> and </a:t>
            </a:r>
            <a:r>
              <a:rPr lang="en-US" dirty="0">
                <a:solidFill>
                  <a:srgbClr val="0000CC"/>
                </a:solidFill>
              </a:rPr>
              <a:t>scroll bars</a:t>
            </a:r>
            <a:r>
              <a:rPr lang="en-US" dirty="0"/>
              <a:t>, that are independent of the windowing system for specific operating system . 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Prepared by Renetha J.B.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760612-1CE6-4420-A721-C80A19F352D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Reference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Herbert Schildt, Java: </a:t>
            </a:r>
            <a:r>
              <a:rPr lang="en-US" b="1"/>
              <a:t>The Complete Reference, 8/e, Tata McGraw Hill, 2011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177B24-24EE-4360-837F-21ED05759566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3686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Prepared by Renetha J.B.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7686</TotalTime>
  <Words>1144</Words>
  <Application>Microsoft Office PowerPoint</Application>
  <PresentationFormat>On-screen Show (4:3)</PresentationFormat>
  <Paragraphs>132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Snap ITC</vt:lpstr>
      <vt:lpstr>Times</vt:lpstr>
      <vt:lpstr>Times New Roman</vt:lpstr>
      <vt:lpstr>Wingdings</vt:lpstr>
      <vt:lpstr>Office Theme</vt:lpstr>
      <vt:lpstr>PBCST304 Object Oriented Programming  Module 4 (Part 1)</vt:lpstr>
      <vt:lpstr>Module 4 syllabus</vt:lpstr>
      <vt:lpstr>Topics</vt:lpstr>
      <vt:lpstr>Overview of AWT</vt:lpstr>
      <vt:lpstr>PowerPoint Presentation</vt:lpstr>
      <vt:lpstr>PowerPoint Presentation</vt:lpstr>
      <vt:lpstr>PowerPoint Presentation</vt:lpstr>
      <vt:lpstr>Swing fundamentals</vt:lpstr>
      <vt:lpstr>Swing Key Features</vt:lpstr>
      <vt:lpstr>Swing Key Features-Swing components are            Lightweight</vt:lpstr>
      <vt:lpstr>Swing Key Features-Swing components are         Lightweight(contd.)</vt:lpstr>
      <vt:lpstr>Swing Key Features-Swing Supports a  Pluggable Look and Feel</vt:lpstr>
      <vt:lpstr>Swing Key Features-Swing Supports a  Pluggable Look and Feel</vt:lpstr>
      <vt:lpstr>Difference between Swing and AWT </vt:lpstr>
      <vt:lpstr>PowerPoint Presentation</vt:lpstr>
      <vt:lpstr>Swing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CS205 Object Oriented Programming in Java Module 2 - Core Java Fundamentals</dc:title>
  <dc:creator>USER</dc:creator>
  <cp:lastModifiedBy>RENETHA J B</cp:lastModifiedBy>
  <cp:revision>4452</cp:revision>
  <dcterms:created xsi:type="dcterms:W3CDTF">2006-08-16T00:00:00Z</dcterms:created>
  <dcterms:modified xsi:type="dcterms:W3CDTF">2025-08-22T08:14:36Z</dcterms:modified>
</cp:coreProperties>
</file>