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7315200" cy="9601200"/>
  <p:embeddedFontLst>
    <p:embeddedFont>
      <p:font typeface="Snap ITC" panose="04040A07060A02020202" pitchFamily="82" charset="0"/>
      <p:regular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000000"/>
          </p15:clr>
        </p15:guide>
        <p15:guide id="2" pos="2304">
          <p15:clr>
            <a:srgbClr val="000000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6" roundtripDataSignature="AMtx7mhPoSPucxoUR3NOaZNIrUGHDCnW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474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143375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1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3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4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5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6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7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8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9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43800" y="-152400"/>
            <a:ext cx="164782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72375" y="-76200"/>
            <a:ext cx="164782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22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2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93700" algn="just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8100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38100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38100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2"/>
          <p:cNvSpPr txBox="1">
            <a:spLocks noGrp="1"/>
          </p:cNvSpPr>
          <p:nvPr>
            <p:ph type="ftr" idx="11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2"/>
          <p:cNvSpPr txBox="1">
            <a:spLocks noGrp="1"/>
          </p:cNvSpPr>
          <p:nvPr>
            <p:ph type="sldNum" idx="12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3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3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48575" y="-152400"/>
            <a:ext cx="164782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24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937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937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–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3937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3937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–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3937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»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9" name="Google Shape;39;p24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937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937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–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3937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3937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–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3937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»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43800" y="-152400"/>
            <a:ext cx="164782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25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5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25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25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25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6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8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8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5" name="Google Shape;65;p28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6" name="Google Shape;66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9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9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29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3" name="Google Shape;73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0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0"/>
          <p:cNvSpPr txBox="1">
            <a:spLocks noGrp="1"/>
          </p:cNvSpPr>
          <p:nvPr>
            <p:ph type="body" idx="1"/>
          </p:nvPr>
        </p:nvSpPr>
        <p:spPr>
          <a:xfrm rot="5400000">
            <a:off x="2042319" y="-518318"/>
            <a:ext cx="50593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1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1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20"/>
          <p:cNvSpPr txBox="1">
            <a:spLocks noGrp="1"/>
          </p:cNvSpPr>
          <p:nvPr>
            <p:ph type="body" idx="1"/>
          </p:nvPr>
        </p:nvSpPr>
        <p:spPr>
          <a:xfrm>
            <a:off x="457200" y="1066800"/>
            <a:ext cx="8229600" cy="5059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4">
            <a:extLst>
              <a:ext uri="{FF2B5EF4-FFF2-40B4-BE49-F238E27FC236}">
                <a16:creationId xmlns:a16="http://schemas.microsoft.com/office/drawing/2014/main" id="{37021F58-71BC-40CD-53D6-053CD2CD07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IN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4727739-A2B4-C0D9-933B-616A57D29CFB}"/>
              </a:ext>
            </a:extLst>
          </p:cNvPr>
          <p:cNvSpPr txBox="1">
            <a:spLocks/>
          </p:cNvSpPr>
          <p:nvPr/>
        </p:nvSpPr>
        <p:spPr>
          <a:xfrm>
            <a:off x="381000" y="1219200"/>
            <a:ext cx="8458200" cy="202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dirty="0">
                <a:solidFill>
                  <a:srgbClr val="0000CC"/>
                </a:solidFill>
              </a:rPr>
              <a:t>PBCST304 Object Oriented Programming in Java</a:t>
            </a:r>
            <a:br>
              <a:rPr lang="en-US" dirty="0"/>
            </a:br>
            <a:r>
              <a:rPr lang="en-US" dirty="0"/>
              <a:t>Module 4</a:t>
            </a:r>
            <a:br>
              <a:rPr lang="en-US" dirty="0"/>
            </a:br>
            <a:r>
              <a:rPr lang="en-US" dirty="0"/>
              <a:t>(</a:t>
            </a:r>
            <a:r>
              <a:rPr lang="en-US"/>
              <a:t>Part 6)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700DA277-1221-6A27-4573-D413AA86E822}"/>
              </a:ext>
            </a:extLst>
          </p:cNvPr>
          <p:cNvSpPr txBox="1">
            <a:spLocks/>
          </p:cNvSpPr>
          <p:nvPr/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rtlCol="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3180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40640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>
              <a:buFont typeface="Arial" pitchFamily="34" charset="0"/>
              <a:buNone/>
              <a:defRPr/>
            </a:pPr>
            <a:r>
              <a:rPr lang="en-US">
                <a:latin typeface="Snap ITC" pitchFamily="82" charset="0"/>
              </a:rPr>
              <a:t>Prepared by </a:t>
            </a:r>
          </a:p>
          <a:p>
            <a:pPr>
              <a:buFont typeface="Arial" pitchFamily="34" charset="0"/>
              <a:buNone/>
              <a:defRPr/>
            </a:pPr>
            <a:r>
              <a:rPr lang="en-US" sz="4000" b="1"/>
              <a:t>Renetha J.B.</a:t>
            </a:r>
            <a:endParaRPr lang="en-US" sz="4000" b="1" dirty="0"/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B793578B-5BC3-7632-D64A-21ED9809A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pPr>
              <a:defRPr/>
            </a:pPr>
            <a:fld id="{0B831C5C-37AA-4E91-8C39-54118789491F}" type="slidenum">
              <a:rPr lang="en-US"/>
              <a:pPr>
                <a:defRPr/>
              </a:pPr>
              <a:t>1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A47B672F-2793-9B6D-8CAC-65342F9D0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124200" y="6356350"/>
            <a:ext cx="2895600" cy="365125"/>
          </a:xfr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Prepared by Renetha J.B.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Topics</a:t>
            </a:r>
            <a:endParaRPr/>
          </a:p>
        </p:txBody>
      </p:sp>
      <p:sp>
        <p:nvSpPr>
          <p:cNvPr id="101" name="Google Shape;101;p2"/>
          <p:cNvSpPr txBox="1">
            <a:spLocks noGrp="1"/>
          </p:cNvSpPr>
          <p:nvPr>
            <p:ph type="body" idx="1"/>
          </p:nvPr>
        </p:nvSpPr>
        <p:spPr>
          <a:xfrm>
            <a:off x="304800" y="838200"/>
            <a:ext cx="8229600" cy="4906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Char char="•"/>
            </a:pPr>
            <a:r>
              <a:rPr lang="en-US" sz="2800" b="1">
                <a:solidFill>
                  <a:srgbClr val="C00000"/>
                </a:solidFill>
              </a:rPr>
              <a:t>Event handling:</a:t>
            </a:r>
            <a:r>
              <a:rPr lang="en-US">
                <a:solidFill>
                  <a:srgbClr val="C00000"/>
                </a:solidFill>
              </a:rPr>
              <a:t> </a:t>
            </a:r>
            <a:endParaRPr/>
          </a:p>
          <a:p>
            <a:pPr marL="742950" lvl="1" indent="-285750" algn="just" rtl="0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sz="2800" b="1"/>
              <a:t>Event Handling Mechanisms</a:t>
            </a:r>
            <a:endParaRPr/>
          </a:p>
          <a:p>
            <a:pPr marL="742950" lvl="1" indent="-285750" algn="just" rtl="0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Noto Sans Symbols"/>
              <a:buChar char="❑"/>
            </a:pPr>
            <a:r>
              <a:rPr lang="en-US" sz="2800" b="1">
                <a:solidFill>
                  <a:srgbClr val="0000CC"/>
                </a:solidFill>
              </a:rPr>
              <a:t>Delegation Event Model</a:t>
            </a:r>
            <a:endParaRPr/>
          </a:p>
        </p:txBody>
      </p:sp>
      <p:sp>
        <p:nvSpPr>
          <p:cNvPr id="102" name="Google Shape;102;p2"/>
          <p:cNvSpPr txBox="1">
            <a:spLocks noGrp="1"/>
          </p:cNvSpPr>
          <p:nvPr>
            <p:ph type="sldNum" idx="12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03" name="Google Shape;103;p2"/>
          <p:cNvSpPr txBox="1">
            <a:spLocks noGrp="1"/>
          </p:cNvSpPr>
          <p:nvPr>
            <p:ph type="ftr" idx="11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Handling</a:t>
            </a:r>
            <a:endParaRPr/>
          </a:p>
        </p:txBody>
      </p:sp>
      <p:sp>
        <p:nvSpPr>
          <p:cNvPr id="109" name="Google Shape;109;p3"/>
          <p:cNvSpPr txBox="1">
            <a:spLocks noGrp="1"/>
          </p:cNvSpPr>
          <p:nvPr>
            <p:ph type="body" idx="1"/>
          </p:nvPr>
        </p:nvSpPr>
        <p:spPr>
          <a:xfrm>
            <a:off x="457200" y="685800"/>
            <a:ext cx="8229600" cy="56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There are several types of events, </a:t>
            </a:r>
            <a:endParaRPr/>
          </a:p>
          <a:p>
            <a:pPr marL="742950" lvl="1" indent="-28575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Events can be generated by</a:t>
            </a:r>
            <a:endParaRPr/>
          </a:p>
          <a:p>
            <a:pPr marL="1143000" lvl="2" indent="-22860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the mouse (click, move, drag mouse etc.)</a:t>
            </a:r>
            <a:endParaRPr/>
          </a:p>
          <a:p>
            <a:pPr marL="1143000" lvl="2" indent="-22860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the  keyboard (type, press, release etc.)</a:t>
            </a:r>
            <a:endParaRPr/>
          </a:p>
          <a:p>
            <a:pPr marL="1143000" lvl="2" indent="-22860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different GUI controls, such as a </a:t>
            </a:r>
            <a:endParaRPr/>
          </a:p>
          <a:p>
            <a:pPr marL="1600200" lvl="3" indent="-22860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push button</a:t>
            </a:r>
            <a:endParaRPr/>
          </a:p>
          <a:p>
            <a:pPr marL="1600200" lvl="3" indent="-22860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scroll bar</a:t>
            </a:r>
            <a:endParaRPr/>
          </a:p>
          <a:p>
            <a:pPr marL="1600200" lvl="3" indent="-22860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check box</a:t>
            </a:r>
            <a:endParaRPr/>
          </a:p>
          <a:p>
            <a:pPr marL="342900" lvl="0" indent="-34290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b="1"/>
              <a:t>Event Handling </a:t>
            </a:r>
            <a:r>
              <a:rPr lang="en-US" sz="2400"/>
              <a:t>is the mechanism that </a:t>
            </a:r>
            <a:r>
              <a:rPr lang="en-US" sz="2400" b="1">
                <a:solidFill>
                  <a:srgbClr val="C00000"/>
                </a:solidFill>
              </a:rPr>
              <a:t>controls the event </a:t>
            </a:r>
            <a:r>
              <a:rPr lang="en-US" sz="2400"/>
              <a:t>and </a:t>
            </a:r>
            <a:r>
              <a:rPr lang="en-US" sz="2400" b="1"/>
              <a:t>decides </a:t>
            </a:r>
            <a:r>
              <a:rPr lang="en-US" sz="2400" b="1">
                <a:solidFill>
                  <a:srgbClr val="C00000"/>
                </a:solidFill>
              </a:rPr>
              <a:t>what should happen if an event occurs</a:t>
            </a:r>
            <a:r>
              <a:rPr lang="en-US" sz="2400"/>
              <a:t>.</a:t>
            </a:r>
            <a:endParaRPr sz="2400"/>
          </a:p>
        </p:txBody>
      </p:sp>
      <p:sp>
        <p:nvSpPr>
          <p:cNvPr id="110" name="Google Shape;110;p3"/>
          <p:cNvSpPr txBox="1">
            <a:spLocks noGrp="1"/>
          </p:cNvSpPr>
          <p:nvPr>
            <p:ph type="ftr" idx="11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111" name="Google Shape;111;p3"/>
          <p:cNvSpPr txBox="1">
            <a:spLocks noGrp="1"/>
          </p:cNvSpPr>
          <p:nvPr>
            <p:ph type="sldNum" idx="12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Handling(contd.)</a:t>
            </a:r>
            <a:endParaRPr/>
          </a:p>
        </p:txBody>
      </p:sp>
      <p:sp>
        <p:nvSpPr>
          <p:cNvPr id="117" name="Google Shape;117;p4"/>
          <p:cNvSpPr txBox="1">
            <a:spLocks noGrp="1"/>
          </p:cNvSpPr>
          <p:nvPr>
            <p:ph type="body" idx="1"/>
          </p:nvPr>
        </p:nvSpPr>
        <p:spPr>
          <a:xfrm>
            <a:off x="457200" y="838200"/>
            <a:ext cx="8229600" cy="528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Events are supported by a number of packages, including</a:t>
            </a:r>
            <a:endParaRPr/>
          </a:p>
          <a:p>
            <a:pPr marL="742950" lvl="1" indent="-285750" algn="just" rtl="0">
              <a:spcBef>
                <a:spcPts val="16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 b="1"/>
              <a:t>java.util</a:t>
            </a:r>
            <a:endParaRPr sz="2200" b="1"/>
          </a:p>
          <a:p>
            <a:pPr marL="742950" lvl="1" indent="-285750" algn="just" rtl="0">
              <a:spcBef>
                <a:spcPts val="10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 b="1"/>
              <a:t>java.awt</a:t>
            </a:r>
            <a:endParaRPr/>
          </a:p>
          <a:p>
            <a:pPr marL="742950" lvl="1" indent="-285750" algn="just" rtl="0">
              <a:spcBef>
                <a:spcPts val="10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 b="1"/>
              <a:t>java.awt.event</a:t>
            </a:r>
            <a:endParaRPr sz="2200" b="1"/>
          </a:p>
          <a:p>
            <a:pPr marL="342900" lvl="0" indent="-342900" algn="just" rtl="0"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Event handling is an integral part in the </a:t>
            </a:r>
            <a:r>
              <a:rPr lang="en-US" sz="2400" b="1"/>
              <a:t>creation</a:t>
            </a:r>
            <a:r>
              <a:rPr lang="en-US" sz="2400"/>
              <a:t> of </a:t>
            </a:r>
            <a:r>
              <a:rPr lang="en-US" sz="2400" b="1"/>
              <a:t>applets</a:t>
            </a:r>
            <a:r>
              <a:rPr lang="en-US" sz="2400"/>
              <a:t> and other types of </a:t>
            </a:r>
            <a:r>
              <a:rPr lang="en-US" sz="2400" b="1"/>
              <a:t>GUI-based programs</a:t>
            </a:r>
            <a:r>
              <a:rPr lang="en-US" sz="2400"/>
              <a:t>.</a:t>
            </a:r>
            <a:endParaRPr/>
          </a:p>
          <a:p>
            <a:pPr marL="342900" lvl="0" indent="-342900" algn="just" rtl="0"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Applets are </a:t>
            </a:r>
            <a:r>
              <a:rPr lang="en-US" sz="2400" b="1"/>
              <a:t>event-driven programs </a:t>
            </a:r>
            <a:r>
              <a:rPr lang="en-US" sz="2400"/>
              <a:t>that use a graphical user interface(GUI) to interact with the user.</a:t>
            </a:r>
            <a:endParaRPr/>
          </a:p>
          <a:p>
            <a:pPr marL="342900" lvl="0" indent="-342900" algn="just" rtl="0"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Any program that uses a graphical user interface is event driven. </a:t>
            </a:r>
            <a:endParaRPr/>
          </a:p>
          <a:p>
            <a:pPr marL="742950" lvl="1" indent="-285750" algn="just" rtl="0">
              <a:spcBef>
                <a:spcPts val="10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Thus, we cannot write these types of programs without a solid command of event handling.</a:t>
            </a:r>
            <a:endParaRPr/>
          </a:p>
          <a:p>
            <a:pPr marL="342900" lvl="0" indent="-190500" algn="just" rtl="0"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/>
          </a:p>
        </p:txBody>
      </p:sp>
      <p:sp>
        <p:nvSpPr>
          <p:cNvPr id="118" name="Google Shape;118;p4"/>
          <p:cNvSpPr txBox="1">
            <a:spLocks noGrp="1"/>
          </p:cNvSpPr>
          <p:nvPr>
            <p:ph type="ftr" idx="11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119" name="Google Shape;119;p4"/>
          <p:cNvSpPr txBox="1">
            <a:spLocks noGrp="1"/>
          </p:cNvSpPr>
          <p:nvPr>
            <p:ph type="sldNum" idx="12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"/>
          <p:cNvSpPr txBox="1">
            <a:spLocks noGrp="1"/>
          </p:cNvSpPr>
          <p:nvPr>
            <p:ph type="title"/>
          </p:nvPr>
        </p:nvSpPr>
        <p:spPr>
          <a:xfrm>
            <a:off x="381000" y="0"/>
            <a:ext cx="82296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Handling Mechanisms</a:t>
            </a:r>
            <a:endParaRPr/>
          </a:p>
        </p:txBody>
      </p:sp>
      <p:sp>
        <p:nvSpPr>
          <p:cNvPr id="125" name="Google Shape;125;p5"/>
          <p:cNvSpPr txBox="1">
            <a:spLocks noGrp="1"/>
          </p:cNvSpPr>
          <p:nvPr>
            <p:ph type="body" idx="1"/>
          </p:nvPr>
        </p:nvSpPr>
        <p:spPr>
          <a:xfrm>
            <a:off x="457200" y="762000"/>
            <a:ext cx="8229600" cy="5364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</a:t>
            </a:r>
            <a:r>
              <a:rPr lang="en-US" sz="2400" b="1"/>
              <a:t>two ways </a:t>
            </a:r>
            <a:r>
              <a:rPr lang="en-US" sz="2400"/>
              <a:t>in which events are handled changed significantly between the </a:t>
            </a:r>
            <a:r>
              <a:rPr lang="en-US" sz="2400" u="sng"/>
              <a:t>(Two event handling mechanisms)</a:t>
            </a:r>
            <a:endParaRPr/>
          </a:p>
          <a:p>
            <a:pPr marL="742950" lvl="1" indent="-285750" algn="just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 b="1"/>
              <a:t>original version of Java (1.0) event handling</a:t>
            </a:r>
            <a:r>
              <a:rPr lang="en-US" sz="2200"/>
              <a:t> and </a:t>
            </a:r>
            <a:endParaRPr/>
          </a:p>
          <a:p>
            <a:pPr marL="742950" lvl="1" indent="-285750" algn="just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 b="1"/>
              <a:t>modern versions of Java (beginning with version 1.1) event handling</a:t>
            </a:r>
            <a:r>
              <a:rPr lang="en-US" sz="2200"/>
              <a:t> </a:t>
            </a:r>
            <a:endParaRPr/>
          </a:p>
          <a:p>
            <a:pPr marL="342900" lvl="0" indent="-342900" algn="just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1.0 method of event handling is still supported, but it is not recommended for new programs.</a:t>
            </a:r>
            <a:endParaRPr/>
          </a:p>
          <a:p>
            <a:pPr marL="742950" lvl="1" indent="-285750" algn="just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Many of the methods that support the old 1.0 event model have been deprecated. </a:t>
            </a:r>
            <a:endParaRPr/>
          </a:p>
          <a:p>
            <a:pPr marL="342900" lvl="0" indent="-342900" algn="just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</a:t>
            </a:r>
            <a:r>
              <a:rPr lang="en-US" sz="2400" b="1"/>
              <a:t>modern approach </a:t>
            </a:r>
            <a:r>
              <a:rPr lang="en-US" sz="2400"/>
              <a:t>is the way that </a:t>
            </a:r>
            <a:r>
              <a:rPr lang="en-US" sz="2400" b="1"/>
              <a:t>events should be handled by all new programs</a:t>
            </a:r>
            <a:endParaRPr sz="2400" b="1"/>
          </a:p>
        </p:txBody>
      </p:sp>
      <p:sp>
        <p:nvSpPr>
          <p:cNvPr id="126" name="Google Shape;126;p5"/>
          <p:cNvSpPr txBox="1">
            <a:spLocks noGrp="1"/>
          </p:cNvSpPr>
          <p:nvPr>
            <p:ph type="ftr" idx="11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127" name="Google Shape;127;p5"/>
          <p:cNvSpPr txBox="1">
            <a:spLocks noGrp="1"/>
          </p:cNvSpPr>
          <p:nvPr>
            <p:ph type="sldNum" idx="12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Delegation Event Model</a:t>
            </a:r>
            <a:endParaRPr/>
          </a:p>
        </p:txBody>
      </p:sp>
      <p:sp>
        <p:nvSpPr>
          <p:cNvPr id="133" name="Google Shape;133;p6"/>
          <p:cNvSpPr txBox="1">
            <a:spLocks noGrp="1"/>
          </p:cNvSpPr>
          <p:nvPr>
            <p:ph type="body" idx="1"/>
          </p:nvPr>
        </p:nvSpPr>
        <p:spPr>
          <a:xfrm>
            <a:off x="457200" y="990600"/>
            <a:ext cx="8229600" cy="513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</a:t>
            </a:r>
            <a:r>
              <a:rPr lang="en-US" sz="2400" b="1"/>
              <a:t>modern approach </a:t>
            </a:r>
            <a:r>
              <a:rPr lang="en-US" sz="2400"/>
              <a:t>to handling events is based on the </a:t>
            </a:r>
            <a:r>
              <a:rPr lang="en-US" sz="2400" b="1" i="1">
                <a:solidFill>
                  <a:srgbClr val="0000CC"/>
                </a:solidFill>
              </a:rPr>
              <a:t>delegation event model</a:t>
            </a:r>
            <a:endParaRPr/>
          </a:p>
          <a:p>
            <a:pPr marL="742950" lvl="1" indent="-285750" algn="just" rtl="0"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It </a:t>
            </a:r>
            <a:r>
              <a:rPr lang="en-US" u="sng"/>
              <a:t>defines standard and consistent mechanisms</a:t>
            </a:r>
            <a:r>
              <a:rPr lang="en-US"/>
              <a:t> to </a:t>
            </a:r>
            <a:r>
              <a:rPr lang="en-US" b="1"/>
              <a:t>generate and process events.</a:t>
            </a:r>
            <a:endParaRPr/>
          </a:p>
          <a:p>
            <a:pPr marL="342900" lvl="0" indent="-342900" algn="just" rtl="0"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u="sng"/>
              <a:t>Concept of </a:t>
            </a:r>
            <a:r>
              <a:rPr lang="en-US" sz="2400" b="1" i="1" u="sng">
                <a:solidFill>
                  <a:srgbClr val="0000CC"/>
                </a:solidFill>
              </a:rPr>
              <a:t>delegation event model </a:t>
            </a:r>
            <a:r>
              <a:rPr lang="en-US" sz="2400" b="1"/>
              <a:t>:</a:t>
            </a:r>
            <a:endParaRPr/>
          </a:p>
          <a:p>
            <a:pPr marL="742950" lvl="1" indent="-285750" algn="just" rtl="0">
              <a:spcBef>
                <a:spcPts val="16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A </a:t>
            </a:r>
            <a:r>
              <a:rPr lang="en-US" sz="2200" b="1">
                <a:solidFill>
                  <a:srgbClr val="C00000"/>
                </a:solidFill>
              </a:rPr>
              <a:t>source</a:t>
            </a:r>
            <a:r>
              <a:rPr lang="en-US" sz="2200"/>
              <a:t> </a:t>
            </a:r>
            <a:r>
              <a:rPr lang="en-US" sz="2200" b="1"/>
              <a:t>generates an event </a:t>
            </a:r>
            <a:r>
              <a:rPr lang="en-US" sz="2200"/>
              <a:t>and </a:t>
            </a:r>
            <a:r>
              <a:rPr lang="en-US" sz="2200" b="1"/>
              <a:t>sends </a:t>
            </a:r>
            <a:r>
              <a:rPr lang="en-US" sz="2200"/>
              <a:t>it to</a:t>
            </a:r>
            <a:r>
              <a:rPr lang="en-US" sz="2200" b="1"/>
              <a:t> </a:t>
            </a:r>
            <a:r>
              <a:rPr lang="en-US" sz="2200"/>
              <a:t>one or more </a:t>
            </a:r>
            <a:r>
              <a:rPr lang="en-US" sz="2200" b="1">
                <a:solidFill>
                  <a:srgbClr val="C00000"/>
                </a:solidFill>
              </a:rPr>
              <a:t>listeners</a:t>
            </a:r>
            <a:r>
              <a:rPr lang="en-US" sz="2200"/>
              <a:t>.</a:t>
            </a:r>
            <a:endParaRPr/>
          </a:p>
          <a:p>
            <a:pPr marL="742950" lvl="1" indent="-285750" algn="just" rtl="0"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In this scheme, the listener simply </a:t>
            </a:r>
            <a:r>
              <a:rPr lang="en-US" b="1"/>
              <a:t>waits until it receives an event</a:t>
            </a:r>
            <a:r>
              <a:rPr lang="en-US"/>
              <a:t>. </a:t>
            </a:r>
            <a:endParaRPr/>
          </a:p>
          <a:p>
            <a:pPr marL="742950" lvl="1" indent="-285750" algn="just" rtl="0"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Once an event is received, the listener processes the event and then returns.</a:t>
            </a:r>
            <a:endParaRPr/>
          </a:p>
        </p:txBody>
      </p:sp>
      <p:sp>
        <p:nvSpPr>
          <p:cNvPr id="134" name="Google Shape;134;p6"/>
          <p:cNvSpPr txBox="1">
            <a:spLocks noGrp="1"/>
          </p:cNvSpPr>
          <p:nvPr>
            <p:ph type="ftr" idx="11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135" name="Google Shape;135;p6"/>
          <p:cNvSpPr txBox="1">
            <a:spLocks noGrp="1"/>
          </p:cNvSpPr>
          <p:nvPr>
            <p:ph type="sldNum" idx="12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The Delegation Event Model(contd.)</a:t>
            </a:r>
            <a:endParaRPr sz="3200"/>
          </a:p>
        </p:txBody>
      </p:sp>
      <p:sp>
        <p:nvSpPr>
          <p:cNvPr id="141" name="Google Shape;141;p7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</a:t>
            </a:r>
            <a:r>
              <a:rPr lang="en-US" sz="2400" b="1"/>
              <a:t>advantage</a:t>
            </a:r>
            <a:r>
              <a:rPr lang="en-US" sz="2400"/>
              <a:t> of </a:t>
            </a:r>
            <a:r>
              <a:rPr lang="en-US" sz="2400" b="1"/>
              <a:t>Delegation Event Model</a:t>
            </a:r>
            <a:r>
              <a:rPr lang="en-US" sz="2400"/>
              <a:t> is that the </a:t>
            </a:r>
            <a:r>
              <a:rPr lang="en-US" sz="2400" b="1" u="sng">
                <a:solidFill>
                  <a:srgbClr val="C00000"/>
                </a:solidFill>
              </a:rPr>
              <a:t>application logic</a:t>
            </a:r>
            <a:r>
              <a:rPr lang="en-US" sz="2400" b="1" u="sng"/>
              <a:t> </a:t>
            </a:r>
            <a:r>
              <a:rPr lang="en-US" sz="2400" u="sng"/>
              <a:t>that </a:t>
            </a:r>
            <a:r>
              <a:rPr lang="en-US" sz="2400" b="1" u="sng"/>
              <a:t>processes events </a:t>
            </a:r>
            <a:r>
              <a:rPr lang="en-US" sz="2400" u="sng"/>
              <a:t>is </a:t>
            </a:r>
            <a:r>
              <a:rPr lang="en-US" sz="2400" u="sng">
                <a:solidFill>
                  <a:srgbClr val="0000CC"/>
                </a:solidFill>
              </a:rPr>
              <a:t>cleanly separated </a:t>
            </a:r>
            <a:r>
              <a:rPr lang="en-US" sz="2400" u="sng"/>
              <a:t>from the </a:t>
            </a:r>
            <a:r>
              <a:rPr lang="en-US" sz="2400" b="1" u="sng">
                <a:solidFill>
                  <a:srgbClr val="C00000"/>
                </a:solidFill>
              </a:rPr>
              <a:t>user interface logic</a:t>
            </a:r>
            <a:r>
              <a:rPr lang="en-US" sz="2400" u="sng">
                <a:solidFill>
                  <a:srgbClr val="C00000"/>
                </a:solidFill>
              </a:rPr>
              <a:t> </a:t>
            </a:r>
            <a:r>
              <a:rPr lang="en-US" sz="2400" u="sng"/>
              <a:t>that </a:t>
            </a:r>
            <a:r>
              <a:rPr lang="en-US" sz="2400" b="1" u="sng"/>
              <a:t>generates those events. </a:t>
            </a:r>
            <a:endParaRPr/>
          </a:p>
          <a:p>
            <a:pPr marL="342900" lvl="0" indent="-342900" algn="just" rtl="0"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A </a:t>
            </a:r>
            <a:r>
              <a:rPr lang="en-US" sz="2400">
                <a:solidFill>
                  <a:srgbClr val="C00000"/>
                </a:solidFill>
              </a:rPr>
              <a:t>user interface element </a:t>
            </a:r>
            <a:r>
              <a:rPr lang="en-US" sz="2400"/>
              <a:t>is able </a:t>
            </a:r>
            <a:r>
              <a:rPr lang="en-US" sz="2400" b="1"/>
              <a:t>to “delegate”(entrust) the processing of an event to a separate piece of code.</a:t>
            </a:r>
            <a:endParaRPr/>
          </a:p>
          <a:p>
            <a:pPr marL="342900" lvl="0" indent="-342900" algn="just" rtl="0"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In the delegation event model, </a:t>
            </a:r>
            <a:r>
              <a:rPr lang="en-US" sz="2400" b="1">
                <a:solidFill>
                  <a:srgbClr val="C00000"/>
                </a:solidFill>
              </a:rPr>
              <a:t>listeners</a:t>
            </a:r>
            <a:r>
              <a:rPr lang="en-US" sz="2400" b="1"/>
              <a:t> must </a:t>
            </a:r>
            <a:r>
              <a:rPr lang="en-US" sz="2400" b="1">
                <a:solidFill>
                  <a:srgbClr val="0000CC"/>
                </a:solidFill>
              </a:rPr>
              <a:t>register</a:t>
            </a:r>
            <a:r>
              <a:rPr lang="en-US" sz="2400" b="1"/>
              <a:t> with a </a:t>
            </a:r>
            <a:r>
              <a:rPr lang="en-US" sz="2400" b="1">
                <a:solidFill>
                  <a:srgbClr val="C00000"/>
                </a:solidFill>
              </a:rPr>
              <a:t>source</a:t>
            </a:r>
            <a:r>
              <a:rPr lang="en-US" sz="2400" b="1"/>
              <a:t> in order to receive an event notification</a:t>
            </a:r>
            <a:r>
              <a:rPr lang="en-US" sz="2400"/>
              <a:t>.	</a:t>
            </a:r>
            <a:endParaRPr/>
          </a:p>
          <a:p>
            <a:pPr marL="742950" lvl="1" indent="-285750" algn="just" rtl="0">
              <a:spcBef>
                <a:spcPts val="16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 b="1"/>
              <a:t>Benefit: N</a:t>
            </a:r>
            <a:r>
              <a:rPr lang="en-US" sz="2200"/>
              <a:t>otifications are sent only to listeners that want to receive them.</a:t>
            </a:r>
            <a:endParaRPr sz="2200" b="1"/>
          </a:p>
        </p:txBody>
      </p:sp>
      <p:sp>
        <p:nvSpPr>
          <p:cNvPr id="142" name="Google Shape;142;p7"/>
          <p:cNvSpPr txBox="1">
            <a:spLocks noGrp="1"/>
          </p:cNvSpPr>
          <p:nvPr>
            <p:ph type="ftr" idx="11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143" name="Google Shape;143;p7"/>
          <p:cNvSpPr txBox="1">
            <a:spLocks noGrp="1"/>
          </p:cNvSpPr>
          <p:nvPr>
            <p:ph type="sldNum" idx="12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The Delegation Event Model(contd.)</a:t>
            </a:r>
            <a:endParaRPr sz="2800"/>
          </a:p>
        </p:txBody>
      </p:sp>
      <p:sp>
        <p:nvSpPr>
          <p:cNvPr id="149" name="Google Shape;149;p8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u="sng"/>
              <a:t>In previous models</a:t>
            </a:r>
            <a:r>
              <a:rPr lang="en-US" sz="2400"/>
              <a:t>, an event was </a:t>
            </a:r>
            <a:r>
              <a:rPr lang="en-US" sz="2400" i="1" u="sng"/>
              <a:t>propagated up the containment hierarchy</a:t>
            </a:r>
            <a:r>
              <a:rPr lang="en-US" sz="2400"/>
              <a:t> </a:t>
            </a:r>
            <a:r>
              <a:rPr lang="en-US" sz="2400" b="1"/>
              <a:t>until it was handled </a:t>
            </a:r>
            <a:r>
              <a:rPr lang="en-US" sz="2400"/>
              <a:t>by a component. </a:t>
            </a:r>
            <a:endParaRPr/>
          </a:p>
          <a:p>
            <a:pPr marL="742950" lvl="1" indent="-285750" algn="just" rtl="0">
              <a:lnSpc>
                <a:spcPct val="150000"/>
              </a:lnSpc>
              <a:spcBef>
                <a:spcPts val="16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This required components to receive events that they did not process, and it wasted valuable time. </a:t>
            </a:r>
            <a:endParaRPr/>
          </a:p>
          <a:p>
            <a:pPr marL="342900" lvl="0" indent="-342900" algn="just" rtl="0">
              <a:lnSpc>
                <a:spcPct val="150000"/>
              </a:lnSpc>
              <a:spcBef>
                <a:spcPts val="17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b="1"/>
              <a:t>The delegation event model eliminates this overhead</a:t>
            </a:r>
            <a:endParaRPr/>
          </a:p>
          <a:p>
            <a:pPr marL="342900" lvl="0" indent="-177800" algn="just" rtl="0">
              <a:lnSpc>
                <a:spcPct val="150000"/>
              </a:lnSpc>
              <a:spcBef>
                <a:spcPts val="17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endParaRPr/>
          </a:p>
        </p:txBody>
      </p:sp>
      <p:sp>
        <p:nvSpPr>
          <p:cNvPr id="150" name="Google Shape;150;p8"/>
          <p:cNvSpPr txBox="1">
            <a:spLocks noGrp="1"/>
          </p:cNvSpPr>
          <p:nvPr>
            <p:ph type="ftr" idx="11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151" name="Google Shape;151;p8"/>
          <p:cNvSpPr txBox="1">
            <a:spLocks noGrp="1"/>
          </p:cNvSpPr>
          <p:nvPr>
            <p:ph type="sldNum" idx="12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The Delegation Event Model(contd.)</a:t>
            </a:r>
            <a:endParaRPr sz="3200"/>
          </a:p>
        </p:txBody>
      </p:sp>
      <p:sp>
        <p:nvSpPr>
          <p:cNvPr id="157" name="Google Shape;157;p9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778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endParaRPr/>
          </a:p>
        </p:txBody>
      </p:sp>
      <p:sp>
        <p:nvSpPr>
          <p:cNvPr id="158" name="Google Shape;158;p9"/>
          <p:cNvSpPr txBox="1">
            <a:spLocks noGrp="1"/>
          </p:cNvSpPr>
          <p:nvPr>
            <p:ph type="ftr" idx="11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159" name="Google Shape;159;p9"/>
          <p:cNvSpPr txBox="1">
            <a:spLocks noGrp="1"/>
          </p:cNvSpPr>
          <p:nvPr>
            <p:ph type="sldNum" idx="12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160" name="Google Shape;160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9891" y="1333504"/>
            <a:ext cx="6979688" cy="419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The Delegation Event Model -</a:t>
            </a:r>
            <a:r>
              <a:rPr lang="en-US" sz="2800">
                <a:solidFill>
                  <a:srgbClr val="C00000"/>
                </a:solidFill>
              </a:rPr>
              <a:t>Event</a:t>
            </a:r>
            <a:endParaRPr sz="2800">
              <a:solidFill>
                <a:srgbClr val="C00000"/>
              </a:solidFill>
            </a:endParaRPr>
          </a:p>
        </p:txBody>
      </p:sp>
      <p:sp>
        <p:nvSpPr>
          <p:cNvPr id="166" name="Google Shape;166;p10"/>
          <p:cNvSpPr txBox="1">
            <a:spLocks noGrp="1"/>
          </p:cNvSpPr>
          <p:nvPr>
            <p:ph type="body" idx="1"/>
          </p:nvPr>
        </p:nvSpPr>
        <p:spPr>
          <a:xfrm>
            <a:off x="381000" y="1493837"/>
            <a:ext cx="8229600" cy="5364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In the delegation model, an </a:t>
            </a:r>
            <a:r>
              <a:rPr lang="en-US" b="1">
                <a:solidFill>
                  <a:srgbClr val="C00000"/>
                </a:solidFill>
              </a:rPr>
              <a:t>event</a:t>
            </a:r>
            <a:r>
              <a:rPr lang="en-US"/>
              <a:t> is an </a:t>
            </a:r>
            <a:r>
              <a:rPr lang="en-US" b="1">
                <a:solidFill>
                  <a:srgbClr val="0000CC"/>
                </a:solidFill>
              </a:rPr>
              <a:t>object</a:t>
            </a:r>
            <a:r>
              <a:rPr lang="en-US"/>
              <a:t> that describes a </a:t>
            </a:r>
            <a:r>
              <a:rPr lang="en-US" b="1" u="sng"/>
              <a:t>state change</a:t>
            </a:r>
            <a:r>
              <a:rPr lang="en-US" u="sng"/>
              <a:t> </a:t>
            </a:r>
            <a:r>
              <a:rPr lang="en-US" b="1" u="sng"/>
              <a:t>in a source.</a:t>
            </a:r>
            <a:endParaRPr/>
          </a:p>
          <a:p>
            <a:pPr marL="342900" lvl="0" indent="-342900" algn="just" rtl="0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Events can be caused </a:t>
            </a:r>
            <a:r>
              <a:rPr lang="en-US" u="sng"/>
              <a:t>with or without user interaction</a:t>
            </a:r>
            <a:r>
              <a:rPr lang="en-US"/>
              <a:t>.</a:t>
            </a:r>
            <a:endParaRPr/>
          </a:p>
        </p:txBody>
      </p:sp>
      <p:sp>
        <p:nvSpPr>
          <p:cNvPr id="167" name="Google Shape;167;p10"/>
          <p:cNvSpPr txBox="1">
            <a:spLocks noGrp="1"/>
          </p:cNvSpPr>
          <p:nvPr>
            <p:ph type="ftr" idx="11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168" name="Google Shape;168;p10"/>
          <p:cNvSpPr txBox="1">
            <a:spLocks noGrp="1"/>
          </p:cNvSpPr>
          <p:nvPr>
            <p:ph type="sldNum" idx="12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The Delegation Event Model -</a:t>
            </a:r>
            <a:r>
              <a:rPr lang="en-US" sz="2800">
                <a:solidFill>
                  <a:srgbClr val="C00000"/>
                </a:solidFill>
              </a:rPr>
              <a:t>Event</a:t>
            </a:r>
            <a:endParaRPr sz="2800">
              <a:solidFill>
                <a:srgbClr val="C00000"/>
              </a:solidFill>
            </a:endParaRPr>
          </a:p>
        </p:txBody>
      </p:sp>
      <p:sp>
        <p:nvSpPr>
          <p:cNvPr id="174" name="Google Shape;174;p11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8229600" cy="5364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Some events are caused by </a:t>
            </a:r>
            <a:r>
              <a:rPr lang="en-US" u="sng"/>
              <a:t>interactions with a user interface </a:t>
            </a:r>
            <a:r>
              <a:rPr lang="en-US"/>
              <a:t> such as:</a:t>
            </a:r>
            <a:endParaRPr/>
          </a:p>
          <a:p>
            <a:pPr marL="742950" lvl="1" indent="-28575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pressing a button, </a:t>
            </a:r>
            <a:endParaRPr/>
          </a:p>
          <a:p>
            <a:pPr marL="742950" lvl="1" indent="-28575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entering a character via the keyboard, </a:t>
            </a:r>
            <a:endParaRPr/>
          </a:p>
          <a:p>
            <a:pPr marL="742950" lvl="1" indent="-28575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selecting an item in a list, </a:t>
            </a:r>
            <a:endParaRPr/>
          </a:p>
          <a:p>
            <a:pPr marL="742950" lvl="1" indent="-28575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clicking the mouse.</a:t>
            </a:r>
            <a:endParaRPr/>
          </a:p>
        </p:txBody>
      </p:sp>
      <p:sp>
        <p:nvSpPr>
          <p:cNvPr id="175" name="Google Shape;175;p11"/>
          <p:cNvSpPr txBox="1">
            <a:spLocks noGrp="1"/>
          </p:cNvSpPr>
          <p:nvPr>
            <p:ph type="ftr" idx="11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176" name="Google Shape;176;p11"/>
          <p:cNvSpPr txBox="1">
            <a:spLocks noGrp="1"/>
          </p:cNvSpPr>
          <p:nvPr>
            <p:ph type="sldNum" idx="12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2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The Delegation Event Model –</a:t>
            </a:r>
            <a:r>
              <a:rPr lang="en-US" sz="2800">
                <a:solidFill>
                  <a:srgbClr val="C00000"/>
                </a:solidFill>
              </a:rPr>
              <a:t>Event </a:t>
            </a:r>
            <a:r>
              <a:rPr lang="en-US" sz="2800"/>
              <a:t>(contd.)</a:t>
            </a:r>
            <a:endParaRPr sz="2800"/>
          </a:p>
        </p:txBody>
      </p:sp>
      <p:sp>
        <p:nvSpPr>
          <p:cNvPr id="182" name="Google Shape;182;p12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Events may </a:t>
            </a:r>
            <a:r>
              <a:rPr lang="en-US" sz="2400" u="sng"/>
              <a:t>also occur that are not directly caused by interactions with a user interface.</a:t>
            </a:r>
            <a:endParaRPr/>
          </a:p>
          <a:p>
            <a:pPr marL="742950" lvl="1" indent="-28575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Example: an </a:t>
            </a:r>
            <a:r>
              <a:rPr lang="en-US" b="1"/>
              <a:t>event</a:t>
            </a:r>
            <a:r>
              <a:rPr lang="en-US"/>
              <a:t> may be generated </a:t>
            </a:r>
            <a:endParaRPr/>
          </a:p>
          <a:p>
            <a:pPr marL="1143000" lvl="2" indent="-22860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when a timer expires, </a:t>
            </a:r>
            <a:endParaRPr/>
          </a:p>
          <a:p>
            <a:pPr marL="1143000" lvl="2" indent="-22860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 counter exceeds a value,</a:t>
            </a:r>
            <a:endParaRPr/>
          </a:p>
          <a:p>
            <a:pPr marL="1143000" lvl="2" indent="-22860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 software or hardware failure occurs, </a:t>
            </a:r>
            <a:endParaRPr/>
          </a:p>
          <a:p>
            <a:pPr marL="1143000" lvl="2" indent="-22860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an operation is completed	</a:t>
            </a:r>
            <a:endParaRPr/>
          </a:p>
          <a:p>
            <a:pPr marL="342900" lvl="0" indent="-177800" algn="just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endParaRPr/>
          </a:p>
        </p:txBody>
      </p:sp>
      <p:sp>
        <p:nvSpPr>
          <p:cNvPr id="183" name="Google Shape;183;p12"/>
          <p:cNvSpPr txBox="1">
            <a:spLocks noGrp="1"/>
          </p:cNvSpPr>
          <p:nvPr>
            <p:ph type="ftr" idx="11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184" name="Google Shape;184;p12"/>
          <p:cNvSpPr txBox="1">
            <a:spLocks noGrp="1"/>
          </p:cNvSpPr>
          <p:nvPr>
            <p:ph type="sldNum" idx="12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3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The Delegation Event Model – </a:t>
            </a:r>
            <a:r>
              <a:rPr lang="en-US" sz="2800">
                <a:solidFill>
                  <a:srgbClr val="C00000"/>
                </a:solidFill>
              </a:rPr>
              <a:t>Event Sources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190" name="Google Shape;190;p13"/>
          <p:cNvSpPr txBox="1">
            <a:spLocks noGrp="1"/>
          </p:cNvSpPr>
          <p:nvPr>
            <p:ph type="body" idx="1"/>
          </p:nvPr>
        </p:nvSpPr>
        <p:spPr>
          <a:xfrm>
            <a:off x="457200" y="884237"/>
            <a:ext cx="8229600" cy="5364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A </a:t>
            </a:r>
            <a:r>
              <a:rPr lang="en-US" b="1">
                <a:solidFill>
                  <a:srgbClr val="C00000"/>
                </a:solidFill>
              </a:rPr>
              <a:t>event</a:t>
            </a:r>
            <a:r>
              <a:rPr lang="en-US"/>
              <a:t> </a:t>
            </a:r>
            <a:r>
              <a:rPr lang="en-US" b="1">
                <a:solidFill>
                  <a:srgbClr val="C00000"/>
                </a:solidFill>
              </a:rPr>
              <a:t>source</a:t>
            </a:r>
            <a:r>
              <a:rPr lang="en-US"/>
              <a:t> is an </a:t>
            </a:r>
            <a:r>
              <a:rPr lang="en-US" b="1">
                <a:solidFill>
                  <a:srgbClr val="0000CC"/>
                </a:solidFill>
              </a:rPr>
              <a:t>object</a:t>
            </a:r>
            <a:r>
              <a:rPr lang="en-US"/>
              <a:t> that </a:t>
            </a:r>
            <a:r>
              <a:rPr lang="en-US" b="1"/>
              <a:t>generates an event.</a:t>
            </a:r>
            <a:endParaRPr/>
          </a:p>
          <a:p>
            <a:pPr marL="742950" lvl="1" indent="-285750" algn="just" rtl="0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Event occurs </a:t>
            </a:r>
            <a:r>
              <a:rPr lang="en-US" u="sng"/>
              <a:t>when the internal state of that object changes </a:t>
            </a:r>
            <a:r>
              <a:rPr lang="en-US"/>
              <a:t>in some way</a:t>
            </a:r>
            <a:r>
              <a:rPr lang="en-US" sz="2600"/>
              <a:t>. </a:t>
            </a:r>
            <a:endParaRPr/>
          </a:p>
          <a:p>
            <a:pPr marL="342900" lvl="0" indent="-342900" algn="just" rtl="0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Sources may generate more than one type of event.</a:t>
            </a:r>
            <a:endParaRPr/>
          </a:p>
          <a:p>
            <a:pPr marL="342900" lvl="0" indent="-342900" algn="just" rtl="0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A </a:t>
            </a:r>
            <a:r>
              <a:rPr lang="en-US" b="1"/>
              <a:t>source</a:t>
            </a:r>
            <a:r>
              <a:rPr lang="en-US"/>
              <a:t> must </a:t>
            </a:r>
            <a:r>
              <a:rPr lang="en-US" b="1"/>
              <a:t>register </a:t>
            </a:r>
            <a:r>
              <a:rPr lang="en-US" b="1">
                <a:solidFill>
                  <a:srgbClr val="C00000"/>
                </a:solidFill>
              </a:rPr>
              <a:t>listeners, </a:t>
            </a:r>
            <a:r>
              <a:rPr lang="en-US"/>
              <a:t>then only listeners can receive notifications about a specific type of event. </a:t>
            </a:r>
            <a:endParaRPr/>
          </a:p>
          <a:p>
            <a:pPr marL="342900" lvl="0" indent="-342900" algn="just" rtl="0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Each type of event has its own registration method. </a:t>
            </a:r>
            <a:endParaRPr/>
          </a:p>
        </p:txBody>
      </p:sp>
      <p:sp>
        <p:nvSpPr>
          <p:cNvPr id="191" name="Google Shape;191;p13"/>
          <p:cNvSpPr txBox="1">
            <a:spLocks noGrp="1"/>
          </p:cNvSpPr>
          <p:nvPr>
            <p:ph type="ftr" idx="11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192" name="Google Shape;192;p13"/>
          <p:cNvSpPr txBox="1">
            <a:spLocks noGrp="1"/>
          </p:cNvSpPr>
          <p:nvPr>
            <p:ph type="sldNum" idx="12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4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The Delegation Event Model – </a:t>
            </a:r>
            <a:r>
              <a:rPr lang="en-US" sz="2800">
                <a:solidFill>
                  <a:srgbClr val="C00000"/>
                </a:solidFill>
              </a:rPr>
              <a:t>Event Sources </a:t>
            </a:r>
            <a:br>
              <a:rPr lang="en-US" sz="2800">
                <a:solidFill>
                  <a:srgbClr val="C00000"/>
                </a:solidFill>
              </a:rPr>
            </a:br>
            <a:r>
              <a:rPr lang="en-US" sz="2800"/>
              <a:t>(contd.)</a:t>
            </a:r>
            <a:endParaRPr/>
          </a:p>
        </p:txBody>
      </p:sp>
      <p:sp>
        <p:nvSpPr>
          <p:cNvPr id="198" name="Google Shape;198;p14"/>
          <p:cNvSpPr txBox="1">
            <a:spLocks noGrp="1"/>
          </p:cNvSpPr>
          <p:nvPr>
            <p:ph type="body" idx="1"/>
          </p:nvPr>
        </p:nvSpPr>
        <p:spPr>
          <a:xfrm>
            <a:off x="457200" y="1066800"/>
            <a:ext cx="8229600" cy="5059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General form of listener registration is:</a:t>
            </a:r>
            <a:endParaRPr/>
          </a:p>
          <a:p>
            <a:pPr marL="342900" lvl="0" indent="-34290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	public void </a:t>
            </a:r>
            <a:r>
              <a:rPr lang="en-US" sz="2400" b="1" i="1">
                <a:solidFill>
                  <a:srgbClr val="C00000"/>
                </a:solidFill>
              </a:rPr>
              <a:t>add</a:t>
            </a:r>
            <a:r>
              <a:rPr lang="en-US" sz="2400" i="1"/>
              <a:t>TypeListener</a:t>
            </a:r>
            <a:r>
              <a:rPr lang="en-US" sz="2400"/>
              <a:t>(</a:t>
            </a:r>
            <a:r>
              <a:rPr lang="en-US" sz="2400" i="1"/>
              <a:t>TypeListener</a:t>
            </a:r>
            <a:r>
              <a:rPr lang="en-US" sz="2400"/>
              <a:t> el)</a:t>
            </a:r>
            <a:endParaRPr/>
          </a:p>
          <a:p>
            <a:pPr marL="742950" lvl="1" indent="-285750" algn="just" rtl="0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Type is the name of the event, and el is a reference to the event listener. </a:t>
            </a:r>
            <a:endParaRPr/>
          </a:p>
          <a:p>
            <a:pPr marL="742950" lvl="1" indent="-285750" algn="just" rtl="0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For example, the method that </a:t>
            </a:r>
            <a:r>
              <a:rPr lang="en-US" sz="2200" b="1"/>
              <a:t>registers a keyboard event listener </a:t>
            </a:r>
            <a:r>
              <a:rPr lang="en-US" sz="2200"/>
              <a:t>is called </a:t>
            </a:r>
            <a:r>
              <a:rPr lang="en-US" sz="2200" b="1"/>
              <a:t>addKeyListener( ). </a:t>
            </a:r>
            <a:endParaRPr/>
          </a:p>
          <a:p>
            <a:pPr marL="742950" lvl="1" indent="-285750" algn="just" rtl="0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The method that </a:t>
            </a:r>
            <a:r>
              <a:rPr lang="en-US" sz="2200" b="1"/>
              <a:t>registers a mouse motion listener </a:t>
            </a:r>
            <a:r>
              <a:rPr lang="en-US" sz="2200"/>
              <a:t>is called </a:t>
            </a:r>
            <a:r>
              <a:rPr lang="en-US" sz="2200" b="1"/>
              <a:t>addMouseMotionListener( ). </a:t>
            </a:r>
            <a:endParaRPr/>
          </a:p>
          <a:p>
            <a:pPr marL="342900" lvl="0" indent="-177800" algn="just" rtl="0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endParaRPr/>
          </a:p>
        </p:txBody>
      </p:sp>
      <p:sp>
        <p:nvSpPr>
          <p:cNvPr id="199" name="Google Shape;199;p14"/>
          <p:cNvSpPr txBox="1">
            <a:spLocks noGrp="1"/>
          </p:cNvSpPr>
          <p:nvPr>
            <p:ph type="ftr" idx="11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200" name="Google Shape;200;p14"/>
          <p:cNvSpPr txBox="1">
            <a:spLocks noGrp="1"/>
          </p:cNvSpPr>
          <p:nvPr>
            <p:ph type="sldNum" idx="12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201" name="Google Shape;201;p14"/>
          <p:cNvSpPr/>
          <p:nvPr/>
        </p:nvSpPr>
        <p:spPr>
          <a:xfrm>
            <a:off x="685800" y="1676400"/>
            <a:ext cx="5943600" cy="685800"/>
          </a:xfrm>
          <a:prstGeom prst="rect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5"/>
          <p:cNvSpPr txBox="1">
            <a:spLocks noGrp="1"/>
          </p:cNvSpPr>
          <p:nvPr>
            <p:ph type="title"/>
          </p:nvPr>
        </p:nvSpPr>
        <p:spPr>
          <a:xfrm>
            <a:off x="0" y="-152400"/>
            <a:ext cx="8686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The Delegation Event Model – </a:t>
            </a:r>
            <a:r>
              <a:rPr lang="en-US" sz="2800">
                <a:solidFill>
                  <a:srgbClr val="C00000"/>
                </a:solidFill>
              </a:rPr>
              <a:t>Event Sources </a:t>
            </a:r>
            <a:r>
              <a:rPr lang="en-US" sz="1800"/>
              <a:t>(contd.)</a:t>
            </a:r>
            <a:endParaRPr sz="2800"/>
          </a:p>
        </p:txBody>
      </p:sp>
      <p:sp>
        <p:nvSpPr>
          <p:cNvPr id="207" name="Google Shape;207;p15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8229600" cy="556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When an </a:t>
            </a:r>
            <a:r>
              <a:rPr lang="en-US" sz="2400" u="sng"/>
              <a:t>event occurs</a:t>
            </a:r>
            <a:r>
              <a:rPr lang="en-US" sz="2400"/>
              <a:t>, </a:t>
            </a:r>
            <a:r>
              <a:rPr lang="en-US" sz="2400" b="1"/>
              <a:t>all registered listeners are notified </a:t>
            </a:r>
            <a:r>
              <a:rPr lang="en-US" sz="2400"/>
              <a:t>and </a:t>
            </a:r>
            <a:r>
              <a:rPr lang="en-US" sz="2400" u="sng"/>
              <a:t>receive a copy of the event object</a:t>
            </a:r>
            <a:r>
              <a:rPr lang="en-US" sz="2400"/>
              <a:t>. This is known as </a:t>
            </a:r>
            <a:r>
              <a:rPr lang="en-US" sz="2400" b="1" i="1">
                <a:solidFill>
                  <a:srgbClr val="C00000"/>
                </a:solidFill>
              </a:rPr>
              <a:t>multicasting </a:t>
            </a:r>
            <a:r>
              <a:rPr lang="en-US" sz="2400"/>
              <a:t>the event</a:t>
            </a:r>
            <a:r>
              <a:rPr lang="en-US"/>
              <a:t>.</a:t>
            </a:r>
            <a:endParaRPr/>
          </a:p>
          <a:p>
            <a:pPr marL="742950" lvl="1" indent="-285750" algn="just" rtl="0">
              <a:lnSpc>
                <a:spcPct val="150000"/>
              </a:lnSpc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–"/>
            </a:pPr>
            <a:r>
              <a:rPr lang="en-US" sz="2300"/>
              <a:t>In all cases, notifications are sent only to listeners that register to receive them.</a:t>
            </a:r>
            <a:endParaRPr/>
          </a:p>
          <a:p>
            <a:pPr marL="342900" lvl="0" indent="-34290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u="sng"/>
              <a:t>Some sources </a:t>
            </a:r>
            <a:r>
              <a:rPr lang="en-US" sz="2400"/>
              <a:t>may allow </a:t>
            </a:r>
            <a:r>
              <a:rPr lang="en-US" sz="2400" b="1"/>
              <a:t>only one listener to register. </a:t>
            </a:r>
            <a:r>
              <a:rPr lang="en-US" sz="2400"/>
              <a:t>The general form of such a method is this:</a:t>
            </a:r>
            <a:endParaRPr/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	public void add</a:t>
            </a:r>
            <a:r>
              <a:rPr lang="en-US" sz="2400" i="1"/>
              <a:t>TypeListener(TypeListener el) </a:t>
            </a:r>
            <a:r>
              <a:rPr lang="en-US" sz="2400"/>
              <a:t>throws java.util.TooManyListenersException</a:t>
            </a:r>
            <a:endParaRPr sz="2400"/>
          </a:p>
          <a:p>
            <a:pPr marL="742950" lvl="1" indent="-28575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When such an event occurs, that single registered listener is notified. This is known as </a:t>
            </a:r>
            <a:r>
              <a:rPr lang="en-US" sz="2200" b="1">
                <a:solidFill>
                  <a:srgbClr val="C00000"/>
                </a:solidFill>
              </a:rPr>
              <a:t>unicasting</a:t>
            </a:r>
            <a:r>
              <a:rPr lang="en-US" sz="2200" i="1"/>
              <a:t> the event.</a:t>
            </a:r>
            <a:endParaRPr sz="2200"/>
          </a:p>
        </p:txBody>
      </p:sp>
      <p:sp>
        <p:nvSpPr>
          <p:cNvPr id="208" name="Google Shape;208;p15"/>
          <p:cNvSpPr txBox="1">
            <a:spLocks noGrp="1"/>
          </p:cNvSpPr>
          <p:nvPr>
            <p:ph type="ftr" idx="11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209" name="Google Shape;209;p15"/>
          <p:cNvSpPr txBox="1">
            <a:spLocks noGrp="1"/>
          </p:cNvSpPr>
          <p:nvPr>
            <p:ph type="sldNum" idx="12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210" name="Google Shape;210;p15"/>
          <p:cNvSpPr/>
          <p:nvPr/>
        </p:nvSpPr>
        <p:spPr>
          <a:xfrm>
            <a:off x="609600" y="4419600"/>
            <a:ext cx="8229600" cy="838200"/>
          </a:xfrm>
          <a:prstGeom prst="rect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6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8229600" cy="5211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A source must also provide a method that allows a </a:t>
            </a:r>
            <a:r>
              <a:rPr lang="en-US" sz="2400" b="1"/>
              <a:t>listener to unregister</a:t>
            </a:r>
            <a:r>
              <a:rPr lang="en-US" sz="2400"/>
              <a:t> an interest in a specific type of event. The general form of such a method is this:</a:t>
            </a:r>
            <a:endParaRPr/>
          </a:p>
          <a:p>
            <a:pPr marL="342900" lvl="0" indent="-342900" algn="just" rtl="0"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	public void </a:t>
            </a:r>
            <a:r>
              <a:rPr lang="en-US" sz="2400" b="1">
                <a:solidFill>
                  <a:srgbClr val="C00000"/>
                </a:solidFill>
              </a:rPr>
              <a:t>remove</a:t>
            </a:r>
            <a:r>
              <a:rPr lang="en-US" sz="2400" i="1"/>
              <a:t>TypeListener(TypeListener el)</a:t>
            </a:r>
            <a:endParaRPr/>
          </a:p>
          <a:p>
            <a:pPr marL="1143000" lvl="2" indent="-228600" algn="just" rtl="0">
              <a:spcBef>
                <a:spcPts val="10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Here, </a:t>
            </a:r>
            <a:r>
              <a:rPr lang="en-US" sz="2200" i="1"/>
              <a:t>Type is the name of the event, and el is a reference to the event listener. </a:t>
            </a:r>
            <a:endParaRPr/>
          </a:p>
          <a:p>
            <a:pPr marL="742950" lvl="1" indent="-285750" algn="just" rtl="0">
              <a:spcBef>
                <a:spcPts val="10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 i="1"/>
              <a:t>For example, </a:t>
            </a:r>
            <a:r>
              <a:rPr lang="en-US" sz="2200"/>
              <a:t>to remove a keyboard listener, call </a:t>
            </a:r>
            <a:r>
              <a:rPr lang="en-US" sz="2200" b="1"/>
              <a:t>removeKeyListener( ).</a:t>
            </a:r>
            <a:endParaRPr/>
          </a:p>
          <a:p>
            <a:pPr marL="342900" lvl="0" indent="-342900" algn="just" rtl="0"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</a:t>
            </a:r>
            <a:r>
              <a:rPr lang="en-US" sz="2400" b="1"/>
              <a:t>methods that add or remove listeners </a:t>
            </a:r>
            <a:r>
              <a:rPr lang="en-US" sz="2400"/>
              <a:t>are</a:t>
            </a:r>
            <a:r>
              <a:rPr lang="en-US" sz="2400" u="sng"/>
              <a:t> provided by the </a:t>
            </a:r>
            <a:r>
              <a:rPr lang="en-US" sz="2400" b="1" u="sng">
                <a:solidFill>
                  <a:srgbClr val="C00000"/>
                </a:solidFill>
              </a:rPr>
              <a:t>source</a:t>
            </a:r>
            <a:r>
              <a:rPr lang="en-US" sz="2400"/>
              <a:t> that generates events. </a:t>
            </a:r>
            <a:endParaRPr/>
          </a:p>
          <a:p>
            <a:pPr marL="742950" lvl="1" indent="-285750" algn="just" rtl="0">
              <a:spcBef>
                <a:spcPts val="10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For example, the </a:t>
            </a:r>
            <a:r>
              <a:rPr lang="en-US" sz="2200" b="1"/>
              <a:t>Component class </a:t>
            </a:r>
            <a:r>
              <a:rPr lang="en-US" sz="2200"/>
              <a:t>provides methods to add and remove keyboard and mouse event listeners.</a:t>
            </a:r>
            <a:endParaRPr sz="2200"/>
          </a:p>
        </p:txBody>
      </p:sp>
      <p:sp>
        <p:nvSpPr>
          <p:cNvPr id="216" name="Google Shape;216;p16"/>
          <p:cNvSpPr txBox="1">
            <a:spLocks noGrp="1"/>
          </p:cNvSpPr>
          <p:nvPr>
            <p:ph type="ftr" idx="11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217" name="Google Shape;217;p16"/>
          <p:cNvSpPr txBox="1">
            <a:spLocks noGrp="1"/>
          </p:cNvSpPr>
          <p:nvPr>
            <p:ph type="sldNum" idx="12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218" name="Google Shape;218;p16"/>
          <p:cNvSpPr txBox="1">
            <a:spLocks noGrp="1"/>
          </p:cNvSpPr>
          <p:nvPr>
            <p:ph type="title"/>
          </p:nvPr>
        </p:nvSpPr>
        <p:spPr>
          <a:xfrm>
            <a:off x="0" y="-152400"/>
            <a:ext cx="8686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The Delegation Event Model – </a:t>
            </a:r>
            <a:r>
              <a:rPr lang="en-US" sz="2800">
                <a:solidFill>
                  <a:srgbClr val="C00000"/>
                </a:solidFill>
              </a:rPr>
              <a:t>Event Sources </a:t>
            </a:r>
            <a:r>
              <a:rPr lang="en-US" sz="1800"/>
              <a:t>(contd.)</a:t>
            </a:r>
            <a:endParaRPr sz="2800"/>
          </a:p>
        </p:txBody>
      </p:sp>
      <p:sp>
        <p:nvSpPr>
          <p:cNvPr id="219" name="Google Shape;219;p16"/>
          <p:cNvSpPr/>
          <p:nvPr/>
        </p:nvSpPr>
        <p:spPr>
          <a:xfrm>
            <a:off x="533400" y="2133600"/>
            <a:ext cx="6400800" cy="457200"/>
          </a:xfrm>
          <a:prstGeom prst="rect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7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A </a:t>
            </a:r>
            <a:r>
              <a:rPr lang="en-US" b="1">
                <a:solidFill>
                  <a:srgbClr val="C00000"/>
                </a:solidFill>
              </a:rPr>
              <a:t>listener</a:t>
            </a:r>
            <a:r>
              <a:rPr lang="en-US"/>
              <a:t> is an object that is </a:t>
            </a:r>
            <a:r>
              <a:rPr lang="en-US" b="1"/>
              <a:t>notified when an event occurs.</a:t>
            </a:r>
            <a:endParaRPr/>
          </a:p>
          <a:p>
            <a:pPr marL="342900" lvl="0" indent="-342900" algn="just" rtl="0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It has two major requirements.</a:t>
            </a:r>
            <a:endParaRPr/>
          </a:p>
          <a:p>
            <a:pPr marL="742950" lvl="1" indent="-28575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First, it must have been </a:t>
            </a:r>
            <a:r>
              <a:rPr lang="en-US" b="1"/>
              <a:t>registered with one or more </a:t>
            </a:r>
            <a:r>
              <a:rPr lang="en-US" b="1">
                <a:solidFill>
                  <a:srgbClr val="0000CC"/>
                </a:solidFill>
              </a:rPr>
              <a:t>sources</a:t>
            </a:r>
            <a:r>
              <a:rPr lang="en-US" b="1"/>
              <a:t> </a:t>
            </a:r>
            <a:r>
              <a:rPr lang="en-US"/>
              <a:t>to receive notifications about specific types of events. </a:t>
            </a:r>
            <a:endParaRPr/>
          </a:p>
          <a:p>
            <a:pPr marL="742950" lvl="1" indent="-28575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Second, it </a:t>
            </a:r>
            <a:r>
              <a:rPr lang="en-US" b="1"/>
              <a:t>must implement methods</a:t>
            </a:r>
            <a:r>
              <a:rPr lang="en-US"/>
              <a:t> to receive and process these notifications.</a:t>
            </a:r>
            <a:endParaRPr/>
          </a:p>
        </p:txBody>
      </p:sp>
      <p:sp>
        <p:nvSpPr>
          <p:cNvPr id="225" name="Google Shape;225;p17"/>
          <p:cNvSpPr txBox="1">
            <a:spLocks noGrp="1"/>
          </p:cNvSpPr>
          <p:nvPr>
            <p:ph type="ftr" idx="11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226" name="Google Shape;226;p17"/>
          <p:cNvSpPr txBox="1">
            <a:spLocks noGrp="1"/>
          </p:cNvSpPr>
          <p:nvPr>
            <p:ph type="sldNum" idx="12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227" name="Google Shape;227;p17"/>
          <p:cNvSpPr txBox="1"/>
          <p:nvPr/>
        </p:nvSpPr>
        <p:spPr>
          <a:xfrm>
            <a:off x="0" y="0"/>
            <a:ext cx="8686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Delegation Event Model – </a:t>
            </a:r>
            <a:r>
              <a:rPr lang="en-US" sz="28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Event </a:t>
            </a:r>
            <a:r>
              <a:rPr lang="en-US" sz="28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Listeners</a:t>
            </a:r>
            <a:endParaRPr sz="2800" b="1" i="0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8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The methods that receive and process events are defined in a set of interfaces found in </a:t>
            </a:r>
            <a:r>
              <a:rPr lang="en-US" b="1"/>
              <a:t>java.awt.event. </a:t>
            </a:r>
            <a:endParaRPr/>
          </a:p>
          <a:p>
            <a:pPr marL="742950" lvl="1" indent="-28575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For example, the </a:t>
            </a:r>
            <a:r>
              <a:rPr lang="en-US" b="1"/>
              <a:t>MouseMotionListener interface </a:t>
            </a:r>
            <a:r>
              <a:rPr lang="en-US"/>
              <a:t>defines two methods to </a:t>
            </a:r>
            <a:r>
              <a:rPr lang="en-US" b="1" u="sng"/>
              <a:t>receive notifications when the mouse is </a:t>
            </a:r>
            <a:r>
              <a:rPr lang="en-US" b="1" u="sng">
                <a:solidFill>
                  <a:srgbClr val="0000CC"/>
                </a:solidFill>
              </a:rPr>
              <a:t>dragged</a:t>
            </a:r>
            <a:r>
              <a:rPr lang="en-US" b="1" u="sng"/>
              <a:t> or </a:t>
            </a:r>
            <a:r>
              <a:rPr lang="en-US" b="1" u="sng">
                <a:solidFill>
                  <a:srgbClr val="0000CC"/>
                </a:solidFill>
              </a:rPr>
              <a:t>moved</a:t>
            </a:r>
            <a:r>
              <a:rPr lang="en-US" b="1" u="sng"/>
              <a:t>.</a:t>
            </a:r>
            <a:r>
              <a:rPr lang="en-US"/>
              <a:t> </a:t>
            </a:r>
            <a:endParaRPr/>
          </a:p>
          <a:p>
            <a:pPr marL="1143000" lvl="2" indent="-22860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Any object may receive and process one or both of these events if it provides an implementation of this interface. </a:t>
            </a:r>
            <a:endParaRPr/>
          </a:p>
        </p:txBody>
      </p:sp>
      <p:sp>
        <p:nvSpPr>
          <p:cNvPr id="233" name="Google Shape;233;p18"/>
          <p:cNvSpPr txBox="1">
            <a:spLocks noGrp="1"/>
          </p:cNvSpPr>
          <p:nvPr>
            <p:ph type="ftr" idx="11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234" name="Google Shape;234;p18"/>
          <p:cNvSpPr txBox="1">
            <a:spLocks noGrp="1"/>
          </p:cNvSpPr>
          <p:nvPr>
            <p:ph type="sldNum" idx="12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235" name="Google Shape;235;p18"/>
          <p:cNvSpPr txBox="1"/>
          <p:nvPr/>
        </p:nvSpPr>
        <p:spPr>
          <a:xfrm>
            <a:off x="0" y="228600"/>
            <a:ext cx="8686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Delegation Event Model – </a:t>
            </a:r>
            <a:r>
              <a:rPr lang="en-US" sz="28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Event </a:t>
            </a:r>
            <a:r>
              <a:rPr lang="en-US" sz="28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Listeners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(contd.)</a:t>
            </a:r>
            <a:endParaRPr sz="28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9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Reference</a:t>
            </a:r>
            <a:endParaRPr/>
          </a:p>
        </p:txBody>
      </p:sp>
      <p:sp>
        <p:nvSpPr>
          <p:cNvPr id="241" name="Google Shape;241;p19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Herbert Schildt, Java: </a:t>
            </a:r>
            <a:r>
              <a:rPr lang="en-US" b="1"/>
              <a:t>The Complete Reference, 8/e, Tata McGraw Hill, 2011</a:t>
            </a:r>
            <a:r>
              <a:rPr lang="en-US"/>
              <a:t>.</a:t>
            </a:r>
            <a:endParaRPr/>
          </a:p>
        </p:txBody>
      </p:sp>
      <p:sp>
        <p:nvSpPr>
          <p:cNvPr id="242" name="Google Shape;242;p19"/>
          <p:cNvSpPr txBox="1">
            <a:spLocks noGrp="1"/>
          </p:cNvSpPr>
          <p:nvPr>
            <p:ph type="sldNum" idx="12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243" name="Google Shape;243;p19"/>
          <p:cNvSpPr txBox="1">
            <a:spLocks noGrp="1"/>
          </p:cNvSpPr>
          <p:nvPr>
            <p:ph type="ftr" idx="11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1317</Words>
  <Application>Microsoft Office PowerPoint</Application>
  <PresentationFormat>On-screen Show (4:3)</PresentationFormat>
  <Paragraphs>141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Noto Sans Symbols</vt:lpstr>
      <vt:lpstr>Calibri</vt:lpstr>
      <vt:lpstr>Snap ITC</vt:lpstr>
      <vt:lpstr>Arial</vt:lpstr>
      <vt:lpstr>Times New Roman</vt:lpstr>
      <vt:lpstr>Office Theme</vt:lpstr>
      <vt:lpstr>PowerPoint Presentation</vt:lpstr>
      <vt:lpstr>Topics</vt:lpstr>
      <vt:lpstr>Event Handling</vt:lpstr>
      <vt:lpstr>Event Handling(contd.)</vt:lpstr>
      <vt:lpstr>Event Handling Mechanisms</vt:lpstr>
      <vt:lpstr>The Delegation Event Model</vt:lpstr>
      <vt:lpstr>The Delegation Event Model(contd.)</vt:lpstr>
      <vt:lpstr>The Delegation Event Model(contd.)</vt:lpstr>
      <vt:lpstr>The Delegation Event Model(contd.)</vt:lpstr>
      <vt:lpstr>The Delegation Event Model -Event</vt:lpstr>
      <vt:lpstr>The Delegation Event Model -Event</vt:lpstr>
      <vt:lpstr>The Delegation Event Model –Event (contd.)</vt:lpstr>
      <vt:lpstr>The Delegation Event Model – Event Sources</vt:lpstr>
      <vt:lpstr>The Delegation Event Model – Event Sources  (contd.)</vt:lpstr>
      <vt:lpstr>The Delegation Event Model – Event Sources (contd.)</vt:lpstr>
      <vt:lpstr>The Delegation Event Model – Event Sources (contd.)</vt:lpstr>
      <vt:lpstr>PowerPoint Presentation</vt:lpstr>
      <vt:lpstr>PowerPoint Presentation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RENETHA J B</cp:lastModifiedBy>
  <cp:revision>3</cp:revision>
  <dcterms:created xsi:type="dcterms:W3CDTF">2006-08-16T00:00:00Z</dcterms:created>
  <dcterms:modified xsi:type="dcterms:W3CDTF">2025-08-24T19:10:39Z</dcterms:modified>
</cp:coreProperties>
</file>