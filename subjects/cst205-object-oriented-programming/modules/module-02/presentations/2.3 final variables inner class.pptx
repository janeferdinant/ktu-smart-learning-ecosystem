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60" r:id="rId7"/>
    <p:sldMasterId id="2147483662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y="6858000" cx="9144000"/>
  <p:notesSz cx="7315200" cy="9601200"/>
  <p:embeddedFontLst>
    <p:embeddedFont>
      <p:font typeface="Sigmar One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r:id="rId26" roundtripDataSignature="AMtx7miJDTnB1YNyH+WPAHK+eabP6LM/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26" Type="http://customschemas.google.com/relationships/presentationmetadata" Target="metadata"/><Relationship Id="rId25" Type="http://schemas.openxmlformats.org/officeDocument/2006/relationships/font" Target="fonts/SigmarOne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81000" lvl="3" marL="18288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" type="body"/>
          </p:nvPr>
        </p:nvSpPr>
        <p:spPr>
          <a:xfrm rot="5400000">
            <a:off x="2042319" y="-518319"/>
            <a:ext cx="50593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7" name="Google Shape;5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9" name="Google Shape;7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9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2" name="Google Shape;92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3" name="Google Shape;93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1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7" name="Google Shape;107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8" name="Google Shape;108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9" name="Google Shape;10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5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6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6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8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0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48575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8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8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0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30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>
            <p:ph type="ctrTitle"/>
          </p:nvPr>
        </p:nvSpPr>
        <p:spPr>
          <a:xfrm>
            <a:off x="381000" y="1219200"/>
            <a:ext cx="8458200" cy="238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CS205 Object Oriented Programming in Java</a:t>
            </a:r>
            <a:b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2 - </a:t>
            </a: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Java Fundamentals</a:t>
            </a:r>
            <a:b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(Part 4)</a:t>
            </a:r>
            <a:endParaRPr/>
          </a:p>
        </p:txBody>
      </p:sp>
      <p:sp>
        <p:nvSpPr>
          <p:cNvPr id="117" name="Google Shape;117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200"/>
              <a:buNone/>
            </a:pPr>
            <a:r>
              <a:rPr b="0" i="0" lang="en-US" sz="3200" u="none">
                <a:solidFill>
                  <a:srgbClr val="898989"/>
                </a:solidFill>
                <a:latin typeface="Sigmar One"/>
                <a:ea typeface="Sigmar One"/>
                <a:cs typeface="Sigmar One"/>
                <a:sym typeface="Sigmar One"/>
              </a:rPr>
              <a:t>Prepared by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98989"/>
              </a:buClr>
              <a:buSzPts val="3200"/>
              <a:buNone/>
            </a:pPr>
            <a:r>
              <a:rPr b="0" i="0" lang="en-US" sz="32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Renetha J.B.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0" i="0" sz="3200" u="none"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25" name="Google Shape;125;p2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Java Fundamentals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Variables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Classes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Variables</a:t>
            </a:r>
            <a:endParaRPr/>
          </a:p>
        </p:txBody>
      </p:sp>
      <p:sp>
        <p:nvSpPr>
          <p:cNvPr id="133" name="Google Shape;133;p3"/>
          <p:cNvSpPr txBox="1"/>
          <p:nvPr>
            <p:ph idx="1" type="body"/>
          </p:nvPr>
        </p:nvSpPr>
        <p:spPr>
          <a:xfrm>
            <a:off x="457200" y="7620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variable can be declared as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prefixing </a:t>
            </a: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keyword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contents of final variables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be modified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</a:t>
            </a:r>
            <a:r>
              <a:rPr b="0" i="0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</a:t>
            </a:r>
            <a:r>
              <a:rPr b="1" i="0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 a final variable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it is declared.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FILE_NEW = 1;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FILE_OPEN = 2;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convention to choose </a:t>
            </a:r>
            <a:r>
              <a:rPr b="1" i="0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uppercase identifiers(CAPITAL LETTERS)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variables.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TOTAL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variables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/>
              <a:t>re like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</a:t>
            </a:r>
            <a:r>
              <a:rPr b="1" lang="en-US" sz="2400"/>
              <a:t>. </a:t>
            </a:r>
            <a:r>
              <a:rPr lang="en-US" sz="2400"/>
              <a:t>Their value cannot be changed.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/>
              <a:t>final </a:t>
            </a:r>
            <a:r>
              <a:rPr lang="en-US" sz="2400"/>
              <a:t>va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riables </a:t>
            </a:r>
            <a:r>
              <a:rPr b="1" i="0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occupy memory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a per-instance basis.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Classes</a:t>
            </a:r>
            <a:endParaRPr/>
          </a:p>
        </p:txBody>
      </p:sp>
      <p:sp>
        <p:nvSpPr>
          <p:cNvPr id="141" name="Google Shape;141;p4"/>
          <p:cNvSpPr txBox="1"/>
          <p:nvPr>
            <p:ph idx="1" type="body"/>
          </p:nvPr>
        </p:nvSpPr>
        <p:spPr>
          <a:xfrm>
            <a:off x="381000" y="685800"/>
            <a:ext cx="8229600" cy="53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possible to define a class within another class; such classes are known as </a:t>
            </a:r>
            <a:r>
              <a:rPr b="1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classes.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scope of a nested class is bounded by the scope of its enclosing class(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if class </a:t>
            </a:r>
            <a:r>
              <a:rPr b="0" i="0" lang="en-US" sz="26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is defined within class A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B does not exist independently of A.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Classes(contd.)</a:t>
            </a:r>
            <a:endParaRPr/>
          </a:p>
        </p:txBody>
      </p:sp>
      <p:sp>
        <p:nvSpPr>
          <p:cNvPr id="149" name="Google Shape;149;p5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class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</a:t>
            </a:r>
            <a:r>
              <a:rPr b="0" i="0" lang="en-US" sz="2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to the members, including private members, of the </a:t>
            </a:r>
            <a:r>
              <a:rPr b="1" i="0" lang="en-US" sz="2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enclosing(outer) class.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enclosing class </a:t>
            </a:r>
            <a:r>
              <a:rPr b="0" i="0" lang="en-US" sz="2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have access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members of the nested class.</a:t>
            </a:r>
            <a:endParaRPr b="1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Classes(contd)</a:t>
            </a:r>
            <a:endParaRPr/>
          </a:p>
        </p:txBody>
      </p:sp>
      <p:sp>
        <p:nvSpPr>
          <p:cNvPr id="157" name="Google Shape;157;p6"/>
          <p:cNvSpPr txBox="1"/>
          <p:nvPr>
            <p:ph idx="1" type="body"/>
          </p:nvPr>
        </p:nvSpPr>
        <p:spPr>
          <a:xfrm>
            <a:off x="457200" y="6858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nested class, that is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declared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directly within its enclosing class scope, is a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its enclosing class.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None/>
            </a:pPr>
            <a:r>
              <a:rPr b="1" i="0" lang="en-US" sz="2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Outer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//variables and methods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Inner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//variables and methods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two types of nested classes: </a:t>
            </a:r>
            <a:r>
              <a:rPr b="1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non-static.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Classes(contd)</a:t>
            </a:r>
            <a:endParaRPr/>
          </a:p>
        </p:txBody>
      </p:sp>
      <p:sp>
        <p:nvSpPr>
          <p:cNvPr id="165" name="Google Shape;165;p7"/>
          <p:cNvSpPr txBox="1"/>
          <p:nvPr>
            <p:ph idx="1" type="body"/>
          </p:nvPr>
        </p:nvSpPr>
        <p:spPr>
          <a:xfrm>
            <a:off x="457200" y="762000"/>
            <a:ext cx="8229600" cy="53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Noto Sans Symbols"/>
              <a:buChar char="⮚"/>
            </a:pPr>
            <a:r>
              <a:rPr b="1" i="0" lang="en-US" sz="2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nested class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static nested class is one that has the 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modifier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must access the members of its enclosing class </a:t>
            </a:r>
            <a:r>
              <a:rPr b="0" i="0" lang="en-US" sz="26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an object.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refer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members of its enclosing class 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directly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/>
          <p:nvPr>
            <p:ph idx="1" type="body"/>
          </p:nvPr>
        </p:nvSpPr>
        <p:spPr>
          <a:xfrm>
            <a:off x="1066800" y="0"/>
            <a:ext cx="8229600" cy="6126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a STATIC inner class.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None/>
            </a:pPr>
            <a:r>
              <a:rPr b="1" i="0" lang="en-US" sz="22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2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b="0"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outer_x 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100;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test() {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nested= new </a:t>
            </a:r>
            <a:r>
              <a:rPr b="0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nested.display();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</a:t>
            </a:r>
            <a:r>
              <a:rPr b="1" i="0" lang="en-US" sz="22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		</a:t>
            </a:r>
            <a:r>
              <a:rPr b="0"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//static nested class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void display()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2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 </a:t>
            </a:r>
            <a:r>
              <a:rPr b="1" i="0" lang="en-US" sz="22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new </a:t>
            </a:r>
            <a:r>
              <a:rPr b="1" i="0" lang="en-US" sz="22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System.out.println("display: outer_x = " + </a:t>
            </a:r>
            <a:r>
              <a:rPr b="1" i="0" lang="en-US" sz="22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outer_x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       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None/>
            </a:pPr>
            <a:r>
              <a:rPr b="1" i="0" lang="en-US" sz="22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NestedClassDemo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static void main(String args[])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200" u="none">
                <a:solidFill>
                  <a:srgbClr val="2540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outer = new Outer();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outer.test();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}</a:t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74" name="Google Shape;174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75" name="Google Shape;175;p8"/>
          <p:cNvSpPr txBox="1"/>
          <p:nvPr/>
        </p:nvSpPr>
        <p:spPr>
          <a:xfrm>
            <a:off x="6019800" y="4572000"/>
            <a:ext cx="2447925" cy="64611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display: outer_x = 100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Class</a:t>
            </a:r>
            <a:endParaRPr/>
          </a:p>
        </p:txBody>
      </p:sp>
      <p:sp>
        <p:nvSpPr>
          <p:cNvPr id="181" name="Google Shape;181;p9"/>
          <p:cNvSpPr txBox="1"/>
          <p:nvPr>
            <p:ph idx="1" type="body"/>
          </p:nvPr>
        </p:nvSpPr>
        <p:spPr>
          <a:xfrm>
            <a:off x="457200" y="762000"/>
            <a:ext cx="8229600" cy="53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 static class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non-static nested class is called </a:t>
            </a:r>
            <a:r>
              <a:rPr b="1" i="0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class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class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</a:t>
            </a:r>
            <a:r>
              <a:rPr b="0" i="0" lang="en-US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all of the variables and </a:t>
            </a:r>
            <a:r>
              <a:rPr b="1" i="0" lang="en-US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of its outer class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may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members of its enclosing class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directly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same way that other non-static members of the outer class do.</a:t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/>
          <p:nvPr>
            <p:ph idx="1" type="body"/>
          </p:nvPr>
        </p:nvSpPr>
        <p:spPr>
          <a:xfrm>
            <a:off x="1066800" y="0"/>
            <a:ext cx="8229600" cy="6126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a NONSTATIC inner class.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Outer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b="0"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outer_x 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100;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test() {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inner = new Inner();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inner.display();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void display()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System.out.println("display: outer_x = " + </a:t>
            </a:r>
            <a:r>
              <a:rPr b="0"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outer_x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InnerClassDemo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static void main(String args[])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Outer outer = new Outer();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outer.test();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6019800" y="4572000"/>
            <a:ext cx="2447925" cy="64611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display: outer_x = 100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/>
          <p:nvPr>
            <p:ph type="title"/>
          </p:nvPr>
        </p:nvSpPr>
        <p:spPr>
          <a:xfrm>
            <a:off x="457200" y="-152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1"/>
          <p:cNvSpPr txBox="1"/>
          <p:nvPr>
            <p:ph idx="1" type="body"/>
          </p:nvPr>
        </p:nvSpPr>
        <p:spPr>
          <a:xfrm>
            <a:off x="381000" y="0"/>
            <a:ext cx="8229600" cy="544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program, an inner class named </a:t>
            </a: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defined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within the scope of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Outer.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any code in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Inner </a:t>
            </a:r>
            <a:r>
              <a:rPr b="1" i="0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directly access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outer_x in Outer class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instance  method named display( ) is defined inside Inner.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method displays outer_x on the standard output stream.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main( ) method of InnerClassDemo creates an instance of class Outer and invokes its test( ) method.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method creates an instance of class Inner and the display() method is called.</a:t>
            </a:r>
            <a:endParaRPr/>
          </a:p>
        </p:txBody>
      </p:sp>
      <p:sp>
        <p:nvSpPr>
          <p:cNvPr id="198" name="Google Shape;198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 txBox="1"/>
          <p:nvPr>
            <p:ph type="title"/>
          </p:nvPr>
        </p:nvSpPr>
        <p:spPr>
          <a:xfrm>
            <a:off x="304800" y="609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class(contd.)</a:t>
            </a:r>
            <a:endParaRPr/>
          </a:p>
        </p:txBody>
      </p:sp>
      <p:sp>
        <p:nvSpPr>
          <p:cNvPr id="205" name="Google Shape;205;p12"/>
          <p:cNvSpPr txBox="1"/>
          <p:nvPr>
            <p:ph idx="1" type="body"/>
          </p:nvPr>
        </p:nvSpPr>
        <p:spPr>
          <a:xfrm>
            <a:off x="381000" y="1143000"/>
            <a:ext cx="8229600" cy="429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instance(object) of Inner can be created only </a:t>
            </a:r>
            <a:r>
              <a:rPr b="1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within the scope of class Outer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1778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an </a:t>
            </a:r>
            <a:r>
              <a:rPr b="1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Inner class </a:t>
            </a:r>
            <a:r>
              <a:rPr b="1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outside of Outer class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qualifying its name with Outer classname, as in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Outer.Inner ob=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outerobject.new Inner();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class(contd.)</a:t>
            </a:r>
            <a:endParaRPr/>
          </a:p>
        </p:txBody>
      </p:sp>
      <p:sp>
        <p:nvSpPr>
          <p:cNvPr id="213" name="Google Shape;213;p13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inner class can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of the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 of its enclosing class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the reverse is not true.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 of the inner class are known only within the scope of the inner class and may not be used by the outer class.</a:t>
            </a:r>
            <a:endParaRPr/>
          </a:p>
        </p:txBody>
      </p:sp>
      <p:sp>
        <p:nvSpPr>
          <p:cNvPr id="214" name="Google Shape;214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15" name="Google Shape;215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"/>
          <p:cNvSpPr txBox="1"/>
          <p:nvPr>
            <p:ph idx="1" type="body"/>
          </p:nvPr>
        </p:nvSpPr>
        <p:spPr>
          <a:xfrm>
            <a:off x="457200" y="304800"/>
            <a:ext cx="8229600" cy="5821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define a nested class within the block defined by a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or even within the body of a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loop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Define an inner class within a for loop.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Outer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outer_x = 100;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test()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for(int i=0; i&lt;5; i++)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	{ 	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Inner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void display()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System.out.println("display: outer_x = " + outer_x);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         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     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Inner inner = new Inner();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inner.display(); 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}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}       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InnerClassDemo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 outer = new Outer();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outer.test();  } }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22" name="Google Shape;222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6019800" y="4648200"/>
            <a:ext cx="2743200" cy="175418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display: outer_x = 100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display: outer_x = 100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display: outer_x = 100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display: outer_x = 100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display: outer_x = 100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/>
          </a:p>
        </p:txBody>
      </p:sp>
      <p:sp>
        <p:nvSpPr>
          <p:cNvPr id="229" name="Google Shape;229;p15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Herbert Schildt, Java: The Complete Reference, 8/e, Tata McGraw Hill, 2011.</a:t>
            </a:r>
            <a:endParaRPr/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31" name="Google Shape;231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