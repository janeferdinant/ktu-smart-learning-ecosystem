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</p:sldIdLst>
  <p:sldSz cy="6858000" cx="9144000"/>
  <p:notesSz cx="7315200" cy="9601200"/>
  <p:embeddedFontLst>
    <p:embeddedFont>
      <p:font typeface="Sigmar One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38" roundtripDataSignature="AMtx7mhrcjxhr40vJ6YuqEe5BCg73dYd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font" Target="fonts/SigmarOne-regular.fntdata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38" Type="http://customschemas.google.com/relationships/presentationmetadata" Target="meta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" type="body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42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lide.xml" TargetMode="External"/><Relationship Id="rId4" Type="http://schemas.openxmlformats.org/officeDocument/2006/relationships/hyperlink" Target="http://slide.xml" TargetMode="External"/><Relationship Id="rId5" Type="http://schemas.openxmlformats.org/officeDocument/2006/relationships/hyperlink" Target="http://slide10.xml" TargetMode="External"/><Relationship Id="rId6" Type="http://schemas.openxmlformats.org/officeDocument/2006/relationships/hyperlink" Target="http://slide.x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</a:t>
            </a:r>
            <a:b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</a:t>
            </a:r>
            <a:b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(Part2)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rPr b="0" i="0" lang="en-US" sz="220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rPr b="0" i="0" lang="en-US" sz="22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Returning Objects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Access Control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Static Members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Returning objects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can </a:t>
            </a: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any type of data,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data (int ,float, char, double etc.)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types(objects) that </a:t>
            </a:r>
            <a:r>
              <a:rPr lang="en-US"/>
              <a:t>we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533400" y="-180988"/>
            <a:ext cx="3733800" cy="6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Returning an object.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a;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Test(int i)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 =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new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(a+10);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1" name="Google Shape;141;p4"/>
          <p:cNvSpPr txBox="1"/>
          <p:nvPr>
            <p:ph idx="2" type="body"/>
          </p:nvPr>
        </p:nvSpPr>
        <p:spPr>
          <a:xfrm>
            <a:off x="4267200" y="427037"/>
            <a:ext cx="4876800" cy="620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RetOb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ob1 = new Test(2);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ob2;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ob2 = ob1.increase();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System.out.println("ob1.a: " + ob1.a);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System.out.println("ob2.a: " + ob2.a);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ob2 = ob2.increase 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System.out.println(“increase ob2.a: ” +ob2.a);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5240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915025"/>
            <a:ext cx="2471737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6124575" y="4267200"/>
            <a:ext cx="2249487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ob1.a: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ob2.a: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ob2.a: 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5334000"/>
            <a:ext cx="6858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6172200"/>
            <a:ext cx="3514725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4"/>
          <p:cNvCxnSpPr/>
          <p:nvPr/>
        </p:nvCxnSpPr>
        <p:spPr>
          <a:xfrm>
            <a:off x="4267200" y="5624512"/>
            <a:ext cx="2971800" cy="623887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Recursion</a:t>
            </a:r>
            <a:endParaRPr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457200" y="1417637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Recursion is the process of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something in terms of itself.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/>
              <a:t>function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calls itself is called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function.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381000" y="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 simple example of recursion.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Factorial {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 n)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result;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if(n==1) 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1;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= n*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</a:t>
            </a: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(n-1)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 result;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Recursion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Factorial f = new Factorial();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s= f.fact(3)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System.out.println("Factorial of 3 is " + s);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629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4572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70" name="Google Shape;170;p7"/>
          <p:cNvSpPr txBox="1"/>
          <p:nvPr>
            <p:ph idx="1" type="body"/>
          </p:nvPr>
        </p:nvSpPr>
        <p:spPr>
          <a:xfrm>
            <a:off x="0" y="685800"/>
            <a:ext cx="7010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RecTest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values[];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RecTest(int i)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= new int[i];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printArray(int i)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if(i==0)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return;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printArray(i-1);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"["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(i-1)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"] "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values[i-1]);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71" name="Google Shape;171;p7"/>
          <p:cNvSpPr txBox="1"/>
          <p:nvPr>
            <p:ph idx="2" type="body"/>
          </p:nvPr>
        </p:nvSpPr>
        <p:spPr>
          <a:xfrm>
            <a:off x="4648200" y="533400"/>
            <a:ext cx="4495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Recursion2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RecTest ob = new RecTest(5);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i&lt;5; i++)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ob.values[i] =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ob.printArray(5);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" y="381000"/>
            <a:ext cx="915352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4572000" y="3429000"/>
            <a:ext cx="1447800" cy="2032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[0]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</a:t>
            </a:r>
            <a:endParaRPr/>
          </a:p>
        </p:txBody>
      </p:sp>
      <p:sp>
        <p:nvSpPr>
          <p:cNvPr id="189" name="Google Shape;189;p9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encapsulation, we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parts of a program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members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class.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controlling access, you can prevent misuse.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 member can be accessed is determined by the </a:t>
            </a:r>
            <a:r>
              <a:rPr b="0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specifier that modifies its declaration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access specifiers are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Control(contd.)</a:t>
            </a:r>
            <a:endParaRPr/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457200" y="1036637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class is modified by the </a:t>
            </a:r>
            <a:r>
              <a:rPr b="1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specifier, then that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 can be accessed by any other code.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(ACCESSIBLE TO ALL)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i;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of a class is specified as 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that member can only be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by any members of the same class.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a;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Control(contd.)</a:t>
            </a:r>
            <a:endParaRPr/>
          </a:p>
        </p:txBody>
      </p:sp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of a class is specified as </a:t>
            </a:r>
            <a:r>
              <a:rPr b="1" i="0" lang="en-US" sz="26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that member can be accessed within the package and by any of  its subclasses.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6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char c;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access specifier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there, then its access specifier is </a:t>
            </a:r>
            <a:r>
              <a:rPr b="1" i="0" lang="en-US" sz="26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accessed within its own package, but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accessed outside of its package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c;</a:t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sp</a:t>
            </a:r>
            <a:r>
              <a:rPr lang="en-US"/>
              <a:t>e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cifier-E.g.</a:t>
            </a:r>
            <a:endParaRPr/>
          </a:p>
        </p:txBody>
      </p:sp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457200" y="685800"/>
            <a:ext cx="86868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A{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i;		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double j;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 c;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f;			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//default access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myMethod(int a, char b) 	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//public method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//..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986837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/>
        </p:nvSpPr>
        <p:spPr>
          <a:xfrm>
            <a:off x="8001000" y="5867400"/>
            <a:ext cx="595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5791200" y="5705475"/>
            <a:ext cx="20526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SAME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ANY SUBCLASS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3810000" y="5638800"/>
            <a:ext cx="2116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F6228"/>
                </a:solidFill>
                <a:latin typeface="Arial"/>
                <a:ea typeface="Arial"/>
                <a:cs typeface="Arial"/>
                <a:sym typeface="Arial"/>
              </a:rPr>
              <a:t>SAME PACKAGE,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1981200" y="5638800"/>
            <a:ext cx="16589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>
            <p:ph idx="1" type="body"/>
          </p:nvPr>
        </p:nvSpPr>
        <p:spPr>
          <a:xfrm>
            <a:off x="457200" y="304800"/>
            <a:ext cx="4038600" cy="51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a; 		// default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int b;	 // public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int c; 	// private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setc(int i)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//setter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1" i="0" lang="en-US" sz="24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getc()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//getter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c;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 }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4"/>
          <p:cNvSpPr txBox="1"/>
          <p:nvPr>
            <p:ph idx="2" type="body"/>
          </p:nvPr>
        </p:nvSpPr>
        <p:spPr>
          <a:xfrm>
            <a:off x="4495800" y="457200"/>
            <a:ext cx="441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AccessTest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 = new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ob.a = 10;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ob.b = 20;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ob.c = 100;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Error! // PRIVATE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You must access private variable c //through its methods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ob.</a:t>
            </a: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setc(100)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      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System.out.println("a=“+ ob.a);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System.out.println("b="ob.b”);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System.out.println(“c= " + ob.</a:t>
            </a:r>
            <a:r>
              <a:rPr b="1" i="0" lang="en-US" sz="20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getc()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</a:t>
            </a:r>
            <a:endParaRPr/>
          </a:p>
        </p:txBody>
      </p:sp>
      <p:sp>
        <p:nvSpPr>
          <p:cNvPr id="241" name="Google Shape;241;p15"/>
          <p:cNvSpPr txBox="1"/>
          <p:nvPr>
            <p:ph idx="1" type="body"/>
          </p:nvPr>
        </p:nvSpPr>
        <p:spPr>
          <a:xfrm>
            <a:off x="457200" y="990600"/>
            <a:ext cx="8229600" cy="51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we access the member of another class using object. 	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is: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objectname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to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a member of another class without using object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we have to make it a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 it a static member.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member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of any object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that class. We can make a member static by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preceding the member declaration with the keyword </a:t>
            </a: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datatype member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is declared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static,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accessed before any objects of its class are created, and without reference to any object.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can be accessed using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classname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.member;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609600" y="3733800"/>
            <a:ext cx="3429000" cy="1066800"/>
          </a:xfrm>
          <a:prstGeom prst="rect">
            <a:avLst/>
          </a:prstGeom>
          <a:solidFill>
            <a:schemeClr val="accent1">
              <a:alpha val="0"/>
            </a:schemeClr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Members(contd.)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Members(contd.)</a:t>
            </a:r>
            <a:endParaRPr/>
          </a:p>
        </p:txBody>
      </p:sp>
      <p:sp>
        <p:nvSpPr>
          <p:cNvPr id="258" name="Google Shape;258;p17"/>
          <p:cNvSpPr txBox="1"/>
          <p:nvPr>
            <p:ph idx="1" type="body"/>
          </p:nvPr>
        </p:nvSpPr>
        <p:spPr>
          <a:xfrm>
            <a:off x="457200" y="838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common example of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is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function.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main( ) is declared as static because it must be called before any objects is created.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 variables declared as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variables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objects of its class are declared, separate copy of a static variable is NOT made.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instances(objects) of the class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the same </a:t>
            </a:r>
            <a:r>
              <a:rPr b="1"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variable.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Members(contd.)</a:t>
            </a:r>
            <a:endParaRPr/>
          </a:p>
        </p:txBody>
      </p:sp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declared as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static(static methods)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several restrictions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only call other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methods.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only access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refer 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super.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Members(contd.)</a:t>
            </a:r>
            <a:endParaRPr/>
          </a:p>
        </p:txBody>
      </p:sp>
      <p:sp>
        <p:nvSpPr>
          <p:cNvPr id="274" name="Google Shape;274;p19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need to do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 to initialize your static variables, w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 static block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gets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executed exactly once, when the class is first loaded.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static variables, methods, and blocks.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a = 3;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b;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show(int x)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System.out.println("x = " + x);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 = " + a);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= " + b);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System.out.println("Static block initialized.");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a * 4;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show(42);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702425" y="2743200"/>
            <a:ext cx="2441575" cy="14779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block initialized.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e.g. code</a:t>
            </a:r>
            <a:endParaRPr/>
          </a:p>
        </p:txBody>
      </p:sp>
      <p:sp>
        <p:nvSpPr>
          <p:cNvPr id="291" name="Google Shape;291;p21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soon as the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UseStatic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is loaded, all of the static statements are run.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</a:rPr>
              <a:t>First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static member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set to 3,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static block executes, which prints a message and then initializes b to a * 4 or 12.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main( ) is called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calls show( ), passing 42 to x.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println( ) statements in show refer to the two static variables a and b, as well as to the local variable x.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2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to call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 from outside its class, we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do so using the following general form: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classname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.method( )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classname is the name of the class in which the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 is declared.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1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Non-static method invocation</a:t>
            </a:r>
            <a:endParaRPr/>
          </a:p>
        </p:txBody>
      </p:sp>
      <p:sp>
        <p:nvSpPr>
          <p:cNvPr id="307" name="Google Shape;307;p23"/>
          <p:cNvSpPr txBox="1"/>
          <p:nvPr>
            <p:ph idx="1" type="body"/>
          </p:nvPr>
        </p:nvSpPr>
        <p:spPr>
          <a:xfrm>
            <a:off x="457200" y="6096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42;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 = 99;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 = " + a);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=new 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()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= " + </a:t>
            </a:r>
            <a:r>
              <a:rPr b="1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 invocation</a:t>
            </a:r>
            <a:endParaRPr/>
          </a:p>
        </p:txBody>
      </p:sp>
      <p:sp>
        <p:nvSpPr>
          <p:cNvPr id="315" name="Google Shape;315;p24"/>
          <p:cNvSpPr txBox="1"/>
          <p:nvPr>
            <p:ph idx="1" type="body"/>
          </p:nvPr>
        </p:nvSpPr>
        <p:spPr>
          <a:xfrm>
            <a:off x="381000" y="5334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a = 42;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b = 99;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 = " + a);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StaticByName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= " + </a:t>
            </a:r>
            <a:r>
              <a:rPr b="1" i="0" lang="en-US" sz="2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.b);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/>
          <p:nvPr>
            <p:ph type="title"/>
          </p:nvPr>
        </p:nvSpPr>
        <p:spPr>
          <a:xfrm>
            <a:off x="457200" y="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Nonnstatic members	static members</a:t>
            </a:r>
            <a:endParaRPr/>
          </a:p>
        </p:txBody>
      </p:sp>
      <p:sp>
        <p:nvSpPr>
          <p:cNvPr id="323" name="Google Shape;323;p25"/>
          <p:cNvSpPr txBox="1"/>
          <p:nvPr>
            <p:ph idx="1" type="body"/>
          </p:nvPr>
        </p:nvSpPr>
        <p:spPr>
          <a:xfrm>
            <a:off x="457200" y="533400"/>
            <a:ext cx="4038600" cy="55927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42;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b=5;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 =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=new 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= " + </a:t>
            </a:r>
            <a:r>
              <a:rPr b="1" i="0" lang="en-US" sz="20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</p:txBody>
      </p:sp>
      <p:sp>
        <p:nvSpPr>
          <p:cNvPr id="324" name="Google Shape;324;p25"/>
          <p:cNvSpPr txBox="1"/>
          <p:nvPr>
            <p:ph idx="2" type="body"/>
          </p:nvPr>
        </p:nvSpPr>
        <p:spPr>
          <a:xfrm>
            <a:off x="4648200" y="609600"/>
            <a:ext cx="5181600" cy="541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42;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b = 5;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 =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StaticByName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callme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= " + </a:t>
            </a:r>
            <a:r>
              <a:rPr b="1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StaticDemo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/>
          <p:nvPr>
            <p:ph idx="1" type="body"/>
          </p:nvPr>
        </p:nvSpPr>
        <p:spPr>
          <a:xfrm>
            <a:off x="0" y="304800"/>
            <a:ext cx="4800600" cy="589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int a = 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Sample()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b=0;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a=a+2;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b=b+2;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+2 a = " + a);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after +2 = " + b);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32" name="Google Shape;332;p26"/>
          <p:cNvSpPr txBox="1"/>
          <p:nvPr>
            <p:ph idx="2" type="body"/>
          </p:nvPr>
        </p:nvSpPr>
        <p:spPr>
          <a:xfrm>
            <a:off x="4876800" y="2286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Samplestat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ob1=new Sample();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System.out.println("ob1");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ob1.callme();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ob2=new Sample();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System.out.println("ob2");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ob2.callme();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762000" y="61722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5000625"/>
            <a:ext cx="2427287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2438400" y="1600200"/>
            <a:ext cx="2387600" cy="23082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after +2 a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after +2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after +2 a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after +2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42" name="Google Shape;342;p27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