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6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6858000" cx="9144000"/>
  <p:notesSz cx="7315200" cy="9601200"/>
  <p:embeddedFontLst>
    <p:embeddedFont>
      <p:font typeface="Sigmar One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34" roundtripDataSignature="AMtx7mj3EhPyDibCe1oY+3F7KxihcwWL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font" Target="fonts/SigmarOne-regular.fntdata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34" Type="http://customschemas.google.com/relationships/presentationmetadata" Target="meta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idx="1" type="body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just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93700" lvl="3" marL="18288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93700" lvl="4" marL="22860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»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" type="body"/>
          </p:nvPr>
        </p:nvSpPr>
        <p:spPr>
          <a:xfrm rot="5400000">
            <a:off x="2042319" y="-518319"/>
            <a:ext cx="50593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9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6" name="Google Shape;106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7" name="Google Shape;107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8" name="Google Shape;108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9" name="Google Shape;109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2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5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72375" y="-762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6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1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48575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30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43800" y="-152400"/>
            <a:ext cx="16478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8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38"/>
          <p:cNvSpPr txBox="1"/>
          <p:nvPr>
            <p:ph idx="1" type="body"/>
          </p:nvPr>
        </p:nvSpPr>
        <p:spPr>
          <a:xfrm>
            <a:off x="457200" y="10668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1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381000" y="1219200"/>
            <a:ext cx="8458200" cy="2381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PBCST304 Object Oriented Programming </a:t>
            </a:r>
            <a:b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2 -</a:t>
            </a: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4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3200"/>
              <a:buNone/>
            </a:pPr>
            <a:r>
              <a:rPr b="0" i="0" lang="en-US" sz="3200" u="none">
                <a:solidFill>
                  <a:srgbClr val="898989"/>
                </a:solidFill>
                <a:latin typeface="Sigmar One"/>
                <a:ea typeface="Sigmar One"/>
                <a:cs typeface="Sigmar One"/>
                <a:sym typeface="Sigmar One"/>
              </a:rPr>
              <a:t>Prepared by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98989"/>
              </a:buClr>
              <a:buSzPts val="4000"/>
              <a:buNone/>
            </a:pPr>
            <a:r>
              <a:rPr b="1" i="0" lang="en-US" sz="4000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Renetha J.B.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25" name="Google Shape;125;p2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Java Fundamentals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 class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class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inheritance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 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endParaRPr/>
          </a:p>
          <a:p>
            <a:pPr indent="-228600" lvl="2" marL="1143000" marR="0" rtl="0" algn="just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protected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</a:t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 helps to create </a:t>
            </a:r>
            <a:r>
              <a:rPr b="0" i="0" lang="en-US" sz="2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classifications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inheritance we can create 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class(base or super class) 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can defines features c</a:t>
            </a: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ommon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set of related items.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class can then be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other, more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classes(subclasses or  derived classes).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-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Inheritance(contd.)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457200" y="762000"/>
            <a:ext cx="8229600" cy="5059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subclass is a specialized version of a superclass.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inherits all of the instance variables and methods defined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superclass and </a:t>
            </a:r>
            <a:r>
              <a:rPr b="0" i="0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also have its own unique elements.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inherit a class, we have to use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 along </a:t>
            </a:r>
            <a:r>
              <a:rPr b="0" i="1" lang="en-US" sz="2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subclass definition.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     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//statements……}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//statements……}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Inheritance </a:t>
            </a:r>
            <a:endParaRPr/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supports following inheritances</a:t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inheritance</a:t>
            </a:r>
            <a:endParaRPr/>
          </a:p>
          <a:p>
            <a:pPr indent="-16510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Multilevel inheritance</a:t>
            </a:r>
            <a:endParaRPr/>
          </a:p>
          <a:p>
            <a:pPr indent="-165100" lvl="0" marL="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 inheritance</a:t>
            </a:r>
            <a:endParaRPr/>
          </a:p>
        </p:txBody>
      </p:sp>
      <p:sp>
        <p:nvSpPr>
          <p:cNvPr id="150" name="Google Shape;150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Inheritance</a:t>
            </a:r>
            <a:endParaRPr/>
          </a:p>
        </p:txBody>
      </p:sp>
      <p:sp>
        <p:nvSpPr>
          <p:cNvPr id="157" name="Google Shape;157;p6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single inheritance, a class inherits from only one superclass.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One super class- One sub class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simplest and most common type of inheritance.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derive a sub class from super class,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the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keyword.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subclass-name extends superclass-name 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body of class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 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59" name="Google Shape;159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3465512"/>
            <a:ext cx="264795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sub class can access all the public and protected members of a super class. (By default, the variable or function of a class are public in nature) 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class A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{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}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class B extends A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{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}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Here </a:t>
            </a:r>
            <a:r>
              <a:rPr b="1" lang="en-US" sz="2400"/>
              <a:t>class B extends A</a:t>
            </a:r>
            <a:r>
              <a:rPr lang="en-US" sz="2400"/>
              <a:t> means class  </a:t>
            </a:r>
            <a:r>
              <a:rPr lang="en-US" sz="2400" u="sng"/>
              <a:t>B is a subclass of class A</a:t>
            </a:r>
            <a:endParaRPr sz="2400" u="sng"/>
          </a:p>
        </p:txBody>
      </p:sp>
      <p:sp>
        <p:nvSpPr>
          <p:cNvPr id="167" name="Google Shape;167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Multilevel Inheritance</a:t>
            </a:r>
            <a:endParaRPr/>
          </a:p>
        </p:txBody>
      </p:sp>
      <p:sp>
        <p:nvSpPr>
          <p:cNvPr id="174" name="Google Shape;174;p8"/>
          <p:cNvSpPr txBox="1"/>
          <p:nvPr>
            <p:ph idx="1" type="body"/>
          </p:nvPr>
        </p:nvSpPr>
        <p:spPr>
          <a:xfrm>
            <a:off x="457200" y="838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multilevel inheritance, a class inherits from a superclass, and then another class inherits from this subclass and so on.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chain of inheritance.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5100" y="2486025"/>
            <a:ext cx="21717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946150" y="2185987"/>
            <a:ext cx="46101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class C is a subclass of B.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Clsss B is a subclass of A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1752600" y="3157537"/>
            <a:ext cx="2070100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//body of 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B extends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//body of class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 extends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//body of class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Hierarchical</a:t>
            </a:r>
            <a:endParaRPr/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685800" y="763587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class an have any number of subclasses.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tree structure.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3392487"/>
            <a:ext cx="298132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1066800" y="1882775"/>
            <a:ext cx="4611687" cy="4802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//body of 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B extends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//body of class 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C extends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//body of class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D extends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//body of class 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Java support multiple inheritance?</a:t>
            </a:r>
            <a:endParaRPr/>
          </a:p>
        </p:txBody>
      </p:sp>
      <p:sp>
        <p:nvSpPr>
          <p:cNvPr id="195" name="Google Shape;195;p10"/>
          <p:cNvSpPr txBox="1"/>
          <p:nvPr>
            <p:ph idx="1" type="body"/>
          </p:nvPr>
        </p:nvSpPr>
        <p:spPr>
          <a:xfrm>
            <a:off x="304800" y="6858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Inheritance (through Interfaces):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 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 NOT support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multiple inheritance of classes directly (i.e., a class cannot extend more than one class).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it achieves multiple inheritance of </a:t>
            </a:r>
            <a:r>
              <a:rPr b="0" i="1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</a:t>
            </a: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 B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class Human </a:t>
            </a:r>
            <a:r>
              <a:rPr b="1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A,B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>
            <p:ph idx="1" type="body"/>
          </p:nvPr>
        </p:nvSpPr>
        <p:spPr>
          <a:xfrm>
            <a:off x="457200" y="304800"/>
            <a:ext cx="8229600" cy="58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 simple example of Single inheritance.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673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285750" lvl="1" marL="673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showij() </a:t>
            </a:r>
            <a:endParaRPr/>
          </a:p>
          <a:p>
            <a:pPr indent="-285750" lvl="1" marL="673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673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 and j: " + i + " " + j);</a:t>
            </a:r>
            <a:endParaRPr/>
          </a:p>
          <a:p>
            <a:pPr indent="-285750" lvl="1" marL="673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{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showk() {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System.out.println("k: " + k);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sum() {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System.out.println("i+j+k: " + (i+j+k));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}</a:t>
            </a:r>
            <a:endParaRPr/>
          </a:p>
          <a:p>
            <a:pPr indent="-273050" lvl="0" marL="2730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03" name="Google Shape;203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04" name="Google Shape;204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5" name="Google Shape;205;p11"/>
          <p:cNvSpPr txBox="1"/>
          <p:nvPr/>
        </p:nvSpPr>
        <p:spPr>
          <a:xfrm>
            <a:off x="5029200" y="1600200"/>
            <a:ext cx="3133725" cy="3698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A is the superclass of 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/>
          <p:nvPr>
            <p:ph idx="1" type="body"/>
          </p:nvPr>
        </p:nvSpPr>
        <p:spPr>
          <a:xfrm>
            <a:off x="228600" y="0"/>
            <a:ext cx="4343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85750" lvl="1" marL="673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i, j;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showij() 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System.out.println(i + "  " + j);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k;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showk() {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System.out.println("k: " + k);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sum() {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System.out.println(“sum " + (i+j+k));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}</a:t>
            </a:r>
            <a:endParaRPr/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11" name="Google Shape;211;p12"/>
          <p:cNvSpPr txBox="1"/>
          <p:nvPr>
            <p:ph idx="2" type="body"/>
          </p:nvPr>
        </p:nvSpPr>
        <p:spPr>
          <a:xfrm>
            <a:off x="4495800" y="-76200"/>
            <a:ext cx="4495800" cy="6126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SimpleInheritance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</a:t>
            </a:r>
            <a:r>
              <a:rPr b="0" i="0" lang="en-US" sz="20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(String args[])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superOb = new A();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superOb.i = 10;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superOb.j = 20;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System.out.println(“Superobj Contents 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superOb.showij();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subOb.i = 7;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subOb.j = 8;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subOb.k = 9;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System.out.println("subOb contents 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subOb.showij();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subOb.showk();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System.out.println("Sum in subOb:");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subOb.sum(); } }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9050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6705600" y="2895600"/>
            <a:ext cx="2095500" cy="17541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Superobj Contents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10 20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subOb contents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7 8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k: 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Sum in subOb:24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 Access and Inheritance</a:t>
            </a:r>
            <a:endParaRPr/>
          </a:p>
        </p:txBody>
      </p:sp>
      <p:sp>
        <p:nvSpPr>
          <p:cNvPr id="220" name="Google Shape;220;p1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access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members in superclass.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 	// public by default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// private to 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setj(int x) { j = x; };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B extends A 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total;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sum() 	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= i +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    // </a:t>
            </a:r>
            <a:r>
              <a:rPr b="1" i="0" lang="en-US" sz="2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ERROR, j(private) is not accessible here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21" name="Google Shape;221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5181600" y="1905000"/>
            <a:ext cx="3657600" cy="175418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class member that has been declared as </a:t>
            </a:r>
            <a:r>
              <a:rPr b="0" i="1" lang="en-US" sz="1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remain private to its class.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</a:t>
            </a:r>
            <a:r>
              <a:rPr b="0" i="1" lang="en-US" sz="1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 accessible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any code outside its class, including subclasses.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4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major advantage of inheritance is that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you have created a superclass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defines the attributes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set of objects, it can be used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any number of more specific subclasses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subclass can have its own special features also.</a:t>
            </a:r>
            <a:endParaRPr/>
          </a:p>
        </p:txBody>
      </p:sp>
      <p:sp>
        <p:nvSpPr>
          <p:cNvPr id="230" name="Google Shape;230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b="1" i="0" lang="en-US" sz="3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endParaRPr/>
          </a:p>
        </p:txBody>
      </p:sp>
      <p:sp>
        <p:nvSpPr>
          <p:cNvPr id="237" name="Google Shape;237;p15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a subclass needs to refer to its immediate superclass, it can be done using the keyword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two uses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b="1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call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superclass’ constructor. </a:t>
            </a:r>
            <a:endParaRPr/>
          </a:p>
          <a:p>
            <a:pPr indent="-51435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access a member of the superclass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has been hidden by a member of a subclass.</a:t>
            </a:r>
            <a:endParaRPr/>
          </a:p>
          <a:p>
            <a:pPr indent="-514350" lvl="1" marL="91440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methods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refer to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super to Call Superclass Constructors</a:t>
            </a:r>
            <a:endParaRPr/>
          </a:p>
        </p:txBody>
      </p:sp>
      <p:sp>
        <p:nvSpPr>
          <p:cNvPr id="245" name="Google Shape;245;p16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</a:t>
            </a:r>
            <a:r>
              <a:rPr b="1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 a constructor defined by its superclass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use of the following form of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rgbClr val="0000CC"/>
              </a:buClr>
              <a:buSzPts val="2600"/>
              <a:buFont typeface="Arial"/>
              <a:buNone/>
            </a:pPr>
            <a:r>
              <a:rPr b="1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arg-list);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Here, </a:t>
            </a: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arg-list specifies any arguments needed by the constructor in the superclass.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 )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always be the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statement 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executed 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a subclass’ constructor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>
            <p:ph idx="1" type="body"/>
          </p:nvPr>
        </p:nvSpPr>
        <p:spPr>
          <a:xfrm>
            <a:off x="457200" y="3810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Sup()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System.out.println("Superclass");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Sub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Sub()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System.out.println("Subclass");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7"/>
          <p:cNvSpPr txBox="1"/>
          <p:nvPr>
            <p:ph idx="2" type="body"/>
          </p:nvPr>
        </p:nvSpPr>
        <p:spPr>
          <a:xfrm>
            <a:off x="4724400" y="304800"/>
            <a:ext cx="441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Supersub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Sub subob=new Sub();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5791200" y="4953000"/>
            <a:ext cx="1371600" cy="9239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Superclass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Subclass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 keyword to acess member</a:t>
            </a:r>
            <a:endParaRPr/>
          </a:p>
        </p:txBody>
      </p:sp>
      <p:sp>
        <p:nvSpPr>
          <p:cNvPr id="262" name="Google Shape;262;p18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always refers to the superclass of the subclass in which it is used.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access the member in superclass from subclass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0" i="1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member can be either a method or an instance variable.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subclass contains same variable as superclass, then in subclass, the superclass member will be hidden by corresponding subclass member.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be prevented using </a:t>
            </a:r>
            <a:r>
              <a:rPr b="0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keyword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9"/>
          <p:cNvSpPr txBox="1"/>
          <p:nvPr>
            <p:ph idx="1" type="body"/>
          </p:nvPr>
        </p:nvSpPr>
        <p:spPr>
          <a:xfrm>
            <a:off x="457200" y="457200"/>
            <a:ext cx="7772400" cy="56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	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20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i;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</a:t>
            </a:r>
            <a:r>
              <a:rPr b="0" i="1" lang="en-US" sz="20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this i hides the i in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>
              <a:solidFill>
                <a:srgbClr val="4F62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B(int a, int b)	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.i = a;	</a:t>
            </a:r>
            <a:r>
              <a:rPr b="0" i="1" lang="en-US" sz="2000" u="none">
                <a:solidFill>
                  <a:srgbClr val="4F62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i in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b; 		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 in B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show() 	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 in superclass: " + </a:t>
            </a:r>
            <a:r>
              <a:rPr b="0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.i);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System.out.println("i in subclass: " + i);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9"/>
          <p:cNvSpPr txBox="1"/>
          <p:nvPr>
            <p:ph idx="2" type="body"/>
          </p:nvPr>
        </p:nvSpPr>
        <p:spPr>
          <a:xfrm>
            <a:off x="5105400" y="762000"/>
            <a:ext cx="4038600" cy="3276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UseSuper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subOb = new B(1, 2);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subOb.show();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5486400" y="5638800"/>
            <a:ext cx="2209800" cy="9239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in superclass: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in subclass: 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 txBox="1"/>
          <p:nvPr>
            <p:ph type="title"/>
          </p:nvPr>
        </p:nvSpPr>
        <p:spPr>
          <a:xfrm>
            <a:off x="457200" y="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multiple hierarchy</a:t>
            </a:r>
            <a:endParaRPr/>
          </a:p>
        </p:txBody>
      </p:sp>
      <p:sp>
        <p:nvSpPr>
          <p:cNvPr id="280" name="Google Shape;280;p20"/>
          <p:cNvSpPr txBox="1"/>
          <p:nvPr>
            <p:ph idx="1" type="body"/>
          </p:nvPr>
        </p:nvSpPr>
        <p:spPr>
          <a:xfrm>
            <a:off x="228600" y="3810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x;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A(int p)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System.out.println("Superclass A ");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x=p;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 </a:t>
            </a:r>
            <a:r>
              <a:rPr b="0" i="0" lang="en-US" sz="1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y;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B(int p,int q)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super(p);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System.out.println("B Subclass of A");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y=q;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81" name="Google Shape;281;p20"/>
          <p:cNvSpPr txBox="1"/>
          <p:nvPr>
            <p:ph idx="2" type="body"/>
          </p:nvPr>
        </p:nvSpPr>
        <p:spPr>
          <a:xfrm>
            <a:off x="4419600" y="457200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</a:t>
            </a:r>
            <a:r>
              <a:rPr b="0" i="0" lang="en-US" sz="16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z;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C(int p,int q,int r)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super(p,q);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System.out.println("C Subclass of A");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z=r;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Mulinh{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CC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 ob=new C(10,20,30);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System.out.println("x="+ob.x);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System.out.println("y="+ob.y);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System.out.println("z="+ob.x);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  }</a:t>
            </a:r>
            <a:endParaRPr/>
          </a:p>
          <a:p>
            <a:pPr indent="-182562" lvl="0" marL="182562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1300" lvl="0" marL="3429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0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1371600" y="4876800"/>
            <a:ext cx="2209800" cy="1754187"/>
          </a:xfrm>
          <a:prstGeom prst="rect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Superclass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Subclass of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Subclass of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x=10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y=20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z=10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members</a:t>
            </a:r>
            <a:endParaRPr/>
          </a:p>
        </p:txBody>
      </p:sp>
      <p:sp>
        <p:nvSpPr>
          <p:cNvPr id="290" name="Google Shape;290;p21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members are declared by prefixing the access specifierc </a:t>
            </a:r>
            <a:r>
              <a:rPr b="0" i="0" lang="en-US" sz="26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datatype member;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protected member in a class can be accessed by 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class  within 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sub-classes in other package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members(contd;)</a:t>
            </a:r>
            <a:endParaRPr/>
          </a:p>
        </p:txBody>
      </p:sp>
      <p:sp>
        <p:nvSpPr>
          <p:cNvPr id="298" name="Google Shape;298;p22"/>
          <p:cNvSpPr txBox="1"/>
          <p:nvPr>
            <p:ph idx="1" type="body"/>
          </p:nvPr>
        </p:nvSpPr>
        <p:spPr>
          <a:xfrm>
            <a:off x="457200" y="731837"/>
            <a:ext cx="8229600" cy="53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want to allow an element(member) to be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seen(accessed)</a:t>
            </a:r>
            <a:r>
              <a:rPr b="0" i="0" lang="en-US" sz="2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subclasses of your class outside your current package</a:t>
            </a: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declare that element (member) </a:t>
            </a: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 A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c;			//protected variable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char b;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float f;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a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dd() 		 //protected method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//statements   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//methods and statements  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5410200" y="64928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/>
          </a:p>
        </p:txBody>
      </p:sp>
      <p:sp>
        <p:nvSpPr>
          <p:cNvPr id="306" name="Google Shape;306;p23"/>
          <p:cNvSpPr txBox="1"/>
          <p:nvPr>
            <p:ph idx="1" type="body"/>
          </p:nvPr>
        </p:nvSpPr>
        <p:spPr>
          <a:xfrm>
            <a:off x="457200" y="1219200"/>
            <a:ext cx="8229600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Herbert Schildt, Java: The Complete Reference, 8/e, Tata McGraw Hill, 2011.</a:t>
            </a:r>
            <a:endParaRPr/>
          </a:p>
          <a:p>
            <a:pPr indent="-17780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200"/>
              <a:buFont typeface="Times New Roman"/>
              <a:buNone/>
            </a:pPr>
            <a:r>
              <a:rPr b="1" i="1" lang="en-US" sz="1200" u="none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 Renetha J.B.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USER</dc:creator>
</cp:coreProperties>
</file>