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62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</p:sldIdLst>
  <p:sldSz cy="6858000" cx="9144000"/>
  <p:notesSz cx="7315200" cy="9601200"/>
  <p:embeddedFontLst>
    <p:embeddedFont>
      <p:font typeface="Sigmar One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GoogleSlidesCustomDataVersion2">
      <go:slidesCustomData xmlns:go="http://customooxmlschemas.google.com/" r:id="rId32" roundtripDataSignature="AMtx7mj0QpvnkIgtXbCCz7oQGODlKhzK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0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font" Target="fonts/SigmarOne-regular.fntdata"/><Relationship Id="rId30" Type="http://schemas.openxmlformats.org/officeDocument/2006/relationships/slide" Target="slides/slide21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32" Type="http://customschemas.google.com/relationships/presentationmetadata" Target="metadata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81000" lvl="3" marL="18288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93700" lvl="1" marL="914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93700" lvl="3" marL="18288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93700" lvl="4" marL="22860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93700" lvl="1" marL="914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93700" lvl="3" marL="18288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93700" lvl="4" marL="22860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" type="body"/>
          </p:nvPr>
        </p:nvSpPr>
        <p:spPr>
          <a:xfrm rot="5400000">
            <a:off x="2042319" y="-518319"/>
            <a:ext cx="50593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8" name="Google Shape;7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4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7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6" name="Google Shape;106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7" name="Google Shape;107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8" name="Google Shape;108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9" name="Google Shape;109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5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6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theme" Target="../theme/theme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2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72375" y="-762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4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48575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6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6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28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6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36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/>
          <p:nvPr>
            <p:ph type="ctrTitle"/>
          </p:nvPr>
        </p:nvSpPr>
        <p:spPr>
          <a:xfrm>
            <a:off x="381000" y="1219200"/>
            <a:ext cx="8458200" cy="238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PBCST304</a:t>
            </a:r>
            <a:b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2 - </a:t>
            </a: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(Part 5)</a:t>
            </a:r>
            <a:endParaRPr/>
          </a:p>
        </p:txBody>
      </p:sp>
      <p:sp>
        <p:nvSpPr>
          <p:cNvPr id="117" name="Google Shape;117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200"/>
              <a:buNone/>
            </a:pPr>
            <a:r>
              <a:rPr b="0" i="0" lang="en-US" sz="3200" u="none">
                <a:solidFill>
                  <a:srgbClr val="898989"/>
                </a:solidFill>
                <a:latin typeface="Sigmar One"/>
                <a:ea typeface="Sigmar One"/>
                <a:cs typeface="Sigmar One"/>
                <a:sym typeface="Sigmar One"/>
              </a:rPr>
              <a:t>Prepared by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98989"/>
              </a:buClr>
              <a:buSzPts val="4000"/>
              <a:buNone/>
            </a:pPr>
            <a:r>
              <a:rPr b="1" i="0" lang="en-US" sz="40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Renetha J.B.</a:t>
            </a:r>
            <a:endParaRPr/>
          </a:p>
        </p:txBody>
      </p:sp>
      <p:sp>
        <p:nvSpPr>
          <p:cNvPr id="118" name="Google Shape;118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125" name="Google Shape;125;p2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Java Fundamentals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28600" lvl="2" marL="11430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Calling Order of Constructors</a:t>
            </a:r>
            <a:endParaRPr/>
          </a:p>
          <a:p>
            <a:pPr indent="-228600" lvl="2" marL="11430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 Overriding</a:t>
            </a:r>
            <a:endParaRPr/>
          </a:p>
          <a:p>
            <a:pPr indent="-228600" lvl="2" marL="11430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method dispatch.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Calling Order of Constructors</a:t>
            </a:r>
            <a:endParaRPr/>
          </a:p>
        </p:txBody>
      </p:sp>
      <p:sp>
        <p:nvSpPr>
          <p:cNvPr id="133" name="Google Shape;133;p3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Constructors are called in the order of derivation,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superclass to subclass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subclass object is created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it first calls superclass constructor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only it calls subclass constructor.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super( ) is not used to call superclass constructor,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the </a:t>
            </a:r>
            <a:r>
              <a:rPr b="1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 constructor of each superclass will be executed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executing subclass constructors.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idx="1" type="body"/>
          </p:nvPr>
        </p:nvSpPr>
        <p:spPr>
          <a:xfrm>
            <a:off x="0" y="0"/>
            <a:ext cx="4495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A()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System.out.println("Constructor of </a:t>
            </a: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j;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B()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System.out.println("Constructor of subclass B");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42" name="Google Shape;142;p4"/>
          <p:cNvSpPr txBox="1"/>
          <p:nvPr>
            <p:ph idx="2" type="body"/>
          </p:nvPr>
        </p:nvSpPr>
        <p:spPr>
          <a:xfrm>
            <a:off x="4419600" y="457200"/>
            <a:ext cx="4495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Consorder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public static void main(String args[])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B obb =new B();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5181600" y="5334000"/>
            <a:ext cx="3581400" cy="92392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Constructor of superclass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Constructor of subclass B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>
            <p:ph idx="1" type="body"/>
          </p:nvPr>
        </p:nvSpPr>
        <p:spPr>
          <a:xfrm>
            <a:off x="0" y="0"/>
            <a:ext cx="4495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A()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System.out.println("Constructor of </a:t>
            </a: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 extends 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j;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B()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System.out.println("Constructor of subclass B");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52" name="Google Shape;152;p5"/>
          <p:cNvSpPr txBox="1"/>
          <p:nvPr>
            <p:ph idx="2" type="body"/>
          </p:nvPr>
        </p:nvSpPr>
        <p:spPr>
          <a:xfrm>
            <a:off x="4648200" y="0"/>
            <a:ext cx="43434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 extends B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j;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C()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System.out.println("Constructor of subclass C");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Consorder{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obc =new C();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5410200" y="5334000"/>
            <a:ext cx="3581400" cy="120015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Constructor of superclass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Constructor of subclass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Constructor of subclass C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Calling Order of</a:t>
            </a:r>
            <a:b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Constructors(contd.)</a:t>
            </a:r>
            <a:endParaRPr/>
          </a:p>
        </p:txBody>
      </p:sp>
      <p:sp>
        <p:nvSpPr>
          <p:cNvPr id="161" name="Google Shape;161;p6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 has no knowledge of any subclass, any initialization it needs to perform is separate  and it should be done as a prerequisite to initialize  the subclass object.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 constructors are executed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executing subclass constructors,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we create subclass object.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Overriding</a:t>
            </a:r>
            <a:endParaRPr/>
          </a:p>
        </p:txBody>
      </p:sp>
      <p:sp>
        <p:nvSpPr>
          <p:cNvPr id="169" name="Google Shape;169;p7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class hierarchy, when a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in a subclass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the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name and type signature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in its superclass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the </a:t>
            </a:r>
            <a:r>
              <a:rPr b="0" i="1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in the </a:t>
            </a:r>
            <a:r>
              <a:rPr b="1" i="1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subclass</a:t>
            </a:r>
            <a:r>
              <a:rPr b="0" i="1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said to </a:t>
            </a:r>
            <a:r>
              <a:rPr b="1" i="1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override the method in the superclass.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called METHOD OVERRIDING</a:t>
            </a:r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Overriding(contd.)</a:t>
            </a:r>
            <a:endParaRPr/>
          </a:p>
        </p:txBody>
      </p:sp>
      <p:sp>
        <p:nvSpPr>
          <p:cNvPr id="177" name="Google Shape;177;p8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overridden method is called from within a subclass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it will always</a:t>
            </a:r>
            <a:r>
              <a:rPr b="1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refer to the method defined by the subclass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version of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method defined by the superclass will be hidden.</a:t>
            </a:r>
            <a:endParaRPr b="1" i="1" sz="24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1" sz="24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>
            <p:ph idx="1" type="body"/>
          </p:nvPr>
        </p:nvSpPr>
        <p:spPr>
          <a:xfrm>
            <a:off x="457200" y="228600"/>
            <a:ext cx="4038600" cy="589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Method overriding.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i, j;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A(int a, int b)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a;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b;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</a:t>
            </a:r>
            <a:r>
              <a:rPr b="0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i : " + i + " j: " + j);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 </a:t>
            </a:r>
            <a:r>
              <a:rPr b="0" i="0" lang="en-US" sz="18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k;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B(int a, int b, int c)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super(a, b);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c;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</a:t>
            </a:r>
            <a:r>
              <a:rPr b="0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System.out.println("k: " + k);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85" name="Google Shape;185;p9"/>
          <p:cNvSpPr txBox="1"/>
          <p:nvPr>
            <p:ph idx="2" type="body"/>
          </p:nvPr>
        </p:nvSpPr>
        <p:spPr>
          <a:xfrm>
            <a:off x="4724400" y="304800"/>
            <a:ext cx="4267200" cy="5821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Override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subOb = new B(1, 2, 3);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subOb.show(); </a:t>
            </a:r>
            <a:r>
              <a:rPr b="1" i="0" lang="en-US" sz="1800" u="none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this calls show() in B</a:t>
            </a:r>
            <a:endParaRPr b="1" i="0" sz="2400" u="none">
              <a:solidFill>
                <a:srgbClr val="4F62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7467600" y="3581400"/>
            <a:ext cx="1133475" cy="646112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k: 3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4038600" y="4419600"/>
            <a:ext cx="4572000" cy="175418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show( 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invoked on an </a:t>
            </a:r>
            <a:r>
              <a:rPr b="0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 of type B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version of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show( ) defined within B is used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is, the version of show( ) inside subclass  B overrides the version declared in  superclass 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/>
          <p:nvPr>
            <p:ph idx="1" type="body"/>
          </p:nvPr>
        </p:nvSpPr>
        <p:spPr>
          <a:xfrm>
            <a:off x="457200" y="228600"/>
            <a:ext cx="4038600" cy="589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No method overriding.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i, j;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A(int a, int b)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a;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b;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</a:t>
            </a:r>
            <a:r>
              <a:rPr b="0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i : " + i + " j: " + j);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 </a:t>
            </a:r>
            <a:r>
              <a:rPr b="0" i="0" lang="en-US" sz="18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k;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B(int a, int b, int c)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super(a, b);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c;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System.out.println("k: " + k);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95" name="Google Shape;195;p10"/>
          <p:cNvSpPr txBox="1"/>
          <p:nvPr>
            <p:ph idx="2" type="body"/>
          </p:nvPr>
        </p:nvSpPr>
        <p:spPr>
          <a:xfrm>
            <a:off x="4724400" y="304800"/>
            <a:ext cx="4267200" cy="5821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subOb = new B(1, 2, 3);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subOb.show(); </a:t>
            </a:r>
            <a:r>
              <a:rPr b="1" i="0" lang="en-US" sz="1800" u="none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this calls show() in A</a:t>
            </a:r>
            <a:endParaRPr b="1" i="0" sz="2400" u="none">
              <a:solidFill>
                <a:srgbClr val="4F62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97" name="Google Shape;197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7467600" y="3581400"/>
            <a:ext cx="1133475" cy="646112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i: 1 j: 2</a:t>
            </a:r>
            <a:endParaRPr/>
          </a:p>
        </p:txBody>
      </p:sp>
      <p:sp>
        <p:nvSpPr>
          <p:cNvPr id="199" name="Google Shape;199;p10"/>
          <p:cNvSpPr txBox="1"/>
          <p:nvPr/>
        </p:nvSpPr>
        <p:spPr>
          <a:xfrm>
            <a:off x="3657600" y="4495800"/>
            <a:ext cx="4572000" cy="14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when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show( 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invoked on an </a:t>
            </a:r>
            <a:r>
              <a:rPr b="0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 of type B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since  the version of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show( ) is not defined within B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version of show()  declared in  superclass A is called and excuted.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Overriding(contd.)</a:t>
            </a:r>
            <a:endParaRPr/>
          </a:p>
        </p:txBody>
      </p:sp>
      <p:sp>
        <p:nvSpPr>
          <p:cNvPr id="205" name="Google Shape;205;p11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access the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 version of an overridden method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we can do using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778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1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1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07" name="Google Shape;207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>
            <p:ph idx="1" type="body"/>
          </p:nvPr>
        </p:nvSpPr>
        <p:spPr>
          <a:xfrm>
            <a:off x="457200" y="228600"/>
            <a:ext cx="4038600" cy="589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Method overriding.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i, j;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A(int a, int b)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a;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b;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</a:t>
            </a:r>
            <a:r>
              <a:rPr b="0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i : " + i + " j: " + j);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 </a:t>
            </a:r>
            <a:r>
              <a:rPr b="0" i="0" lang="en-US" sz="18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k;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B(int a, int b, int c)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super(a, b);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c;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</a:t>
            </a:r>
            <a:r>
              <a:rPr b="0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super.</a:t>
            </a:r>
            <a:r>
              <a:rPr b="0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System.out.println("k: " + k);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13" name="Google Shape;213;p12"/>
          <p:cNvSpPr txBox="1"/>
          <p:nvPr>
            <p:ph idx="2" type="body"/>
          </p:nvPr>
        </p:nvSpPr>
        <p:spPr>
          <a:xfrm>
            <a:off x="4724400" y="304800"/>
            <a:ext cx="4267200" cy="5821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Override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subOb = new B(1, 2, 3);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subOb.show(); </a:t>
            </a:r>
            <a:r>
              <a:rPr b="1" i="0" lang="en-US" sz="1800" u="none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this calls show() in B</a:t>
            </a:r>
            <a:endParaRPr b="1" i="0" sz="2400" u="none">
              <a:solidFill>
                <a:srgbClr val="4F62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16" name="Google Shape;216;p12"/>
          <p:cNvSpPr txBox="1"/>
          <p:nvPr/>
        </p:nvSpPr>
        <p:spPr>
          <a:xfrm>
            <a:off x="7391400" y="2971800"/>
            <a:ext cx="1133475" cy="923925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i:1 j:2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k: 3</a:t>
            </a:r>
            <a:endParaRPr/>
          </a:p>
        </p:txBody>
      </p:sp>
      <p:sp>
        <p:nvSpPr>
          <p:cNvPr id="217" name="Google Shape;217;p12"/>
          <p:cNvSpPr txBox="1"/>
          <p:nvPr/>
        </p:nvSpPr>
        <p:spPr>
          <a:xfrm>
            <a:off x="4038600" y="4419600"/>
            <a:ext cx="4572000" cy="175418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show( 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invoked on an </a:t>
            </a:r>
            <a:r>
              <a:rPr b="0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 of type B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version of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show( ) defined within B is used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super.show() calls the show() method in its superclas.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Overriding(contd.)</a:t>
            </a:r>
            <a:endParaRPr/>
          </a:p>
        </p:txBody>
      </p:sp>
      <p:sp>
        <p:nvSpPr>
          <p:cNvPr id="223" name="Google Shape;223;p13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OVERRIDING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occurs only when the </a:t>
            </a:r>
            <a:r>
              <a:rPr b="1" i="1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and the type signatures of the methods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subclass and superclass  are </a:t>
            </a:r>
            <a:r>
              <a:rPr b="1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identical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1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and the type signatures of the two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are </a:t>
            </a:r>
            <a:r>
              <a:rPr b="1" i="0" lang="en-US" sz="26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the two methods are simply </a:t>
            </a:r>
            <a:r>
              <a:rPr b="1" i="0" lang="en-US" sz="26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OVERLOADED.</a:t>
            </a:r>
            <a:endParaRPr/>
          </a:p>
        </p:txBody>
      </p:sp>
      <p:sp>
        <p:nvSpPr>
          <p:cNvPr id="224" name="Google Shape;224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25" name="Google Shape;225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14"/>
          <p:cNvSpPr txBox="1"/>
          <p:nvPr>
            <p:ph idx="1" type="body"/>
          </p:nvPr>
        </p:nvSpPr>
        <p:spPr>
          <a:xfrm>
            <a:off x="381000" y="0"/>
            <a:ext cx="4800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 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i, j;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A() 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0;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0;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(show in A);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 </a:t>
            </a:r>
            <a:r>
              <a:rPr b="0" i="0" lang="en-US" sz="20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k;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B() 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0;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(String msg) 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System.out.println(“show in subclass B”);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32" name="Google Shape;232;p14"/>
          <p:cNvSpPr txBox="1"/>
          <p:nvPr>
            <p:ph idx="2" type="body"/>
          </p:nvPr>
        </p:nvSpPr>
        <p:spPr>
          <a:xfrm>
            <a:off x="4419600" y="609600"/>
            <a:ext cx="47244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Sample 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subOb = new B();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subOb.</a:t>
            </a:r>
            <a:r>
              <a:rPr b="0" i="0" lang="en-US" sz="2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(“k is "); </a:t>
            </a:r>
            <a:r>
              <a:rPr b="0" i="1" lang="en-US" sz="1400" u="none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this calls show() in B</a:t>
            </a:r>
            <a:endParaRPr b="0" i="1" sz="2200" u="none">
              <a:solidFill>
                <a:srgbClr val="4F62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subOb.</a:t>
            </a:r>
            <a:r>
              <a:rPr b="1" i="0" lang="en-US" sz="2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 </a:t>
            </a:r>
            <a:r>
              <a:rPr b="0" i="1" lang="en-US" sz="2200" u="none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this calls show() in A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33" name="Google Shape;233;p1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34" name="Google Shape;234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35" name="Google Shape;235;p14"/>
          <p:cNvSpPr txBox="1"/>
          <p:nvPr/>
        </p:nvSpPr>
        <p:spPr>
          <a:xfrm>
            <a:off x="4876800" y="4495800"/>
            <a:ext cx="4572000" cy="923925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show() Methods have differing type signatures. So they are overloaded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not  overridden</a:t>
            </a:r>
            <a:endParaRPr/>
          </a:p>
        </p:txBody>
      </p:sp>
      <p:sp>
        <p:nvSpPr>
          <p:cNvPr id="236" name="Google Shape;236;p14"/>
          <p:cNvSpPr txBox="1"/>
          <p:nvPr/>
        </p:nvSpPr>
        <p:spPr>
          <a:xfrm>
            <a:off x="4572000" y="3124200"/>
            <a:ext cx="4572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in subclass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in 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15"/>
          <p:cNvSpPr txBox="1"/>
          <p:nvPr>
            <p:ph idx="1" type="body"/>
          </p:nvPr>
        </p:nvSpPr>
        <p:spPr>
          <a:xfrm>
            <a:off x="381000" y="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 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i, j;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A(int a, int b) 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a;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b;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("i : " + i + “j: " + j);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 </a:t>
            </a:r>
            <a:r>
              <a:rPr b="0" i="0" lang="en-US" sz="20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k;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B(int a, int b, int c) 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super(a, b);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c;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(String msg) 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System.out.println(msg + k);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43" name="Google Shape;243;p15"/>
          <p:cNvSpPr txBox="1"/>
          <p:nvPr>
            <p:ph idx="2" type="body"/>
          </p:nvPr>
        </p:nvSpPr>
        <p:spPr>
          <a:xfrm>
            <a:off x="4419600" y="609600"/>
            <a:ext cx="47244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Sample 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subOb = new B(1, 2, 3);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subOb.</a:t>
            </a:r>
            <a:r>
              <a:rPr b="0" i="0" lang="en-US" sz="2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(“k is ");</a:t>
            </a:r>
            <a:endParaRPr b="0" i="1" sz="2200" u="none">
              <a:solidFill>
                <a:srgbClr val="4F62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subOb.</a:t>
            </a:r>
            <a:r>
              <a:rPr b="1" i="0" lang="en-US" sz="2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 </a:t>
            </a:r>
            <a:endParaRPr b="0" i="1" sz="2200" u="none">
              <a:solidFill>
                <a:srgbClr val="4F62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45" name="Google Shape;245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46" name="Google Shape;246;p15"/>
          <p:cNvSpPr txBox="1"/>
          <p:nvPr/>
        </p:nvSpPr>
        <p:spPr>
          <a:xfrm>
            <a:off x="4191000" y="4267200"/>
            <a:ext cx="4572000" cy="923925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show() Methods have differing type signatures. So they are overloaded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not  overridden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method dispatch</a:t>
            </a:r>
            <a:endParaRPr/>
          </a:p>
        </p:txBody>
      </p:sp>
      <p:sp>
        <p:nvSpPr>
          <p:cNvPr id="252" name="Google Shape;252;p16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overriding forms the basis for one of Java’s most powerful concepts: </a:t>
            </a:r>
            <a:r>
              <a:rPr b="1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method dispatch.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method dispatch is the mechanism by which a call to an overridden method is resolved at run time.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implements run-time polymorphism through dynamic method dispatch.</a:t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54" name="Google Shape;254;p1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method dispatch(contd.)</a:t>
            </a:r>
            <a:endParaRPr/>
          </a:p>
        </p:txBody>
      </p:sp>
      <p:sp>
        <p:nvSpPr>
          <p:cNvPr id="260" name="Google Shape;260;p17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 reference variable can refer to a subclass object. This helps to resolve </a:t>
            </a:r>
            <a:r>
              <a:rPr b="0" i="0"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calls to overridden methods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</a:t>
            </a:r>
            <a:r>
              <a:rPr b="0" i="0"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time.</a:t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……………..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 extends A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…………….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63" name="Google Shape;263;p17"/>
          <p:cNvSpPr txBox="1"/>
          <p:nvPr/>
        </p:nvSpPr>
        <p:spPr>
          <a:xfrm>
            <a:off x="3628025" y="1963725"/>
            <a:ext cx="4068300" cy="3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Sample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public static void main(String args[]) {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b=new B();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r=b;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// A is superclass of B.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Here r is reference variable of super class A 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It refers to subclass object ob.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/>
          <p:nvPr>
            <p:ph idx="1" type="body"/>
          </p:nvPr>
        </p:nvSpPr>
        <p:spPr>
          <a:xfrm>
            <a:off x="304800" y="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Dynamic Method Dispatch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callme() </a:t>
            </a:r>
            <a:endParaRPr/>
          </a:p>
          <a:p>
            <a:pPr indent="0" lvl="1" marL="40005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System.out.println("A's callme method");</a:t>
            </a:r>
            <a:endParaRPr/>
          </a:p>
          <a:p>
            <a:pPr indent="0" lvl="1" marL="40005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 extends A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callme() </a:t>
            </a:r>
            <a:endParaRPr/>
          </a:p>
          <a:p>
            <a:pPr indent="0" lvl="1" marL="40005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	System.out.println(" B's callme method");</a:t>
            </a:r>
            <a:endParaRPr/>
          </a:p>
          <a:p>
            <a:pPr indent="0" lvl="1" marL="40005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 extends A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callme() {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System.out.println("C's callme method");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286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000"/>
              <a:buFont typeface="Times New Roman"/>
              <a:buNone/>
            </a:pPr>
            <a:r>
              <a:rPr b="1" i="1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Calibri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5043600" y="969876"/>
            <a:ext cx="41004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Dispatch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a = new A();        // object of type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b = new B();      // object of type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 = new C();      // object of type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r;         // obtain a reference of type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= a;              // r refers to an A object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r.callme();          // calls A'sf callme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= b;           // r refers to a B object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r.callme();         // calls B's  callme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= c;            // r refers to a C object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r.callme();    // calls C's  callme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 txBox="1"/>
          <p:nvPr>
            <p:ph idx="1" type="body"/>
          </p:nvPr>
        </p:nvSpPr>
        <p:spPr>
          <a:xfrm>
            <a:off x="304800" y="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Dynamic Method Dispatch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1" marL="40005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callme() </a:t>
            </a:r>
            <a:endParaRPr/>
          </a:p>
          <a:p>
            <a:pPr indent="0" lvl="1" marL="40005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System.out.println("A's callme method");</a:t>
            </a:r>
            <a:endParaRPr/>
          </a:p>
          <a:p>
            <a:pPr indent="0" lvl="1" marL="40005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 extends A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1" marL="40005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callme() </a:t>
            </a:r>
            <a:endParaRPr/>
          </a:p>
          <a:p>
            <a:pPr indent="0" lvl="1" marL="40005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	System.out.println(" B's callme method");</a:t>
            </a:r>
            <a:endParaRPr/>
          </a:p>
          <a:p>
            <a:pPr indent="0" lvl="1" marL="40005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 extends A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void callme() 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1" marL="40005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System.out.println("C's callme method");</a:t>
            </a:r>
            <a:endParaRPr/>
          </a:p>
          <a:p>
            <a:pPr indent="0" lvl="1" marL="40005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286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000"/>
              <a:buFont typeface="Times New Roman"/>
              <a:buNone/>
            </a:pPr>
            <a:r>
              <a:rPr b="1" i="1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78" name="Google Shape;278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Calibri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79" name="Google Shape;279;p19"/>
          <p:cNvSpPr txBox="1"/>
          <p:nvPr/>
        </p:nvSpPr>
        <p:spPr>
          <a:xfrm>
            <a:off x="5181600" y="490537"/>
            <a:ext cx="3903662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Dispatch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a = new A();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 b = new B();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 = new C();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r;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= a;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r.callme();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= b;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r.callme();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= c;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r.callme();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280" name="Google Shape;280;p19"/>
          <p:cNvSpPr txBox="1"/>
          <p:nvPr/>
        </p:nvSpPr>
        <p:spPr>
          <a:xfrm>
            <a:off x="5562600" y="5121275"/>
            <a:ext cx="2078037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A’s callme method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B’s callme method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C’s callme method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method dispatch(contd.)</a:t>
            </a:r>
            <a:endParaRPr/>
          </a:p>
        </p:txBody>
      </p:sp>
      <p:sp>
        <p:nvSpPr>
          <p:cNvPr id="286" name="Google Shape;286;p20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type of the object referred by the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reference variable  determines which overridden method to be executed.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program r is a reference variable of class A. Here a is object of class A. Here b is object of class B. Here c is object of class C.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r=a; means reference  variable refers to a (object of class A). Then, r.callme() will call callme() of class A.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r=b; means reference  variable refers to b (object of class B). Then, r.callme() will call callme() of class B.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overridden method is to be called, depends on the type of object referred by reference variable</a:t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/>
          </a:p>
        </p:txBody>
      </p:sp>
      <p:sp>
        <p:nvSpPr>
          <p:cNvPr id="294" name="Google Shape;294;p21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Herbert Schildt, Java: The Complete Reference, 8/e, Tata McGraw Hill, 2011.</a:t>
            </a:r>
            <a:endParaRPr/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</cp:coreProperties>
</file>