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y="6858000" cx="9144000"/>
  <p:notesSz cx="7315200" cy="9601200"/>
  <p:embeddedFontLst>
    <p:embeddedFont>
      <p:font typeface="Sigmar One"/>
      <p:regular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76" roundtripDataSignature="AMtx7mjX0nHBNOy+SmAhY4fHKE2Q8aZQ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1F7747-A85C-412F-BBCC-D6BA14B2544D}">
  <a:tblStyle styleId="{241F7747-A85C-412F-BBCC-D6BA14B254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SigmarOne-regular.fntdata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customschemas.google.com/relationships/presentationmetadata" Target="meta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2" name="Google Shape;642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0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0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1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7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2"/>
          <p:cNvSpPr txBox="1"/>
          <p:nvPr>
            <p:ph idx="11" type="ftr"/>
          </p:nvPr>
        </p:nvSpPr>
        <p:spPr>
          <a:xfrm>
            <a:off x="64770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2"/>
          <p:cNvSpPr txBox="1"/>
          <p:nvPr>
            <p:ph idx="12" type="sldNum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3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3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4"/>
          <p:cNvSpPr txBox="1"/>
          <p:nvPr>
            <p:ph idx="11" type="ftr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4"/>
          <p:cNvSpPr txBox="1"/>
          <p:nvPr>
            <p:ph idx="12" type="sldNum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5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5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5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6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6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7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just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just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7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7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7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just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just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8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8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9"/>
          <p:cNvSpPr txBox="1"/>
          <p:nvPr>
            <p:ph idx="1" type="body"/>
          </p:nvPr>
        </p:nvSpPr>
        <p:spPr>
          <a:xfrm rot="5400000">
            <a:off x="1928018" y="-632619"/>
            <a:ext cx="5287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9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9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0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0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0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69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9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9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PBCST304 Object Oriented Programming</a:t>
            </a:r>
            <a:br>
              <a:rPr lang="en-US">
                <a:solidFill>
                  <a:srgbClr val="0000CC"/>
                </a:solidFill>
              </a:rPr>
            </a:br>
            <a:r>
              <a:rPr lang="en-US">
                <a:solidFill>
                  <a:schemeClr val="dk1"/>
                </a:solidFill>
              </a:rPr>
              <a:t>Developing Database applications using JDBC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en-US" sz="2000"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</a:pPr>
            <a:r>
              <a:rPr b="1" lang="en-US" sz="2500"/>
              <a:t>Renetha J.B.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"/>
          <p:cNvSpPr txBox="1"/>
          <p:nvPr>
            <p:ph idx="11" type="ftr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1" lang="en-US" sz="3200">
                <a:solidFill>
                  <a:srgbClr val="C00000"/>
                </a:solidFill>
              </a:rPr>
              <a:t>JDBC overview</a:t>
            </a:r>
            <a:endParaRPr b="1" sz="2800"/>
          </a:p>
          <a:p>
            <a:pPr indent="-285750" lvl="1" marL="74295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 Creating and Executing Queries(CRUD-</a:t>
            </a:r>
            <a:r>
              <a:rPr b="1" lang="en-US"/>
              <a:t>CREATE, READ(SELECT), UPDATE, and DELETE</a:t>
            </a:r>
            <a:r>
              <a:rPr lang="en-US" sz="2800"/>
              <a:t> 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 create table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 delete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insert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select</a:t>
            </a:r>
            <a:endParaRPr b="1" sz="54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81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10" name="Google Shape;110;p8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89" y="1150376"/>
            <a:ext cx="7469928" cy="148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457200" y="533400"/>
            <a:ext cx="82296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Programming Language -</a:t>
            </a:r>
            <a:r>
              <a:rPr b="1" lang="en-US"/>
              <a:t>Java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 for developing interfaces(</a:t>
            </a:r>
            <a:r>
              <a:rPr b="1" lang="en-US"/>
              <a:t>front end</a:t>
            </a:r>
            <a:r>
              <a:rPr lang="en-US"/>
              <a:t> of an application 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Database–(</a:t>
            </a:r>
            <a:r>
              <a:rPr lang="en-US" sz="2400"/>
              <a:t>DBMS software-</a:t>
            </a:r>
            <a:r>
              <a:rPr b="1" lang="en-US" sz="2400"/>
              <a:t>MySQL ,</a:t>
            </a:r>
            <a:r>
              <a:rPr lang="en-US" sz="2400"/>
              <a:t> </a:t>
            </a:r>
            <a:r>
              <a:rPr b="1" lang="en-US" sz="2400"/>
              <a:t>Oracle</a:t>
            </a:r>
            <a:r>
              <a:rPr lang="en-US" sz="2400"/>
              <a:t> , </a:t>
            </a:r>
            <a:r>
              <a:rPr b="1" lang="en-US" sz="2400"/>
              <a:t>PostgreSQL)</a:t>
            </a:r>
            <a:endParaRPr sz="24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For storing data- (</a:t>
            </a:r>
            <a:r>
              <a:rPr b="1" lang="en-US"/>
              <a:t>back end </a:t>
            </a:r>
            <a:r>
              <a:rPr lang="en-US"/>
              <a:t>of an application)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Different types- relational database, object based database etc.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Relational database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Tabular structure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E.g.</a:t>
            </a:r>
            <a:r>
              <a:rPr lang="en-US"/>
              <a:t> - Oracle, Microsoft Access, MySQL, PostgreSQL, MongoDB etc are RDBMS softwares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SQL- Structured Query Language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200"/>
              <a:t>SQL</a:t>
            </a:r>
            <a:r>
              <a:rPr lang="en-US" sz="2200"/>
              <a:t> statements are used to perform operations on a database.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200"/>
              <a:t>We can insert , delete, update and  retrieve data in database using SQL statements.</a:t>
            </a:r>
            <a:endParaRPr sz="2200"/>
          </a:p>
          <a:p>
            <a:pPr indent="-762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00000"/>
                </a:solidFill>
              </a:rPr>
              <a:t>JDBC </a:t>
            </a:r>
            <a:r>
              <a:rPr lang="en-US"/>
              <a:t>overview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JDBC stands for “</a:t>
            </a:r>
            <a:r>
              <a:rPr b="1" lang="en-US">
                <a:solidFill>
                  <a:srgbClr val="C00000"/>
                </a:solidFill>
              </a:rPr>
              <a:t>J</a:t>
            </a:r>
            <a:r>
              <a:rPr b="1" lang="en-US"/>
              <a:t>ava </a:t>
            </a:r>
            <a:r>
              <a:rPr b="1" lang="en-US">
                <a:solidFill>
                  <a:srgbClr val="C00000"/>
                </a:solidFill>
              </a:rPr>
              <a:t>D</a:t>
            </a:r>
            <a:r>
              <a:rPr b="1" lang="en-US"/>
              <a:t>ata</a:t>
            </a:r>
            <a:r>
              <a:rPr b="1" lang="en-US">
                <a:solidFill>
                  <a:srgbClr val="C00000"/>
                </a:solidFill>
              </a:rPr>
              <a:t>B</a:t>
            </a:r>
            <a:r>
              <a:rPr b="1" lang="en-US"/>
              <a:t>ase </a:t>
            </a:r>
            <a:r>
              <a:rPr b="1" lang="en-US">
                <a:solidFill>
                  <a:srgbClr val="C00000"/>
                </a:solidFill>
              </a:rPr>
              <a:t>C</a:t>
            </a:r>
            <a:r>
              <a:rPr b="1" lang="en-US"/>
              <a:t>onnectivity</a:t>
            </a:r>
            <a:r>
              <a:rPr lang="en-US"/>
              <a:t>”. 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JDBC API</a:t>
            </a:r>
            <a:r>
              <a:rPr b="1" lang="en-US"/>
              <a:t> (</a:t>
            </a:r>
            <a:r>
              <a:rPr b="1" i="1" lang="en-US"/>
              <a:t>A</a:t>
            </a:r>
            <a:r>
              <a:rPr i="1" lang="en-US"/>
              <a:t>pplication</a:t>
            </a:r>
            <a:r>
              <a:rPr b="1" i="1" lang="en-US"/>
              <a:t> P</a:t>
            </a:r>
            <a:r>
              <a:rPr i="1" lang="en-US"/>
              <a:t>rogramming </a:t>
            </a:r>
            <a:r>
              <a:rPr b="1" i="1" lang="en-US"/>
              <a:t>I</a:t>
            </a:r>
            <a:r>
              <a:rPr i="1" lang="en-US"/>
              <a:t>nterface</a:t>
            </a:r>
            <a:r>
              <a:rPr lang="en-US"/>
              <a:t>) is a Java API that </a:t>
            </a:r>
            <a:r>
              <a:rPr lang="en-US" u="sng"/>
              <a:t>can access any kind of  </a:t>
            </a:r>
            <a:r>
              <a:rPr b="1" lang="en-US" u="sng"/>
              <a:t>tabular data</a:t>
            </a:r>
            <a:r>
              <a:rPr lang="en-US"/>
              <a:t>, especially data stored in a </a:t>
            </a:r>
            <a:r>
              <a:rPr b="1" i="1" lang="en-US" u="sng"/>
              <a:t>Relational database</a:t>
            </a:r>
            <a:r>
              <a:rPr b="1" i="1" lang="en-US"/>
              <a:t>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JDBC is used</a:t>
            </a:r>
            <a:r>
              <a:rPr b="1" lang="en-US"/>
              <a:t> </a:t>
            </a:r>
            <a:r>
              <a:rPr lang="en-US"/>
              <a:t> for executing SQL statements from Java program. 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With the help of JDBC API, we can </a:t>
            </a:r>
            <a:r>
              <a:rPr lang="en-US" u="sng"/>
              <a:t>insert, update, delete and fetch data </a:t>
            </a:r>
            <a:r>
              <a:rPr lang="en-US"/>
              <a:t>from the database.  </a:t>
            </a:r>
            <a:br>
              <a:rPr lang="en-US"/>
            </a:br>
            <a:endParaRPr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JDBC?</a:t>
            </a:r>
            <a:endParaRPr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457200" y="762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Before JDBC, </a:t>
            </a:r>
            <a:r>
              <a:rPr b="1" lang="en-US" sz="2400"/>
              <a:t>ODBC(O</a:t>
            </a:r>
            <a:r>
              <a:rPr lang="en-US" sz="2400"/>
              <a:t>pen </a:t>
            </a:r>
            <a:r>
              <a:rPr b="1" lang="en-US" sz="2400"/>
              <a:t>D</a:t>
            </a:r>
            <a:r>
              <a:rPr lang="en-US" sz="2400"/>
              <a:t>ata</a:t>
            </a:r>
            <a:r>
              <a:rPr b="1" lang="en-US" sz="2400"/>
              <a:t>B</a:t>
            </a:r>
            <a:r>
              <a:rPr lang="en-US" sz="2400"/>
              <a:t>ase </a:t>
            </a:r>
            <a:r>
              <a:rPr b="1" lang="en-US" sz="2400"/>
              <a:t>C</a:t>
            </a:r>
            <a:r>
              <a:rPr lang="en-US" sz="2400"/>
              <a:t>onnectivity) API was the database API to connect and execute the query with the database.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 But, ODBC API uses ODBC driver which is </a:t>
            </a:r>
            <a:r>
              <a:rPr lang="en-US" u="sng"/>
              <a:t>written in C language</a:t>
            </a:r>
            <a:r>
              <a:rPr lang="en-US"/>
              <a:t> (i.e. </a:t>
            </a:r>
            <a:r>
              <a:rPr i="1" lang="en-US">
                <a:solidFill>
                  <a:srgbClr val="C00000"/>
                </a:solidFill>
              </a:rPr>
              <a:t>platform dependent and unsecure</a:t>
            </a:r>
            <a:r>
              <a:rPr lang="en-US"/>
              <a:t>).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That is why, Java has defined its own API (</a:t>
            </a:r>
            <a:r>
              <a:rPr b="1" lang="en-US"/>
              <a:t>JDBC API</a:t>
            </a:r>
            <a:r>
              <a:rPr lang="en-US"/>
              <a:t>) that </a:t>
            </a:r>
            <a:r>
              <a:rPr lang="en-US" u="sng"/>
              <a:t>uses JDBC drivers </a:t>
            </a:r>
            <a:r>
              <a:rPr lang="en-US"/>
              <a:t>(</a:t>
            </a:r>
            <a:r>
              <a:rPr i="1" lang="en-US"/>
              <a:t>written in Java language</a:t>
            </a:r>
            <a:r>
              <a:rPr lang="en-US"/>
              <a:t>).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our application is using JDBC API to interact with the database, then </a:t>
            </a:r>
            <a:r>
              <a:rPr lang="en-US" sz="2400" u="sng"/>
              <a:t>we need not change much in our code </a:t>
            </a:r>
            <a:r>
              <a:rPr lang="en-US" sz="2400"/>
              <a:t>even if we </a:t>
            </a:r>
            <a:r>
              <a:rPr lang="en-US" sz="2400" u="sng"/>
              <a:t>change the database of our application</a:t>
            </a:r>
            <a:r>
              <a:rPr lang="en-US" sz="2400"/>
              <a:t>. </a:t>
            </a:r>
            <a:endParaRPr sz="2400"/>
          </a:p>
        </p:txBody>
      </p:sp>
      <p:sp>
        <p:nvSpPr>
          <p:cNvPr id="134" name="Google Shape;134;p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Advantage of JDBC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JDBC </a:t>
            </a:r>
            <a:r>
              <a:rPr b="1" lang="en-US"/>
              <a:t>standardizes</a:t>
            </a:r>
            <a:r>
              <a:rPr lang="en-US"/>
              <a:t> how to do many of the operations like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connect to the database,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query the database,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update the database, and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call stored procedures.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43" name="Google Shape;143;p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architecture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/>
              <a:t>JDBC </a:t>
            </a:r>
            <a:r>
              <a:rPr lang="en-US"/>
              <a:t>architecture can be classified in 2 broad categories:-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1. JDBC API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2. JDBC Drivers </a:t>
            </a:r>
            <a:endParaRPr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1" name="Google Shape;151;p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228600" y="0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Java-JDBC API -JDBC Driver- Database</a:t>
            </a:r>
            <a:endParaRPr sz="3200"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57200" y="6858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Java</a:t>
            </a:r>
            <a:r>
              <a:rPr lang="en-US" sz="2400"/>
              <a:t> – programming language – coding- Front end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 u="sng">
                <a:solidFill>
                  <a:srgbClr val="0000CC"/>
                </a:solidFill>
              </a:rPr>
              <a:t>JDBC API </a:t>
            </a:r>
            <a:r>
              <a:rPr i="1" lang="en-US" sz="2400" u="sng"/>
              <a:t>defines a set of interfaces and classes that all major database providers </a:t>
            </a:r>
            <a:r>
              <a:rPr lang="en-US" sz="2400"/>
              <a:t>follow</a:t>
            </a:r>
            <a:endParaRPr/>
          </a:p>
          <a:p>
            <a:pPr indent="-342900" lvl="1" marL="8001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200"/>
              <a:t>using JDBC API, Java developers can connect to many Relational Database Management Systems (RDBMS).  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b="1" lang="en-US">
                <a:solidFill>
                  <a:srgbClr val="0000CC"/>
                </a:solidFill>
              </a:rPr>
              <a:t>JDBC API</a:t>
            </a:r>
            <a:r>
              <a:rPr lang="en-US">
                <a:solidFill>
                  <a:srgbClr val="0000CC"/>
                </a:solidFill>
              </a:rPr>
              <a:t> </a:t>
            </a:r>
            <a:r>
              <a:rPr lang="en-US"/>
              <a:t>uses </a:t>
            </a:r>
            <a:r>
              <a:rPr b="1" lang="en-US">
                <a:solidFill>
                  <a:srgbClr val="C00000"/>
                </a:solidFill>
              </a:rPr>
              <a:t>JDBC drivers</a:t>
            </a:r>
            <a:r>
              <a:rPr lang="en-US">
                <a:solidFill>
                  <a:srgbClr val="C00000"/>
                </a:solidFill>
              </a:rPr>
              <a:t> </a:t>
            </a:r>
            <a:r>
              <a:rPr lang="en-US"/>
              <a:t>to connect with the database. 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 </a:t>
            </a:r>
            <a:r>
              <a:rPr b="1" lang="en-US" sz="2400">
                <a:solidFill>
                  <a:srgbClr val="C00000"/>
                </a:solidFill>
              </a:rPr>
              <a:t>JDBC driver</a:t>
            </a:r>
            <a:r>
              <a:rPr lang="en-US" sz="2400"/>
              <a:t> is a software component that enables a Java application to interact with specific database.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Database</a:t>
            </a:r>
            <a:r>
              <a:rPr lang="en-US" sz="2400"/>
              <a:t> – store data – Back end</a:t>
            </a:r>
            <a:endParaRPr sz="2400"/>
          </a:p>
        </p:txBody>
      </p:sp>
      <p:sp>
        <p:nvSpPr>
          <p:cNvPr id="158" name="Google Shape;158;p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67" name="Google Shape;167;p9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71600"/>
            <a:ext cx="8149243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76" name="Google Shape;176;p1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778" y="824726"/>
            <a:ext cx="6624284" cy="511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API</a:t>
            </a:r>
            <a:endParaRPr/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JDBC API is comprised of two packages: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java.sql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javax.sql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 packages contains </a:t>
            </a:r>
            <a:r>
              <a:rPr lang="en-US" sz="2400" u="sng"/>
              <a:t>classes and interfaces for JDBC API</a:t>
            </a:r>
            <a:r>
              <a:rPr lang="en-US" sz="2400"/>
              <a:t>.</a:t>
            </a:r>
            <a:endParaRPr/>
          </a:p>
        </p:txBody>
      </p:sp>
      <p:sp>
        <p:nvSpPr>
          <p:cNvPr id="184" name="Google Shape;184;p1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API</a:t>
            </a:r>
            <a:endParaRPr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457200" y="6858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Some classes and interfaces in </a:t>
            </a:r>
            <a:r>
              <a:rPr b="1" lang="en-US" sz="2400"/>
              <a:t>java.sql</a:t>
            </a:r>
            <a:r>
              <a:rPr lang="en-US" sz="2400"/>
              <a:t> package which support connectivity between Java and database are:</a:t>
            </a:r>
            <a:endParaRPr sz="2400"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DriverManage</a:t>
            </a:r>
            <a:r>
              <a:rPr lang="en-US"/>
              <a:t>r :-"DriverManager class"  </a:t>
            </a:r>
            <a:r>
              <a:rPr b="1" lang="en-US"/>
              <a:t>manages</a:t>
            </a:r>
            <a:r>
              <a:rPr lang="en-US"/>
              <a:t> all the Drivers found in JDBC environment</a:t>
            </a:r>
            <a:r>
              <a:rPr lang="en-US" u="sng"/>
              <a:t>, </a:t>
            </a:r>
            <a:r>
              <a:rPr i="1" lang="en-US" u="sng"/>
              <a:t>load the most appropriate driver</a:t>
            </a:r>
            <a:r>
              <a:rPr lang="en-US"/>
              <a:t> for connectivity.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Connection</a:t>
            </a:r>
            <a:r>
              <a:rPr lang="en-US"/>
              <a:t>: Connection interface objects </a:t>
            </a:r>
            <a:r>
              <a:rPr lang="en-US" u="sng"/>
              <a:t>represents connection</a:t>
            </a:r>
            <a:r>
              <a:rPr lang="en-US"/>
              <a:t> and it's object helps to </a:t>
            </a:r>
            <a:r>
              <a:rPr lang="en-US" u="sng"/>
              <a:t>create </a:t>
            </a:r>
            <a:r>
              <a:rPr i="1" lang="en-US" u="sng"/>
              <a:t>object of Statement</a:t>
            </a:r>
            <a:r>
              <a:rPr lang="en-US" u="sng"/>
              <a:t>, PreparedStatement </a:t>
            </a:r>
            <a:r>
              <a:rPr lang="en-US"/>
              <a:t>etc.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Statement</a:t>
            </a:r>
            <a:r>
              <a:rPr lang="en-US"/>
              <a:t> : :-Statement interface object is used to </a:t>
            </a:r>
            <a:r>
              <a:rPr i="1" lang="en-US" u="sng"/>
              <a:t>execute query</a:t>
            </a:r>
            <a:r>
              <a:rPr lang="en-US"/>
              <a:t> . It’s value is stored in "ResultSet"  object.</a:t>
            </a:r>
            <a:endParaRPr/>
          </a:p>
        </p:txBody>
      </p:sp>
      <p:sp>
        <p:nvSpPr>
          <p:cNvPr id="192" name="Google Shape;192;p1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93" name="Google Shape;193;p1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API(contd.)</a:t>
            </a:r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PreparedStatement</a:t>
            </a:r>
            <a:r>
              <a:rPr lang="en-US"/>
              <a:t>:- represents a </a:t>
            </a:r>
            <a:r>
              <a:rPr i="1" lang="en-US" u="sng"/>
              <a:t>precompiled SQL statement</a:t>
            </a:r>
            <a:r>
              <a:rPr lang="en-US"/>
              <a:t> 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Callable Statement</a:t>
            </a:r>
            <a:r>
              <a:rPr lang="en-US"/>
              <a:t>:-Callable statement </a:t>
            </a:r>
            <a:r>
              <a:rPr i="1" lang="en-US" u="sng"/>
              <a:t>support stored procedure</a:t>
            </a:r>
            <a:r>
              <a:rPr lang="en-US"/>
              <a:t> 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ResultSet</a:t>
            </a:r>
            <a:r>
              <a:rPr lang="en-US"/>
              <a:t>: it is used to store the result of SQL query. Java application get the result of database from this ResultSet.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/>
              <a:t>SQLException</a:t>
            </a:r>
            <a:r>
              <a:rPr lang="en-US"/>
              <a:t>:- SQLException class is used to represent </a:t>
            </a:r>
            <a:r>
              <a:rPr i="1" lang="en-US"/>
              <a:t>error or warning</a:t>
            </a:r>
            <a:r>
              <a:rPr lang="en-US"/>
              <a:t> during access from database or during connectivity.</a:t>
            </a:r>
            <a:endParaRPr/>
          </a:p>
          <a:p>
            <a:pPr indent="-1333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01" name="Google Shape;201;p1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Drivers</a:t>
            </a:r>
            <a:endParaRPr/>
          </a:p>
        </p:txBody>
      </p:sp>
      <p:sp>
        <p:nvSpPr>
          <p:cNvPr id="207" name="Google Shape;207;p14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JDBC API</a:t>
            </a:r>
            <a:r>
              <a:rPr lang="en-US" sz="2400"/>
              <a:t> uses </a:t>
            </a:r>
            <a:r>
              <a:rPr b="1" lang="en-US" sz="2400"/>
              <a:t>JDBC drivers</a:t>
            </a:r>
            <a:r>
              <a:rPr lang="en-US" sz="2400"/>
              <a:t> to connect with the database. </a:t>
            </a:r>
            <a:endParaRPr sz="2400" u="sng"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JDBC drivers .</a:t>
            </a:r>
            <a:r>
              <a:rPr lang="en-US" sz="2400"/>
              <a:t>All major vendors provide their own JDBC drivers 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 </a:t>
            </a:r>
            <a:r>
              <a:rPr b="1" lang="en-US" sz="2400"/>
              <a:t>JDBC driver</a:t>
            </a:r>
            <a:r>
              <a:rPr lang="en-US" sz="2400"/>
              <a:t> is a software component that enables a Java application to interact with a database.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JDBC drivers  </a:t>
            </a:r>
            <a:r>
              <a:rPr lang="en-US" sz="2400"/>
              <a:t>contain a set of java classes that enables to connect to that particular database.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09" name="Google Shape;209;p1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JDBC Drivers</a:t>
            </a:r>
            <a:endParaRPr/>
          </a:p>
        </p:txBody>
      </p:sp>
      <p:sp>
        <p:nvSpPr>
          <p:cNvPr id="215" name="Google Shape;215;p15"/>
          <p:cNvSpPr txBox="1"/>
          <p:nvPr>
            <p:ph idx="1" type="body"/>
          </p:nvPr>
        </p:nvSpPr>
        <p:spPr>
          <a:xfrm>
            <a:off x="457200" y="914400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Types Of JDBC Drivers:</a:t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JDBC drivers </a:t>
            </a:r>
            <a:r>
              <a:rPr lang="en-US" sz="2400"/>
              <a:t>are divided into four types or levels. </a:t>
            </a:r>
            <a:endParaRPr sz="2400"/>
          </a:p>
        </p:txBody>
      </p:sp>
      <p:sp>
        <p:nvSpPr>
          <p:cNvPr id="216" name="Google Shape;216;p1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1868128" y="2210574"/>
            <a:ext cx="6818671" cy="464742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1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2" marL="2286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JDBC-ODBC Bridge driver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1143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2: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2" marL="2286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Native-API/partly Java driver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1143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3: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2" marL="2286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Java/Net-protocol driver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1143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4: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2" marL="2286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Java/Native-protocol driver /Thin Driver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114300" marR="0" rtl="0" algn="l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 1 JDBC Driver</a:t>
            </a:r>
            <a:endParaRPr/>
          </a:p>
        </p:txBody>
      </p:sp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Type 1(</a:t>
            </a:r>
            <a:r>
              <a:rPr b="1" lang="en-US" sz="2400" u="sng"/>
              <a:t>JDBC-ODBC Bridge driver)</a:t>
            </a:r>
            <a:r>
              <a:rPr lang="en-US" sz="2400"/>
              <a:t> driver translates all JDBC calls into ODBC calls and sends them to the ODBC driver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Advantage </a:t>
            </a:r>
            <a:endParaRPr sz="24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JDBC-ODBC Bridge allows access to almost any database, since the database's ODBC drivers are already available. 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5" name="Google Shape;225;p1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26" name="Google Shape;226;p1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193490"/>
            <a:ext cx="2616200" cy="348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 2 JDBC Driver</a:t>
            </a:r>
            <a:endParaRPr/>
          </a:p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Type 2 drivers(</a:t>
            </a:r>
            <a:r>
              <a:rPr b="1" lang="en-US" u="sng"/>
              <a:t>Native-API/partly Java driver</a:t>
            </a:r>
            <a:r>
              <a:rPr lang="en-US"/>
              <a:t>)  convert JDBC calls into database-specific calls.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981200"/>
            <a:ext cx="2743200" cy="4035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 3 JDBC Driver</a:t>
            </a:r>
            <a:endParaRPr/>
          </a:p>
        </p:txBody>
      </p:sp>
      <p:sp>
        <p:nvSpPr>
          <p:cNvPr id="242" name="Google Shape;242;p18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Type 3 database driver(</a:t>
            </a:r>
            <a:r>
              <a:rPr b="1" lang="en-US" u="sng"/>
              <a:t>All Java/Net-protocol driver</a:t>
            </a:r>
            <a:r>
              <a:rPr lang="en-US"/>
              <a:t>) requests are passed through the network to the middle-tier server.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 middle-tier then translates the request to the database. 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5" name="Google Shape;2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929203"/>
            <a:ext cx="2438400" cy="272229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/>
          <p:nvPr/>
        </p:nvSpPr>
        <p:spPr>
          <a:xfrm>
            <a:off x="1143000" y="3352800"/>
            <a:ext cx="4572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driver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written in Java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hence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the web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 4 JDBC Driver</a:t>
            </a:r>
            <a:endParaRPr/>
          </a:p>
        </p:txBody>
      </p:sp>
      <p:sp>
        <p:nvSpPr>
          <p:cNvPr id="252" name="Google Shape;252;p19"/>
          <p:cNvSpPr txBox="1"/>
          <p:nvPr>
            <p:ph idx="1" type="body"/>
          </p:nvPr>
        </p:nvSpPr>
        <p:spPr>
          <a:xfrm>
            <a:off x="3810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Type 4 drivers(</a:t>
            </a:r>
            <a:r>
              <a:rPr b="1" lang="en-US" u="sng"/>
              <a:t>Native-protocol/all-Java driver) </a:t>
            </a:r>
            <a:r>
              <a:rPr lang="en-US"/>
              <a:t>uses java networking libraries to communicate directly with the database server.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Advantage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They are completely written in Java-platform independent.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 is most suitable for the web. 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/>
            </a:b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54" name="Google Shape;254;p19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124200"/>
            <a:ext cx="2676525" cy="3276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/>
              <a:t>Java-Database connectivity</a:t>
            </a:r>
            <a:endParaRPr/>
          </a:p>
        </p:txBody>
      </p:sp>
      <p:sp>
        <p:nvSpPr>
          <p:cNvPr id="261" name="Google Shape;261;p20"/>
          <p:cNvSpPr txBox="1"/>
          <p:nvPr>
            <p:ph idx="1" type="body"/>
          </p:nvPr>
        </p:nvSpPr>
        <p:spPr>
          <a:xfrm>
            <a:off x="457200" y="685800"/>
            <a:ext cx="8458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Basic Steps fo connecting Java and database</a:t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Before we can create a java JDBC connection to the database, we must first import the </a:t>
            </a:r>
            <a:r>
              <a:rPr b="1" lang="en-US" sz="2400"/>
              <a:t>java.sql package </a:t>
            </a:r>
            <a:r>
              <a:rPr lang="en-US" sz="2400"/>
              <a:t>using:-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</a:t>
            </a:r>
            <a:r>
              <a:rPr b="1" lang="en-US" sz="2400">
                <a:solidFill>
                  <a:srgbClr val="0000CC"/>
                </a:solidFill>
              </a:rPr>
              <a:t>import java.sql.*; </a:t>
            </a:r>
            <a:endParaRPr b="1" sz="2400">
              <a:solidFill>
                <a:srgbClr val="0000CC"/>
              </a:solidFill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62" name="Google Shape;262;p20"/>
          <p:cNvSpPr txBox="1"/>
          <p:nvPr>
            <p:ph idx="11" type="ftr"/>
          </p:nvPr>
        </p:nvSpPr>
        <p:spPr>
          <a:xfrm>
            <a:off x="-609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63" name="Google Shape;263;p2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1066800" y="2438400"/>
            <a:ext cx="7086600" cy="426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1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for connecting Java and database are: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and Register a database driver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Establish(create) a  connection to the database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 Statement object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the SQL Statements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the result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the connection and Statement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228600" marR="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72" name="Google Shape;272;p2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533400"/>
            <a:ext cx="5334000" cy="6073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/>
              <a:t>Steps to develop JDBC application: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Load and Register Driver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Establish the connection between java application and database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Creation of statement object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Send and execute SQL query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Process Result from  ResultSet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Close the connection and statement.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81" name="Google Shape;281;p2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>
            <p:ph type="title"/>
          </p:nvPr>
        </p:nvSpPr>
        <p:spPr>
          <a:xfrm>
            <a:off x="457200" y="-76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Java Database Connectivity steps</a:t>
            </a:r>
            <a:endParaRPr b="0" sz="2800"/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457200" y="6096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1.</a:t>
            </a:r>
            <a:r>
              <a:rPr b="1" lang="en-US"/>
              <a:t> Load or register a database driver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We can load /register a driver in Java in one of two ways: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0000CC"/>
                </a:solidFill>
              </a:rPr>
              <a:t> Class</a:t>
            </a:r>
            <a:r>
              <a:rPr b="1" lang="en-US"/>
              <a:t>.</a:t>
            </a:r>
            <a:r>
              <a:rPr b="1" lang="en-US">
                <a:solidFill>
                  <a:srgbClr val="C00000"/>
                </a:solidFill>
              </a:rPr>
              <a:t>forName(</a:t>
            </a:r>
            <a:r>
              <a:rPr b="1" lang="en-US"/>
              <a:t>String </a:t>
            </a:r>
            <a:r>
              <a:rPr b="1" i="1" lang="en-US"/>
              <a:t>driver</a:t>
            </a:r>
            <a:r>
              <a:rPr b="1" lang="en-US">
                <a:solidFill>
                  <a:srgbClr val="C00000"/>
                </a:solidFill>
              </a:rPr>
              <a:t>)</a:t>
            </a:r>
            <a:r>
              <a:rPr b="1" lang="en-US"/>
              <a:t>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0000CC"/>
                </a:solidFill>
              </a:rPr>
              <a:t> DriverManager</a:t>
            </a:r>
            <a:r>
              <a:rPr b="1" lang="en-US"/>
              <a:t>.</a:t>
            </a:r>
            <a:r>
              <a:rPr b="1" lang="en-US">
                <a:solidFill>
                  <a:srgbClr val="C00000"/>
                </a:solidFill>
              </a:rPr>
              <a:t>registerDriver(new </a:t>
            </a:r>
            <a:r>
              <a:rPr b="1" i="1" lang="en-US"/>
              <a:t>constructor of 					the driver</a:t>
            </a:r>
            <a:r>
              <a:rPr lang="en-US"/>
              <a:t> </a:t>
            </a:r>
            <a:r>
              <a:rPr b="1" lang="en-US">
                <a:solidFill>
                  <a:srgbClr val="C00000"/>
                </a:solidFill>
              </a:rPr>
              <a:t>) </a:t>
            </a:r>
            <a:endParaRPr>
              <a:solidFill>
                <a:srgbClr val="C00000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We can load the driver class by calling </a:t>
            </a:r>
            <a:r>
              <a:rPr b="1" lang="en-US">
                <a:solidFill>
                  <a:srgbClr val="0000CC"/>
                </a:solidFill>
              </a:rPr>
              <a:t>Class</a:t>
            </a:r>
            <a:r>
              <a:rPr b="1" lang="en-US"/>
              <a:t>.</a:t>
            </a:r>
            <a:r>
              <a:rPr b="1" lang="en-US">
                <a:solidFill>
                  <a:srgbClr val="C00000"/>
                </a:solidFill>
              </a:rPr>
              <a:t>forName()</a:t>
            </a:r>
            <a:r>
              <a:rPr b="1" lang="en-US"/>
              <a:t> </a:t>
            </a:r>
            <a:r>
              <a:rPr lang="en-US"/>
              <a:t>with the Driver class name as an </a:t>
            </a:r>
            <a:r>
              <a:rPr i="1" lang="en-US"/>
              <a:t>argument or </a:t>
            </a:r>
            <a:r>
              <a:rPr b="1" lang="en-US">
                <a:solidFill>
                  <a:srgbClr val="0000CC"/>
                </a:solidFill>
              </a:rPr>
              <a:t>DriverManager</a:t>
            </a:r>
            <a:r>
              <a:rPr b="1" lang="en-US"/>
              <a:t>.</a:t>
            </a:r>
            <a:r>
              <a:rPr b="1" lang="en-US">
                <a:solidFill>
                  <a:srgbClr val="C00000"/>
                </a:solidFill>
              </a:rPr>
              <a:t>registerDriver() </a:t>
            </a:r>
            <a:r>
              <a:rPr lang="en-US"/>
              <a:t>with</a:t>
            </a:r>
            <a:r>
              <a:rPr b="1" lang="en-US">
                <a:solidFill>
                  <a:srgbClr val="C00000"/>
                </a:solidFill>
              </a:rPr>
              <a:t> </a:t>
            </a:r>
            <a:r>
              <a:rPr i="1" lang="en-US"/>
              <a:t>constructor of 	the driver class as argument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Once loaded, the Driver class creates an instance of itself.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JDBC-ODBC Bridge driver is commonly used.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Each database has its own driver.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JDBC Driver class for MySQL database are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com.mysql.jdbc.Driver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com.mysql.cj.jdbc.Driver</a:t>
            </a:r>
            <a:endParaRPr b="1"/>
          </a:p>
        </p:txBody>
      </p:sp>
      <p:sp>
        <p:nvSpPr>
          <p:cNvPr id="288" name="Google Shape;288;p2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89" name="Google Shape;289;p2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33400" y="609600"/>
            <a:ext cx="57912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endParaRPr b="0"/>
          </a:p>
        </p:txBody>
      </p:sp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457200" y="685800"/>
            <a:ext cx="8382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code for </a:t>
            </a:r>
            <a:r>
              <a:rPr b="1" lang="en-US" sz="2400" u="sng"/>
              <a:t>loading MySQL database driver from Java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Class</a:t>
            </a:r>
            <a:r>
              <a:rPr b="1" lang="en-US" sz="2400"/>
              <a:t>.</a:t>
            </a:r>
            <a:r>
              <a:rPr b="1" lang="en-US" sz="2400">
                <a:solidFill>
                  <a:srgbClr val="C00000"/>
                </a:solidFill>
              </a:rPr>
              <a:t>forName</a:t>
            </a:r>
            <a:r>
              <a:rPr b="1" lang="en-US" sz="2400"/>
              <a:t>("com.mysql.cj.jdbc.Driver");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or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DriverManager</a:t>
            </a:r>
            <a:r>
              <a:rPr lang="en-US" sz="2400"/>
              <a:t>.</a:t>
            </a:r>
            <a:r>
              <a:rPr b="1" lang="en-US" sz="2400">
                <a:solidFill>
                  <a:srgbClr val="C00000"/>
                </a:solidFill>
              </a:rPr>
              <a:t>registerDriver</a:t>
            </a:r>
            <a:r>
              <a:rPr i="1" lang="en-US" sz="2400"/>
              <a:t>(</a:t>
            </a:r>
            <a:r>
              <a:rPr b="1" i="1" lang="en-US" sz="2400">
                <a:solidFill>
                  <a:srgbClr val="76923C"/>
                </a:solidFill>
              </a:rPr>
              <a:t>new</a:t>
            </a:r>
            <a:r>
              <a:rPr b="1" i="1" lang="en-US" sz="2400"/>
              <a:t> com.mysql.cj.jdbc.Driver());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98" name="Google Shape;298;p2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04" name="Google Shape;304;p25"/>
          <p:cNvSpPr txBox="1"/>
          <p:nvPr>
            <p:ph idx="1" type="body"/>
          </p:nvPr>
        </p:nvSpPr>
        <p:spPr>
          <a:xfrm>
            <a:off x="228600" y="9144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2. Establish the connection between Java application and database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 </a:t>
            </a:r>
            <a:r>
              <a:rPr b="1" lang="en-US">
                <a:solidFill>
                  <a:srgbClr val="C00000"/>
                </a:solidFill>
              </a:rPr>
              <a:t>getConnection</a:t>
            </a:r>
            <a:r>
              <a:rPr b="1" lang="en-US"/>
              <a:t>()</a:t>
            </a:r>
            <a:r>
              <a:rPr lang="en-US"/>
              <a:t> method of </a:t>
            </a:r>
            <a:r>
              <a:rPr b="1" lang="en-US">
                <a:solidFill>
                  <a:srgbClr val="0000CC"/>
                </a:solidFill>
              </a:rPr>
              <a:t>DriverManager</a:t>
            </a:r>
            <a:r>
              <a:rPr lang="en-US"/>
              <a:t> class is used to establish connection with the database.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	public</a:t>
            </a:r>
            <a:r>
              <a:rPr lang="en-US" sz="2400"/>
              <a:t> </a:t>
            </a:r>
            <a:r>
              <a:rPr b="1" lang="en-US" sz="2400"/>
              <a:t>static</a:t>
            </a:r>
            <a:r>
              <a:rPr lang="en-US" sz="2400"/>
              <a:t> </a:t>
            </a:r>
            <a:r>
              <a:rPr lang="en-US" sz="2400">
                <a:solidFill>
                  <a:srgbClr val="0000CC"/>
                </a:solidFill>
              </a:rPr>
              <a:t>Connection</a:t>
            </a:r>
            <a:r>
              <a:rPr lang="en-US" sz="2400"/>
              <a:t> </a:t>
            </a:r>
            <a:r>
              <a:rPr lang="en-US" sz="2400">
                <a:solidFill>
                  <a:srgbClr val="C00000"/>
                </a:solidFill>
              </a:rPr>
              <a:t>getConnection</a:t>
            </a:r>
            <a:r>
              <a:rPr lang="en-US" sz="2400"/>
              <a:t>(String </a:t>
            </a:r>
            <a:r>
              <a:rPr b="1" i="1" lang="en-US" sz="2400"/>
              <a:t>url </a:t>
            </a:r>
            <a:r>
              <a:rPr lang="en-US" sz="2400"/>
              <a:t>,String </a:t>
            </a:r>
            <a:r>
              <a:rPr b="1" i="1" lang="en-US" sz="2400"/>
              <a:t>name</a:t>
            </a:r>
            <a:r>
              <a:rPr lang="en-US" sz="2400"/>
              <a:t>, String </a:t>
            </a:r>
            <a:r>
              <a:rPr b="1" i="1" lang="en-US" sz="2400"/>
              <a:t>password</a:t>
            </a:r>
            <a:r>
              <a:rPr lang="en-US" sz="2400"/>
              <a:t>)   </a:t>
            </a:r>
            <a:r>
              <a:rPr b="1" lang="en-US" sz="2400"/>
              <a:t>throws</a:t>
            </a:r>
            <a:r>
              <a:rPr lang="en-US" sz="2400"/>
              <a:t> </a:t>
            </a:r>
            <a:r>
              <a:rPr b="1" lang="en-US" sz="2400">
                <a:solidFill>
                  <a:srgbClr val="CC00CC"/>
                </a:solidFill>
              </a:rPr>
              <a:t>SQLException</a:t>
            </a:r>
            <a:r>
              <a:rPr lang="en-US" sz="2400"/>
              <a:t>  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CC"/>
              </a:buClr>
              <a:buSzPts val="1400"/>
              <a:buNone/>
            </a:pPr>
            <a:r>
              <a:rPr b="1" lang="en-US" sz="1400">
                <a:solidFill>
                  <a:srgbClr val="0000CC"/>
                </a:solidFill>
              </a:rPr>
              <a:t>Connection</a:t>
            </a:r>
            <a:r>
              <a:rPr lang="en-US" sz="1400"/>
              <a:t> con=</a:t>
            </a:r>
            <a:r>
              <a:rPr b="1" lang="en-US" sz="1400"/>
              <a:t>DriverManager</a:t>
            </a:r>
            <a:r>
              <a:rPr lang="en-US" sz="1400"/>
              <a:t>.</a:t>
            </a:r>
            <a:r>
              <a:rPr b="1" lang="en-US" sz="1400">
                <a:solidFill>
                  <a:srgbClr val="C00000"/>
                </a:solidFill>
              </a:rPr>
              <a:t>getConnection</a:t>
            </a:r>
            <a:r>
              <a:rPr lang="en-US" sz="1400"/>
              <a:t> (  "jdbc:mysql://localhost:3306/ABC"  ,   "root"    ,   "root123"  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</a:t>
            </a:r>
            <a:endParaRPr/>
          </a:p>
          <a:p>
            <a:pPr indent="-1905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1905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/>
          </a:p>
        </p:txBody>
      </p:sp>
      <p:sp>
        <p:nvSpPr>
          <p:cNvPr id="305" name="Google Shape;305;p2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06" name="Google Shape;306;p2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257800" y="5410200"/>
            <a:ext cx="1252266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username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7696200" y="5334000"/>
            <a:ext cx="1225015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304800" y="5257800"/>
            <a:ext cx="1371600" cy="400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JDBC url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0" name="Google Shape;310;p25"/>
          <p:cNvCxnSpPr>
            <a:stCxn id="309" idx="0"/>
          </p:cNvCxnSpPr>
          <p:nvPr/>
        </p:nvCxnSpPr>
        <p:spPr>
          <a:xfrm flipH="1" rot="10800000">
            <a:off x="990600" y="4495800"/>
            <a:ext cx="44577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1" name="Google Shape;311;p25"/>
          <p:cNvCxnSpPr>
            <a:stCxn id="307" idx="0"/>
          </p:cNvCxnSpPr>
          <p:nvPr/>
        </p:nvCxnSpPr>
        <p:spPr>
          <a:xfrm flipH="1" rot="10800000">
            <a:off x="5883933" y="4419600"/>
            <a:ext cx="12789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2" name="Google Shape;312;p25"/>
          <p:cNvCxnSpPr/>
          <p:nvPr/>
        </p:nvCxnSpPr>
        <p:spPr>
          <a:xfrm flipH="1" rot="5400000">
            <a:off x="7905750" y="4857750"/>
            <a:ext cx="838200" cy="1143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3" name="Google Shape;313;p25"/>
          <p:cNvSpPr/>
          <p:nvPr/>
        </p:nvSpPr>
        <p:spPr>
          <a:xfrm>
            <a:off x="228600" y="990600"/>
            <a:ext cx="8686800" cy="6858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19" name="Google Shape;319;p26"/>
          <p:cNvSpPr txBox="1"/>
          <p:nvPr>
            <p:ph idx="1" type="body"/>
          </p:nvPr>
        </p:nvSpPr>
        <p:spPr>
          <a:xfrm>
            <a:off x="457200" y="6858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JDBC URL provides a way of identifying a database so that the appropriate driver will recognize it and establish a connection with it. 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The standard syntax for JDBC URLs is: 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/>
              <a:t>	</a:t>
            </a:r>
            <a:r>
              <a:rPr lang="en-US" sz="2400"/>
              <a:t>jdbc</a:t>
            </a:r>
            <a:r>
              <a:rPr b="1" lang="en-US" sz="2400">
                <a:solidFill>
                  <a:srgbClr val="0000CC"/>
                </a:solidFill>
              </a:rPr>
              <a:t>:</a:t>
            </a:r>
            <a:r>
              <a:rPr i="1" lang="en-US" sz="2400"/>
              <a:t>&lt;</a:t>
            </a:r>
            <a:r>
              <a:rPr b="1" i="1" lang="en-US" sz="2400"/>
              <a:t>subprotocol</a:t>
            </a:r>
            <a:r>
              <a:rPr i="1" lang="en-US" sz="2400"/>
              <a:t>&gt;</a:t>
            </a:r>
            <a:r>
              <a:rPr b="1" lang="en-US" sz="2400">
                <a:solidFill>
                  <a:srgbClr val="0000CC"/>
                </a:solidFill>
              </a:rPr>
              <a:t>:</a:t>
            </a:r>
            <a:r>
              <a:rPr i="1" lang="en-US" sz="2400"/>
              <a:t>&lt;</a:t>
            </a:r>
            <a:r>
              <a:rPr b="1" i="1" lang="en-US" sz="2400"/>
              <a:t>subname</a:t>
            </a:r>
            <a:r>
              <a:rPr i="1" lang="en-US" sz="2400"/>
              <a:t>&gt; 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 </a:t>
            </a:r>
            <a:r>
              <a:rPr lang="en-US" sz="2800"/>
              <a:t> </a:t>
            </a:r>
            <a:r>
              <a:rPr lang="en-US" sz="2400"/>
              <a:t>A JDBC URL has three parts, which are separated by colons: </a:t>
            </a:r>
            <a:endParaRPr sz="2400"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1" lang="en-US" sz="2200"/>
              <a:t>jdbc</a:t>
            </a:r>
            <a:r>
              <a:rPr lang="en-US" sz="2200"/>
              <a:t> is the protocol. </a:t>
            </a:r>
            <a:endParaRPr sz="2200"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&lt;</a:t>
            </a:r>
            <a:r>
              <a:rPr b="1" lang="en-US" sz="2200"/>
              <a:t>subprotocol</a:t>
            </a:r>
            <a:r>
              <a:rPr lang="en-US" sz="2200"/>
              <a:t>&gt; is usually the </a:t>
            </a:r>
            <a:r>
              <a:rPr b="1" lang="en-US" sz="2200"/>
              <a:t>driver</a:t>
            </a:r>
            <a:r>
              <a:rPr lang="en-US" sz="2200"/>
              <a:t> or the database connectivity mechanism, which may be supported by one or more drivers.</a:t>
            </a:r>
            <a:endParaRPr sz="2200"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&lt;</a:t>
            </a:r>
            <a:r>
              <a:rPr b="1" lang="en-US" sz="2200"/>
              <a:t>subname</a:t>
            </a:r>
            <a:r>
              <a:rPr lang="en-US" sz="2200"/>
              <a:t>&gt; is  the database. </a:t>
            </a:r>
            <a:endParaRPr sz="2200"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For example, to access a MySQL database through a JDBC-ODBC bridge, one might use a URL such as the following: </a:t>
            </a:r>
            <a:endParaRPr sz="22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		</a:t>
            </a:r>
            <a:r>
              <a:rPr b="1" lang="en-US"/>
              <a:t>jdbc:mysql://localhost:3306/ABC</a:t>
            </a:r>
            <a:endParaRPr b="1" sz="2800"/>
          </a:p>
        </p:txBody>
      </p:sp>
      <p:sp>
        <p:nvSpPr>
          <p:cNvPr id="320" name="Google Shape;320;p2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21" name="Google Shape;321;p2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27" name="Google Shape;327;p27"/>
          <p:cNvSpPr txBox="1"/>
          <p:nvPr>
            <p:ph idx="1" type="body"/>
          </p:nvPr>
        </p:nvSpPr>
        <p:spPr>
          <a:xfrm>
            <a:off x="228600" y="685800"/>
            <a:ext cx="8839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>
                <a:solidFill>
                  <a:srgbClr val="0000CC"/>
                </a:solidFill>
              </a:rPr>
              <a:t>Connection</a:t>
            </a:r>
            <a:r>
              <a:rPr lang="en-US"/>
              <a:t> con=</a:t>
            </a:r>
            <a:r>
              <a:rPr b="1" lang="en-US">
                <a:solidFill>
                  <a:srgbClr val="0000CC"/>
                </a:solidFill>
              </a:rPr>
              <a:t>DriverManager</a:t>
            </a:r>
            <a:r>
              <a:rPr lang="en-US"/>
              <a:t>.</a:t>
            </a:r>
            <a:r>
              <a:rPr b="1" lang="en-US">
                <a:solidFill>
                  <a:srgbClr val="C00000"/>
                </a:solidFill>
              </a:rPr>
              <a:t>getConnection</a:t>
            </a:r>
            <a:r>
              <a:rPr lang="en-US"/>
              <a:t>( "</a:t>
            </a:r>
            <a:r>
              <a:rPr b="1" lang="en-US"/>
              <a:t>jdbc:mysql://localhost:3306/</a:t>
            </a:r>
            <a:r>
              <a:rPr b="1" lang="en-US">
                <a:solidFill>
                  <a:srgbClr val="CC00CC"/>
                </a:solidFill>
              </a:rPr>
              <a:t>databasename</a:t>
            </a:r>
            <a:r>
              <a:rPr lang="en-US"/>
              <a:t>" , "</a:t>
            </a:r>
            <a:r>
              <a:rPr b="1" lang="en-US">
                <a:solidFill>
                  <a:srgbClr val="CC00CC"/>
                </a:solidFill>
              </a:rPr>
              <a:t>username</a:t>
            </a:r>
            <a:r>
              <a:rPr lang="en-US"/>
              <a:t>", "</a:t>
            </a:r>
            <a:r>
              <a:rPr b="1" lang="en-US">
                <a:solidFill>
                  <a:srgbClr val="CC00CC"/>
                </a:solidFill>
              </a:rPr>
              <a:t>password</a:t>
            </a:r>
            <a:r>
              <a:rPr lang="en-US"/>
              <a:t>"   );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/>
              <a:t>The JDBC url used is 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r>
              <a:rPr b="1" lang="en-US"/>
              <a:t>jdbc:mysql://localhost:3306/</a:t>
            </a:r>
            <a:r>
              <a:rPr b="1" lang="en-US">
                <a:solidFill>
                  <a:srgbClr val="CC00CC"/>
                </a:solidFill>
              </a:rPr>
              <a:t>databasename</a:t>
            </a:r>
            <a:r>
              <a:rPr b="1" lang="en-US"/>
              <a:t>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Here </a:t>
            </a:r>
            <a:r>
              <a:rPr b="1" lang="en-US"/>
              <a:t>jdbc</a:t>
            </a:r>
            <a:r>
              <a:rPr lang="en-US"/>
              <a:t> is the API,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mysql</a:t>
            </a:r>
            <a:r>
              <a:rPr lang="en-US"/>
              <a:t> is the database,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localhost</a:t>
            </a:r>
            <a:r>
              <a:rPr lang="en-US"/>
              <a:t> is the server name on which </a:t>
            </a:r>
            <a:r>
              <a:rPr b="1" lang="en-US"/>
              <a:t>mysql</a:t>
            </a:r>
            <a:r>
              <a:rPr lang="en-US"/>
              <a:t> is running(we can give IP address here)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3306</a:t>
            </a:r>
            <a:r>
              <a:rPr lang="en-US"/>
              <a:t> is the port number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Char char="•"/>
            </a:pPr>
            <a:r>
              <a:rPr b="1" lang="en-US">
                <a:solidFill>
                  <a:srgbClr val="CC00CC"/>
                </a:solidFill>
              </a:rPr>
              <a:t>databasename </a:t>
            </a:r>
            <a:r>
              <a:rPr lang="en-US"/>
              <a:t>is the name of the database created in MySQL</a:t>
            </a:r>
            <a:endParaRPr i="1"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CC00CC"/>
                </a:solidFill>
              </a:rPr>
              <a:t>username </a:t>
            </a:r>
            <a:r>
              <a:rPr lang="en-US"/>
              <a:t>Give the username of MySQL(root is the default username. Other MySQL username also we can give here).	</a:t>
            </a:r>
            <a:endParaRPr b="1"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CC00CC"/>
                </a:solidFill>
              </a:rPr>
              <a:t>password </a:t>
            </a:r>
            <a:r>
              <a:rPr lang="en-US"/>
              <a:t>Give the password of MySQL login given during installation.</a:t>
            </a:r>
            <a:endParaRPr b="1"/>
          </a:p>
        </p:txBody>
      </p:sp>
      <p:sp>
        <p:nvSpPr>
          <p:cNvPr id="328" name="Google Shape;328;p2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29" name="Google Shape;329;p2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35" name="Google Shape;335;p28"/>
          <p:cNvSpPr txBox="1"/>
          <p:nvPr>
            <p:ph idx="1" type="body"/>
          </p:nvPr>
        </p:nvSpPr>
        <p:spPr>
          <a:xfrm>
            <a:off x="228600" y="685800"/>
            <a:ext cx="8686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3. Creating a Statement object</a:t>
            </a:r>
            <a:endParaRPr b="1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Once a connection is established, we can interact with the database.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u="sng"/>
              <a:t>To execute SQL statements</a:t>
            </a:r>
            <a:r>
              <a:rPr lang="en-US"/>
              <a:t>, we need to </a:t>
            </a:r>
            <a:r>
              <a:rPr lang="en-US" u="sng"/>
              <a:t>create a Statement object from the Connection object </a:t>
            </a:r>
            <a:r>
              <a:rPr lang="en-US"/>
              <a:t>by using the createStatement() method.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 Statement object is used to send and execute SQL statements to a database.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>
                <a:solidFill>
                  <a:srgbClr val="0000CC"/>
                </a:solidFill>
              </a:rPr>
              <a:t>Statement</a:t>
            </a:r>
            <a:r>
              <a:rPr lang="en-US"/>
              <a:t> object= connectionobject.</a:t>
            </a:r>
            <a:r>
              <a:rPr b="1" lang="en-US"/>
              <a:t> </a:t>
            </a:r>
            <a:r>
              <a:rPr b="1" lang="en-US">
                <a:solidFill>
                  <a:srgbClr val="C00000"/>
                </a:solidFill>
              </a:rPr>
              <a:t>createStatement();</a:t>
            </a:r>
            <a:endParaRPr b="1">
              <a:solidFill>
                <a:srgbClr val="C00000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E.g.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	Connection</a:t>
            </a:r>
            <a:r>
              <a:rPr lang="en-US" sz="2400"/>
              <a:t> </a:t>
            </a:r>
            <a:r>
              <a:rPr lang="en-US" sz="2400">
                <a:solidFill>
                  <a:srgbClr val="0000CC"/>
                </a:solidFill>
              </a:rPr>
              <a:t>con</a:t>
            </a:r>
            <a:r>
              <a:rPr lang="en-US" sz="2400"/>
              <a:t>=</a:t>
            </a:r>
            <a:r>
              <a:rPr b="1" lang="en-US" sz="2400"/>
              <a:t>DriverManager</a:t>
            </a:r>
            <a:r>
              <a:rPr lang="en-US" sz="2400"/>
              <a:t>.</a:t>
            </a:r>
            <a:r>
              <a:rPr b="1" lang="en-US" sz="2400"/>
              <a:t>getConnection</a:t>
            </a:r>
            <a:r>
              <a:rPr lang="en-US" sz="2400"/>
              <a:t>(  "jdbc:mysql://localhost:3306/ABC" ,   "</a:t>
            </a:r>
            <a:r>
              <a:rPr b="1" lang="en-US" sz="2400"/>
              <a:t>root</a:t>
            </a:r>
            <a:r>
              <a:rPr lang="en-US" sz="2400"/>
              <a:t>"    ,   "</a:t>
            </a:r>
            <a:r>
              <a:rPr b="1" lang="en-US" sz="2400"/>
              <a:t>root123</a:t>
            </a:r>
            <a:r>
              <a:rPr lang="en-US" sz="2400"/>
              <a:t>"  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>
                <a:solidFill>
                  <a:srgbClr val="0000CC"/>
                </a:solidFill>
              </a:rPr>
              <a:t>Statement</a:t>
            </a:r>
            <a:r>
              <a:rPr b="1" lang="en-US"/>
              <a:t> st = </a:t>
            </a:r>
            <a:r>
              <a:rPr b="1" lang="en-US">
                <a:solidFill>
                  <a:srgbClr val="0000CC"/>
                </a:solidFill>
              </a:rPr>
              <a:t>con</a:t>
            </a:r>
            <a:r>
              <a:rPr b="1" lang="en-US"/>
              <a:t>.</a:t>
            </a:r>
            <a:r>
              <a:rPr b="1" lang="en-US">
                <a:solidFill>
                  <a:srgbClr val="C00000"/>
                </a:solidFill>
              </a:rPr>
              <a:t>createStatement();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Statement object </a:t>
            </a:r>
            <a:r>
              <a:rPr b="1" lang="en-US" sz="2200"/>
              <a:t>st </a:t>
            </a:r>
            <a:r>
              <a:rPr lang="en-US" sz="2200"/>
              <a:t>is used to </a:t>
            </a:r>
            <a:r>
              <a:rPr b="1" lang="en-US" sz="2200"/>
              <a:t>send and execute SQL statements</a:t>
            </a:r>
            <a:r>
              <a:rPr lang="en-US" sz="2200"/>
              <a:t> to a database.</a:t>
            </a:r>
            <a:endParaRPr sz="2200">
              <a:solidFill>
                <a:srgbClr val="C00000"/>
              </a:solidFill>
            </a:endParaRPr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36" name="Google Shape;336;p2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37" name="Google Shape;337;p2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228600" y="685800"/>
            <a:ext cx="4419600" cy="457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44" name="Google Shape;344;p29"/>
          <p:cNvSpPr txBox="1"/>
          <p:nvPr>
            <p:ph idx="1" type="body"/>
          </p:nvPr>
        </p:nvSpPr>
        <p:spPr>
          <a:xfrm>
            <a:off x="152400" y="685800"/>
            <a:ext cx="8686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4. Execute the SQL Statements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execute a SQL statement we use </a:t>
            </a:r>
            <a:r>
              <a:rPr b="1" lang="en-US" sz="2400"/>
              <a:t>executeQuery() </a:t>
            </a:r>
            <a:r>
              <a:rPr lang="en-US" sz="2400"/>
              <a:t>or </a:t>
            </a:r>
            <a:r>
              <a:rPr b="1" lang="en-US" sz="2400"/>
              <a:t>executeUpdate() method </a:t>
            </a:r>
            <a:r>
              <a:rPr lang="en-US" sz="2400"/>
              <a:t>on </a:t>
            </a:r>
            <a:r>
              <a:rPr b="1" lang="en-US" sz="2400">
                <a:solidFill>
                  <a:srgbClr val="0000CC"/>
                </a:solidFill>
              </a:rPr>
              <a:t>Statement</a:t>
            </a:r>
            <a:r>
              <a:rPr lang="en-US" sz="2400"/>
              <a:t> object</a:t>
            </a:r>
            <a:r>
              <a:rPr b="1" lang="en-US" sz="2400"/>
              <a:t>.</a:t>
            </a:r>
            <a:r>
              <a:rPr lang="en-US" sz="2400"/>
              <a:t> </a:t>
            </a:r>
            <a:endParaRPr sz="2400"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/>
              <a:t> The </a:t>
            </a:r>
            <a:r>
              <a:rPr b="1" lang="en-US">
                <a:solidFill>
                  <a:srgbClr val="C00000"/>
                </a:solidFill>
              </a:rPr>
              <a:t>executeUpdate()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method </a:t>
            </a:r>
            <a:r>
              <a:rPr lang="en-US" u="sng"/>
              <a:t>executes the </a:t>
            </a:r>
            <a:r>
              <a:rPr b="1" lang="en-US" u="sng"/>
              <a:t>CREATE, INSERT, DELETE </a:t>
            </a:r>
            <a:r>
              <a:rPr lang="en-US" u="sng"/>
              <a:t>and</a:t>
            </a:r>
            <a:r>
              <a:rPr b="1" lang="en-US" u="sng"/>
              <a:t> UPDATE</a:t>
            </a:r>
            <a:r>
              <a:rPr lang="en-US"/>
              <a:t> statements.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E.g.: 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	</a:t>
            </a:r>
            <a:r>
              <a:rPr b="1" lang="en-US"/>
              <a:t>st</a:t>
            </a:r>
            <a:r>
              <a:rPr lang="en-US"/>
              <a:t>.executeUpdate("CREATE TABLE stud1(roll int, name varchar(15))");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	st.</a:t>
            </a:r>
            <a:r>
              <a:rPr lang="en-US"/>
              <a:t>executeUpdate(“INSERT INTO student values(1, ’Anu’) ”);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/>
              <a:t> The </a:t>
            </a:r>
            <a:r>
              <a:rPr b="1" i="1" lang="en-US">
                <a:solidFill>
                  <a:srgbClr val="C00000"/>
                </a:solidFill>
              </a:rPr>
              <a:t>executeQuery</a:t>
            </a:r>
            <a:r>
              <a:rPr lang="en-US">
                <a:solidFill>
                  <a:srgbClr val="C00000"/>
                </a:solidFill>
              </a:rPr>
              <a:t>()</a:t>
            </a:r>
            <a:r>
              <a:rPr lang="en-US"/>
              <a:t> method </a:t>
            </a:r>
            <a:r>
              <a:rPr lang="en-US" u="sng"/>
              <a:t>executes a </a:t>
            </a:r>
            <a:r>
              <a:rPr b="1" lang="en-US" u="sng"/>
              <a:t>SELECT</a:t>
            </a:r>
            <a:r>
              <a:rPr lang="en-US" u="sng"/>
              <a:t> query</a:t>
            </a:r>
            <a:r>
              <a:rPr lang="en-US"/>
              <a:t>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takes an SQL SELECT query string as an argument and returns the result(output) as a </a:t>
            </a:r>
            <a:r>
              <a:rPr b="1" i="1" lang="en-US"/>
              <a:t>ResultSet</a:t>
            </a:r>
            <a:r>
              <a:rPr lang="en-US"/>
              <a:t> object.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E.g.: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>
                <a:solidFill>
                  <a:srgbClr val="0000CC"/>
                </a:solidFill>
              </a:rPr>
              <a:t>ResultSet</a:t>
            </a:r>
            <a:r>
              <a:rPr lang="en-US"/>
              <a:t> rs=st</a:t>
            </a:r>
            <a:r>
              <a:rPr b="1" lang="en-US"/>
              <a:t>.</a:t>
            </a:r>
            <a:r>
              <a:rPr b="1" i="1" lang="en-US"/>
              <a:t>executeQuery</a:t>
            </a:r>
            <a:r>
              <a:rPr lang="en-US"/>
              <a:t>(“SELECT rollno, name from student”);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460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-3429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 </a:t>
            </a:r>
            <a:endParaRPr/>
          </a:p>
        </p:txBody>
      </p:sp>
      <p:sp>
        <p:nvSpPr>
          <p:cNvPr id="345" name="Google Shape;345;p29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46" name="Google Shape;346;p29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228600" y="685800"/>
            <a:ext cx="4343400" cy="457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5. Process the ResultSet (in the case of SELECT query only -To Retrieve the Result) </a:t>
            </a:r>
            <a:endParaRPr b="1" sz="24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 result of SELECT query (retrieves data from database) is stored in </a:t>
            </a:r>
            <a:r>
              <a:rPr b="1" lang="en-US"/>
              <a:t>ResultSet</a:t>
            </a:r>
            <a:r>
              <a:rPr lang="en-US"/>
              <a:t> object.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To retrieve the data from the ResultSet object, we have to  use ResultSet’s </a:t>
            </a:r>
            <a:r>
              <a:rPr lang="en-US">
                <a:solidFill>
                  <a:srgbClr val="C00000"/>
                </a:solidFill>
              </a:rPr>
              <a:t>getxxx() </a:t>
            </a:r>
            <a:r>
              <a:rPr lang="en-US"/>
              <a:t>method (where </a:t>
            </a:r>
            <a:r>
              <a:rPr lang="en-US" u="sng"/>
              <a:t>xxx is the data type.</a:t>
            </a:r>
            <a:r>
              <a:rPr lang="en-US"/>
              <a:t> )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public int getxxx(int columnIndex):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public int getxxx(Stringt columnIndex):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getInt() </a:t>
            </a:r>
            <a:r>
              <a:rPr lang="en-US"/>
              <a:t>to retrieve a integer value.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getString()</a:t>
            </a:r>
            <a:r>
              <a:rPr lang="en-US"/>
              <a:t> method can be used to retrieve a string         value.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getFloat() </a:t>
            </a:r>
            <a:r>
              <a:rPr lang="en-US"/>
              <a:t>method can be used to retrieve a floating point value.</a:t>
            </a:r>
            <a:endParaRPr/>
          </a:p>
          <a:p>
            <a:pPr indent="-228600" lvl="3" marL="1600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54" name="Google Shape;354;p30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55" name="Google Shape;355;p3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457200" y="609600"/>
            <a:ext cx="8382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Eg:</a:t>
            </a:r>
            <a:endParaRPr/>
          </a:p>
          <a:p>
            <a:pPr indent="-274320" lvl="2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>
                <a:solidFill>
                  <a:srgbClr val="0000CC"/>
                </a:solidFill>
              </a:rPr>
              <a:t>		ResultSet</a:t>
            </a:r>
            <a:r>
              <a:rPr lang="en-US"/>
              <a:t> rs=st</a:t>
            </a:r>
            <a:r>
              <a:rPr b="1" lang="en-US"/>
              <a:t>.</a:t>
            </a:r>
            <a:r>
              <a:rPr b="1" i="1" lang="en-US"/>
              <a:t>executeQuery</a:t>
            </a:r>
            <a:r>
              <a:rPr lang="en-US"/>
              <a:t>(“SELECT rollno, name 			from   student”);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while(rs.</a:t>
            </a:r>
            <a:r>
              <a:rPr b="1" lang="en-US" sz="2400">
                <a:solidFill>
                  <a:srgbClr val="C00000"/>
                </a:solidFill>
              </a:rPr>
              <a:t>next()</a:t>
            </a:r>
            <a:r>
              <a:rPr lang="en-US" sz="2400"/>
              <a:t>)</a:t>
            </a:r>
            <a:endParaRPr sz="24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{</a:t>
            </a:r>
            <a:endParaRPr sz="24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 System.out.println(rs.</a:t>
            </a:r>
            <a:r>
              <a:rPr lang="en-US" sz="2400">
                <a:solidFill>
                  <a:srgbClr val="C00000"/>
                </a:solidFill>
              </a:rPr>
              <a:t>getInt</a:t>
            </a:r>
            <a:r>
              <a:rPr lang="en-US" sz="2400"/>
              <a:t>(1)); 				System.out.println(rs.</a:t>
            </a:r>
            <a:r>
              <a:rPr lang="en-US" sz="2400">
                <a:solidFill>
                  <a:srgbClr val="C00000"/>
                </a:solidFill>
              </a:rPr>
              <a:t>getString</a:t>
            </a:r>
            <a:r>
              <a:rPr lang="en-US" sz="2400"/>
              <a:t>(2));</a:t>
            </a:r>
            <a:endParaRPr sz="24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}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Here rs contains all rollno and name rows in studenttable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 </a:t>
            </a:r>
            <a:r>
              <a:rPr b="1" lang="en-US"/>
              <a:t>ResultSet cursor </a:t>
            </a:r>
            <a:r>
              <a:rPr lang="en-US"/>
              <a:t>is </a:t>
            </a:r>
            <a:r>
              <a:rPr lang="en-US" u="sng"/>
              <a:t>initially positioned </a:t>
            </a:r>
            <a:r>
              <a:rPr b="1" lang="en-US" u="sng"/>
              <a:t>before the first row</a:t>
            </a:r>
            <a:r>
              <a:rPr b="1" lang="en-US"/>
              <a:t>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the first call to the method next()</a:t>
            </a:r>
            <a:r>
              <a:rPr lang="en-US" sz="2200"/>
              <a:t> (rs.next()) </a:t>
            </a:r>
            <a:r>
              <a:rPr lang="en-US" sz="2200" u="sng"/>
              <a:t>moves the cursor forward and makes the first row the current row)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second call to next() </a:t>
            </a:r>
            <a:r>
              <a:rPr lang="en-US" sz="2200" u="sng"/>
              <a:t>moves the cursor forward and makes  the second row as the current row</a:t>
            </a:r>
            <a:r>
              <a:rPr lang="en-US" sz="2200"/>
              <a:t>, and so on.</a:t>
            </a:r>
            <a:endParaRPr sz="2200"/>
          </a:p>
        </p:txBody>
      </p:sp>
      <p:sp>
        <p:nvSpPr>
          <p:cNvPr id="362" name="Google Shape;362;p3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63" name="Google Shape;363;p3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rs.</a:t>
            </a:r>
            <a:r>
              <a:rPr lang="en-US">
                <a:solidFill>
                  <a:srgbClr val="C00000"/>
                </a:solidFill>
              </a:rPr>
              <a:t>getInt</a:t>
            </a:r>
            <a:r>
              <a:rPr lang="en-US"/>
              <a:t>(1) will retrieve the value of first attribute in the current row(getInt() is used because first attribute is rollno which is integer)</a:t>
            </a:r>
            <a:endParaRPr/>
          </a:p>
          <a:p>
            <a:pPr indent="-342900" lvl="1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rs.</a:t>
            </a:r>
            <a:r>
              <a:rPr lang="en-US">
                <a:solidFill>
                  <a:srgbClr val="C00000"/>
                </a:solidFill>
              </a:rPr>
              <a:t>getString</a:t>
            </a:r>
            <a:r>
              <a:rPr lang="en-US"/>
              <a:t>(2) will retrieve the value of second attribute in the current row(getString() is used because second attribute is name which is character string)</a:t>
            </a:r>
            <a:endParaRPr/>
          </a:p>
        </p:txBody>
      </p:sp>
      <p:sp>
        <p:nvSpPr>
          <p:cNvPr id="370" name="Google Shape;370;p3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71" name="Google Shape;371;p3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77" name="Google Shape;377;p33"/>
          <p:cNvSpPr txBox="1"/>
          <p:nvPr>
            <p:ph idx="1" type="body"/>
          </p:nvPr>
        </p:nvSpPr>
        <p:spPr>
          <a:xfrm>
            <a:off x="228600" y="8382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2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None/>
            </a:pPr>
            <a:r>
              <a:rPr b="1" lang="en-US" sz="2200">
                <a:solidFill>
                  <a:srgbClr val="0000CC"/>
                </a:solidFill>
              </a:rPr>
              <a:t>ResultSet</a:t>
            </a:r>
            <a:r>
              <a:rPr lang="en-US" sz="2200"/>
              <a:t> rs=st</a:t>
            </a:r>
            <a:r>
              <a:rPr b="1" lang="en-US" sz="2200"/>
              <a:t>.</a:t>
            </a:r>
            <a:r>
              <a:rPr b="1" i="1" lang="en-US" sz="2200"/>
              <a:t>executeQuery</a:t>
            </a:r>
            <a:r>
              <a:rPr lang="en-US" sz="2200"/>
              <a:t>(“SELECT rollno, name from   student”);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while(rs.</a:t>
            </a:r>
            <a:r>
              <a:rPr b="1" lang="en-US" sz="2200">
                <a:solidFill>
                  <a:srgbClr val="C00000"/>
                </a:solidFill>
              </a:rPr>
              <a:t>next()</a:t>
            </a:r>
            <a:r>
              <a:rPr lang="en-US" sz="2200"/>
              <a:t>)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{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	 System.out.println(rs.</a:t>
            </a:r>
            <a:r>
              <a:rPr lang="en-US" sz="2200">
                <a:solidFill>
                  <a:srgbClr val="C00000"/>
                </a:solidFill>
              </a:rPr>
              <a:t>getInt</a:t>
            </a:r>
            <a:r>
              <a:rPr lang="en-US" sz="2200"/>
              <a:t>(1)); 				System.out.println(rs.</a:t>
            </a:r>
            <a:r>
              <a:rPr lang="en-US" sz="2200">
                <a:solidFill>
                  <a:srgbClr val="C00000"/>
                </a:solidFill>
              </a:rPr>
              <a:t>getString</a:t>
            </a:r>
            <a:r>
              <a:rPr lang="en-US" sz="2200"/>
              <a:t>(2));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}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Working</a:t>
            </a:r>
            <a:r>
              <a:rPr lang="en-US" sz="2400"/>
              <a:t>: 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Here rollno and name in all rows in student table are retrieved. 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ResultSet </a:t>
            </a:r>
            <a:r>
              <a:rPr lang="en-US" sz="2200"/>
              <a:t>object </a:t>
            </a:r>
            <a:r>
              <a:rPr b="1" lang="en-US" sz="2200"/>
              <a:t>rs </a:t>
            </a:r>
            <a:r>
              <a:rPr lang="en-US" sz="2200"/>
              <a:t>maintains a cursor that is </a:t>
            </a:r>
            <a:r>
              <a:rPr lang="en-US" sz="2200" u="sng"/>
              <a:t>initially positioned </a:t>
            </a:r>
            <a:r>
              <a:rPr b="1" lang="en-US" sz="2200" u="sng"/>
              <a:t>before the first row.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When while(rs.</a:t>
            </a:r>
            <a:r>
              <a:rPr b="1" lang="en-US" sz="2200">
                <a:solidFill>
                  <a:srgbClr val="C00000"/>
                </a:solidFill>
              </a:rPr>
              <a:t>next()) </a:t>
            </a:r>
            <a:r>
              <a:rPr lang="en-US" sz="2200"/>
              <a:t> is first executed the cursor moves forward to first row of result and prints the value of first attribute (rollno) and second attribute(name)in first row in the result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Next time while loop is executed, if second row is there, then rs.nex() moves cursor to second row and prints the values in thar row.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continues until there is no more row in the result.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378" name="Google Shape;378;p3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79" name="Google Shape;379;p3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Connectivity</a:t>
            </a:r>
            <a:r>
              <a:rPr b="0" lang="en-US"/>
              <a:t>(contd.)</a:t>
            </a:r>
            <a:endParaRPr b="0"/>
          </a:p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6. </a:t>
            </a:r>
            <a:r>
              <a:rPr b="1" lang="en-US" sz="2800"/>
              <a:t>Close the connection and Statement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 </a:t>
            </a:r>
            <a:endParaRPr sz="32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Finally open connections need to be closed using </a:t>
            </a:r>
            <a:r>
              <a:rPr b="1" lang="en-US" sz="2400"/>
              <a:t>close()</a:t>
            </a:r>
            <a:r>
              <a:rPr lang="en-US" sz="2400"/>
              <a:t> method as: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con</a:t>
            </a:r>
            <a:r>
              <a:rPr b="1" lang="en-US" sz="3200"/>
              <a:t>.</a:t>
            </a:r>
            <a:r>
              <a:rPr b="1" lang="en-US" sz="2400">
                <a:solidFill>
                  <a:srgbClr val="C00000"/>
                </a:solidFill>
              </a:rPr>
              <a:t>close</a:t>
            </a:r>
            <a:r>
              <a:rPr lang="en-US" sz="2400">
                <a:solidFill>
                  <a:srgbClr val="C00000"/>
                </a:solidFill>
              </a:rPr>
              <a:t>()</a:t>
            </a:r>
            <a:endParaRPr sz="2800">
              <a:solidFill>
                <a:srgbClr val="C00000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st</a:t>
            </a:r>
            <a:r>
              <a:rPr b="1" lang="en-US" sz="3200"/>
              <a:t>.</a:t>
            </a:r>
            <a:r>
              <a:rPr b="1" lang="en-US" sz="2400">
                <a:solidFill>
                  <a:srgbClr val="C00000"/>
                </a:solidFill>
              </a:rPr>
              <a:t> close</a:t>
            </a:r>
            <a:r>
              <a:rPr lang="en-US" sz="2400"/>
              <a:t>()</a:t>
            </a:r>
            <a:endParaRPr sz="28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 </a:t>
            </a:r>
            <a:endParaRPr sz="2400"/>
          </a:p>
          <a:p>
            <a:pPr indent="-342900" lvl="1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</a:t>
            </a:r>
            <a:endParaRPr sz="2000"/>
          </a:p>
        </p:txBody>
      </p:sp>
      <p:sp>
        <p:nvSpPr>
          <p:cNvPr id="386" name="Google Shape;386;p3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87" name="Google Shape;387;p3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Java Database connection steps</a:t>
            </a:r>
            <a:endParaRPr/>
          </a:p>
        </p:txBody>
      </p:sp>
      <p:sp>
        <p:nvSpPr>
          <p:cNvPr id="393" name="Google Shape;393;p82"/>
          <p:cNvSpPr txBox="1"/>
          <p:nvPr>
            <p:ph idx="1" type="body"/>
          </p:nvPr>
        </p:nvSpPr>
        <p:spPr>
          <a:xfrm>
            <a:off x="226142" y="580103"/>
            <a:ext cx="8841658" cy="5739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1. </a:t>
            </a:r>
            <a:r>
              <a:rPr b="1" lang="en-US"/>
              <a:t>Load and Register Driver </a:t>
            </a:r>
            <a:r>
              <a:rPr lang="en-US">
                <a:solidFill>
                  <a:srgbClr val="0000CC"/>
                </a:solidFill>
              </a:rPr>
              <a:t>Class</a:t>
            </a:r>
            <a:r>
              <a:rPr lang="en-US"/>
              <a:t>.</a:t>
            </a:r>
            <a:r>
              <a:rPr lang="en-US">
                <a:solidFill>
                  <a:srgbClr val="C00000"/>
                </a:solidFill>
              </a:rPr>
              <a:t>forName</a:t>
            </a:r>
            <a:r>
              <a:rPr lang="en-US"/>
              <a:t>("com.mysql.cj.jdbc.Driver");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b="1" lang="en-US"/>
              <a:t>Establish the connection between java application and database.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t/>
            </a:r>
            <a:endParaRPr b="1" sz="2000">
              <a:solidFill>
                <a:srgbClr val="0000CC"/>
              </a:solidFill>
            </a:endParaRPr>
          </a:p>
          <a:p>
            <a:pPr indent="-3048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     3. Create  Statement object</a:t>
            </a:r>
            <a:endParaRPr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0000CC"/>
                </a:solidFill>
              </a:rPr>
              <a:t>Statement</a:t>
            </a:r>
            <a:r>
              <a:rPr lang="en-US"/>
              <a:t> st = </a:t>
            </a:r>
            <a:r>
              <a:rPr lang="en-US">
                <a:solidFill>
                  <a:srgbClr val="0000CC"/>
                </a:solidFill>
              </a:rPr>
              <a:t>con</a:t>
            </a:r>
            <a:r>
              <a:rPr lang="en-US"/>
              <a:t>.</a:t>
            </a:r>
            <a:r>
              <a:rPr lang="en-US">
                <a:solidFill>
                  <a:srgbClr val="C00000"/>
                </a:solidFill>
              </a:rPr>
              <a:t>createStatement();</a:t>
            </a:r>
            <a:endParaRPr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     4. Execute the SQL Statements</a:t>
            </a:r>
            <a:endParaRPr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rPr lang="en-US"/>
              <a:t> </a:t>
            </a:r>
            <a:r>
              <a:rPr lang="en-US">
                <a:solidFill>
                  <a:srgbClr val="0000CC"/>
                </a:solidFill>
              </a:rPr>
              <a:t>st</a:t>
            </a:r>
            <a:r>
              <a:rPr lang="en-US"/>
              <a:t>.</a:t>
            </a:r>
            <a:r>
              <a:rPr lang="en-US">
                <a:solidFill>
                  <a:srgbClr val="C00000"/>
                </a:solidFill>
              </a:rPr>
              <a:t>executeUpdate(</a:t>
            </a:r>
            <a:r>
              <a:rPr lang="en-US"/>
              <a:t>“</a:t>
            </a:r>
            <a:r>
              <a:rPr lang="en-US" sz="2000">
                <a:solidFill>
                  <a:schemeClr val="dk1"/>
                </a:solidFill>
              </a:rPr>
              <a:t>Create statement/ insert statement/update statement/ delete statement</a:t>
            </a:r>
            <a:r>
              <a:rPr lang="en-US"/>
              <a:t>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ResultSet</a:t>
            </a:r>
            <a:r>
              <a:rPr lang="en-US" sz="2000"/>
              <a:t> </a:t>
            </a:r>
            <a:r>
              <a:rPr lang="en-US" sz="2400">
                <a:solidFill>
                  <a:srgbClr val="CC00CC"/>
                </a:solidFill>
              </a:rPr>
              <a:t>rs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</a:t>
            </a:r>
            <a:r>
              <a:rPr lang="en-US" sz="2400">
                <a:solidFill>
                  <a:srgbClr val="C00000"/>
                </a:solidFill>
              </a:rPr>
              <a:t>Query</a:t>
            </a:r>
            <a:r>
              <a:rPr lang="en-US" sz="2000"/>
              <a:t>(“</a:t>
            </a:r>
            <a:r>
              <a:rPr lang="en-US" sz="1800"/>
              <a:t>Select statement</a:t>
            </a:r>
            <a:r>
              <a:rPr lang="en-US" sz="2000"/>
              <a:t>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lang="en-US" sz="2000"/>
              <a:t> </a:t>
            </a:r>
            <a:r>
              <a:rPr b="1" lang="en-US" sz="2200"/>
              <a:t>     5.Process the result </a:t>
            </a:r>
            <a:r>
              <a:rPr lang="en-US" sz="2200"/>
              <a:t>- using getxxx()  xxx can be Int Float String based on data in ResultSet</a:t>
            </a:r>
            <a:endParaRPr sz="2200"/>
          </a:p>
          <a:p>
            <a:pPr indent="0" lvl="2" marL="228600" rtl="0" algn="l">
              <a:lnSpc>
                <a:spcPct val="75000"/>
              </a:lnSpc>
              <a:spcBef>
                <a:spcPts val="22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      6. Close the connection and Statement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/>
              <a:t>		con.</a:t>
            </a:r>
            <a:r>
              <a:rPr lang="en-US" sz="1800">
                <a:solidFill>
                  <a:srgbClr val="C00000"/>
                </a:solidFill>
              </a:rPr>
              <a:t>close();</a:t>
            </a:r>
            <a:endParaRPr sz="2000">
              <a:solidFill>
                <a:srgbClr val="C00000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/>
              <a:t>		st.</a:t>
            </a:r>
            <a:r>
              <a:rPr lang="en-US" sz="1800">
                <a:solidFill>
                  <a:srgbClr val="C00000"/>
                </a:solidFill>
              </a:rPr>
              <a:t> close</a:t>
            </a:r>
            <a:r>
              <a:rPr lang="en-US" sz="1800"/>
              <a:t>();</a:t>
            </a:r>
            <a:endParaRPr sz="2000"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0" lvl="2" marL="8890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28600" lvl="0" marL="4572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394" name="Google Shape;394;p8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82"/>
          <p:cNvSpPr txBox="1"/>
          <p:nvPr/>
        </p:nvSpPr>
        <p:spPr>
          <a:xfrm>
            <a:off x="-358879" y="2240580"/>
            <a:ext cx="100829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Connection </a:t>
            </a:r>
            <a:r>
              <a:rPr b="0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=DriverManager.getConnection( "jdbc:mysql://localhost:3306/ABC" ,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"root"    ,   "root123"  );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MySQL</a:t>
            </a:r>
            <a:endParaRPr/>
          </a:p>
        </p:txBody>
      </p:sp>
      <p:sp>
        <p:nvSpPr>
          <p:cNvPr id="401" name="Google Shape;401;p35"/>
          <p:cNvSpPr txBox="1"/>
          <p:nvPr>
            <p:ph idx="1" type="body"/>
          </p:nvPr>
        </p:nvSpPr>
        <p:spPr>
          <a:xfrm>
            <a:off x="533400" y="838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MySQL is an open source database software.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We can create databases, tables etc for storing data and we can perform various database operations.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Take </a:t>
            </a:r>
            <a:r>
              <a:rPr b="1" lang="en-US" sz="2400"/>
              <a:t>mysqlshell</a:t>
            </a:r>
            <a:r>
              <a:rPr lang="en-US" sz="2400"/>
              <a:t> and type: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\sql</a:t>
            </a:r>
            <a:endParaRPr b="1"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\connect </a:t>
            </a:r>
            <a:r>
              <a:rPr b="1" lang="en-US" sz="2400">
                <a:solidFill>
                  <a:srgbClr val="FF0000"/>
                </a:solidFill>
              </a:rPr>
              <a:t>root</a:t>
            </a:r>
            <a:r>
              <a:rPr b="1" lang="en-US" sz="2400"/>
              <a:t>@localhost</a:t>
            </a:r>
            <a:endParaRPr b="1"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Enter password </a:t>
            </a:r>
            <a:r>
              <a:rPr b="1" lang="en-US" sz="2400">
                <a:solidFill>
                  <a:srgbClr val="FF0000"/>
                </a:solidFill>
              </a:rPr>
              <a:t>root123 </a:t>
            </a:r>
            <a:r>
              <a:rPr b="1" lang="en-US" sz="2400"/>
              <a:t>	</a:t>
            </a:r>
            <a:r>
              <a:rPr b="1" lang="en-US" sz="2000">
                <a:solidFill>
                  <a:srgbClr val="FF0000"/>
                </a:solidFill>
              </a:rPr>
              <a:t>(password given during installation)</a:t>
            </a:r>
            <a:endParaRPr b="1" sz="2400">
              <a:solidFill>
                <a:srgbClr val="FF0000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Create database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CREATE DATABASE </a:t>
            </a:r>
            <a:r>
              <a:rPr b="1" lang="en-US" sz="2400">
                <a:solidFill>
                  <a:srgbClr val="FF0000"/>
                </a:solidFill>
              </a:rPr>
              <a:t>ABC</a:t>
            </a:r>
            <a:r>
              <a:rPr b="1" lang="en-US" sz="2400"/>
              <a:t>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 the database for creating tables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USE </a:t>
            </a:r>
            <a:r>
              <a:rPr b="1" lang="en-US" sz="2400">
                <a:solidFill>
                  <a:srgbClr val="FF0000"/>
                </a:solidFill>
              </a:rPr>
              <a:t>ABC</a:t>
            </a:r>
            <a:r>
              <a:rPr b="1" lang="en-US" sz="2400"/>
              <a:t>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Now you can do database operations in MySQL</a:t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402" name="Google Shape;402;p3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03" name="Google Shape;403;p3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Commands-</a:t>
            </a:r>
            <a:r>
              <a:rPr lang="en-US">
                <a:solidFill>
                  <a:srgbClr val="0000CC"/>
                </a:solidFill>
              </a:rPr>
              <a:t> CREATE TABLE</a:t>
            </a:r>
            <a:r>
              <a:rPr lang="en-US"/>
              <a:t> </a:t>
            </a:r>
            <a:endParaRPr/>
          </a:p>
        </p:txBody>
      </p:sp>
      <p:sp>
        <p:nvSpPr>
          <p:cNvPr id="409" name="Google Shape;409;p36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Char char="•"/>
            </a:pPr>
            <a:r>
              <a:rPr b="1" lang="en-US">
                <a:solidFill>
                  <a:srgbClr val="0000CC"/>
                </a:solidFill>
              </a:rPr>
              <a:t>CREATE TABLE</a:t>
            </a:r>
            <a:r>
              <a:rPr lang="en-US"/>
              <a:t> tablename (atribute1  type, attribute2  type, attribute3  type </a:t>
            </a:r>
            <a:r>
              <a:rPr lang="en-US">
                <a:solidFill>
                  <a:srgbClr val="0000CC"/>
                </a:solidFill>
              </a:rPr>
              <a:t>Primary Key,…..</a:t>
            </a:r>
            <a:r>
              <a:rPr lang="en-US"/>
              <a:t> atributen  type,</a:t>
            </a:r>
            <a:r>
              <a:rPr b="1" i="1" lang="en-US"/>
              <a:t>constraints</a:t>
            </a:r>
            <a:r>
              <a:rPr lang="en-US"/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Type can be 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int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char(size)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varchar(size)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real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date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E.g. CREATE TABLE 	person(name varchar(15) , age int);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10" name="Google Shape;410;p3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11" name="Google Shape;411;p3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Commands-</a:t>
            </a:r>
            <a:r>
              <a:rPr lang="en-US">
                <a:solidFill>
                  <a:srgbClr val="0000CC"/>
                </a:solidFill>
              </a:rPr>
              <a:t> INSERT </a:t>
            </a:r>
            <a:endParaRPr/>
          </a:p>
        </p:txBody>
      </p:sp>
      <p:sp>
        <p:nvSpPr>
          <p:cNvPr id="417" name="Google Shape;417;p37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Insert rows(values of attribute) into table.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Char char="•"/>
            </a:pPr>
            <a:r>
              <a:rPr b="1" lang="en-US">
                <a:solidFill>
                  <a:srgbClr val="0000CC"/>
                </a:solidFill>
              </a:rPr>
              <a:t>INSERT  INTO  </a:t>
            </a:r>
            <a:r>
              <a:rPr lang="en-US"/>
              <a:t>tablename (attribute,attribute..) </a:t>
            </a:r>
            <a:r>
              <a:rPr b="1" lang="en-US">
                <a:solidFill>
                  <a:srgbClr val="0000CC"/>
                </a:solidFill>
              </a:rPr>
              <a:t>VALUES</a:t>
            </a:r>
            <a:r>
              <a:rPr lang="en-US"/>
              <a:t>( value1,value2,….);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If type of attribute is varchar or char its value should be  enclose in  single quotes.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E.g.  Insert the following details into Person table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Name is Anu Age 20, Name is Smith Age 10 ,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Name is Roy Age 70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INSERT INTO Person(name,age) VALUES(‘Anu’, 20);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INSERT INTO Person(name,age) VALUES(‘</a:t>
            </a:r>
            <a:r>
              <a:rPr lang="en-US" sz="2800"/>
              <a:t>Smith</a:t>
            </a:r>
            <a:r>
              <a:rPr lang="en-US"/>
              <a:t>’, 10);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INSERT INTO Person(name,age) VALUES(‘</a:t>
            </a:r>
            <a:r>
              <a:rPr lang="en-US" sz="2800"/>
              <a:t>Roy</a:t>
            </a:r>
            <a:r>
              <a:rPr lang="en-US"/>
              <a:t>’, 70);</a:t>
            </a:r>
            <a:endParaRPr/>
          </a:p>
        </p:txBody>
      </p:sp>
      <p:sp>
        <p:nvSpPr>
          <p:cNvPr id="418" name="Google Shape;418;p3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19" name="Google Shape;419;p3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Commands-</a:t>
            </a:r>
            <a:r>
              <a:rPr lang="en-US">
                <a:solidFill>
                  <a:srgbClr val="0000CC"/>
                </a:solidFill>
              </a:rPr>
              <a:t> DELETE</a:t>
            </a:r>
            <a:r>
              <a:rPr lang="en-US"/>
              <a:t> </a:t>
            </a:r>
            <a:endParaRPr/>
          </a:p>
        </p:txBody>
      </p:sp>
      <p:sp>
        <p:nvSpPr>
          <p:cNvPr id="425" name="Google Shape;425;p38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Delete from  table.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>
                <a:solidFill>
                  <a:srgbClr val="0000CC"/>
                </a:solidFill>
              </a:rPr>
              <a:t>DELETE</a:t>
            </a:r>
            <a:r>
              <a:rPr lang="en-US"/>
              <a:t> </a:t>
            </a:r>
            <a:r>
              <a:rPr b="1" lang="en-US">
                <a:solidFill>
                  <a:srgbClr val="0000CC"/>
                </a:solidFill>
              </a:rPr>
              <a:t>FROM</a:t>
            </a:r>
            <a:r>
              <a:rPr lang="en-US"/>
              <a:t> tablename </a:t>
            </a:r>
            <a:r>
              <a:rPr b="1" lang="en-US">
                <a:solidFill>
                  <a:srgbClr val="0000CC"/>
                </a:solidFill>
              </a:rPr>
              <a:t>WHERE</a:t>
            </a:r>
            <a:r>
              <a:rPr lang="en-US"/>
              <a:t> condition;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Condition can be of the form: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&lt;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&lt;=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!=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 </a:t>
            </a:r>
            <a:r>
              <a:rPr lang="en-US">
                <a:solidFill>
                  <a:srgbClr val="C00000"/>
                </a:solidFill>
              </a:rPr>
              <a:t>BETWEEN</a:t>
            </a:r>
            <a:r>
              <a:rPr lang="en-US"/>
              <a:t> value 1</a:t>
            </a:r>
            <a:r>
              <a:rPr lang="en-US">
                <a:solidFill>
                  <a:srgbClr val="C00000"/>
                </a:solidFill>
              </a:rPr>
              <a:t>AND</a:t>
            </a:r>
            <a:r>
              <a:rPr lang="en-US"/>
              <a:t> value2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If more than one condition is there, then they can be combined using AND , OR as required.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E.g. </a:t>
            </a:r>
            <a:r>
              <a:rPr lang="en-US" sz="2400"/>
              <a:t>. </a:t>
            </a:r>
            <a:r>
              <a:rPr i="1" lang="en-US" sz="2400"/>
              <a:t>Remove details of persons having age 20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DELETE FROM Person WHERE age=20;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/>
              <a:t>	Remove details of persons having name Smith or age more than 60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DELETE FROM Person where age&gt;60 OR name=‘Smith’;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27" name="Google Shape;427;p3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Commands - </a:t>
            </a:r>
            <a:r>
              <a:rPr lang="en-US">
                <a:solidFill>
                  <a:srgbClr val="0000CC"/>
                </a:solidFill>
              </a:rPr>
              <a:t>UPDATE </a:t>
            </a:r>
            <a:endParaRPr/>
          </a:p>
        </p:txBody>
      </p:sp>
      <p:sp>
        <p:nvSpPr>
          <p:cNvPr id="433" name="Google Shape;433;p39"/>
          <p:cNvSpPr txBox="1"/>
          <p:nvPr>
            <p:ph idx="1" type="body"/>
          </p:nvPr>
        </p:nvSpPr>
        <p:spPr>
          <a:xfrm>
            <a:off x="457200" y="9144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update or modify the contents in   table.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>
                <a:solidFill>
                  <a:srgbClr val="0000CC"/>
                </a:solidFill>
              </a:rPr>
              <a:t>	UPDATE  </a:t>
            </a:r>
            <a:r>
              <a:rPr lang="en-US"/>
              <a:t>tablename </a:t>
            </a:r>
            <a:r>
              <a:rPr b="1" lang="en-US">
                <a:solidFill>
                  <a:srgbClr val="0000CC"/>
                </a:solidFill>
              </a:rPr>
              <a:t>SET</a:t>
            </a:r>
            <a:r>
              <a:rPr lang="en-US"/>
              <a:t>  attribute=value , attribute=value  </a:t>
            </a:r>
            <a:r>
              <a:rPr b="1" lang="en-US">
                <a:solidFill>
                  <a:srgbClr val="0000CC"/>
                </a:solidFill>
              </a:rPr>
              <a:t>WHERE</a:t>
            </a:r>
            <a:r>
              <a:rPr lang="en-US"/>
              <a:t> condition;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Condition can be of the form: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&lt;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&lt;=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!=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 </a:t>
            </a:r>
            <a:r>
              <a:rPr lang="en-US">
                <a:solidFill>
                  <a:srgbClr val="C00000"/>
                </a:solidFill>
              </a:rPr>
              <a:t>BETWEEN</a:t>
            </a:r>
            <a:r>
              <a:rPr lang="en-US"/>
              <a:t> value 1</a:t>
            </a:r>
            <a:r>
              <a:rPr lang="en-US">
                <a:solidFill>
                  <a:srgbClr val="C00000"/>
                </a:solidFill>
              </a:rPr>
              <a:t>AND</a:t>
            </a:r>
            <a:r>
              <a:rPr lang="en-US"/>
              <a:t> value2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If more than one condition is there, then they can be combined using AND , OR as required.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E.g. </a:t>
            </a:r>
            <a:r>
              <a:rPr i="1" lang="en-US"/>
              <a:t>Change the age of Roy to 25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 UPDATE  Person SET age=25 WHERE name=‘Roy’;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34" name="Google Shape;434;p39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35" name="Google Shape;435;p39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SQL Commands - </a:t>
            </a:r>
            <a:r>
              <a:rPr lang="en-US">
                <a:solidFill>
                  <a:srgbClr val="0000CC"/>
                </a:solidFill>
              </a:rPr>
              <a:t>SELECT</a:t>
            </a:r>
            <a:endParaRPr/>
          </a:p>
        </p:txBody>
      </p:sp>
      <p:sp>
        <p:nvSpPr>
          <p:cNvPr id="441" name="Google Shape;441;p40"/>
          <p:cNvSpPr txBox="1"/>
          <p:nvPr>
            <p:ph idx="1" type="body"/>
          </p:nvPr>
        </p:nvSpPr>
        <p:spPr>
          <a:xfrm>
            <a:off x="457200" y="9144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select or retrieve content from  table.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>
                <a:solidFill>
                  <a:srgbClr val="0000CC"/>
                </a:solidFill>
              </a:rPr>
              <a:t>	SELECT </a:t>
            </a:r>
            <a:r>
              <a:rPr lang="en-US"/>
              <a:t>attribute1, attribute2,….. attributen </a:t>
            </a:r>
            <a:r>
              <a:rPr b="1" lang="en-US">
                <a:solidFill>
                  <a:srgbClr val="0000CC"/>
                </a:solidFill>
              </a:rPr>
              <a:t>FROM </a:t>
            </a:r>
            <a:r>
              <a:rPr lang="en-US"/>
              <a:t> tablename </a:t>
            </a:r>
            <a:r>
              <a:rPr b="1" lang="en-US">
                <a:solidFill>
                  <a:srgbClr val="0000CC"/>
                </a:solidFill>
              </a:rPr>
              <a:t>WHERE</a:t>
            </a:r>
            <a:r>
              <a:rPr lang="en-US"/>
              <a:t> condition;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Condition can be of the form: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&lt;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</a:t>
            </a:r>
            <a:r>
              <a:rPr b="1" lang="en-US">
                <a:solidFill>
                  <a:srgbClr val="C00000"/>
                </a:solidFill>
              </a:rPr>
              <a:t>&lt;=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&gt;=</a:t>
            </a:r>
            <a:r>
              <a:rPr lang="en-US"/>
              <a:t>value   Attribute</a:t>
            </a:r>
            <a:r>
              <a:rPr b="1" lang="en-US">
                <a:solidFill>
                  <a:srgbClr val="C00000"/>
                </a:solidFill>
              </a:rPr>
              <a:t>!=</a:t>
            </a:r>
            <a:r>
              <a:rPr lang="en-US"/>
              <a:t>value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Attribute </a:t>
            </a:r>
            <a:r>
              <a:rPr lang="en-US">
                <a:solidFill>
                  <a:srgbClr val="C00000"/>
                </a:solidFill>
              </a:rPr>
              <a:t>BETWEEN</a:t>
            </a:r>
            <a:r>
              <a:rPr lang="en-US"/>
              <a:t> value 1</a:t>
            </a:r>
            <a:r>
              <a:rPr lang="en-US">
                <a:solidFill>
                  <a:srgbClr val="C00000"/>
                </a:solidFill>
              </a:rPr>
              <a:t>AND</a:t>
            </a:r>
            <a:r>
              <a:rPr lang="en-US"/>
              <a:t> value2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If more than one condition is there, then they can be combined using AND , OR as required.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E.g.</a:t>
            </a:r>
            <a:r>
              <a:rPr i="1" lang="en-US"/>
              <a:t> Display name and age of persons with age more than 10.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 SELECT name, age FROM Person WHERE age&gt;10;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42" name="Google Shape;442;p40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43" name="Google Shape;443;p4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41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50" name="Google Shape;450;p4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2" name="Google Shape;4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50"/>
            <a:ext cx="914400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4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Creating and Executing Queries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Performing CRUD(Create Read(Select) , update and Delete)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/>
              <a:t> </a:t>
            </a:r>
            <a:r>
              <a:rPr b="1" lang="en-US" sz="3600">
                <a:solidFill>
                  <a:srgbClr val="0000CC"/>
                </a:solidFill>
              </a:rPr>
              <a:t>CREATE TABLE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Noto Sans Symbols"/>
              <a:buChar char="✔"/>
            </a:pPr>
            <a:r>
              <a:rPr b="1" lang="en-US" sz="3600">
                <a:solidFill>
                  <a:srgbClr val="0000CC"/>
                </a:solidFill>
              </a:rPr>
              <a:t> DELETE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Noto Sans Symbols"/>
              <a:buChar char="✔"/>
            </a:pPr>
            <a:r>
              <a:rPr b="1" lang="en-US" sz="3600">
                <a:solidFill>
                  <a:srgbClr val="0000CC"/>
                </a:solidFill>
              </a:rPr>
              <a:t>INSERT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Noto Sans Symbols"/>
              <a:buChar char="✔"/>
            </a:pPr>
            <a:r>
              <a:rPr b="1" lang="en-US" sz="3600">
                <a:solidFill>
                  <a:srgbClr val="0000CC"/>
                </a:solidFill>
              </a:rPr>
              <a:t>SELECT.</a:t>
            </a:r>
            <a:endParaRPr b="1" sz="3600">
              <a:solidFill>
                <a:srgbClr val="0000CC"/>
              </a:solidFill>
            </a:endParaRPr>
          </a:p>
        </p:txBody>
      </p:sp>
      <p:sp>
        <p:nvSpPr>
          <p:cNvPr id="459" name="Google Shape;459;p4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60" name="Google Shape;460;p4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0000CC"/>
                </a:solidFill>
              </a:rPr>
              <a:t>CREATE TABLE </a:t>
            </a:r>
            <a:r>
              <a:rPr lang="en-US" sz="3200"/>
              <a:t>in MySQL from Java</a:t>
            </a:r>
            <a:endParaRPr sz="3200"/>
          </a:p>
        </p:txBody>
      </p:sp>
      <p:sp>
        <p:nvSpPr>
          <p:cNvPr id="466" name="Google Shape;466;p43"/>
          <p:cNvSpPr txBox="1"/>
          <p:nvPr>
            <p:ph idx="1" type="body"/>
          </p:nvPr>
        </p:nvSpPr>
        <p:spPr>
          <a:xfrm>
            <a:off x="457200" y="914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</a:t>
            </a:r>
            <a:r>
              <a:rPr lang="en-US" sz="2800">
                <a:solidFill>
                  <a:srgbClr val="C00000"/>
                </a:solidFill>
              </a:rPr>
              <a:t>create a table</a:t>
            </a:r>
            <a:r>
              <a:rPr lang="en-US" sz="2800"/>
              <a:t> named </a:t>
            </a:r>
            <a:r>
              <a:rPr b="1" lang="en-US" sz="2800"/>
              <a:t>Student</a:t>
            </a:r>
            <a:r>
              <a:rPr lang="en-US" sz="2800"/>
              <a:t> with fields </a:t>
            </a:r>
            <a:r>
              <a:rPr b="1" lang="en-US" sz="2800"/>
              <a:t>rollno</a:t>
            </a:r>
            <a:r>
              <a:rPr lang="en-US" sz="2800"/>
              <a:t> and </a:t>
            </a:r>
            <a:r>
              <a:rPr b="1" lang="en-US" sz="2800"/>
              <a:t>name </a:t>
            </a:r>
            <a:r>
              <a:rPr lang="en-US" sz="2800"/>
              <a:t>in the database ABC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</p:txBody>
      </p:sp>
      <p:sp>
        <p:nvSpPr>
          <p:cNvPr id="467" name="Google Shape;467;p4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68" name="Google Shape;468;p4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69" name="Google Shape;469;p43"/>
          <p:cNvGraphicFramePr/>
          <p:nvPr/>
        </p:nvGraphicFramePr>
        <p:xfrm>
          <a:off x="1447800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{241F7747-A85C-412F-BBCC-D6BA14B2544D}</a:tableStyleId>
              </a:tblPr>
              <a:tblGrid>
                <a:gridCol w="3048000"/>
                <a:gridCol w="304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type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rollno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Varchar(15)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Create table from Java</a:t>
            </a:r>
            <a:endParaRPr/>
          </a:p>
        </p:txBody>
      </p:sp>
      <p:sp>
        <p:nvSpPr>
          <p:cNvPr id="475" name="Google Shape;475;p44"/>
          <p:cNvSpPr txBox="1"/>
          <p:nvPr>
            <p:ph idx="1" type="body"/>
          </p:nvPr>
        </p:nvSpPr>
        <p:spPr>
          <a:xfrm>
            <a:off x="457200" y="649995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CreateTableEg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</a:t>
            </a:r>
            <a:r>
              <a:rPr b="1" lang="en-US" sz="2000">
                <a:solidFill>
                  <a:srgbClr val="CC00CC"/>
                </a:solidFill>
              </a:rPr>
              <a:t>throws</a:t>
            </a:r>
            <a:r>
              <a:rPr b="1"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ClassNotFoundException</a:t>
            </a:r>
            <a:endParaRPr b="1" sz="1800">
              <a:solidFill>
                <a:srgbClr val="0000C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</a:t>
            </a:r>
            <a:r>
              <a:rPr b="1" lang="en-US" sz="1800"/>
              <a:t>try</a:t>
            </a:r>
            <a:r>
              <a:rPr lang="en-US" sz="1800"/>
              <a:t>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6923C"/>
              </a:buClr>
              <a:buSzPts val="1800"/>
              <a:buNone/>
            </a:pPr>
            <a:r>
              <a:rPr i="1" lang="en-US" sz="1800">
                <a:solidFill>
                  <a:srgbClr val="76923C"/>
                </a:solidFill>
              </a:rPr>
              <a:t> // Register JDBC driver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b="1" i="1" lang="en-US" sz="2000">
                <a:solidFill>
                  <a:srgbClr val="76923C"/>
                </a:solidFill>
              </a:rPr>
              <a:t>	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lang="en-US" sz="2000">
                <a:solidFill>
                  <a:srgbClr val="76923C"/>
                </a:solidFill>
              </a:rPr>
              <a:t>//Open a connection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i="1" lang="en-US" sz="2000">
                <a:solidFill>
                  <a:srgbClr val="76923C"/>
                </a:solidFill>
              </a:rPr>
              <a:t> //Create a statement object</a:t>
            </a:r>
            <a:endParaRPr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.createStatement();  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executeUpdate</a:t>
            </a:r>
            <a:r>
              <a:rPr lang="en-US" sz="2000"/>
              <a:t>("</a:t>
            </a:r>
            <a:r>
              <a:rPr b="1" lang="en-US" sz="1600">
                <a:solidFill>
                  <a:srgbClr val="C00000"/>
                </a:solidFill>
              </a:rPr>
              <a:t>CREATE TABLE </a:t>
            </a:r>
            <a:r>
              <a:rPr lang="en-US" sz="1600"/>
              <a:t>Student </a:t>
            </a:r>
            <a:r>
              <a:rPr lang="en-US" sz="2000"/>
              <a:t>(rollno </a:t>
            </a:r>
            <a:r>
              <a:rPr b="1" lang="en-US" sz="2000"/>
              <a:t>int</a:t>
            </a:r>
            <a:r>
              <a:rPr lang="en-US" sz="2000"/>
              <a:t>, name </a:t>
            </a:r>
            <a:r>
              <a:rPr b="1" lang="en-US" sz="2000"/>
              <a:t>varchar(15)</a:t>
            </a:r>
            <a:r>
              <a:rPr lang="en-US" sz="2000"/>
              <a:t>)");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System.out.println("Table created");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</a:t>
            </a:r>
            <a:r>
              <a:rPr i="1" lang="en-US" sz="2000">
                <a:solidFill>
                  <a:srgbClr val="76923C"/>
                </a:solidFill>
              </a:rPr>
              <a:t>//Close the connection</a:t>
            </a:r>
            <a:endParaRPr sz="20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4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77" name="Google Shape;477;p4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0000CC"/>
                </a:solidFill>
              </a:rPr>
              <a:t>INSERT </a:t>
            </a:r>
            <a:r>
              <a:rPr lang="en-US" sz="3200"/>
              <a:t>row using Java</a:t>
            </a:r>
            <a:endParaRPr sz="3200"/>
          </a:p>
        </p:txBody>
      </p:sp>
      <p:sp>
        <p:nvSpPr>
          <p:cNvPr id="483" name="Google Shape;483;p45"/>
          <p:cNvSpPr txBox="1"/>
          <p:nvPr>
            <p:ph idx="1" type="body"/>
          </p:nvPr>
        </p:nvSpPr>
        <p:spPr>
          <a:xfrm>
            <a:off x="457200" y="914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</a:t>
            </a:r>
            <a:r>
              <a:rPr lang="en-US" sz="2800">
                <a:solidFill>
                  <a:srgbClr val="C00000"/>
                </a:solidFill>
              </a:rPr>
              <a:t>insert the following row </a:t>
            </a:r>
            <a:r>
              <a:rPr lang="en-US" sz="2800"/>
              <a:t>into </a:t>
            </a:r>
            <a:r>
              <a:rPr b="1" lang="en-US" sz="2800"/>
              <a:t>Student</a:t>
            </a:r>
            <a:r>
              <a:rPr lang="en-US" sz="2800"/>
              <a:t> table with fields </a:t>
            </a:r>
            <a:r>
              <a:rPr b="1" lang="en-US" sz="2800"/>
              <a:t>rollno</a:t>
            </a:r>
            <a:r>
              <a:rPr lang="en-US" sz="2800"/>
              <a:t> and </a:t>
            </a:r>
            <a:r>
              <a:rPr b="1" lang="en-US" sz="2800"/>
              <a:t>name </a:t>
            </a:r>
            <a:r>
              <a:rPr lang="en-US" sz="2800"/>
              <a:t>in the database ABC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</p:txBody>
      </p:sp>
      <p:sp>
        <p:nvSpPr>
          <p:cNvPr id="484" name="Google Shape;484;p4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85" name="Google Shape;485;p4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86" name="Google Shape;486;p45"/>
          <p:cNvGraphicFramePr/>
          <p:nvPr/>
        </p:nvGraphicFramePr>
        <p:xfrm>
          <a:off x="1447800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{241F7747-A85C-412F-BBCC-D6BA14B2544D}</a:tableStyleId>
              </a:tblPr>
              <a:tblGrid>
                <a:gridCol w="3048000"/>
                <a:gridCol w="304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6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 row using Java</a:t>
            </a:r>
            <a:endParaRPr/>
          </a:p>
        </p:txBody>
      </p:sp>
      <p:sp>
        <p:nvSpPr>
          <p:cNvPr id="492" name="Google Shape;492;p46"/>
          <p:cNvSpPr txBox="1"/>
          <p:nvPr>
            <p:ph idx="1" type="body"/>
          </p:nvPr>
        </p:nvSpPr>
        <p:spPr>
          <a:xfrm>
            <a:off x="228600" y="441325"/>
            <a:ext cx="8991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InsertEg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</a:t>
            </a:r>
            <a:r>
              <a:rPr b="1" lang="en-US" sz="1800"/>
              <a:t>try</a:t>
            </a:r>
            <a:r>
              <a:rPr lang="en-US" sz="1800"/>
              <a:t>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6923C"/>
              </a:buClr>
              <a:buSzPts val="1800"/>
              <a:buNone/>
            </a:pPr>
            <a:r>
              <a:rPr i="1" lang="en-US" sz="1800">
                <a:solidFill>
                  <a:srgbClr val="76923C"/>
                </a:solidFill>
              </a:rPr>
              <a:t> // Register JDBC driver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b="1" i="1" lang="en-US" sz="2000">
                <a:solidFill>
                  <a:srgbClr val="76923C"/>
                </a:solidFill>
              </a:rPr>
              <a:t>	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lang="en-US" sz="2000">
                <a:solidFill>
                  <a:srgbClr val="76923C"/>
                </a:solidFill>
              </a:rPr>
              <a:t>//Open a connection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i="1" lang="en-US" sz="2000">
                <a:solidFill>
                  <a:srgbClr val="76923C"/>
                </a:solidFill>
              </a:rPr>
              <a:t> //Create a statement object</a:t>
            </a:r>
            <a:endParaRPr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.createStatement();  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executeUpdate(</a:t>
            </a:r>
            <a:r>
              <a:rPr lang="en-US" sz="2000"/>
              <a:t>"</a:t>
            </a:r>
            <a:r>
              <a:rPr b="1" lang="en-US" sz="1800">
                <a:solidFill>
                  <a:srgbClr val="C00000"/>
                </a:solidFill>
              </a:rPr>
              <a:t>INSERT INTO</a:t>
            </a:r>
            <a:r>
              <a:rPr lang="en-US" sz="1800"/>
              <a:t> </a:t>
            </a:r>
            <a:r>
              <a:rPr lang="en-US" sz="2000"/>
              <a:t>Student(rollno,name) </a:t>
            </a:r>
            <a:r>
              <a:rPr lang="en-US" sz="1800"/>
              <a:t>VALUES </a:t>
            </a:r>
            <a:r>
              <a:rPr lang="en-US" sz="2000"/>
              <a:t>(1,'Anu')");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System.out.println(“Data inserted successfully");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st.close();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      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</a:t>
            </a:r>
            <a:r>
              <a:rPr i="1" lang="en-US" sz="2000">
                <a:solidFill>
                  <a:srgbClr val="76923C"/>
                </a:solidFill>
              </a:rPr>
              <a:t>//Close the connection</a:t>
            </a:r>
            <a:endParaRPr sz="20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4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494" name="Google Shape;494;p4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 txBox="1"/>
          <p:nvPr>
            <p:ph idx="1" type="body"/>
          </p:nvPr>
        </p:nvSpPr>
        <p:spPr>
          <a:xfrm>
            <a:off x="457200" y="9144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access value of java </a:t>
            </a:r>
            <a:r>
              <a:rPr b="1" lang="en-US"/>
              <a:t>variable </a:t>
            </a:r>
            <a:r>
              <a:rPr lang="en-US"/>
              <a:t>inside the SQL command use : </a:t>
            </a:r>
            <a:r>
              <a:rPr i="1" lang="en-US" sz="2400"/>
              <a:t>Singlequote</a:t>
            </a:r>
            <a:r>
              <a:rPr lang="en-US" sz="2400">
                <a:solidFill>
                  <a:srgbClr val="C00000"/>
                </a:solidFill>
              </a:rPr>
              <a:t>Doublequote</a:t>
            </a:r>
            <a:r>
              <a:rPr lang="en-US" sz="2400"/>
              <a:t>+</a:t>
            </a:r>
            <a:r>
              <a:rPr b="1" lang="en-US" sz="2400"/>
              <a:t>varaiable+</a:t>
            </a:r>
            <a:r>
              <a:rPr lang="en-US" sz="2400">
                <a:solidFill>
                  <a:srgbClr val="C00000"/>
                </a:solidFill>
              </a:rPr>
              <a:t>Doublequote</a:t>
            </a:r>
            <a:r>
              <a:rPr i="1" lang="en-US" sz="2400"/>
              <a:t>Singlequote</a:t>
            </a:r>
            <a:endParaRPr i="1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E.g.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int roll=2;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String nam=“Anu”;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st.executeUpdate("INSERT INTO Student(rollno,name)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	VALUES('</a:t>
            </a:r>
            <a:r>
              <a:rPr b="1" lang="en-US" sz="2800">
                <a:solidFill>
                  <a:srgbClr val="C00000"/>
                </a:solidFill>
              </a:rPr>
              <a:t>"</a:t>
            </a:r>
            <a:r>
              <a:rPr lang="en-US" sz="2400"/>
              <a:t>+ roll +</a:t>
            </a:r>
            <a:r>
              <a:rPr b="1" lang="en-US" sz="2800">
                <a:solidFill>
                  <a:srgbClr val="C00000"/>
                </a:solidFill>
              </a:rPr>
              <a:t>"</a:t>
            </a:r>
            <a:r>
              <a:rPr lang="en-US" sz="2400"/>
              <a:t>'  , '</a:t>
            </a:r>
            <a:r>
              <a:rPr b="1" lang="en-US" sz="2400">
                <a:solidFill>
                  <a:srgbClr val="C00000"/>
                </a:solidFill>
              </a:rPr>
              <a:t>"</a:t>
            </a:r>
            <a:r>
              <a:rPr lang="en-US" sz="2400"/>
              <a:t>+ nam +</a:t>
            </a:r>
            <a:r>
              <a:rPr b="1" lang="en-US" sz="2400">
                <a:solidFill>
                  <a:srgbClr val="C00000"/>
                </a:solidFill>
              </a:rPr>
              <a:t>"</a:t>
            </a:r>
            <a:r>
              <a:rPr lang="en-US" sz="2400"/>
              <a:t>'  )");  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/>
          </a:p>
        </p:txBody>
      </p:sp>
      <p:sp>
        <p:nvSpPr>
          <p:cNvPr id="501" name="Google Shape;501;p4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02" name="Google Shape;502;p4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0000CC"/>
                </a:solidFill>
              </a:rPr>
              <a:t>INSERT </a:t>
            </a:r>
            <a:r>
              <a:rPr lang="en-US" sz="3200"/>
              <a:t>row</a:t>
            </a:r>
            <a:r>
              <a:rPr lang="en-US" sz="3200">
                <a:solidFill>
                  <a:srgbClr val="0000CC"/>
                </a:solidFill>
              </a:rPr>
              <a:t> </a:t>
            </a:r>
            <a:r>
              <a:rPr lang="en-US" sz="3200"/>
              <a:t>using Java</a:t>
            </a:r>
            <a:endParaRPr sz="3200"/>
          </a:p>
        </p:txBody>
      </p:sp>
      <p:sp>
        <p:nvSpPr>
          <p:cNvPr id="508" name="Google Shape;508;p48"/>
          <p:cNvSpPr txBox="1"/>
          <p:nvPr>
            <p:ph idx="1" type="body"/>
          </p:nvPr>
        </p:nvSpPr>
        <p:spPr>
          <a:xfrm>
            <a:off x="457200" y="914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</a:t>
            </a:r>
            <a:r>
              <a:rPr lang="en-US" sz="2800">
                <a:solidFill>
                  <a:srgbClr val="C00000"/>
                </a:solidFill>
              </a:rPr>
              <a:t>insert details about n students</a:t>
            </a:r>
            <a:r>
              <a:rPr lang="en-US" sz="2800"/>
              <a:t> into </a:t>
            </a:r>
            <a:r>
              <a:rPr b="1" lang="en-US" sz="2800"/>
              <a:t>Student</a:t>
            </a:r>
            <a:r>
              <a:rPr lang="en-US" sz="2800"/>
              <a:t> table with fields </a:t>
            </a:r>
            <a:r>
              <a:rPr b="1" lang="en-US" sz="2800"/>
              <a:t>rollno</a:t>
            </a:r>
            <a:r>
              <a:rPr lang="en-US" sz="2800"/>
              <a:t> and </a:t>
            </a:r>
            <a:r>
              <a:rPr b="1" lang="en-US" sz="2800"/>
              <a:t>name </a:t>
            </a:r>
            <a:r>
              <a:rPr lang="en-US" sz="2800"/>
              <a:t>in the database ABC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509" name="Google Shape;509;p4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10" name="Google Shape;510;p4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9"/>
          <p:cNvSpPr txBox="1"/>
          <p:nvPr>
            <p:ph type="title"/>
          </p:nvPr>
        </p:nvSpPr>
        <p:spPr>
          <a:xfrm>
            <a:off x="457200" y="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INSERT n rows from Java</a:t>
            </a:r>
            <a:endParaRPr sz="2800"/>
          </a:p>
        </p:txBody>
      </p:sp>
      <p:sp>
        <p:nvSpPr>
          <p:cNvPr id="516" name="Google Shape;516;p49"/>
          <p:cNvSpPr txBox="1"/>
          <p:nvPr>
            <p:ph idx="1" type="body"/>
          </p:nvPr>
        </p:nvSpPr>
        <p:spPr>
          <a:xfrm>
            <a:off x="-152400" y="644038"/>
            <a:ext cx="88392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 	import java.util.*;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CreateTableEg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</a:t>
            </a:r>
            <a:r>
              <a:rPr b="1" lang="en-US" sz="1800"/>
              <a:t>try {	</a:t>
            </a:r>
            <a:r>
              <a:rPr lang="en-US" sz="1800"/>
              <a:t>Scanner sc=new Scanner(System.in);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		int roll,n,i;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		String nam;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b="1" i="1" lang="en-US" sz="2000">
                <a:solidFill>
                  <a:srgbClr val="76923C"/>
                </a:solidFill>
              </a:rPr>
              <a:t>	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923C"/>
              </a:buClr>
              <a:buSzPts val="2000"/>
              <a:buNone/>
            </a:pPr>
            <a:r>
              <a:rPr i="1" lang="en-US" sz="2000">
                <a:solidFill>
                  <a:srgbClr val="76923C"/>
                </a:solidFill>
              </a:rPr>
              <a:t> </a:t>
            </a:r>
            <a:r>
              <a:rPr lang="en-US" sz="2000"/>
              <a:t>	</a:t>
            </a:r>
            <a:r>
              <a:rPr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.createStatement();  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System.out.println("Enter how many students detail to be inserted");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n=sc.nextInt();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for(i=0;i&lt;n;i++)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{	System.out.println("Enter the rollno");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roll=sc.nextInt();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System.out.println("Enter the name");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sc.nextLine();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nam=sc.nextLine();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  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executeUpdate</a:t>
            </a:r>
            <a:r>
              <a:rPr lang="en-US" sz="2000"/>
              <a:t>("INSERT INTO Student(rollno,name)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values('</a:t>
            </a:r>
            <a:r>
              <a:rPr b="1" lang="en-US" sz="2400">
                <a:solidFill>
                  <a:srgbClr val="C00000"/>
                </a:solidFill>
              </a:rPr>
              <a:t>"</a:t>
            </a:r>
            <a:r>
              <a:rPr lang="en-US" sz="2000"/>
              <a:t>+ roll +</a:t>
            </a:r>
            <a:r>
              <a:rPr b="1" lang="en-US" sz="2400">
                <a:solidFill>
                  <a:srgbClr val="C00000"/>
                </a:solidFill>
              </a:rPr>
              <a:t>"</a:t>
            </a:r>
            <a:r>
              <a:rPr lang="en-US" sz="2000"/>
              <a:t>'  , '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+ nam +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' )");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 	System.out.println(“Data inserted successfully");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1800"/>
          </a:p>
        </p:txBody>
      </p:sp>
      <p:sp>
        <p:nvSpPr>
          <p:cNvPr id="517" name="Google Shape;517;p49"/>
          <p:cNvSpPr txBox="1"/>
          <p:nvPr>
            <p:ph idx="2" type="body"/>
          </p:nvPr>
        </p:nvSpPr>
        <p:spPr>
          <a:xfrm>
            <a:off x="7162800" y="3335350"/>
            <a:ext cx="2667000" cy="246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	st.close();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solidFill>
                  <a:srgbClr val="0000CC"/>
                </a:solidFill>
              </a:rPr>
              <a:t>   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catch(SQLException</a:t>
            </a:r>
            <a:r>
              <a:rPr lang="en-US" sz="1800"/>
              <a:t> e)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{     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System.out.println(e);   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18" name="Google Shape;518;p49"/>
          <p:cNvSpPr txBox="1"/>
          <p:nvPr>
            <p:ph idx="11" type="ftr"/>
          </p:nvPr>
        </p:nvSpPr>
        <p:spPr>
          <a:xfrm>
            <a:off x="64770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19" name="Google Shape;519;p49"/>
          <p:cNvSpPr txBox="1"/>
          <p:nvPr>
            <p:ph idx="12" type="sldNum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DELETE</a:t>
            </a:r>
            <a:r>
              <a:rPr lang="en-US"/>
              <a:t> rows using Java</a:t>
            </a:r>
            <a:endParaRPr/>
          </a:p>
        </p:txBody>
      </p:sp>
      <p:sp>
        <p:nvSpPr>
          <p:cNvPr id="525" name="Google Shape;525;p50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</a:t>
            </a:r>
            <a:r>
              <a:rPr lang="en-US" sz="2800">
                <a:solidFill>
                  <a:srgbClr val="C00000"/>
                </a:solidFill>
              </a:rPr>
              <a:t>delete details </a:t>
            </a:r>
            <a:r>
              <a:rPr lang="en-US" sz="2800"/>
              <a:t>about  students into </a:t>
            </a:r>
            <a:r>
              <a:rPr b="1" lang="en-US" sz="2800"/>
              <a:t>Student</a:t>
            </a:r>
            <a:r>
              <a:rPr lang="en-US" sz="2800"/>
              <a:t> table </a:t>
            </a:r>
            <a:r>
              <a:rPr lang="en-US" sz="2800" u="sng"/>
              <a:t>with given roll number</a:t>
            </a:r>
            <a:r>
              <a:rPr lang="en-US" sz="2800"/>
              <a:t>.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27" name="Google Shape;527;p5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572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DELETE rows using Java</a:t>
            </a:r>
            <a:endParaRPr sz="3200"/>
          </a:p>
        </p:txBody>
      </p:sp>
      <p:sp>
        <p:nvSpPr>
          <p:cNvPr id="533" name="Google Shape;533;p51"/>
          <p:cNvSpPr txBox="1"/>
          <p:nvPr>
            <p:ph idx="1" type="body"/>
          </p:nvPr>
        </p:nvSpPr>
        <p:spPr>
          <a:xfrm>
            <a:off x="152400" y="3048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      import java.util.*;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InsertEg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 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int roll;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	Scanner sc=new Scanner(System.in);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</a:t>
            </a:r>
            <a:r>
              <a:rPr b="1" lang="en-US" sz="1800"/>
              <a:t>try</a:t>
            </a:r>
            <a:r>
              <a:rPr lang="en-US" sz="1800"/>
              <a:t> {</a:t>
            </a:r>
            <a:r>
              <a:rPr b="1" i="1" lang="en-US" sz="2000">
                <a:solidFill>
                  <a:srgbClr val="76923C"/>
                </a:solidFill>
              </a:rPr>
              <a:t>	</a:t>
            </a:r>
            <a:r>
              <a:rPr b="1" lang="en-US" sz="2000">
                <a:solidFill>
                  <a:srgbClr val="0000CC"/>
                </a:solidFill>
              </a:rPr>
              <a:t>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	   		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</a:t>
            </a:r>
            <a:r>
              <a:rPr b="1" lang="en-US" sz="24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4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createStatement();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  </a:t>
            </a:r>
            <a:endParaRPr i="1" sz="2000">
              <a:solidFill>
                <a:srgbClr val="C00000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System.out.println("Enter the rollno of student to be deleted");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roll=sc.nextInt();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4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executeUpdate</a:t>
            </a:r>
            <a:r>
              <a:rPr lang="en-US" sz="2000"/>
              <a:t>("DELETE FROM Student WHERE rollno='</a:t>
            </a:r>
            <a:r>
              <a:rPr lang="en-US" sz="2800">
                <a:solidFill>
                  <a:srgbClr val="C00000"/>
                </a:solidFill>
              </a:rPr>
              <a:t>"</a:t>
            </a:r>
            <a:r>
              <a:rPr lang="en-US" sz="2000"/>
              <a:t>+ roll +</a:t>
            </a:r>
            <a:r>
              <a:rPr lang="en-US" sz="2800">
                <a:solidFill>
                  <a:srgbClr val="C00000"/>
                </a:solidFill>
              </a:rPr>
              <a:t>"</a:t>
            </a:r>
            <a:r>
              <a:rPr lang="en-US" sz="2000"/>
              <a:t>' 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System.out.println("Data deleted succesfully.");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st.close();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		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 </a:t>
            </a:r>
            <a:r>
              <a:rPr lang="en-US" sz="18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34" name="Google Shape;534;p5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35" name="Google Shape;535;p5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UPDATE </a:t>
            </a:r>
            <a:r>
              <a:rPr lang="en-US"/>
              <a:t>rows using Java</a:t>
            </a:r>
            <a:endParaRPr/>
          </a:p>
        </p:txBody>
      </p:sp>
      <p:sp>
        <p:nvSpPr>
          <p:cNvPr id="541" name="Google Shape;541;p5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update the name of a student for  the specific roll number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Eg.change roll number 1 name to John in </a:t>
            </a:r>
            <a:r>
              <a:rPr b="1" lang="en-US" sz="2800"/>
              <a:t>Student</a:t>
            </a:r>
            <a:r>
              <a:rPr lang="en-US" sz="2800"/>
              <a:t> table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542" name="Google Shape;542;p5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43" name="Google Shape;543;p5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"/>
          <p:cNvSpPr txBox="1"/>
          <p:nvPr>
            <p:ph type="title"/>
          </p:nvPr>
        </p:nvSpPr>
        <p:spPr>
          <a:xfrm>
            <a:off x="457200" y="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UPDATE rows using Java</a:t>
            </a:r>
            <a:endParaRPr sz="2800"/>
          </a:p>
        </p:txBody>
      </p:sp>
      <p:sp>
        <p:nvSpPr>
          <p:cNvPr id="549" name="Google Shape;549;p53"/>
          <p:cNvSpPr txBox="1"/>
          <p:nvPr>
            <p:ph idx="1" type="body"/>
          </p:nvPr>
        </p:nvSpPr>
        <p:spPr>
          <a:xfrm>
            <a:off x="152400" y="3048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    import java.util.*;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classUpdateEg</a:t>
            </a:r>
            <a:endParaRPr sz="2000"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 Scanner sc=new Scanner(System.in);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	int roll;   		String nam;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		try</a:t>
            </a:r>
            <a:r>
              <a:rPr lang="en-US" sz="1800"/>
              <a:t> {</a:t>
            </a:r>
            <a:r>
              <a:rPr b="1" i="1" lang="en-US" sz="2000">
                <a:solidFill>
                  <a:srgbClr val="76923C"/>
                </a:solidFill>
              </a:rPr>
              <a:t>	</a:t>
            </a:r>
            <a:r>
              <a:rPr b="1" lang="en-US" sz="2000">
                <a:solidFill>
                  <a:srgbClr val="0000CC"/>
                </a:solidFill>
              </a:rPr>
              <a:t>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	   		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createStatement</a:t>
            </a:r>
            <a:r>
              <a:rPr lang="en-US" sz="2000"/>
              <a:t>();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 System.out.println("Enter the rollno of student 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roll=sc.nextInt();     		sc.nextLine();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System.out.println("Enter the name of new student "); 			nam=sc.nextLine();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executeUpdate</a:t>
            </a:r>
            <a:r>
              <a:rPr lang="en-US" sz="2000"/>
              <a:t>(</a:t>
            </a:r>
            <a:r>
              <a:rPr b="1" lang="en-US" sz="2000">
                <a:solidFill>
                  <a:srgbClr val="CC00CC"/>
                </a:solidFill>
              </a:rPr>
              <a:t>"</a:t>
            </a:r>
            <a:r>
              <a:rPr lang="en-US" sz="2000"/>
              <a:t>UPDATE  Student SET name='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+ nam +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'  WHERE 				rollno='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+ roll +</a:t>
            </a:r>
            <a:r>
              <a:rPr b="1" lang="en-US" sz="2000">
                <a:solidFill>
                  <a:srgbClr val="C00000"/>
                </a:solidFill>
              </a:rPr>
              <a:t>"</a:t>
            </a:r>
            <a:r>
              <a:rPr lang="en-US" sz="2000"/>
              <a:t>'   </a:t>
            </a:r>
            <a:r>
              <a:rPr b="1" lang="en-US" sz="2000">
                <a:solidFill>
                  <a:srgbClr val="CC00CC"/>
                </a:solidFill>
              </a:rPr>
              <a:t>"</a:t>
            </a:r>
            <a:r>
              <a:rPr lang="en-US" sz="2000"/>
              <a:t>);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st.close();   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		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50" name="Google Shape;550;p5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51" name="Google Shape;551;p5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CC"/>
                </a:solidFill>
              </a:rPr>
              <a:t>SELECT </a:t>
            </a:r>
            <a:r>
              <a:rPr lang="en-US"/>
              <a:t>rows using Java</a:t>
            </a:r>
            <a:endParaRPr/>
          </a:p>
        </p:txBody>
      </p:sp>
      <p:sp>
        <p:nvSpPr>
          <p:cNvPr id="557" name="Google Shape;557;p54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Write a Java program to </a:t>
            </a:r>
            <a:r>
              <a:rPr b="1" lang="en-US" sz="2400"/>
              <a:t>list all names and roll numbers </a:t>
            </a:r>
            <a:r>
              <a:rPr lang="en-US" sz="2400"/>
              <a:t>in </a:t>
            </a:r>
            <a:r>
              <a:rPr b="1" lang="en-US" sz="2400"/>
              <a:t>Student</a:t>
            </a:r>
            <a:r>
              <a:rPr lang="en-US" sz="2400"/>
              <a:t> table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558" name="Google Shape;558;p5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59" name="Google Shape;559;p5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"/>
          <p:cNvSpPr txBox="1"/>
          <p:nvPr>
            <p:ph type="title"/>
          </p:nvPr>
        </p:nvSpPr>
        <p:spPr>
          <a:xfrm>
            <a:off x="457200" y="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SELECT rows Using Java</a:t>
            </a:r>
            <a:endParaRPr sz="2400"/>
          </a:p>
        </p:txBody>
      </p:sp>
      <p:sp>
        <p:nvSpPr>
          <p:cNvPr id="565" name="Google Shape;565;p55"/>
          <p:cNvSpPr txBox="1"/>
          <p:nvPr>
            <p:ph idx="1" type="body"/>
          </p:nvPr>
        </p:nvSpPr>
        <p:spPr>
          <a:xfrm>
            <a:off x="304800" y="304800"/>
            <a:ext cx="8534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InsertEg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</a:t>
            </a:r>
            <a:r>
              <a:rPr b="1" lang="en-US" sz="1800"/>
              <a:t>try</a:t>
            </a:r>
            <a:r>
              <a:rPr lang="en-US" sz="1800"/>
              <a:t> {</a:t>
            </a:r>
            <a:r>
              <a:rPr b="1" i="1" lang="en-US" sz="2000">
                <a:solidFill>
                  <a:srgbClr val="76923C"/>
                </a:solidFill>
              </a:rPr>
              <a:t>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	   		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createStatement();</a:t>
            </a:r>
            <a:r>
              <a:rPr lang="en-US" sz="2000"/>
              <a:t>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ResultSet</a:t>
            </a:r>
            <a:r>
              <a:rPr lang="en-US" sz="2000"/>
              <a:t> </a:t>
            </a:r>
            <a:r>
              <a:rPr b="1" lang="en-US" sz="2400">
                <a:solidFill>
                  <a:srgbClr val="CC00CC"/>
                </a:solidFill>
              </a:rPr>
              <a:t>rs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execute</a:t>
            </a:r>
            <a:r>
              <a:rPr b="1" lang="en-US" sz="2400">
                <a:solidFill>
                  <a:srgbClr val="C00000"/>
                </a:solidFill>
              </a:rPr>
              <a:t>Query</a:t>
            </a:r>
            <a:r>
              <a:rPr lang="en-US" sz="2000"/>
              <a:t>("</a:t>
            </a:r>
            <a:r>
              <a:rPr lang="en-US" sz="1800"/>
              <a:t>SELECT </a:t>
            </a:r>
            <a:r>
              <a:rPr lang="en-US" sz="2000"/>
              <a:t>rollno,name </a:t>
            </a:r>
            <a:r>
              <a:rPr lang="en-US" sz="1800"/>
              <a:t>FROM </a:t>
            </a:r>
            <a:r>
              <a:rPr lang="en-US" sz="2000"/>
              <a:t>student");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while(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next()</a:t>
            </a:r>
            <a:r>
              <a:rPr lang="en-US" sz="2000"/>
              <a:t>)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{ 		System.out.println(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.getInt(1)+"  "+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.getString(2));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   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66" name="Google Shape;566;p5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67" name="Google Shape;567;p5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8" name="Google Shape;568;p55"/>
          <p:cNvGrpSpPr/>
          <p:nvPr/>
        </p:nvGrpSpPr>
        <p:grpSpPr>
          <a:xfrm>
            <a:off x="6400800" y="2133600"/>
            <a:ext cx="2438400" cy="609600"/>
            <a:chOff x="6400800" y="2082800"/>
            <a:chExt cx="2743200" cy="812800"/>
          </a:xfrm>
        </p:grpSpPr>
        <p:sp>
          <p:nvSpPr>
            <p:cNvPr id="569" name="Google Shape;569;p55"/>
            <p:cNvSpPr/>
            <p:nvPr/>
          </p:nvSpPr>
          <p:spPr>
            <a:xfrm>
              <a:off x="7162800" y="2082800"/>
              <a:ext cx="1981200" cy="8128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Arial"/>
                  <a:ea typeface="Arial"/>
                  <a:cs typeface="Arial"/>
                  <a:sym typeface="Arial"/>
                </a:rPr>
                <a:t>Establish connection</a:t>
              </a:r>
              <a:endParaRPr b="1" i="1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55"/>
            <p:cNvCxnSpPr>
              <a:stCxn id="569" idx="1"/>
            </p:cNvCxnSpPr>
            <p:nvPr/>
          </p:nvCxnSpPr>
          <p:spPr>
            <a:xfrm flipH="1">
              <a:off x="6400800" y="2489200"/>
              <a:ext cx="762000" cy="3303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71" name="Google Shape;571;p55"/>
          <p:cNvGrpSpPr/>
          <p:nvPr/>
        </p:nvGrpSpPr>
        <p:grpSpPr>
          <a:xfrm>
            <a:off x="5181600" y="3276600"/>
            <a:ext cx="3276600" cy="304800"/>
            <a:chOff x="5181600" y="3276600"/>
            <a:chExt cx="3276600" cy="304800"/>
          </a:xfrm>
        </p:grpSpPr>
        <p:sp>
          <p:nvSpPr>
            <p:cNvPr id="572" name="Google Shape;572;p55"/>
            <p:cNvSpPr/>
            <p:nvPr/>
          </p:nvSpPr>
          <p:spPr>
            <a:xfrm>
              <a:off x="6477000" y="3276600"/>
              <a:ext cx="1981200" cy="3048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Arial"/>
                  <a:ea typeface="Arial"/>
                  <a:cs typeface="Arial"/>
                  <a:sym typeface="Arial"/>
                </a:rPr>
                <a:t>Create statement</a:t>
              </a:r>
              <a:endParaRPr b="1" i="1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3" name="Google Shape;573;p55"/>
            <p:cNvCxnSpPr>
              <a:stCxn id="572" idx="1"/>
            </p:cNvCxnSpPr>
            <p:nvPr/>
          </p:nvCxnSpPr>
          <p:spPr>
            <a:xfrm rot="10800000">
              <a:off x="5181600" y="3427500"/>
              <a:ext cx="1295400" cy="1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74" name="Google Shape;574;p55"/>
          <p:cNvGrpSpPr/>
          <p:nvPr/>
        </p:nvGrpSpPr>
        <p:grpSpPr>
          <a:xfrm>
            <a:off x="3505263" y="3962402"/>
            <a:ext cx="5257736" cy="413658"/>
            <a:chOff x="5508042" y="3200400"/>
            <a:chExt cx="4154324" cy="723900"/>
          </a:xfrm>
        </p:grpSpPr>
        <p:sp>
          <p:nvSpPr>
            <p:cNvPr id="575" name="Google Shape;575;p55"/>
            <p:cNvSpPr/>
            <p:nvPr/>
          </p:nvSpPr>
          <p:spPr>
            <a:xfrm>
              <a:off x="5869242" y="3467100"/>
              <a:ext cx="3793124" cy="4572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Arial"/>
                  <a:ea typeface="Arial"/>
                  <a:cs typeface="Arial"/>
                  <a:sym typeface="Arial"/>
                </a:rPr>
                <a:t>Execute Query and represent result as result set </a:t>
              </a:r>
              <a:endParaRPr b="1" i="1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6" name="Google Shape;576;p55"/>
            <p:cNvCxnSpPr>
              <a:stCxn id="575" idx="1"/>
            </p:cNvCxnSpPr>
            <p:nvPr/>
          </p:nvCxnSpPr>
          <p:spPr>
            <a:xfrm rot="10800000">
              <a:off x="5508042" y="3200400"/>
              <a:ext cx="361200" cy="4953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77" name="Google Shape;577;p55"/>
          <p:cNvGrpSpPr/>
          <p:nvPr/>
        </p:nvGrpSpPr>
        <p:grpSpPr>
          <a:xfrm>
            <a:off x="2514600" y="5105400"/>
            <a:ext cx="3810000" cy="304800"/>
            <a:chOff x="6324600" y="2514600"/>
            <a:chExt cx="3810000" cy="304800"/>
          </a:xfrm>
        </p:grpSpPr>
        <p:sp>
          <p:nvSpPr>
            <p:cNvPr id="578" name="Google Shape;578;p55"/>
            <p:cNvSpPr/>
            <p:nvPr/>
          </p:nvSpPr>
          <p:spPr>
            <a:xfrm>
              <a:off x="7162800" y="2514600"/>
              <a:ext cx="2971800" cy="3048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Arial"/>
                  <a:ea typeface="Arial"/>
                  <a:cs typeface="Arial"/>
                  <a:sym typeface="Arial"/>
                </a:rPr>
                <a:t>Close the connection</a:t>
              </a:r>
              <a:endParaRPr b="1" i="1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9" name="Google Shape;579;p55"/>
            <p:cNvCxnSpPr>
              <a:stCxn id="578" idx="1"/>
            </p:cNvCxnSpPr>
            <p:nvPr/>
          </p:nvCxnSpPr>
          <p:spPr>
            <a:xfrm rot="10800000">
              <a:off x="6324600" y="2665500"/>
              <a:ext cx="838200" cy="1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80" name="Google Shape;580;p55"/>
          <p:cNvSpPr/>
          <p:nvPr/>
        </p:nvSpPr>
        <p:spPr>
          <a:xfrm>
            <a:off x="2362200" y="6172200"/>
            <a:ext cx="2839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the Driver for MySQL</a:t>
            </a:r>
            <a:endParaRPr b="1" i="1" sz="1800" u="none" cap="none" strike="noStrike">
              <a:solidFill>
                <a:srgbClr val="7692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1" name="Google Shape;581;p55"/>
          <p:cNvGrpSpPr/>
          <p:nvPr/>
        </p:nvGrpSpPr>
        <p:grpSpPr>
          <a:xfrm>
            <a:off x="3505453" y="1600200"/>
            <a:ext cx="4952746" cy="685875"/>
            <a:chOff x="6229497" y="2082800"/>
            <a:chExt cx="2914500" cy="914500"/>
          </a:xfrm>
        </p:grpSpPr>
        <p:sp>
          <p:nvSpPr>
            <p:cNvPr id="582" name="Google Shape;582;p55"/>
            <p:cNvSpPr/>
            <p:nvPr/>
          </p:nvSpPr>
          <p:spPr>
            <a:xfrm>
              <a:off x="7162797" y="2082800"/>
              <a:ext cx="1981200" cy="4064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 the Driver for MySQL</a:t>
              </a:r>
              <a:endParaRPr b="1" i="1" sz="1800" u="none" cap="none" strike="noStrike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3" name="Google Shape;583;p55"/>
            <p:cNvCxnSpPr>
              <a:stCxn id="582" idx="1"/>
            </p:cNvCxnSpPr>
            <p:nvPr/>
          </p:nvCxnSpPr>
          <p:spPr>
            <a:xfrm flipH="1">
              <a:off x="6229497" y="2286000"/>
              <a:ext cx="933300" cy="7113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84" name="Google Shape;584;p55"/>
          <p:cNvGrpSpPr/>
          <p:nvPr/>
        </p:nvGrpSpPr>
        <p:grpSpPr>
          <a:xfrm>
            <a:off x="2819411" y="381000"/>
            <a:ext cx="4267187" cy="533400"/>
            <a:chOff x="6274197" y="2001520"/>
            <a:chExt cx="3151153" cy="568960"/>
          </a:xfrm>
        </p:grpSpPr>
        <p:sp>
          <p:nvSpPr>
            <p:cNvPr id="585" name="Google Shape;585;p55"/>
            <p:cNvSpPr/>
            <p:nvPr/>
          </p:nvSpPr>
          <p:spPr>
            <a:xfrm>
              <a:off x="7162797" y="2001520"/>
              <a:ext cx="2262553" cy="56896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Import classes and interfaces from  java.sql package </a:t>
              </a:r>
              <a:endParaRPr b="1" i="1" sz="1800" u="none" cap="none" strike="noStrike">
                <a:solidFill>
                  <a:srgbClr val="76923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6" name="Google Shape;586;p55"/>
            <p:cNvCxnSpPr>
              <a:stCxn id="585" idx="1"/>
            </p:cNvCxnSpPr>
            <p:nvPr/>
          </p:nvCxnSpPr>
          <p:spPr>
            <a:xfrm rot="10800000">
              <a:off x="6274197" y="2286000"/>
              <a:ext cx="8886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87" name="Google Shape;587;p55"/>
          <p:cNvGrpSpPr/>
          <p:nvPr/>
        </p:nvGrpSpPr>
        <p:grpSpPr>
          <a:xfrm>
            <a:off x="5705669" y="4648200"/>
            <a:ext cx="1685731" cy="381000"/>
            <a:chOff x="7162799" y="2362200"/>
            <a:chExt cx="4347411" cy="381000"/>
          </a:xfrm>
        </p:grpSpPr>
        <p:sp>
          <p:nvSpPr>
            <p:cNvPr id="588" name="Google Shape;588;p55"/>
            <p:cNvSpPr/>
            <p:nvPr/>
          </p:nvSpPr>
          <p:spPr>
            <a:xfrm>
              <a:off x="7162799" y="2514600"/>
              <a:ext cx="4347411" cy="2286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76923C"/>
                  </a:solidFill>
                  <a:latin typeface="Arial"/>
                  <a:ea typeface="Arial"/>
                  <a:cs typeface="Arial"/>
                  <a:sym typeface="Arial"/>
                </a:rPr>
                <a:t>First column</a:t>
              </a:r>
              <a:endParaRPr b="1" i="1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9" name="Google Shape;589;p55"/>
            <p:cNvCxnSpPr>
              <a:stCxn id="588" idx="1"/>
            </p:cNvCxnSpPr>
            <p:nvPr/>
          </p:nvCxnSpPr>
          <p:spPr>
            <a:xfrm flipH="1" rot="10800000">
              <a:off x="7162799" y="2362200"/>
              <a:ext cx="1203300" cy="2667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90" name="Google Shape;590;p55"/>
          <p:cNvSpPr/>
          <p:nvPr/>
        </p:nvSpPr>
        <p:spPr>
          <a:xfrm>
            <a:off x="7458269" y="4953000"/>
            <a:ext cx="1685731" cy="228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Second column</a:t>
            </a:r>
            <a:endParaRPr b="1" i="1" sz="1800" u="none" cap="none" strike="noStrike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55"/>
          <p:cNvCxnSpPr>
            <a:stCxn id="590" idx="1"/>
          </p:cNvCxnSpPr>
          <p:nvPr/>
        </p:nvCxnSpPr>
        <p:spPr>
          <a:xfrm flipH="1" rot="10800000">
            <a:off x="7458269" y="4724400"/>
            <a:ext cx="771300" cy="3429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6"/>
          <p:cNvSpPr txBox="1"/>
          <p:nvPr>
            <p:ph type="title"/>
          </p:nvPr>
        </p:nvSpPr>
        <p:spPr>
          <a:xfrm>
            <a:off x="457200" y="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SELECT rowsUsing Java</a:t>
            </a:r>
            <a:endParaRPr sz="2400"/>
          </a:p>
        </p:txBody>
      </p:sp>
      <p:sp>
        <p:nvSpPr>
          <p:cNvPr id="597" name="Google Shape;597;p56"/>
          <p:cNvSpPr txBox="1"/>
          <p:nvPr>
            <p:ph idx="1" type="body"/>
          </p:nvPr>
        </p:nvSpPr>
        <p:spPr>
          <a:xfrm>
            <a:off x="304801" y="-12"/>
            <a:ext cx="8534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InsertEg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</a:t>
            </a:r>
            <a:r>
              <a:rPr b="1" lang="en-US" sz="1800"/>
              <a:t>try</a:t>
            </a:r>
            <a:r>
              <a:rPr lang="en-US" sz="1800"/>
              <a:t> {</a:t>
            </a:r>
            <a:r>
              <a:rPr b="1" i="1" lang="en-US" sz="2000">
                <a:solidFill>
                  <a:srgbClr val="76923C"/>
                </a:solidFill>
              </a:rPr>
              <a:t>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	   		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.createStatement();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ResultSet</a:t>
            </a:r>
            <a:r>
              <a:rPr lang="en-US" sz="2000"/>
              <a:t> </a:t>
            </a:r>
            <a:r>
              <a:rPr b="1" lang="en-US" sz="2400">
                <a:solidFill>
                  <a:srgbClr val="CC00CC"/>
                </a:solidFill>
              </a:rPr>
              <a:t>rs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execute</a:t>
            </a:r>
            <a:r>
              <a:rPr b="1" lang="en-US" sz="2400">
                <a:solidFill>
                  <a:srgbClr val="C00000"/>
                </a:solidFill>
              </a:rPr>
              <a:t>Query</a:t>
            </a:r>
            <a:r>
              <a:rPr lang="en-US" sz="2000"/>
              <a:t>("select rollno,name from student");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while(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next()</a:t>
            </a:r>
            <a:r>
              <a:rPr lang="en-US" sz="2000"/>
              <a:t>)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{ 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                 System.out.println(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.getInt(1)+"  "+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.getString(2));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   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98" name="Google Shape;598;p56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599" name="Google Shape;599;p56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WORKING</a:t>
            </a:r>
            <a:endParaRPr/>
          </a:p>
        </p:txBody>
      </p:sp>
      <p:sp>
        <p:nvSpPr>
          <p:cNvPr id="605" name="Google Shape;605;p57"/>
          <p:cNvSpPr txBox="1"/>
          <p:nvPr>
            <p:ph idx="1" type="body"/>
          </p:nvPr>
        </p:nvSpPr>
        <p:spPr>
          <a:xfrm>
            <a:off x="457200" y="4572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this example we used MySQL as the database.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Class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forName()</a:t>
            </a:r>
            <a:r>
              <a:rPr lang="en-US" sz="2400"/>
              <a:t> is used for loading the Driver class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Driver class: </a:t>
            </a:r>
            <a:r>
              <a:rPr lang="en-US" sz="2400"/>
              <a:t>The driver class for the mysql database is </a:t>
            </a:r>
            <a:r>
              <a:rPr b="1" lang="en-US" sz="2400"/>
              <a:t>com.mysql.jdbc.Driver</a:t>
            </a:r>
            <a:r>
              <a:rPr lang="en-US" sz="2400"/>
              <a:t>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>
                <a:solidFill>
                  <a:srgbClr val="0000CC"/>
                </a:solidFill>
              </a:rPr>
              <a:t>DriverManager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getConnection() </a:t>
            </a:r>
            <a:r>
              <a:rPr lang="en-US" sz="2400"/>
              <a:t>helps to establish the connection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</a:pPr>
            <a:r>
              <a:rPr b="1" lang="en-US" sz="2300"/>
              <a:t>Connection URL: </a:t>
            </a:r>
            <a:r>
              <a:rPr lang="en-US" sz="2300"/>
              <a:t>The connection URL for the mysql database is </a:t>
            </a:r>
            <a:r>
              <a:rPr b="1" lang="en-US" sz="2300"/>
              <a:t>jdbc:mysql://localhost:3306/</a:t>
            </a:r>
            <a:r>
              <a:rPr b="1" lang="en-US" sz="2300">
                <a:solidFill>
                  <a:srgbClr val="CC00CC"/>
                </a:solidFill>
              </a:rPr>
              <a:t>ABC</a:t>
            </a:r>
            <a:r>
              <a:rPr lang="en-US" sz="2300"/>
              <a:t> where </a:t>
            </a:r>
            <a:r>
              <a:rPr b="1" lang="en-US" sz="2300"/>
              <a:t>jdbc</a:t>
            </a:r>
            <a:r>
              <a:rPr lang="en-US" sz="2300"/>
              <a:t> is the API, </a:t>
            </a:r>
            <a:r>
              <a:rPr b="1" lang="en-US" sz="2300"/>
              <a:t>mysql</a:t>
            </a:r>
            <a:r>
              <a:rPr lang="en-US" sz="2300"/>
              <a:t> is the database, </a:t>
            </a:r>
            <a:r>
              <a:rPr b="1" lang="en-US" sz="2300"/>
              <a:t>localhost</a:t>
            </a:r>
            <a:r>
              <a:rPr lang="en-US" sz="2300"/>
              <a:t> is the server name on which mysql is running, we may also use IP address, </a:t>
            </a:r>
            <a:r>
              <a:rPr b="1" lang="en-US" sz="2300"/>
              <a:t>3306</a:t>
            </a:r>
            <a:r>
              <a:rPr lang="en-US" sz="2300"/>
              <a:t> is the port number and </a:t>
            </a:r>
            <a:r>
              <a:rPr b="1" lang="en-US" sz="2300">
                <a:solidFill>
                  <a:srgbClr val="CC00CC"/>
                </a:solidFill>
              </a:rPr>
              <a:t>ABC</a:t>
            </a:r>
            <a:r>
              <a:rPr lang="en-US" sz="2300"/>
              <a:t>is the database name. We may use any database in MySQL here.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</a:pPr>
            <a:r>
              <a:rPr b="1" lang="en-US" sz="2300"/>
              <a:t>Username: </a:t>
            </a:r>
            <a:r>
              <a:rPr lang="en-US" sz="2300"/>
              <a:t>The default username for the mysql database is </a:t>
            </a:r>
            <a:r>
              <a:rPr b="1" lang="en-US" sz="2300"/>
              <a:t>root</a:t>
            </a:r>
            <a:r>
              <a:rPr lang="en-US" sz="2300"/>
              <a:t>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</a:pPr>
            <a:r>
              <a:rPr b="1" lang="en-US" sz="2300"/>
              <a:t>Password: </a:t>
            </a:r>
            <a:r>
              <a:rPr lang="en-US" sz="2300"/>
              <a:t>It is the password given by the user at the time of installing the mysql database. </a:t>
            </a:r>
            <a:endParaRPr sz="2300"/>
          </a:p>
        </p:txBody>
      </p:sp>
      <p:sp>
        <p:nvSpPr>
          <p:cNvPr id="606" name="Google Shape;606;p57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07" name="Google Shape;607;p57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8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WORKING</a:t>
            </a:r>
            <a:r>
              <a:rPr b="0" lang="en-US" sz="2800"/>
              <a:t>(contd.)</a:t>
            </a:r>
            <a:endParaRPr b="0" sz="2800"/>
          </a:p>
        </p:txBody>
      </p:sp>
      <p:sp>
        <p:nvSpPr>
          <p:cNvPr id="613" name="Google Shape;613;p58"/>
          <p:cNvSpPr txBox="1"/>
          <p:nvPr>
            <p:ph idx="1" type="body"/>
          </p:nvPr>
        </p:nvSpPr>
        <p:spPr>
          <a:xfrm>
            <a:off x="228600" y="533400"/>
            <a:ext cx="8839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>
                <a:solidFill>
                  <a:srgbClr val="0000CC"/>
                </a:solidFill>
              </a:rPr>
              <a:t>Connection</a:t>
            </a:r>
            <a:r>
              <a:rPr lang="en-US"/>
              <a:t> con=</a:t>
            </a:r>
            <a:r>
              <a:rPr b="1" lang="en-US">
                <a:solidFill>
                  <a:srgbClr val="0000CC"/>
                </a:solidFill>
              </a:rPr>
              <a:t>DriverManager</a:t>
            </a:r>
            <a:r>
              <a:rPr lang="en-US"/>
              <a:t>.</a:t>
            </a:r>
            <a:r>
              <a:rPr b="1" lang="en-US">
                <a:solidFill>
                  <a:srgbClr val="C00000"/>
                </a:solidFill>
              </a:rPr>
              <a:t>getConnection</a:t>
            </a:r>
            <a:r>
              <a:rPr lang="en-US"/>
              <a:t>(  "</a:t>
            </a:r>
            <a:r>
              <a:rPr b="1" lang="en-US"/>
              <a:t>jdbc:mysql://localhost:3306/</a:t>
            </a:r>
            <a:r>
              <a:rPr b="1" lang="en-US">
                <a:solidFill>
                  <a:srgbClr val="CC00CC"/>
                </a:solidFill>
              </a:rPr>
              <a:t>ABC</a:t>
            </a:r>
            <a:r>
              <a:rPr lang="en-US"/>
              <a:t>" ,   "</a:t>
            </a:r>
            <a:r>
              <a:rPr b="1" lang="en-US">
                <a:solidFill>
                  <a:srgbClr val="CC00CC"/>
                </a:solidFill>
              </a:rPr>
              <a:t>root</a:t>
            </a:r>
            <a:r>
              <a:rPr lang="en-US"/>
              <a:t>"    ,   "</a:t>
            </a:r>
            <a:r>
              <a:rPr b="1" lang="en-US">
                <a:solidFill>
                  <a:srgbClr val="CC00CC"/>
                </a:solidFill>
              </a:rPr>
              <a:t>root123</a:t>
            </a:r>
            <a:r>
              <a:rPr lang="en-US"/>
              <a:t>" );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/>
              <a:t>The JDBC url used is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r>
              <a:rPr b="1" lang="en-US"/>
              <a:t>jdbc:mysql://localhost:3306/</a:t>
            </a:r>
            <a:r>
              <a:rPr b="1" lang="en-US">
                <a:solidFill>
                  <a:srgbClr val="CC00CC"/>
                </a:solidFill>
              </a:rPr>
              <a:t>ABC</a:t>
            </a:r>
            <a:r>
              <a:rPr b="1" lang="en-US"/>
              <a:t>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Here </a:t>
            </a:r>
            <a:r>
              <a:rPr b="1" lang="en-US"/>
              <a:t>jdbc</a:t>
            </a:r>
            <a:r>
              <a:rPr lang="en-US"/>
              <a:t> is the API,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mysql</a:t>
            </a:r>
            <a:r>
              <a:rPr lang="en-US"/>
              <a:t> is the database, 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localhost</a:t>
            </a:r>
            <a:r>
              <a:rPr lang="en-US"/>
              <a:t> is the server name on which </a:t>
            </a:r>
            <a:r>
              <a:rPr b="1" lang="en-US"/>
              <a:t>mysql</a:t>
            </a:r>
            <a:r>
              <a:rPr lang="en-US"/>
              <a:t> is running(we can also give IP address here)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3306</a:t>
            </a:r>
            <a:r>
              <a:rPr lang="en-US"/>
              <a:t> is the port number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Char char="•"/>
            </a:pPr>
            <a:r>
              <a:rPr b="1" lang="en-US">
                <a:solidFill>
                  <a:srgbClr val="CC00CC"/>
                </a:solidFill>
              </a:rPr>
              <a:t>ABC</a:t>
            </a:r>
            <a:r>
              <a:rPr b="1" lang="en-US"/>
              <a:t> </a:t>
            </a:r>
            <a:r>
              <a:rPr lang="en-US"/>
              <a:t>is the database name created in MySQL </a:t>
            </a:r>
            <a:r>
              <a:rPr i="1" lang="en-US" sz="2000"/>
              <a:t>(give your database name here)</a:t>
            </a:r>
            <a:endParaRPr i="1"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CC00CC"/>
                </a:solidFill>
              </a:rPr>
              <a:t>root</a:t>
            </a:r>
            <a:r>
              <a:rPr lang="en-US"/>
              <a:t> is the username of MySQL(root is the default username . Other MySQL username we can give here).		</a:t>
            </a:r>
            <a:endParaRPr b="1"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CC"/>
              </a:buClr>
              <a:buSzPts val="2400"/>
              <a:buFont typeface="Noto Sans Symbols"/>
              <a:buChar char="❑"/>
            </a:pPr>
            <a:r>
              <a:rPr b="1" lang="en-US">
                <a:solidFill>
                  <a:srgbClr val="CC00CC"/>
                </a:solidFill>
              </a:rPr>
              <a:t>root123</a:t>
            </a:r>
            <a:r>
              <a:rPr b="1" lang="en-US"/>
              <a:t> </a:t>
            </a:r>
            <a:r>
              <a:rPr lang="en-US"/>
              <a:t>is the password of MySQL  given during installation(give  password you gave during installation)</a:t>
            </a:r>
            <a:endParaRPr b="1"/>
          </a:p>
        </p:txBody>
      </p:sp>
      <p:sp>
        <p:nvSpPr>
          <p:cNvPr id="614" name="Google Shape;614;p5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15" name="Google Shape;615;p5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9"/>
          <p:cNvSpPr txBox="1"/>
          <p:nvPr>
            <p:ph type="title"/>
          </p:nvPr>
        </p:nvSpPr>
        <p:spPr>
          <a:xfrm>
            <a:off x="457200" y="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WORKING</a:t>
            </a:r>
            <a:r>
              <a:rPr b="0" lang="en-US" sz="2800"/>
              <a:t>(contd.)</a:t>
            </a:r>
            <a:endParaRPr sz="2800"/>
          </a:p>
        </p:txBody>
      </p:sp>
      <p:sp>
        <p:nvSpPr>
          <p:cNvPr id="621" name="Google Shape;621;p59"/>
          <p:cNvSpPr txBox="1"/>
          <p:nvPr>
            <p:ph idx="1" type="body"/>
          </p:nvPr>
        </p:nvSpPr>
        <p:spPr>
          <a:xfrm>
            <a:off x="304800" y="609600"/>
            <a:ext cx="8610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sz="2400">
                <a:solidFill>
                  <a:srgbClr val="0000CC"/>
                </a:solidFill>
              </a:rPr>
              <a:t>Statement</a:t>
            </a:r>
            <a:r>
              <a:rPr lang="en-US" sz="2400"/>
              <a:t> </a:t>
            </a:r>
            <a:r>
              <a:rPr b="1" lang="en-US" sz="2400">
                <a:solidFill>
                  <a:srgbClr val="0000CC"/>
                </a:solidFill>
              </a:rPr>
              <a:t>st</a:t>
            </a:r>
            <a:r>
              <a:rPr lang="en-US" sz="2400"/>
              <a:t>=</a:t>
            </a:r>
            <a:r>
              <a:rPr b="1" lang="en-US" sz="2400">
                <a:solidFill>
                  <a:srgbClr val="0000CC"/>
                </a:solidFill>
              </a:rPr>
              <a:t>con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createStatement();</a:t>
            </a:r>
            <a:r>
              <a:rPr lang="en-US" sz="2400">
                <a:solidFill>
                  <a:srgbClr val="0000CC"/>
                </a:solidFill>
              </a:rPr>
              <a:t>	   </a:t>
            </a:r>
            <a:r>
              <a:rPr lang="en-US" sz="2000">
                <a:solidFill>
                  <a:srgbClr val="0000CC"/>
                </a:solidFill>
              </a:rPr>
              <a:t>// con</a:t>
            </a:r>
            <a:r>
              <a:rPr lang="en-US" sz="2000"/>
              <a:t> is the Connection object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Statement object </a:t>
            </a:r>
            <a:r>
              <a:rPr b="1" lang="en-US" sz="2200">
                <a:solidFill>
                  <a:srgbClr val="0000CC"/>
                </a:solidFill>
              </a:rPr>
              <a:t>st</a:t>
            </a:r>
            <a:r>
              <a:rPr b="1" lang="en-US" sz="2200"/>
              <a:t> </a:t>
            </a:r>
            <a:r>
              <a:rPr lang="en-US" sz="2200"/>
              <a:t>is created</a:t>
            </a:r>
            <a:r>
              <a:rPr lang="en-US" sz="2000"/>
              <a:t> </a:t>
            </a:r>
            <a:r>
              <a:rPr lang="en-US" sz="2000" u="sng"/>
              <a:t>from the Connection object  </a:t>
            </a:r>
            <a:r>
              <a:rPr b="1" lang="en-US" sz="2000">
                <a:solidFill>
                  <a:srgbClr val="0000CC"/>
                </a:solidFill>
              </a:rPr>
              <a:t>con </a:t>
            </a:r>
            <a:r>
              <a:rPr lang="en-US" sz="2000"/>
              <a:t>using the  method </a:t>
            </a:r>
            <a:r>
              <a:rPr lang="en-US" sz="2000">
                <a:solidFill>
                  <a:srgbClr val="C00000"/>
                </a:solidFill>
              </a:rPr>
              <a:t>createStatement(). </a:t>
            </a:r>
            <a:r>
              <a:rPr b="1" lang="en-US" sz="2200">
                <a:solidFill>
                  <a:srgbClr val="0000CC"/>
                </a:solidFill>
              </a:rPr>
              <a:t>st</a:t>
            </a:r>
            <a:r>
              <a:rPr b="1" lang="en-US" sz="2200"/>
              <a:t> </a:t>
            </a:r>
            <a:r>
              <a:rPr lang="en-US" sz="2200"/>
              <a:t>can be used to </a:t>
            </a:r>
            <a:r>
              <a:rPr b="1" lang="en-US" sz="2200"/>
              <a:t>send and execute SQL statements</a:t>
            </a:r>
            <a:r>
              <a:rPr lang="en-US" sz="2200"/>
              <a:t> to a database.</a:t>
            </a:r>
            <a:endParaRPr sz="22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execute a SQL statement </a:t>
            </a:r>
            <a:r>
              <a:rPr b="1" lang="en-US" sz="2400"/>
              <a:t>SELECT</a:t>
            </a:r>
            <a:r>
              <a:rPr lang="en-US" sz="2400"/>
              <a:t> we use  </a:t>
            </a:r>
            <a:r>
              <a:rPr b="1" lang="en-US" sz="2400">
                <a:solidFill>
                  <a:srgbClr val="C00000"/>
                </a:solidFill>
              </a:rPr>
              <a:t>executeQuery() </a:t>
            </a:r>
            <a:r>
              <a:rPr lang="en-US" sz="2400"/>
              <a:t>method</a:t>
            </a:r>
            <a:r>
              <a:rPr b="1" lang="en-US" sz="2400"/>
              <a:t> </a:t>
            </a:r>
            <a:r>
              <a:rPr lang="en-US" sz="2400"/>
              <a:t>on </a:t>
            </a:r>
            <a:r>
              <a:rPr b="1" lang="en-US" sz="2400">
                <a:solidFill>
                  <a:srgbClr val="0000CC"/>
                </a:solidFill>
              </a:rPr>
              <a:t>Statement</a:t>
            </a:r>
            <a:r>
              <a:rPr lang="en-US" sz="2400"/>
              <a:t> object </a:t>
            </a:r>
            <a:r>
              <a:rPr b="1" lang="en-US" sz="2400"/>
              <a:t>.</a:t>
            </a:r>
            <a:r>
              <a:rPr lang="en-US" sz="2400"/>
              <a:t> </a:t>
            </a:r>
            <a:endParaRPr b="1"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(Note:</a:t>
            </a:r>
            <a:r>
              <a:rPr lang="en-US" sz="2000"/>
              <a:t>To execute a SQL commands CREATE TABLE, INSERT, DELETE , UPDATE we use </a:t>
            </a:r>
            <a:r>
              <a:rPr lang="en-US" sz="2000">
                <a:solidFill>
                  <a:srgbClr val="C00000"/>
                </a:solidFill>
              </a:rPr>
              <a:t>executeUpdate() </a:t>
            </a:r>
            <a:r>
              <a:rPr lang="en-US" sz="2000"/>
              <a:t>method</a:t>
            </a:r>
            <a:r>
              <a:rPr b="1" lang="en-US" sz="2000"/>
              <a:t> </a:t>
            </a:r>
            <a:r>
              <a:rPr lang="en-US" sz="2000"/>
              <a:t>on </a:t>
            </a:r>
            <a:r>
              <a:rPr b="1"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object</a:t>
            </a:r>
            <a:r>
              <a:rPr b="1" lang="en-US" sz="2000"/>
              <a:t>.</a:t>
            </a:r>
            <a:r>
              <a:rPr lang="en-US" sz="2000"/>
              <a:t> )</a:t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ResultSet</a:t>
            </a:r>
            <a:r>
              <a:rPr lang="en-US" sz="2400"/>
              <a:t> </a:t>
            </a:r>
            <a:r>
              <a:rPr b="1" lang="en-US" sz="2800">
                <a:solidFill>
                  <a:srgbClr val="CC00CC"/>
                </a:solidFill>
              </a:rPr>
              <a:t>rs</a:t>
            </a:r>
            <a:r>
              <a:rPr lang="en-US" sz="2400"/>
              <a:t>=</a:t>
            </a:r>
            <a:r>
              <a:rPr b="1" lang="en-US" sz="2400">
                <a:solidFill>
                  <a:srgbClr val="0000CC"/>
                </a:solidFill>
              </a:rPr>
              <a:t>st</a:t>
            </a:r>
            <a:r>
              <a:rPr lang="en-US" sz="2400"/>
              <a:t>.</a:t>
            </a:r>
            <a:r>
              <a:rPr b="1" lang="en-US" sz="2400">
                <a:solidFill>
                  <a:srgbClr val="C00000"/>
                </a:solidFill>
              </a:rPr>
              <a:t>execute</a:t>
            </a:r>
            <a:r>
              <a:rPr b="1" lang="en-US" sz="2800">
                <a:solidFill>
                  <a:srgbClr val="C00000"/>
                </a:solidFill>
              </a:rPr>
              <a:t>Query</a:t>
            </a:r>
            <a:r>
              <a:rPr lang="en-US" sz="2400"/>
              <a:t>("SELECT rollno, name FROM Student");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SELECT command is executed using </a:t>
            </a:r>
            <a:r>
              <a:rPr b="1" lang="en-US" sz="2000">
                <a:solidFill>
                  <a:srgbClr val="C00000"/>
                </a:solidFill>
              </a:rPr>
              <a:t>executeQuery() </a:t>
            </a:r>
            <a:r>
              <a:rPr lang="en-US" sz="2000"/>
              <a:t>method</a:t>
            </a:r>
            <a:r>
              <a:rPr b="1" lang="en-US" sz="2000"/>
              <a:t> </a:t>
            </a:r>
            <a:r>
              <a:rPr lang="en-US" sz="2000"/>
              <a:t>on </a:t>
            </a:r>
            <a:r>
              <a:rPr b="1" lang="en-US" sz="2000">
                <a:solidFill>
                  <a:srgbClr val="0000CC"/>
                </a:solidFill>
              </a:rPr>
              <a:t>Statement</a:t>
            </a:r>
            <a:r>
              <a:rPr lang="en-US" sz="2000"/>
              <a:t> object </a:t>
            </a:r>
            <a:r>
              <a:rPr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lang="en-US" sz="2200"/>
              <a:t>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Result of this SELECT is the rows containing all rollno and name from the table Student in the form of ResultSet.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1" lang="en-US" sz="2200"/>
              <a:t>ResultSet </a:t>
            </a:r>
            <a:r>
              <a:rPr lang="en-US" sz="2200"/>
              <a:t>object </a:t>
            </a:r>
            <a:r>
              <a:rPr b="1" lang="en-US" sz="2200"/>
              <a:t>rs </a:t>
            </a:r>
            <a:r>
              <a:rPr lang="en-US" sz="2200"/>
              <a:t>maintains a cursor that is </a:t>
            </a:r>
            <a:r>
              <a:rPr lang="en-US" sz="2200" u="sng"/>
              <a:t>initially positioned </a:t>
            </a:r>
            <a:r>
              <a:rPr b="1" lang="en-US" sz="2200" u="sng"/>
              <a:t>before the first row </a:t>
            </a:r>
            <a:r>
              <a:rPr lang="en-US" sz="2200" u="sng"/>
              <a:t>in the result of SELECT command</a:t>
            </a:r>
            <a:r>
              <a:rPr b="1" lang="en-US" sz="2200" u="sng"/>
              <a:t>.</a:t>
            </a:r>
            <a:endParaRPr/>
          </a:p>
          <a:p>
            <a:pPr indent="-1460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C00000"/>
              </a:solidFill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22" name="Google Shape;622;p59"/>
          <p:cNvSpPr txBox="1"/>
          <p:nvPr>
            <p:ph idx="11" type="ftr"/>
          </p:nvPr>
        </p:nvSpPr>
        <p:spPr>
          <a:xfrm>
            <a:off x="7086600" y="6324600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23" name="Google Shape;623;p59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WORKING</a:t>
            </a:r>
            <a:r>
              <a:rPr b="0" lang="en-US" sz="2400"/>
              <a:t>(contd.)</a:t>
            </a:r>
            <a:endParaRPr b="0" sz="2400"/>
          </a:p>
        </p:txBody>
      </p:sp>
      <p:sp>
        <p:nvSpPr>
          <p:cNvPr id="629" name="Google Shape;629;p60"/>
          <p:cNvSpPr txBox="1"/>
          <p:nvPr>
            <p:ph idx="1" type="body"/>
          </p:nvPr>
        </p:nvSpPr>
        <p:spPr>
          <a:xfrm>
            <a:off x="228600" y="381000"/>
            <a:ext cx="8458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2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None/>
            </a:pPr>
            <a:r>
              <a:rPr b="1" lang="en-US" sz="2200">
                <a:solidFill>
                  <a:srgbClr val="0000CC"/>
                </a:solidFill>
              </a:rPr>
              <a:t>ResultSet</a:t>
            </a:r>
            <a:r>
              <a:rPr lang="en-US" sz="2200"/>
              <a:t> rs=st</a:t>
            </a:r>
            <a:r>
              <a:rPr b="1" lang="en-US" sz="2200"/>
              <a:t>.</a:t>
            </a:r>
            <a:r>
              <a:rPr b="1" i="1" lang="en-US" sz="2200"/>
              <a:t>executeQuery</a:t>
            </a:r>
            <a:r>
              <a:rPr lang="en-US" sz="2200"/>
              <a:t>(“SELECT rollno, name </a:t>
            </a:r>
            <a:r>
              <a:rPr lang="en-US" sz="2000"/>
              <a:t>FROM   </a:t>
            </a:r>
            <a:r>
              <a:rPr lang="en-US" sz="2200"/>
              <a:t>student”);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while(rs.</a:t>
            </a:r>
            <a:r>
              <a:rPr b="1" lang="en-US" sz="2200">
                <a:solidFill>
                  <a:srgbClr val="C00000"/>
                </a:solidFill>
              </a:rPr>
              <a:t>next()</a:t>
            </a:r>
            <a:r>
              <a:rPr lang="en-US" sz="2200"/>
              <a:t>)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{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	 System.out.println(rs.</a:t>
            </a:r>
            <a:r>
              <a:rPr lang="en-US" sz="2200">
                <a:solidFill>
                  <a:srgbClr val="C00000"/>
                </a:solidFill>
              </a:rPr>
              <a:t>getInt</a:t>
            </a:r>
            <a:r>
              <a:rPr lang="en-US" sz="2200"/>
              <a:t>(1)); 					System.out.println(rs.</a:t>
            </a:r>
            <a:r>
              <a:rPr lang="en-US" sz="2200">
                <a:solidFill>
                  <a:srgbClr val="C00000"/>
                </a:solidFill>
              </a:rPr>
              <a:t>getString</a:t>
            </a:r>
            <a:r>
              <a:rPr lang="en-US" sz="2200"/>
              <a:t>(2));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}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ResultSet </a:t>
            </a:r>
            <a:r>
              <a:rPr lang="en-US" sz="2200"/>
              <a:t>object </a:t>
            </a:r>
            <a:r>
              <a:rPr b="1" lang="en-US" sz="2200"/>
              <a:t>rs maintains a cursor</a:t>
            </a:r>
            <a:r>
              <a:rPr lang="en-US" sz="2200"/>
              <a:t> that is </a:t>
            </a:r>
            <a:r>
              <a:rPr lang="en-US" sz="2200" u="sng"/>
              <a:t>initially positioned </a:t>
            </a:r>
            <a:r>
              <a:rPr b="1" lang="en-US" sz="2200" u="sng"/>
              <a:t>before the first row in the result.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When </a:t>
            </a:r>
            <a:r>
              <a:rPr b="1" lang="en-US" sz="2200"/>
              <a:t>while(rs.</a:t>
            </a:r>
            <a:r>
              <a:rPr b="1" lang="en-US" sz="2200">
                <a:solidFill>
                  <a:srgbClr val="C00000"/>
                </a:solidFill>
              </a:rPr>
              <a:t>next()) </a:t>
            </a:r>
            <a:r>
              <a:rPr b="1" lang="en-US" sz="2200"/>
              <a:t> is first executed </a:t>
            </a:r>
            <a:r>
              <a:rPr lang="en-US" sz="2200"/>
              <a:t>the </a:t>
            </a:r>
            <a:r>
              <a:rPr lang="en-US" sz="2200" u="sng"/>
              <a:t>cursor moves forward to first row of result</a:t>
            </a:r>
            <a:r>
              <a:rPr lang="en-US" sz="2200"/>
              <a:t> </a:t>
            </a:r>
            <a:endParaRPr/>
          </a:p>
          <a:p>
            <a:pPr indent="-285750" lvl="1" marL="67437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System.out.println(rs.</a:t>
            </a:r>
            <a:r>
              <a:rPr lang="en-US" sz="2200">
                <a:solidFill>
                  <a:srgbClr val="C00000"/>
                </a:solidFill>
              </a:rPr>
              <a:t>getInt</a:t>
            </a:r>
            <a:r>
              <a:rPr lang="en-US" sz="2200"/>
              <a:t>(1)); prints the value of first attribute (rollno) </a:t>
            </a:r>
            <a:endParaRPr/>
          </a:p>
          <a:p>
            <a:pPr indent="-285750" lvl="1" marL="67437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System.out.println(rs.</a:t>
            </a:r>
            <a:r>
              <a:rPr lang="en-US" sz="2200">
                <a:solidFill>
                  <a:srgbClr val="C00000"/>
                </a:solidFill>
              </a:rPr>
              <a:t>getString</a:t>
            </a:r>
            <a:r>
              <a:rPr lang="en-US" sz="2200"/>
              <a:t>(2)); prints the value of second attribute (name) in the result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Next time </a:t>
            </a:r>
            <a:r>
              <a:rPr b="1" lang="en-US" sz="2200"/>
              <a:t>while</a:t>
            </a:r>
            <a:r>
              <a:rPr lang="en-US" sz="2200"/>
              <a:t> loop is executed, if second row is there, then rs.nex() moves cursor to second row and prints the values in that row.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continues until there is no more row in the result.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con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close()</a:t>
            </a:r>
            <a:r>
              <a:rPr lang="en-US" sz="2400"/>
              <a:t>;  closes the connection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630" name="Google Shape;630;p60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31" name="Google Shape;631;p60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WORKING</a:t>
            </a:r>
            <a:r>
              <a:rPr b="0" lang="en-US" sz="2800"/>
              <a:t>(contd.)</a:t>
            </a:r>
            <a:endParaRPr b="0" sz="2800"/>
          </a:p>
        </p:txBody>
      </p:sp>
      <p:sp>
        <p:nvSpPr>
          <p:cNvPr id="637" name="Google Shape;637;p61"/>
          <p:cNvSpPr txBox="1"/>
          <p:nvPr>
            <p:ph idx="1" type="body"/>
          </p:nvPr>
        </p:nvSpPr>
        <p:spPr>
          <a:xfrm>
            <a:off x="228600" y="533400"/>
            <a:ext cx="84582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2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None/>
            </a:pPr>
            <a:r>
              <a:rPr b="1" lang="en-US" sz="2200">
                <a:solidFill>
                  <a:srgbClr val="0000CC"/>
                </a:solidFill>
              </a:rPr>
              <a:t>ResultSet</a:t>
            </a:r>
            <a:r>
              <a:rPr lang="en-US" sz="2200"/>
              <a:t> rs=st</a:t>
            </a:r>
            <a:r>
              <a:rPr b="1" lang="en-US" sz="2200"/>
              <a:t>.</a:t>
            </a:r>
            <a:r>
              <a:rPr b="1" i="1" lang="en-US" sz="2200"/>
              <a:t>executeQuery</a:t>
            </a:r>
            <a:r>
              <a:rPr lang="en-US" sz="2200"/>
              <a:t>(“SELECT rollno, name </a:t>
            </a:r>
            <a:r>
              <a:rPr lang="en-US" sz="2000"/>
              <a:t>FROM   </a:t>
            </a:r>
            <a:r>
              <a:rPr lang="en-US" sz="2200"/>
              <a:t>student”);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while(rs.</a:t>
            </a:r>
            <a:r>
              <a:rPr b="1" lang="en-US" sz="2200">
                <a:solidFill>
                  <a:srgbClr val="C00000"/>
                </a:solidFill>
              </a:rPr>
              <a:t>next()</a:t>
            </a:r>
            <a:r>
              <a:rPr lang="en-US" sz="2200"/>
              <a:t>)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{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	 System.out.println(rs.</a:t>
            </a:r>
            <a:r>
              <a:rPr lang="en-US" sz="2200">
                <a:solidFill>
                  <a:srgbClr val="C00000"/>
                </a:solidFill>
              </a:rPr>
              <a:t>getInt</a:t>
            </a:r>
            <a:r>
              <a:rPr lang="en-US" sz="2200"/>
              <a:t>(1)); 					System.out.println(rs.</a:t>
            </a:r>
            <a:r>
              <a:rPr lang="en-US" sz="2200">
                <a:solidFill>
                  <a:srgbClr val="C00000"/>
                </a:solidFill>
              </a:rPr>
              <a:t>getString</a:t>
            </a:r>
            <a:r>
              <a:rPr lang="en-US" sz="2200"/>
              <a:t>(2));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	}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Working</a:t>
            </a:r>
            <a:r>
              <a:rPr lang="en-US" sz="2400"/>
              <a:t>: 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Here rollno and name in all rows in student table are retrieved. 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ResultSet </a:t>
            </a:r>
            <a:r>
              <a:rPr lang="en-US" sz="2200"/>
              <a:t>object </a:t>
            </a:r>
            <a:r>
              <a:rPr b="1" lang="en-US" sz="2200"/>
              <a:t>rs </a:t>
            </a:r>
            <a:r>
              <a:rPr lang="en-US" sz="2200"/>
              <a:t>maintains a cursor that is </a:t>
            </a:r>
            <a:r>
              <a:rPr lang="en-US" sz="2200" u="sng"/>
              <a:t>initially positioned </a:t>
            </a:r>
            <a:r>
              <a:rPr b="1" lang="en-US" sz="2200" u="sng"/>
              <a:t>before the first row in the result.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When </a:t>
            </a:r>
            <a:r>
              <a:rPr b="1" lang="en-US" sz="2200"/>
              <a:t>while(rs.</a:t>
            </a:r>
            <a:r>
              <a:rPr b="1" lang="en-US" sz="2200">
                <a:solidFill>
                  <a:srgbClr val="C00000"/>
                </a:solidFill>
              </a:rPr>
              <a:t>next()) </a:t>
            </a:r>
            <a:r>
              <a:rPr b="1" lang="en-US" sz="2200"/>
              <a:t> is first executed </a:t>
            </a:r>
            <a:r>
              <a:rPr lang="en-US" sz="2200"/>
              <a:t>the </a:t>
            </a:r>
            <a:r>
              <a:rPr lang="en-US" sz="2200" u="sng"/>
              <a:t>cursor moves forward to first row of result</a:t>
            </a:r>
            <a:r>
              <a:rPr lang="en-US" sz="2200"/>
              <a:t> and prints the value of first attribute (rollno) and second attribute(name)in first row in the result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Next time while loop is executed, if second row is there, then rs.nex() moves cursor to second row and prints the values in that row.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continues until there is no more row in the result.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con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close()</a:t>
            </a:r>
            <a:r>
              <a:rPr lang="en-US" sz="2400"/>
              <a:t>;  closes the connection</a:t>
            </a:r>
            <a:endParaRPr sz="2200"/>
          </a:p>
          <a:p>
            <a:pPr indent="-274320" lvl="0" marL="27432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638" name="Google Shape;638;p61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39" name="Google Shape;639;p61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WORKING</a:t>
            </a:r>
            <a:r>
              <a:rPr b="0" lang="en-US"/>
              <a:t>(contd.)</a:t>
            </a:r>
            <a:endParaRPr/>
          </a:p>
        </p:txBody>
      </p:sp>
      <p:sp>
        <p:nvSpPr>
          <p:cNvPr id="645" name="Google Shape;645;p62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>
                <a:solidFill>
                  <a:srgbClr val="0000CC"/>
                </a:solidFill>
              </a:rPr>
              <a:t>ClassNotFoundException </a:t>
            </a:r>
            <a:r>
              <a:rPr lang="en-US" sz="2400"/>
              <a:t>, </a:t>
            </a:r>
            <a:r>
              <a:rPr lang="en-US" sz="2400">
                <a:solidFill>
                  <a:srgbClr val="0000CC"/>
                </a:solidFill>
              </a:rPr>
              <a:t>SQLException  </a:t>
            </a:r>
            <a:r>
              <a:rPr lang="en-US" sz="2400"/>
              <a:t>and other exceptions may occur during these  steps.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>
                <a:solidFill>
                  <a:srgbClr val="0000CC"/>
                </a:solidFill>
              </a:rPr>
              <a:t>ClassNotFoundException</a:t>
            </a:r>
            <a:r>
              <a:rPr lang="en-US" sz="2400"/>
              <a:t> is thrown from main function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public static void </a:t>
            </a:r>
            <a:r>
              <a:rPr lang="en-US" sz="2400">
                <a:solidFill>
                  <a:srgbClr val="C00000"/>
                </a:solidFill>
              </a:rPr>
              <a:t>main</a:t>
            </a:r>
            <a:r>
              <a:rPr lang="en-US" sz="2400"/>
              <a:t>(String args[]) </a:t>
            </a:r>
            <a:r>
              <a:rPr b="1" lang="en-US" sz="2400">
                <a:solidFill>
                  <a:srgbClr val="FF0000"/>
                </a:solidFill>
              </a:rPr>
              <a:t>throws</a:t>
            </a:r>
            <a:r>
              <a:rPr b="1" lang="en-US" sz="2400"/>
              <a:t> </a:t>
            </a:r>
            <a:r>
              <a:rPr b="1" lang="en-US" sz="2400">
                <a:solidFill>
                  <a:srgbClr val="0000CC"/>
                </a:solidFill>
              </a:rPr>
              <a:t>ClassNotFoundException</a:t>
            </a:r>
            <a:endParaRPr b="1" sz="2400">
              <a:solidFill>
                <a:srgbClr val="0000CC"/>
              </a:solidFill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Using try catch other exceptions like SQLException can be handled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try{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}catch(</a:t>
            </a:r>
            <a:r>
              <a:rPr b="1" lang="en-US" sz="2400">
                <a:solidFill>
                  <a:srgbClr val="0000CC"/>
                </a:solidFill>
              </a:rPr>
              <a:t>SQLException </a:t>
            </a:r>
            <a:r>
              <a:rPr lang="en-US" sz="2400"/>
              <a:t>se)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{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catch(</a:t>
            </a:r>
            <a:r>
              <a:rPr lang="en-US" sz="2400">
                <a:solidFill>
                  <a:srgbClr val="0000CC"/>
                </a:solidFill>
              </a:rPr>
              <a:t>Exc</a:t>
            </a:r>
            <a:r>
              <a:rPr b="1" lang="en-US" sz="2400">
                <a:solidFill>
                  <a:srgbClr val="0000CC"/>
                </a:solidFill>
              </a:rPr>
              <a:t>eption</a:t>
            </a:r>
            <a:r>
              <a:rPr lang="en-US" sz="2400"/>
              <a:t> 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{	}</a:t>
            </a:r>
            <a:endParaRPr sz="2400"/>
          </a:p>
        </p:txBody>
      </p:sp>
      <p:sp>
        <p:nvSpPr>
          <p:cNvPr id="646" name="Google Shape;646;p62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47" name="Google Shape;647;p62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000CC"/>
                </a:solidFill>
              </a:rPr>
              <a:t>SELECT </a:t>
            </a:r>
            <a:r>
              <a:rPr lang="en-US" sz="2800"/>
              <a:t>rows based on conditionusing Java</a:t>
            </a:r>
            <a:endParaRPr sz="2800"/>
          </a:p>
        </p:txBody>
      </p:sp>
      <p:sp>
        <p:nvSpPr>
          <p:cNvPr id="653" name="Google Shape;653;p63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Write a Java program to </a:t>
            </a:r>
            <a:r>
              <a:rPr b="1" lang="en-US" sz="2800"/>
              <a:t>list name of the student </a:t>
            </a:r>
            <a:r>
              <a:rPr lang="en-US" sz="2800"/>
              <a:t>in </a:t>
            </a:r>
            <a:r>
              <a:rPr b="1" lang="en-US" sz="2800"/>
              <a:t>Student</a:t>
            </a:r>
            <a:r>
              <a:rPr lang="en-US" sz="2800"/>
              <a:t> table</a:t>
            </a:r>
            <a:r>
              <a:rPr b="1" lang="en-US" sz="2800"/>
              <a:t> </a:t>
            </a:r>
            <a:r>
              <a:rPr b="1" lang="en-US" sz="2800" u="sng"/>
              <a:t>having given roll number</a:t>
            </a:r>
            <a:endParaRPr sz="2800" u="sng"/>
          </a:p>
          <a:p>
            <a:pPr indent="-1397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654" name="Google Shape;654;p63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55" name="Google Shape;655;p63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4"/>
          <p:cNvSpPr txBox="1"/>
          <p:nvPr>
            <p:ph type="title"/>
          </p:nvPr>
        </p:nvSpPr>
        <p:spPr>
          <a:xfrm>
            <a:off x="457200" y="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SELECT row based on condition Using Java</a:t>
            </a:r>
            <a:endParaRPr sz="2400"/>
          </a:p>
        </p:txBody>
      </p:sp>
      <p:sp>
        <p:nvSpPr>
          <p:cNvPr id="661" name="Google Shape;661;p64"/>
          <p:cNvSpPr txBox="1"/>
          <p:nvPr>
            <p:ph idx="1" type="body"/>
          </p:nvPr>
        </p:nvSpPr>
        <p:spPr>
          <a:xfrm>
            <a:off x="304800" y="304800"/>
            <a:ext cx="8534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import </a:t>
            </a:r>
            <a:r>
              <a:rPr b="1" lang="en-US" sz="2400">
                <a:solidFill>
                  <a:srgbClr val="0000CC"/>
                </a:solidFill>
              </a:rPr>
              <a:t>java.sql</a:t>
            </a:r>
            <a:r>
              <a:rPr b="1" lang="en-US" sz="2400"/>
              <a:t>.*;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import java.util.*</a:t>
            </a:r>
            <a:endParaRPr b="1" sz="2400"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public class InsertEg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public static void main(String args[]) throws ClassNotFoundException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{ </a:t>
            </a:r>
            <a:r>
              <a:rPr b="1" lang="en-US" sz="1800"/>
              <a:t>try</a:t>
            </a:r>
            <a:r>
              <a:rPr lang="en-US" sz="1800"/>
              <a:t> {</a:t>
            </a:r>
            <a:r>
              <a:rPr b="1" i="1" lang="en-US" sz="2000">
                <a:solidFill>
                  <a:srgbClr val="76923C"/>
                </a:solidFill>
              </a:rPr>
              <a:t> </a:t>
            </a:r>
            <a:r>
              <a:rPr lang="en-US" sz="2000"/>
              <a:t>int roll;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 Scanner sc=new Scanner(System.in);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Class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forName</a:t>
            </a:r>
            <a:r>
              <a:rPr lang="en-US" sz="2000"/>
              <a:t>("</a:t>
            </a:r>
            <a:r>
              <a:rPr b="1" lang="en-US" sz="2000"/>
              <a:t>com.mysql.jdbc.Driver</a:t>
            </a:r>
            <a:r>
              <a:rPr lang="en-US" sz="2000"/>
              <a:t>"); </a:t>
            </a:r>
            <a:endParaRPr i="1" sz="2000">
              <a:solidFill>
                <a:srgbClr val="76923C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Connection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=</a:t>
            </a:r>
            <a:r>
              <a:rPr lang="en-US" sz="2000">
                <a:solidFill>
                  <a:srgbClr val="0000CC"/>
                </a:solidFill>
              </a:rPr>
              <a:t>DriverManager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getConnection</a:t>
            </a:r>
            <a:r>
              <a:rPr lang="en-US" sz="2000"/>
              <a:t>( 		   			"jdbc:mysql://localhost:3306/</a:t>
            </a:r>
            <a:r>
              <a:rPr b="1" lang="en-US" sz="2000">
                <a:solidFill>
                  <a:srgbClr val="7030A0"/>
                </a:solidFill>
              </a:rPr>
              <a:t>ABC</a:t>
            </a:r>
            <a:r>
              <a:rPr lang="en-US" sz="2000"/>
              <a:t>" , "</a:t>
            </a:r>
            <a:r>
              <a:rPr b="1" lang="en-US" sz="2000">
                <a:solidFill>
                  <a:srgbClr val="7030A0"/>
                </a:solidFill>
              </a:rPr>
              <a:t>root</a:t>
            </a:r>
            <a:r>
              <a:rPr lang="en-US" sz="2000"/>
              <a:t>","</a:t>
            </a:r>
            <a:r>
              <a:rPr b="1" lang="en-US" sz="2000">
                <a:solidFill>
                  <a:srgbClr val="7030A0"/>
                </a:solidFill>
              </a:rPr>
              <a:t>root123</a:t>
            </a:r>
            <a:r>
              <a:rPr lang="en-US" sz="2000"/>
              <a:t>");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Statement</a:t>
            </a:r>
            <a:r>
              <a:rPr lang="en-US" sz="2000"/>
              <a:t> 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createStatement</a:t>
            </a:r>
            <a:r>
              <a:rPr lang="en-US" sz="2000"/>
              <a:t>();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		System.out.println("Enter the rollno of student ");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roll=sc.nextInt();    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ResultSet</a:t>
            </a:r>
            <a:r>
              <a:rPr lang="en-US" sz="2000"/>
              <a:t> </a:t>
            </a:r>
            <a:r>
              <a:rPr b="1" lang="en-US" sz="2400">
                <a:solidFill>
                  <a:srgbClr val="CC00CC"/>
                </a:solidFill>
              </a:rPr>
              <a:t>rs</a:t>
            </a:r>
            <a:r>
              <a:rPr lang="en-US" sz="2000"/>
              <a:t>=</a:t>
            </a:r>
            <a:r>
              <a:rPr b="1" lang="en-US" sz="2000">
                <a:solidFill>
                  <a:srgbClr val="0000CC"/>
                </a:solidFill>
              </a:rPr>
              <a:t>st</a:t>
            </a:r>
            <a:r>
              <a:rPr lang="en-US" sz="2000"/>
              <a:t>.</a:t>
            </a:r>
            <a:r>
              <a:rPr b="1" lang="en-US" sz="2000">
                <a:solidFill>
                  <a:srgbClr val="C00000"/>
                </a:solidFill>
              </a:rPr>
              <a:t>execute</a:t>
            </a:r>
            <a:r>
              <a:rPr b="1" lang="en-US" sz="2400">
                <a:solidFill>
                  <a:srgbClr val="C00000"/>
                </a:solidFill>
              </a:rPr>
              <a:t>Query</a:t>
            </a:r>
            <a:r>
              <a:rPr lang="en-US" sz="2000"/>
              <a:t>("SELECT name FROM student WHERE rollno='</a:t>
            </a:r>
            <a:r>
              <a:rPr lang="en-US" sz="2800">
                <a:solidFill>
                  <a:srgbClr val="C00000"/>
                </a:solidFill>
              </a:rPr>
              <a:t>"</a:t>
            </a:r>
            <a:r>
              <a:rPr lang="en-US" sz="2000"/>
              <a:t>+ roll +</a:t>
            </a:r>
            <a:r>
              <a:rPr lang="en-US" sz="2800">
                <a:solidFill>
                  <a:srgbClr val="C00000"/>
                </a:solidFill>
              </a:rPr>
              <a:t>"</a:t>
            </a:r>
            <a:r>
              <a:rPr lang="en-US" sz="2000"/>
              <a:t>' ");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System.out.println("Name of student is “+</a:t>
            </a:r>
            <a:r>
              <a:rPr b="1" lang="en-US" sz="2000">
                <a:solidFill>
                  <a:srgbClr val="CC00CC"/>
                </a:solidFill>
              </a:rPr>
              <a:t>rs</a:t>
            </a:r>
            <a:r>
              <a:rPr lang="en-US" sz="2000"/>
              <a:t>.getString(1)); 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b="1" lang="en-US" sz="2000">
                <a:solidFill>
                  <a:srgbClr val="0000CC"/>
                </a:solidFill>
              </a:rPr>
              <a:t>		con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close()</a:t>
            </a:r>
            <a:r>
              <a:rPr lang="en-US" sz="2000"/>
              <a:t>; 		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	   }</a:t>
            </a:r>
            <a:r>
              <a:rPr b="1" lang="en-US" sz="2000"/>
              <a:t>catch(SQLException</a:t>
            </a:r>
            <a:r>
              <a:rPr lang="en-US" sz="2000"/>
              <a:t> e) {       System.out.println("Error is " +e);    }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}</a:t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662" name="Google Shape;662;p64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63" name="Google Shape;663;p64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669" name="Google Shape;669;p65"/>
          <p:cNvSpPr txBox="1"/>
          <p:nvPr>
            <p:ph idx="1" type="body"/>
          </p:nvPr>
        </p:nvSpPr>
        <p:spPr>
          <a:xfrm>
            <a:off x="457200" y="6096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Programming Language -</a:t>
            </a:r>
            <a:r>
              <a:rPr b="1" lang="en-US">
                <a:solidFill>
                  <a:srgbClr val="0000CC"/>
                </a:solidFill>
              </a:rPr>
              <a:t>Java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 for coding, developing interfaces(</a:t>
            </a:r>
            <a:r>
              <a:rPr b="1" lang="en-US"/>
              <a:t>front end</a:t>
            </a:r>
            <a:r>
              <a:rPr lang="en-US"/>
              <a:t> of an application 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Database–</a:t>
            </a:r>
            <a:r>
              <a:rPr b="1" lang="en-US" sz="2400"/>
              <a:t>(DBMS softwares:</a:t>
            </a:r>
            <a:r>
              <a:rPr b="1" lang="en-US" sz="2400">
                <a:solidFill>
                  <a:srgbClr val="0000CC"/>
                </a:solidFill>
              </a:rPr>
              <a:t>MySQL</a:t>
            </a:r>
            <a:r>
              <a:rPr b="1" lang="en-US" sz="2400"/>
              <a:t> ,</a:t>
            </a:r>
            <a:r>
              <a:rPr lang="en-US" sz="2400"/>
              <a:t> Oracle , PostgreSQL)</a:t>
            </a:r>
            <a:endParaRPr sz="24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For storing data- (</a:t>
            </a:r>
            <a:r>
              <a:rPr b="1" lang="en-US"/>
              <a:t>back end </a:t>
            </a:r>
            <a:r>
              <a:rPr lang="en-US"/>
              <a:t>of an application)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Relational database -Tabular structure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E.g.</a:t>
            </a:r>
            <a:r>
              <a:rPr lang="en-US"/>
              <a:t> - Oracle, Microsoft Access, </a:t>
            </a:r>
            <a:r>
              <a:rPr b="1" lang="en-US"/>
              <a:t>MySQL</a:t>
            </a:r>
            <a:r>
              <a:rPr lang="en-US"/>
              <a:t>, PostgreSQL, MongoDB etc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SQL- Structured Query Language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b="1" lang="en-US">
                <a:solidFill>
                  <a:srgbClr val="0000CC"/>
                </a:solidFill>
              </a:rPr>
              <a:t>SQL</a:t>
            </a:r>
            <a:r>
              <a:rPr lang="en-US"/>
              <a:t> statements are used to perform operations on a database. CREATE TABLE, INSERT, DELETE, UPDATE, SELECT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76200" lvl="2" marL="1143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70" name="Google Shape;670;p65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71" name="Google Shape;671;p65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68"/>
          <p:cNvSpPr txBox="1"/>
          <p:nvPr>
            <p:ph idx="1" type="body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78" name="Google Shape;678;p68"/>
          <p:cNvSpPr txBox="1"/>
          <p:nvPr>
            <p:ph idx="11" type="ftr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679" name="Google Shape;679;p68"/>
          <p:cNvSpPr txBox="1"/>
          <p:nvPr>
            <p:ph idx="12" type="sldNum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0" name="Google Shape;680;p68"/>
          <p:cNvSpPr/>
          <p:nvPr/>
        </p:nvSpPr>
        <p:spPr>
          <a:xfrm>
            <a:off x="2068879" y="2967335"/>
            <a:ext cx="385253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0E6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 b="1" i="0" sz="5400" u="none" cap="none" strike="noStrike">
              <a:solidFill>
                <a:srgbClr val="FFF0E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